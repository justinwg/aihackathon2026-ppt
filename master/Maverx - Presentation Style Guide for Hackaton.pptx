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9.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 id="2147483693" r:id="rId5"/>
    <p:sldMasterId id="2147483673" r:id="rId6"/>
    <p:sldMasterId id="2147483742" r:id="rId7"/>
    <p:sldMasterId id="2147483754" r:id="rId8"/>
    <p:sldMasterId id="2147483769" r:id="rId9"/>
    <p:sldMasterId id="2147483782" r:id="rId10"/>
    <p:sldMasterId id="2147483808" r:id="rId11"/>
    <p:sldMasterId id="2147483821" r:id="rId12"/>
    <p:sldMasterId id="2147483834" r:id="rId13"/>
  </p:sldMasterIdLst>
  <p:notesMasterIdLst>
    <p:notesMasterId r:id="rId63"/>
  </p:notesMasterIdLst>
  <p:sldIdLst>
    <p:sldId id="595" r:id="rId14"/>
    <p:sldId id="616" r:id="rId15"/>
    <p:sldId id="828" r:id="rId16"/>
    <p:sldId id="601" r:id="rId17"/>
    <p:sldId id="272" r:id="rId18"/>
    <p:sldId id="604" r:id="rId19"/>
    <p:sldId id="587" r:id="rId20"/>
    <p:sldId id="607" r:id="rId21"/>
    <p:sldId id="606" r:id="rId22"/>
    <p:sldId id="618" r:id="rId23"/>
    <p:sldId id="829" r:id="rId24"/>
    <p:sldId id="809" r:id="rId25"/>
    <p:sldId id="881" r:id="rId26"/>
    <p:sldId id="862" r:id="rId27"/>
    <p:sldId id="878" r:id="rId28"/>
    <p:sldId id="884" r:id="rId29"/>
    <p:sldId id="612" r:id="rId30"/>
    <p:sldId id="832" r:id="rId31"/>
    <p:sldId id="877" r:id="rId32"/>
    <p:sldId id="882" r:id="rId33"/>
    <p:sldId id="863" r:id="rId34"/>
    <p:sldId id="885" r:id="rId35"/>
    <p:sldId id="843" r:id="rId36"/>
    <p:sldId id="835" r:id="rId37"/>
    <p:sldId id="845" r:id="rId38"/>
    <p:sldId id="883" r:id="rId39"/>
    <p:sldId id="852" r:id="rId40"/>
    <p:sldId id="851" r:id="rId41"/>
    <p:sldId id="858" r:id="rId42"/>
    <p:sldId id="861" r:id="rId43"/>
    <p:sldId id="886" r:id="rId44"/>
    <p:sldId id="853" r:id="rId45"/>
    <p:sldId id="854" r:id="rId46"/>
    <p:sldId id="855" r:id="rId47"/>
    <p:sldId id="887" r:id="rId48"/>
    <p:sldId id="868" r:id="rId49"/>
    <p:sldId id="869" r:id="rId50"/>
    <p:sldId id="870" r:id="rId51"/>
    <p:sldId id="871" r:id="rId52"/>
    <p:sldId id="526" r:id="rId53"/>
    <p:sldId id="823" r:id="rId54"/>
    <p:sldId id="888" r:id="rId55"/>
    <p:sldId id="826" r:id="rId56"/>
    <p:sldId id="873" r:id="rId57"/>
    <p:sldId id="825" r:id="rId58"/>
    <p:sldId id="876" r:id="rId59"/>
    <p:sldId id="800" r:id="rId60"/>
    <p:sldId id="808" r:id="rId61"/>
    <p:sldId id="822"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Extra" id="{3A97D4AE-37F8-4C68-BF1E-F2782730D926}">
          <p14:sldIdLst/>
        </p14:section>
        <p14:section name="General" id="{AADAD26E-A075-41A9-A3E9-8BD0BCD71F01}">
          <p14:sldIdLst>
            <p14:sldId id="595"/>
            <p14:sldId id="616"/>
            <p14:sldId id="828"/>
            <p14:sldId id="601"/>
            <p14:sldId id="272"/>
            <p14:sldId id="604"/>
            <p14:sldId id="587"/>
            <p14:sldId id="607"/>
            <p14:sldId id="606"/>
            <p14:sldId id="618"/>
            <p14:sldId id="829"/>
            <p14:sldId id="809"/>
            <p14:sldId id="881"/>
            <p14:sldId id="862"/>
            <p14:sldId id="878"/>
            <p14:sldId id="884"/>
            <p14:sldId id="612"/>
            <p14:sldId id="832"/>
            <p14:sldId id="877"/>
            <p14:sldId id="882"/>
            <p14:sldId id="863"/>
            <p14:sldId id="885"/>
            <p14:sldId id="843"/>
            <p14:sldId id="835"/>
            <p14:sldId id="845"/>
            <p14:sldId id="883"/>
            <p14:sldId id="852"/>
            <p14:sldId id="851"/>
            <p14:sldId id="858"/>
            <p14:sldId id="861"/>
            <p14:sldId id="886"/>
            <p14:sldId id="853"/>
            <p14:sldId id="854"/>
            <p14:sldId id="855"/>
            <p14:sldId id="887"/>
            <p14:sldId id="868"/>
            <p14:sldId id="869"/>
            <p14:sldId id="870"/>
            <p14:sldId id="871"/>
            <p14:sldId id="526"/>
            <p14:sldId id="823"/>
            <p14:sldId id="888"/>
            <p14:sldId id="826"/>
            <p14:sldId id="873"/>
            <p14:sldId id="825"/>
            <p14:sldId id="876"/>
          </p14:sldIdLst>
        </p14:section>
        <p14:section name="Reusable" id="{49E21ABF-2FB0-4043-8205-10ADE3F6F277}">
          <p14:sldIdLst>
            <p14:sldId id="800"/>
            <p14:sldId id="808"/>
            <p14:sldId id="822"/>
          </p14:sldIdLst>
        </p14:section>
      </p14:sectionLst>
    </p:ext>
    <p:ext uri="{EFAFB233-063F-42B5-8137-9DF3F51BA10A}">
      <p15:sldGuideLst xmlns:p15="http://schemas.microsoft.com/office/powerpoint/2012/main">
        <p15:guide id="2" pos="2160" userDrawn="1">
          <p15:clr>
            <a:srgbClr val="A4A3A4"/>
          </p15:clr>
        </p15:guide>
        <p15:guide id="3" orient="horz" pos="121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311E21-FD3A-D77B-673D-FE101F3F22CF}" name="Joppe Stins" initials="JS" userId="S::joppestins@maverx.nl::098ca6e9-f7c1-419e-9d63-b2664286c449" providerId="AD"/>
  <p188:author id="{E095D72A-06B0-A72E-92E5-B6CFFE4E2953}" name="Ralf Deeben" initials="RD" userId="S::ralfdeeben@maverx.nl::f548402a-a6bc-45a0-b31a-3e27b5268d85" providerId="AD"/>
  <p188:author id="{1C298869-C924-B230-3C4B-49D0601E20F1}" name="Matthijs Castelijn" initials="MC" userId="S::matthijscastelijn@maverx.nl::6c845f27-0b69-4be2-8c2c-d0d6eb442320" providerId="AD"/>
  <p188:author id="{288ED678-EBEE-17F9-7F56-B8344C5D31AC}" name="Youssry Askar" initials="YA" userId="S::youssryaskar@maverx.nl::d7343e49-ca1a-4b8d-a6b0-23aed165b4f5" providerId="AD"/>
  <p188:author id="{C77FC488-56E6-B3C5-33C0-5D2B342CD342}" name="Lucas de Lange" initials="LL" userId="S::lucasdelange@maverx.nl::f6e6ed0d-56f9-4547-96b2-5070938db1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531"/>
    <a:srgbClr val="0A0054"/>
    <a:srgbClr val="FEF4E8"/>
    <a:srgbClr val="E98409"/>
    <a:srgbClr val="F79421"/>
    <a:srgbClr val="0D006A"/>
    <a:srgbClr val="060032"/>
    <a:srgbClr val="B9AFFF"/>
    <a:srgbClr val="FBE5D6"/>
    <a:srgbClr val="D311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25EE2-44EF-2D5D-EFB1-76F59D337DC2}" v="35" dt="2026-06-04T09:31:16.579"/>
    <p1510:client id="{939A04EB-6FDD-4403-9667-20749A6541A3}" v="2175" dt="2026-06-04T15:33:40.886"/>
    <p1510:client id="{9F046A10-FD47-434F-A66B-99B9E9FB28EE}" v="22" dt="2026-06-04T15:36:12.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83014"/>
  </p:normalViewPr>
  <p:slideViewPr>
    <p:cSldViewPr snapToGrid="0">
      <p:cViewPr varScale="1">
        <p:scale>
          <a:sx n="171" d="100"/>
          <a:sy n="171" d="100"/>
        </p:scale>
        <p:origin x="648" y="168"/>
      </p:cViewPr>
      <p:guideLst>
        <p:guide pos="2160"/>
        <p:guide orient="horz" pos="121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tableStyles" Target="tableStyle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B23A98-AA3F-49D0-80CE-861885E1D4F0}" type="datetimeFigureOut">
              <a:rPr lang="en-NL" smtClean="0"/>
              <a:t>6/6/26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BFC9BD-4A5B-4D51-A308-86C711F74018}" type="slidenum">
              <a:rPr lang="en-NL" smtClean="0"/>
              <a:t>‹#›</a:t>
            </a:fld>
            <a:endParaRPr lang="en-NL"/>
          </a:p>
        </p:txBody>
      </p:sp>
    </p:spTree>
    <p:extLst>
      <p:ext uri="{BB962C8B-B14F-4D97-AF65-F5344CB8AC3E}">
        <p14:creationId xmlns:p14="http://schemas.microsoft.com/office/powerpoint/2010/main" val="428265241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FE563-ADCD-AAC7-2DEC-3B6ED0186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CA2AA-7357-2878-A5C3-6DC53C65DA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4F7044-4754-B1D2-D716-A16365F048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28A865-924F-E0E4-9687-AED5829CD106}"/>
              </a:ext>
            </a:extLst>
          </p:cNvPr>
          <p:cNvSpPr>
            <a:spLocks noGrp="1"/>
          </p:cNvSpPr>
          <p:nvPr>
            <p:ph type="sldNum" sz="quarter" idx="5"/>
          </p:nvPr>
        </p:nvSpPr>
        <p:spPr/>
        <p:txBody>
          <a:bodyPr/>
          <a:lstStyle/>
          <a:p>
            <a:fld id="{27BFC9BD-4A5B-4D51-A308-86C711F74018}" type="slidenum">
              <a:rPr lang="en-NL" smtClean="0"/>
              <a:t>1</a:t>
            </a:fld>
            <a:endParaRPr lang="en-NL"/>
          </a:p>
        </p:txBody>
      </p:sp>
    </p:spTree>
    <p:extLst>
      <p:ext uri="{BB962C8B-B14F-4D97-AF65-F5344CB8AC3E}">
        <p14:creationId xmlns:p14="http://schemas.microsoft.com/office/powerpoint/2010/main" val="3651964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276B-AA00-FC96-066A-485F54E75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7BEC2-90B4-8AD4-9037-95D213C698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C3380-F691-C45F-6CFA-FF57D0096339}"/>
              </a:ext>
            </a:extLst>
          </p:cNvPr>
          <p:cNvSpPr>
            <a:spLocks noGrp="1"/>
          </p:cNvSpPr>
          <p:nvPr>
            <p:ph type="body" idx="1"/>
          </p:nvPr>
        </p:nvSpPr>
        <p:spPr/>
        <p:txBody>
          <a:bodyPr/>
          <a:lstStyle/>
          <a:p>
            <a:r>
              <a:rPr lang="en-US"/>
              <a:t>Try to stay within 3-5</a:t>
            </a:r>
            <a:r>
              <a:rPr lang="en-US" baseline="0"/>
              <a:t> main statements and no more than 3 sub-bullet-points per statement</a:t>
            </a:r>
          </a:p>
          <a:p>
            <a:endParaRPr lang="en-US" baseline="0"/>
          </a:p>
          <a:p>
            <a:r>
              <a:rPr lang="en-US" baseline="0"/>
              <a:t>If the main text is well-written, short and concise, put it all in bold. For distinction you can use color on as few elements as possible to support the message.</a:t>
            </a:r>
          </a:p>
          <a:p>
            <a:endParaRPr lang="en-US" baseline="0"/>
          </a:p>
          <a:p>
            <a:r>
              <a:rPr lang="en-US" baseline="0"/>
              <a:t>Empty lines or line spacing can be adjusted to fit the amount of information on the screen. In some cases, it is better to copy every statement as a separate text box. This gives you more freedom over the shape and design of the slide.</a:t>
            </a:r>
          </a:p>
          <a:p>
            <a:endParaRPr lang="en-US" baseline="0"/>
          </a:p>
          <a:p>
            <a:r>
              <a:rPr lang="en-US" baseline="0"/>
              <a:t>Not all subtext requires the • but it can be helpful if there are no images to accompany the text. Depending on the amount of information, 14 points is perfectly fine as well.</a:t>
            </a:r>
          </a:p>
          <a:p>
            <a:endParaRPr lang="en-US" baseline="0"/>
          </a:p>
          <a:p>
            <a:r>
              <a:rPr lang="en-US" baseline="0"/>
              <a:t>For texts with signal words like ‘but’ &amp; ‘or’  you can use a hyphen – </a:t>
            </a:r>
            <a:r>
              <a:rPr lang="en-US" i="1" baseline="0"/>
              <a:t>with italic text afterwards.</a:t>
            </a:r>
            <a:endParaRPr lang="en-US" i="0" baseline="0"/>
          </a:p>
          <a:p>
            <a:endParaRPr lang="en-US" i="0" baseline="0"/>
          </a:p>
          <a:p>
            <a:r>
              <a:rPr lang="en-US" i="0" baseline="0"/>
              <a:t>For texts with signal words like ‘and’ &amp; ‘then’, you can use comma’s or split them up in two separate sub-points.</a:t>
            </a:r>
          </a:p>
          <a:p>
            <a:endParaRPr lang="en-US" i="0" baseline="0"/>
          </a:p>
          <a:p>
            <a:r>
              <a:rPr lang="en-US" i="0" baseline="0"/>
              <a:t>Brackets for text are somewhat of a grey area (because they require more mental processing). Especially for subtext (but for main text too). This is because you have to not only remember the main point, but also be able to determine the relationship between the two texts (which can be hard if you’re not completely focused).</a:t>
            </a:r>
            <a:endParaRPr lang="en-US" i="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6F486DD-1688-5003-1072-5C1F4B8857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4194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EB92C-435F-5AF8-D16E-60D6ECA78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A7DAC-835E-A045-D184-DFD0DD6398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AF31B0-999F-3FBC-7BE9-15BF4070B3CB}"/>
              </a:ext>
            </a:extLst>
          </p:cNvPr>
          <p:cNvSpPr>
            <a:spLocks noGrp="1"/>
          </p:cNvSpPr>
          <p:nvPr>
            <p:ph type="body" idx="1"/>
          </p:nvPr>
        </p:nvSpPr>
        <p:spPr/>
        <p:txBody>
          <a:bodyPr/>
          <a:lstStyle/>
          <a:p>
            <a:r>
              <a:rPr lang="en-US"/>
              <a:t>Try to stay within 3-5</a:t>
            </a:r>
            <a:r>
              <a:rPr lang="en-US" baseline="0"/>
              <a:t> main statements and no more than 3 sub-bullet-points per statement</a:t>
            </a:r>
          </a:p>
          <a:p>
            <a:endParaRPr lang="en-US" baseline="0"/>
          </a:p>
          <a:p>
            <a:r>
              <a:rPr lang="en-US" baseline="0"/>
              <a:t>If the main text is well-written, short and concise, put it all in bold. For distinction you can use color on as few elements as possible to support the message.</a:t>
            </a:r>
          </a:p>
          <a:p>
            <a:endParaRPr lang="en-US" baseline="0"/>
          </a:p>
          <a:p>
            <a:r>
              <a:rPr lang="en-US" baseline="0"/>
              <a:t>Empty lines or line spacing can be adjusted to fit the amount of information on the screen. In some cases, it is better to copy every statement as a separate text box. This gives you more freedom over the shape and design of the slide.</a:t>
            </a:r>
          </a:p>
          <a:p>
            <a:endParaRPr lang="en-US" baseline="0"/>
          </a:p>
          <a:p>
            <a:r>
              <a:rPr lang="en-US" baseline="0"/>
              <a:t>Not all subtext requires the • but it can be helpful if there are no images to accompany the text. Depending on the amount of information, 14 points is perfectly fine as well.</a:t>
            </a:r>
          </a:p>
          <a:p>
            <a:endParaRPr lang="en-US" baseline="0"/>
          </a:p>
          <a:p>
            <a:r>
              <a:rPr lang="en-US" baseline="0"/>
              <a:t>For texts with signal words like ‘but’ &amp; ‘or’  you can use a hyphen – </a:t>
            </a:r>
            <a:r>
              <a:rPr lang="en-US" i="1" baseline="0"/>
              <a:t>with italic text afterwards.</a:t>
            </a:r>
            <a:endParaRPr lang="en-US" i="0" baseline="0"/>
          </a:p>
          <a:p>
            <a:endParaRPr lang="en-US" i="0" baseline="0"/>
          </a:p>
          <a:p>
            <a:r>
              <a:rPr lang="en-US" i="0" baseline="0"/>
              <a:t>For texts with signal words like ‘and’ &amp; ‘then’, you can use comma’s or split them up in two separate sub-points.</a:t>
            </a:r>
          </a:p>
          <a:p>
            <a:endParaRPr lang="en-US" i="0" baseline="0"/>
          </a:p>
          <a:p>
            <a:r>
              <a:rPr lang="en-US" i="0" baseline="0"/>
              <a:t>Brackets for text are somewhat of a grey area (because they require more mental processing). Especially for subtext (but for main text too). This is because you have to not only remember the main point, but also be able to determine the relationship between the two texts (which can be hard if you’re not completely focused).</a:t>
            </a:r>
            <a:endParaRPr lang="en-US" i="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EF2E2B9C-6EF8-C9F6-8DCD-6326E13CF8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6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4BF19-2506-FAEF-F78B-133EE1580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ECBC0-F427-DA92-FD53-9FC36CEC5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54070-39C6-DA5C-0BF3-5F0F496BD0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055D22-90E2-713E-CA46-E63F8726493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41143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780CB-52C9-ED57-2B2B-9444A82F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BB83A-B411-9915-D667-BE23432719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8DA4F4-9DB1-FD05-DEAF-4B3A74021C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Laws, Rules &amp; Suggestions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There are many ways to structure slides with images. If the images are equal in importance, try to give them equal space / margin. The human visual cortex </a:t>
            </a:r>
            <a:r>
              <a:rPr lang="en-US" i="1"/>
              <a:t>– more often than not – </a:t>
            </a:r>
            <a:r>
              <a:rPr lang="en-US" b="1"/>
              <a:t>craves</a:t>
            </a:r>
            <a:r>
              <a:rPr lang="en-US"/>
              <a:t> symmetry. However, if you want to try out something ‘asymmetrical’, make sure your composition </a:t>
            </a:r>
            <a:r>
              <a:rPr lang="en-US" b="1"/>
              <a:t>looks stable</a:t>
            </a:r>
            <a:r>
              <a:rPr lang="en-US"/>
              <a:t>. In other words: if you would look at your slide as some type of construction, building or tower. Would it fall over or not? If so, your composition is unstable and probably unappealing. If not, you’re good to go.</a:t>
            </a:r>
          </a:p>
        </p:txBody>
      </p:sp>
      <p:sp>
        <p:nvSpPr>
          <p:cNvPr id="4" name="Slide Number Placeholder 3">
            <a:extLst>
              <a:ext uri="{FF2B5EF4-FFF2-40B4-BE49-F238E27FC236}">
                <a16:creationId xmlns:a16="http://schemas.microsoft.com/office/drawing/2014/main" id="{724FB293-EAC6-32CB-D21E-1947E24332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709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0874-B23A-1995-219F-4C2B7907C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78BDB-C9F5-A3A0-3A1E-5001672FFC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D0456C-73A7-966E-5665-3B0F420040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Safe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the area where you can safely put anything, without the risk of anything looking strange or out of place. This is the standard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Flexible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These are the areas that MAKE or BREAK the slide. How you use these areas is entirely up to you, especially when using free form. In general, you want the slide to be ‘weighted’ properly. For example, if you use the left side of the flexible area in the middle, you also want to use the right side. Same goes for top and bottom in general. The flexible area in the top right corner is a little more special, because it can contain a sub-title / sub-topic or “sub-title quote that conveys something about the slide” OR it can contain a little extra room for pictures / icon combinations. Or simply left empty. Choose wisely.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No-Go Area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area CAN NOT BE USED, under NO circumstance. There areas are reserved for watermarks, potential slide numbers, training titles, links, footnotes, or just simply margins of emptiness.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If you do use these areas, your slide will 100% guaranteed come across as messy, unprofessional and un-captivating. </a:t>
            </a:r>
          </a:p>
        </p:txBody>
      </p:sp>
      <p:sp>
        <p:nvSpPr>
          <p:cNvPr id="4" name="Slide Number Placeholder 3">
            <a:extLst>
              <a:ext uri="{FF2B5EF4-FFF2-40B4-BE49-F238E27FC236}">
                <a16:creationId xmlns:a16="http://schemas.microsoft.com/office/drawing/2014/main" id="{F397E298-B29B-AAAE-A6E0-9A190A2986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5845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5C581-5703-B2E9-7CE5-3EA06DCBB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82CFD-0E46-C0E6-5717-D22C7E2CA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20083-4D14-DE3E-48B0-FD0CDC7A4C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A6906C-187D-3B02-06FB-4561917DC1F9}"/>
              </a:ext>
            </a:extLst>
          </p:cNvPr>
          <p:cNvSpPr>
            <a:spLocks noGrp="1"/>
          </p:cNvSpPr>
          <p:nvPr>
            <p:ph type="sldNum" sz="quarter" idx="5"/>
          </p:nvPr>
        </p:nvSpPr>
        <p:spPr/>
        <p:txBody>
          <a:bodyPr/>
          <a:lstStyle/>
          <a:p>
            <a:fld id="{27BFC9BD-4A5B-4D51-A308-86C711F74018}" type="slidenum">
              <a:rPr lang="en-NL" smtClean="0"/>
              <a:t>8</a:t>
            </a:fld>
            <a:endParaRPr lang="en-NL"/>
          </a:p>
        </p:txBody>
      </p:sp>
    </p:spTree>
    <p:extLst>
      <p:ext uri="{BB962C8B-B14F-4D97-AF65-F5344CB8AC3E}">
        <p14:creationId xmlns:p14="http://schemas.microsoft.com/office/powerpoint/2010/main" val="670696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5877-0A39-51E1-8A8E-C9D04D907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F8042-5C4F-5C59-4479-234126850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D72B3-8696-A2BC-3DEA-7890C62095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F7BC7A-7BEC-8624-CDB5-4EFC02532C50}"/>
              </a:ext>
            </a:extLst>
          </p:cNvPr>
          <p:cNvSpPr>
            <a:spLocks noGrp="1"/>
          </p:cNvSpPr>
          <p:nvPr>
            <p:ph type="sldNum" sz="quarter" idx="5"/>
          </p:nvPr>
        </p:nvSpPr>
        <p:spPr/>
        <p:txBody>
          <a:bodyPr/>
          <a:lstStyle/>
          <a:p>
            <a:fld id="{27BFC9BD-4A5B-4D51-A308-86C711F74018}" type="slidenum">
              <a:rPr lang="en-NL" smtClean="0"/>
              <a:t>9</a:t>
            </a:fld>
            <a:endParaRPr lang="en-NL"/>
          </a:p>
        </p:txBody>
      </p:sp>
    </p:spTree>
    <p:extLst>
      <p:ext uri="{BB962C8B-B14F-4D97-AF65-F5344CB8AC3E}">
        <p14:creationId xmlns:p14="http://schemas.microsoft.com/office/powerpoint/2010/main" val="373538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41A4-961B-B8BF-20B6-51D6669FA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3DA2D-EC7F-61C2-D1DA-84FAAA8AB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1DBD6-B9B0-50CB-3A09-8574AF89CFFE}"/>
              </a:ext>
            </a:extLst>
          </p:cNvPr>
          <p:cNvSpPr>
            <a:spLocks noGrp="1"/>
          </p:cNvSpPr>
          <p:nvPr>
            <p:ph type="body" idx="1"/>
          </p:nvPr>
        </p:nvSpPr>
        <p:spPr/>
        <p:txBody>
          <a:bodyPr/>
          <a:lstStyle/>
          <a:p>
            <a:r>
              <a:rPr lang="en-GB" b="1"/>
              <a:t>Aim:</a:t>
            </a:r>
            <a:br>
              <a:rPr lang="en-GB"/>
            </a:br>
            <a:r>
              <a:rPr lang="en-GB"/>
              <a:t>Build real awareness of how AI tools handle data—so participants understand the </a:t>
            </a:r>
            <a:r>
              <a:rPr lang="en-GB" b="1"/>
              <a:t>actual risks</a:t>
            </a:r>
            <a:r>
              <a:rPr lang="en-GB"/>
              <a:t>, not just generic “be careful” advice.</a:t>
            </a:r>
          </a:p>
          <a:p>
            <a:r>
              <a:rPr lang="en-GB" b="1"/>
              <a:t>Time:</a:t>
            </a:r>
            <a:r>
              <a:rPr lang="en-GB"/>
              <a:t> 2 minutes</a:t>
            </a:r>
          </a:p>
          <a:p>
            <a:br>
              <a:rPr lang="en-GB"/>
            </a:br>
            <a:endParaRPr lang="en-GB"/>
          </a:p>
          <a:p>
            <a:r>
              <a:rPr lang="en-GB" b="1"/>
              <a:t>Instructions:</a:t>
            </a:r>
            <a:endParaRPr lang="en-GB"/>
          </a:p>
          <a:p>
            <a:r>
              <a:rPr lang="en-GB"/>
              <a:t>Start with a direct question:</a:t>
            </a:r>
          </a:p>
          <a:p>
            <a:r>
              <a:rPr lang="en-GB"/>
              <a:t>“When you paste something into an AI tool—where does that data actually go?”</a:t>
            </a:r>
          </a:p>
          <a:p>
            <a:r>
              <a:rPr lang="en-GB"/>
              <a:t>Pause. Let people think.</a:t>
            </a:r>
          </a:p>
          <a:p>
            <a:r>
              <a:rPr lang="en-GB"/>
              <a:t>Then go to the next slide to explain</a:t>
            </a:r>
          </a:p>
        </p:txBody>
      </p:sp>
      <p:sp>
        <p:nvSpPr>
          <p:cNvPr id="4" name="Slide Number Placeholder 3">
            <a:extLst>
              <a:ext uri="{FF2B5EF4-FFF2-40B4-BE49-F238E27FC236}">
                <a16:creationId xmlns:a16="http://schemas.microsoft.com/office/drawing/2014/main" id="{E5CD353E-3A3F-BDAD-1A71-675BD7436F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097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0925-805F-83FD-28DC-6500E25AC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6E204-7939-B2E4-CF81-1EA1A391A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23ED5-91A7-6775-E76D-3F21765276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52D9208-9B57-C105-882C-C8E176599C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936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0925-805F-83FD-28DC-6500E25AC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6E204-7939-B2E4-CF81-1EA1A391A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23ED5-91A7-6775-E76D-3F21765276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52D9208-9B57-C105-882C-C8E176599C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936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43F31-7943-56C1-77CC-210258D66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8D2C3-3B6E-80B2-797F-09BCD65C0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5D43B-1EE2-217E-41E6-56DDF68B2B88}"/>
              </a:ext>
            </a:extLst>
          </p:cNvPr>
          <p:cNvSpPr>
            <a:spLocks noGrp="1"/>
          </p:cNvSpPr>
          <p:nvPr>
            <p:ph type="body" idx="1"/>
          </p:nvPr>
        </p:nvSpPr>
        <p:spPr/>
        <p:txBody>
          <a:bodyPr/>
          <a:lstStyle/>
          <a:p>
            <a:r>
              <a:rPr lang="en-GB"/>
              <a:t>kipooifeopiuewjoperwjioperwjop</a:t>
            </a:r>
          </a:p>
        </p:txBody>
      </p:sp>
      <p:sp>
        <p:nvSpPr>
          <p:cNvPr id="4" name="Slide Number Placeholder 3">
            <a:extLst>
              <a:ext uri="{FF2B5EF4-FFF2-40B4-BE49-F238E27FC236}">
                <a16:creationId xmlns:a16="http://schemas.microsoft.com/office/drawing/2014/main" id="{C50E4111-E35A-32D4-82EF-85B0625E91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537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38FB-40FF-7A0E-E99A-38341DCF5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E2B63-2A74-4161-DF50-CC7040D05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8B854-8473-C682-3B90-E649DFCF88D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0FEF256-CD13-28A9-A0DB-B4B635C093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295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ea typeface="Calibri"/>
                <a:cs typeface="Calibri"/>
              </a:rPr>
              <a:t>Max 3-4 learning outcomes. Objectives </a:t>
            </a:r>
            <a:r>
              <a:rPr lang="en-US" err="1">
                <a:ea typeface="Calibri"/>
                <a:cs typeface="Calibri"/>
              </a:rPr>
              <a:t>mogen</a:t>
            </a:r>
            <a:r>
              <a:rPr lang="en-US">
                <a:ea typeface="Calibri"/>
                <a:cs typeface="Calibri"/>
              </a:rPr>
              <a:t> er </a:t>
            </a:r>
            <a:r>
              <a:rPr lang="en-US" err="1">
                <a:ea typeface="Calibri"/>
                <a:cs typeface="Calibri"/>
              </a:rPr>
              <a:t>wel</a:t>
            </a:r>
            <a:r>
              <a:rPr lang="en-US">
                <a:ea typeface="Calibri"/>
                <a:cs typeface="Calibri"/>
              </a:rPr>
              <a:t> </a:t>
            </a:r>
            <a:r>
              <a:rPr lang="en-US" err="1">
                <a:ea typeface="Calibri"/>
                <a:cs typeface="Calibri"/>
              </a:rPr>
              <a:t>meer</a:t>
            </a:r>
            <a:r>
              <a:rPr lang="en-US">
                <a:ea typeface="Calibri"/>
                <a:cs typeface="Calibri"/>
              </a:rPr>
              <a:t> </a:t>
            </a:r>
            <a:r>
              <a:rPr lang="en-US" err="1">
                <a:ea typeface="Calibri"/>
                <a:cs typeface="Calibri"/>
              </a:rPr>
              <a:t>zijn</a:t>
            </a:r>
            <a:r>
              <a:rPr lang="en-US">
                <a:ea typeface="Calibri"/>
                <a:cs typeface="Calibri"/>
              </a:rPr>
              <a:t>!</a:t>
            </a:r>
          </a:p>
          <a:p>
            <a:endParaRPr lang="en-US">
              <a:ea typeface="Calibri"/>
              <a:cs typeface="Calibri"/>
            </a:endParaRPr>
          </a:p>
          <a:p>
            <a:r>
              <a:rPr lang="en-US" err="1">
                <a:ea typeface="Calibri"/>
                <a:cs typeface="Calibri"/>
              </a:rPr>
              <a:t>Schaduw</a:t>
            </a:r>
            <a:r>
              <a:rPr lang="en-US">
                <a:ea typeface="Calibri"/>
                <a:cs typeface="Calibri"/>
              </a:rPr>
              <a:t> </a:t>
            </a:r>
            <a:r>
              <a:rPr lang="en-US" err="1">
                <a:ea typeface="Calibri"/>
                <a:cs typeface="Calibri"/>
              </a:rPr>
              <a:t>kun</a:t>
            </a:r>
            <a:r>
              <a:rPr lang="en-US">
                <a:ea typeface="Calibri"/>
                <a:cs typeface="Calibri"/>
              </a:rPr>
              <a:t> je </a:t>
            </a:r>
            <a:r>
              <a:rPr lang="en-US" err="1">
                <a:ea typeface="Calibri"/>
                <a:cs typeface="Calibri"/>
              </a:rPr>
              <a:t>verplaatsen</a:t>
            </a:r>
            <a:r>
              <a:rPr lang="en-US">
                <a:ea typeface="Calibri"/>
                <a:cs typeface="Calibri"/>
              </a:rPr>
              <a:t> om </a:t>
            </a:r>
            <a:r>
              <a:rPr lang="en-US" err="1">
                <a:ea typeface="Calibri"/>
                <a:cs typeface="Calibri"/>
              </a:rPr>
              <a:t>een</a:t>
            </a:r>
            <a:r>
              <a:rPr lang="en-US">
                <a:ea typeface="Calibri"/>
                <a:cs typeface="Calibri"/>
              </a:rPr>
              <a:t> </a:t>
            </a:r>
            <a:r>
              <a:rPr lang="en-US" err="1">
                <a:ea typeface="Calibri"/>
                <a:cs typeface="Calibri"/>
              </a:rPr>
              <a:t>ander</a:t>
            </a:r>
            <a:r>
              <a:rPr lang="en-US">
                <a:ea typeface="Calibri"/>
                <a:cs typeface="Calibri"/>
              </a:rPr>
              <a:t> 3d effect </a:t>
            </a:r>
            <a:r>
              <a:rPr lang="en-US" err="1">
                <a:ea typeface="Calibri"/>
                <a:cs typeface="Calibri"/>
              </a:rPr>
              <a:t>te</a:t>
            </a:r>
            <a:r>
              <a:rPr lang="en-US">
                <a:ea typeface="Calibri"/>
                <a:cs typeface="Calibri"/>
              </a:rPr>
              <a:t> </a:t>
            </a:r>
            <a:r>
              <a:rPr lang="en-US" err="1">
                <a:ea typeface="Calibri"/>
                <a:cs typeface="Calibri"/>
              </a:rPr>
              <a:t>creëren</a:t>
            </a:r>
            <a:endParaRPr lang="en-US">
              <a:ea typeface="Calibri"/>
              <a:cs typeface="Calibri"/>
            </a:endParaRPr>
          </a:p>
        </p:txBody>
      </p:sp>
      <p:sp>
        <p:nvSpPr>
          <p:cNvPr id="4" name="Tijdelijke aanduiding voor dianummer 3"/>
          <p:cNvSpPr>
            <a:spLocks noGrp="1"/>
          </p:cNvSpPr>
          <p:nvPr>
            <p:ph type="sldNum" sz="quarter" idx="5"/>
          </p:nvPr>
        </p:nvSpPr>
        <p:spPr/>
        <p:txBody>
          <a:bodyPr/>
          <a:lstStyle/>
          <a:p>
            <a:fld id="{27BFC9BD-4A5B-4D51-A308-86C711F74018}" type="slidenum">
              <a:rPr lang="en-NL" smtClean="0"/>
              <a:t>17</a:t>
            </a:fld>
            <a:endParaRPr lang="en-NL"/>
          </a:p>
        </p:txBody>
      </p:sp>
    </p:spTree>
    <p:extLst>
      <p:ext uri="{BB962C8B-B14F-4D97-AF65-F5344CB8AC3E}">
        <p14:creationId xmlns:p14="http://schemas.microsoft.com/office/powerpoint/2010/main" val="1738115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Aim: Give the trainer a full overview of timing, modules and activities before the session starts. This is a trainer-only reference slide — not shown to participants.</a:t>
            </a:r>
          </a:p>
          <a:p>
            <a:r>
              <a:rPr lang="en-US"/>
              <a:t>Time: 0 minutes (trainer reference only)</a:t>
            </a:r>
          </a:p>
          <a:p>
            <a:r>
              <a:rPr lang="en-US"/>
              <a:t>Instructions: Use this slide during preparation, not during delivery. Review the three modules and their time allocations:</a:t>
            </a:r>
          </a:p>
          <a:p>
            <a:r>
              <a:rPr lang="en-US"/>
              <a:t>Understand: 10 minutes — foundational, conceptual</a:t>
            </a:r>
          </a:p>
          <a:p>
            <a:r>
              <a:rPr lang="en-US"/>
              <a:t>Reflect: 10 minutes — ethics and data awareness</a:t>
            </a:r>
          </a:p>
          <a:p>
            <a:r>
              <a:rPr lang="en-US"/>
              <a:t>Experience: 60 minutes — the core of the session, hands-on</a:t>
            </a:r>
          </a:p>
          <a:p>
            <a:r>
              <a:rPr lang="en-US"/>
              <a:t>Check your own timing before you start. If you're running short, the "+/- 5 min" blocks in Experience are the easiest place to compress.</a:t>
            </a:r>
          </a:p>
          <a:p>
            <a:r>
              <a:rPr lang="en-US"/>
              <a:t>Key discussion points:</a:t>
            </a:r>
          </a:p>
          <a:p>
            <a:r>
              <a:rPr lang="en-US"/>
              <a:t>The 60-minute Experience block is where most energy goes — protect it.</a:t>
            </a:r>
          </a:p>
          <a:p>
            <a:r>
              <a:rPr lang="en-US"/>
              <a:t>Ethics (Reflect) often runs long if discussion opens up — keep it tight.</a:t>
            </a:r>
          </a:p>
          <a:p>
            <a:r>
              <a:rPr lang="en-US"/>
              <a:t>The script is a guide, not a script — read the room and adjust.</a:t>
            </a:r>
          </a:p>
          <a:p>
            <a:r>
              <a:rPr lang="en-US"/>
              <a:t>Link to reality: "Experienced trainers don't follow the script. They know it well enough to leave it."</a:t>
            </a:r>
          </a:p>
          <a:p>
            <a:r>
              <a:rPr lang="en-US"/>
              <a:t>Debrief &amp; Summary: "Know your timing. The session lives or dies by the Experience block."</a:t>
            </a:r>
          </a:p>
          <a:p>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6537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0995F-7F47-C473-141A-F308A2713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F205E-45E4-3A50-21EE-076B1D4FB9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C389C3-A7FA-B91D-08C2-8AFE4C9FD6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829161-641A-2862-820B-7376C62ABD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5870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b="1" err="1"/>
              <a:t>Aim</a:t>
            </a:r>
            <a:r>
              <a:rPr lang="nl-NL" b="1"/>
              <a:t>:</a:t>
            </a:r>
            <a:r>
              <a:rPr lang="nl-NL"/>
              <a:t> </a:t>
            </a:r>
            <a:r>
              <a:rPr lang="nl-NL" err="1"/>
              <a:t>Orient</a:t>
            </a:r>
            <a:r>
              <a:rPr lang="nl-NL"/>
              <a:t> </a:t>
            </a:r>
            <a:r>
              <a:rPr lang="nl-NL" err="1"/>
              <a:t>participants</a:t>
            </a:r>
            <a:r>
              <a:rPr lang="nl-NL"/>
              <a:t> </a:t>
            </a:r>
            <a:r>
              <a:rPr lang="nl-NL" err="1"/>
              <a:t>to</a:t>
            </a:r>
            <a:r>
              <a:rPr lang="nl-NL"/>
              <a:t> </a:t>
            </a:r>
            <a:r>
              <a:rPr lang="nl-NL" err="1"/>
              <a:t>the</a:t>
            </a:r>
            <a:r>
              <a:rPr lang="nl-NL"/>
              <a:t> </a:t>
            </a:r>
            <a:r>
              <a:rPr lang="nl-NL" err="1"/>
              <a:t>session</a:t>
            </a:r>
            <a:r>
              <a:rPr lang="nl-NL"/>
              <a:t> </a:t>
            </a:r>
            <a:r>
              <a:rPr lang="nl-NL" err="1"/>
              <a:t>structure</a:t>
            </a:r>
            <a:r>
              <a:rPr lang="nl-NL"/>
              <a:t>. </a:t>
            </a:r>
            <a:br>
              <a:rPr lang="nl-NL"/>
            </a:br>
            <a:r>
              <a:rPr lang="nl-NL" b="1" err="1"/>
              <a:t>Materials</a:t>
            </a:r>
            <a:r>
              <a:rPr lang="nl-NL" b="1"/>
              <a:t>:</a:t>
            </a:r>
            <a:r>
              <a:rPr lang="nl-NL"/>
              <a:t> — </a:t>
            </a:r>
            <a:br>
              <a:rPr lang="nl-NL"/>
            </a:br>
            <a:r>
              <a:rPr lang="nl-NL" b="1"/>
              <a:t>Time:</a:t>
            </a:r>
            <a:r>
              <a:rPr lang="nl-NL"/>
              <a:t> 1 min </a:t>
            </a:r>
            <a:br>
              <a:rPr lang="nl-NL"/>
            </a:br>
            <a:r>
              <a:rPr lang="nl-NL" b="1" err="1"/>
              <a:t>Instructions</a:t>
            </a:r>
            <a:r>
              <a:rPr lang="nl-NL" b="1"/>
              <a:t>:</a:t>
            </a:r>
            <a:endParaRPr lang="nl-NL"/>
          </a:p>
          <a:p>
            <a:r>
              <a:rPr lang="nl-NL" err="1"/>
              <a:t>Briefly</a:t>
            </a:r>
            <a:r>
              <a:rPr lang="nl-NL"/>
              <a:t> walk </a:t>
            </a:r>
            <a:r>
              <a:rPr lang="nl-NL" err="1"/>
              <a:t>through</a:t>
            </a:r>
            <a:r>
              <a:rPr lang="nl-NL"/>
              <a:t> </a:t>
            </a:r>
            <a:r>
              <a:rPr lang="nl-NL" err="1"/>
              <a:t>the</a:t>
            </a:r>
            <a:r>
              <a:rPr lang="nl-NL"/>
              <a:t> agenda.</a:t>
            </a:r>
          </a:p>
          <a:p>
            <a:r>
              <a:rPr lang="nl-NL" err="1"/>
              <a:t>Emphasize</a:t>
            </a:r>
            <a:r>
              <a:rPr lang="nl-NL"/>
              <a:t> </a:t>
            </a:r>
            <a:r>
              <a:rPr lang="nl-NL" err="1"/>
              <a:t>that</a:t>
            </a:r>
            <a:r>
              <a:rPr lang="nl-NL"/>
              <a:t> </a:t>
            </a:r>
            <a:r>
              <a:rPr lang="nl-NL" err="1"/>
              <a:t>Hour</a:t>
            </a:r>
            <a:r>
              <a:rPr lang="nl-NL"/>
              <a:t> 1 is </a:t>
            </a:r>
            <a:r>
              <a:rPr lang="nl-NL" err="1"/>
              <a:t>theory</a:t>
            </a:r>
            <a:r>
              <a:rPr lang="nl-NL"/>
              <a:t>, </a:t>
            </a:r>
            <a:r>
              <a:rPr lang="nl-NL" err="1"/>
              <a:t>Hour</a:t>
            </a:r>
            <a:r>
              <a:rPr lang="nl-NL"/>
              <a:t> 2 is </a:t>
            </a:r>
            <a:r>
              <a:rPr lang="nl-NL" err="1"/>
              <a:t>practice</a:t>
            </a:r>
            <a:r>
              <a:rPr lang="nl-NL"/>
              <a:t> on </a:t>
            </a:r>
            <a:r>
              <a:rPr lang="nl-NL" err="1"/>
              <a:t>their</a:t>
            </a:r>
            <a:r>
              <a:rPr lang="nl-NL"/>
              <a:t> </a:t>
            </a:r>
            <a:r>
              <a:rPr lang="nl-NL" err="1"/>
              <a:t>own</a:t>
            </a:r>
            <a:r>
              <a:rPr lang="nl-NL"/>
              <a:t> project.</a:t>
            </a:r>
          </a:p>
          <a:p>
            <a:r>
              <a:rPr lang="nl-NL"/>
              <a:t>Tell </a:t>
            </a:r>
            <a:r>
              <a:rPr lang="nl-NL" err="1"/>
              <a:t>them</a:t>
            </a:r>
            <a:r>
              <a:rPr lang="nl-NL"/>
              <a:t> </a:t>
            </a:r>
            <a:r>
              <a:rPr lang="nl-NL" err="1"/>
              <a:t>to</a:t>
            </a:r>
            <a:r>
              <a:rPr lang="nl-NL"/>
              <a:t> keep </a:t>
            </a:r>
            <a:r>
              <a:rPr lang="nl-NL" err="1"/>
              <a:t>their</a:t>
            </a:r>
            <a:r>
              <a:rPr lang="nl-NL"/>
              <a:t> A3 v0.1 close — </a:t>
            </a:r>
            <a:r>
              <a:rPr lang="nl-NL" err="1"/>
              <a:t>they'll</a:t>
            </a:r>
            <a:r>
              <a:rPr lang="nl-NL"/>
              <a:t> </a:t>
            </a:r>
            <a:r>
              <a:rPr lang="nl-NL" err="1"/>
              <a:t>be</a:t>
            </a:r>
            <a:r>
              <a:rPr lang="nl-NL"/>
              <a:t> upgrading </a:t>
            </a:r>
            <a:r>
              <a:rPr lang="nl-NL" err="1"/>
              <a:t>it</a:t>
            </a:r>
            <a:r>
              <a:rPr lang="nl-NL"/>
              <a:t> </a:t>
            </a:r>
            <a:r>
              <a:rPr lang="nl-NL" err="1"/>
              <a:t>today</a:t>
            </a:r>
            <a:r>
              <a:rPr lang="nl-NL"/>
              <a:t>.</a:t>
            </a:r>
          </a:p>
          <a:p>
            <a:r>
              <a:rPr lang="nl-NL" b="1"/>
              <a:t>Debrief </a:t>
            </a:r>
            <a:r>
              <a:rPr lang="nl-NL" b="1" err="1"/>
              <a:t>and</a:t>
            </a:r>
            <a:r>
              <a:rPr lang="nl-NL" b="1"/>
              <a:t> Summary:</a:t>
            </a:r>
            <a:r>
              <a:rPr lang="nl-NL"/>
              <a:t> No debrief </a:t>
            </a:r>
            <a:r>
              <a:rPr lang="nl-NL" err="1"/>
              <a:t>needed</a:t>
            </a:r>
            <a:r>
              <a:rPr lang="nl-NL"/>
              <a:t> — </a:t>
            </a:r>
            <a:r>
              <a:rPr lang="nl-NL" err="1"/>
              <a:t>transition</a:t>
            </a:r>
            <a:r>
              <a:rPr lang="nl-NL"/>
              <a:t> </a:t>
            </a:r>
            <a:r>
              <a:rPr lang="nl-NL" err="1"/>
              <a:t>directly</a:t>
            </a:r>
            <a:r>
              <a:rPr lang="nl-NL"/>
              <a:t> </a:t>
            </a:r>
            <a:r>
              <a:rPr lang="nl-NL" err="1"/>
              <a:t>to</a:t>
            </a:r>
            <a:r>
              <a:rPr lang="nl-NL"/>
              <a:t> </a:t>
            </a:r>
            <a:r>
              <a:rPr lang="nl-NL" err="1"/>
              <a:t>recap</a:t>
            </a:r>
            <a:r>
              <a:rPr lang="nl-NL"/>
              <a:t>.</a:t>
            </a:r>
          </a:p>
          <a:p>
            <a:endParaRPr lang="en-US"/>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9146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EF05-FC56-EE40-41C5-701EBC73F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B0B51-0499-0658-4844-1F7A65083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EC731-CFBB-AB48-DAA2-2DA730E625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2B0B7CC-4758-D919-51C4-7BCD037140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313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5583-3A23-3395-43F0-33493478D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80EC9-1F76-C381-CFCC-BDD8CDB8B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1D62E-F060-2BE2-6B5E-4C9BFBFF47D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FD7352-FB3E-D722-3F36-04F1D433EC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665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F5F1-D1B0-3A5F-8742-54D32E6033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32514F5-599A-C774-0EB7-BE4DF7793A1B}"/>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5BA440F3-CDFB-E6A4-5301-FA2CFEBD34CB}"/>
              </a:ext>
            </a:extLst>
          </p:cNvPr>
          <p:cNvSpPr>
            <a:spLocks noGrp="1"/>
          </p:cNvSpPr>
          <p:nvPr>
            <p:ph type="body" idx="1"/>
          </p:nvPr>
        </p:nvSpPr>
        <p:spPr/>
        <p:txBody>
          <a:bodyPr/>
          <a:lstStyle/>
          <a:p>
            <a:pPr rtl="0" fontAlgn="base"/>
            <a:r>
              <a:rPr lang="nl-NL" sz="1200" b="0" i="0" u="none" strike="noStrike" kern="1200" err="1">
                <a:solidFill>
                  <a:schemeClr val="tx1"/>
                </a:solidFill>
                <a:effectLst/>
                <a:latin typeface="+mn-lt"/>
                <a:ea typeface="+mn-ea"/>
                <a:cs typeface="+mn-cs"/>
              </a:rPr>
              <a:t>Aim</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Introduce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as a customer </a:t>
            </a:r>
            <a:r>
              <a:rPr lang="nl-NL" sz="1200" b="0" i="0" u="none" strike="noStrike" kern="1200" err="1">
                <a:solidFill>
                  <a:schemeClr val="tx1"/>
                </a:solidFill>
                <a:effectLst/>
                <a:latin typeface="+mn-lt"/>
                <a:ea typeface="+mn-ea"/>
                <a:cs typeface="+mn-cs"/>
              </a:rPr>
              <a:t>value</a:t>
            </a:r>
            <a:r>
              <a:rPr lang="nl-NL" sz="1200" b="0" i="0" u="none" strike="noStrike" kern="1200">
                <a:solidFill>
                  <a:schemeClr val="tx1"/>
                </a:solidFill>
                <a:effectLst/>
                <a:latin typeface="+mn-lt"/>
                <a:ea typeface="+mn-ea"/>
                <a:cs typeface="+mn-cs"/>
              </a:rPr>
              <a:t> tool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simple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clear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immediately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applicable</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Time:</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4 minutes</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Instructions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Point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definition</a:t>
            </a:r>
            <a:r>
              <a:rPr lang="nl-NL" sz="1200" b="0" i="0" u="none" strike="noStrike" kern="1200">
                <a:solidFill>
                  <a:schemeClr val="tx1"/>
                </a:solidFill>
                <a:effectLst/>
                <a:latin typeface="+mn-lt"/>
                <a:ea typeface="+mn-ea"/>
                <a:cs typeface="+mn-cs"/>
              </a:rPr>
              <a:t> first.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Read </a:t>
            </a:r>
            <a:r>
              <a:rPr lang="nl-NL" sz="1200" b="0" i="0" u="none" strike="noStrike" kern="1200" err="1">
                <a:solidFill>
                  <a:schemeClr val="tx1"/>
                </a:solidFill>
                <a:effectLst/>
                <a:latin typeface="+mn-lt"/>
                <a:ea typeface="+mn-ea"/>
                <a:cs typeface="+mn-cs"/>
              </a:rPr>
              <a:t>it</a:t>
            </a:r>
            <a:r>
              <a:rPr lang="nl-NL" sz="1200" b="0" i="0" u="none" strike="noStrike" kern="1200">
                <a:solidFill>
                  <a:schemeClr val="tx1"/>
                </a:solidFill>
                <a:effectLst/>
                <a:latin typeface="+mn-lt"/>
                <a:ea typeface="+mn-ea"/>
                <a:cs typeface="+mn-cs"/>
              </a:rPr>
              <a:t> out </a:t>
            </a:r>
            <a:r>
              <a:rPr lang="nl-NL" sz="1200" b="0" i="0" u="none" strike="noStrike" kern="1200" err="1">
                <a:solidFill>
                  <a:schemeClr val="tx1"/>
                </a:solidFill>
                <a:effectLst/>
                <a:latin typeface="+mn-lt"/>
                <a:ea typeface="+mn-ea"/>
                <a:cs typeface="+mn-cs"/>
              </a:rPr>
              <a:t>loud</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say:</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"In </a:t>
            </a:r>
            <a:r>
              <a:rPr lang="nl-NL" sz="1200" b="0" i="0" u="none" strike="noStrike" kern="1200" err="1">
                <a:solidFill>
                  <a:schemeClr val="tx1"/>
                </a:solidFill>
                <a:effectLst/>
                <a:latin typeface="+mn-lt"/>
                <a:ea typeface="+mn-ea"/>
                <a:cs typeface="+mn-cs"/>
              </a:rPr>
              <a:t>other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words</a:t>
            </a:r>
            <a:r>
              <a:rPr lang="nl-NL" sz="1200" b="0" i="0" u="none" strike="noStrike" kern="1200">
                <a:solidFill>
                  <a:schemeClr val="tx1"/>
                </a:solidFill>
                <a:effectLst/>
                <a:latin typeface="+mn-lt"/>
                <a:ea typeface="+mn-ea"/>
                <a:cs typeface="+mn-cs"/>
              </a:rPr>
              <a:t> — </a:t>
            </a:r>
            <a:r>
              <a:rPr lang="nl-NL" sz="1200" b="0" i="0" u="none" strike="noStrike" kern="1200" err="1">
                <a:solidFill>
                  <a:schemeClr val="tx1"/>
                </a:solidFill>
                <a:effectLst/>
                <a:latin typeface="+mn-lt"/>
                <a:ea typeface="+mn-ea"/>
                <a:cs typeface="+mn-cs"/>
              </a:rPr>
              <a:t>every</a:t>
            </a:r>
            <a:r>
              <a:rPr lang="nl-NL" sz="1200" b="0" i="0" u="none" strike="noStrike" kern="1200">
                <a:solidFill>
                  <a:schemeClr val="tx1"/>
                </a:solidFill>
                <a:effectLst/>
                <a:latin typeface="+mn-lt"/>
                <a:ea typeface="+mn-ea"/>
                <a:cs typeface="+mn-cs"/>
              </a:rPr>
              <a:t> time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customer </a:t>
            </a:r>
            <a:r>
              <a:rPr lang="nl-NL" sz="1200" b="0" i="0" u="none" strike="noStrike" kern="1200" err="1">
                <a:solidFill>
                  <a:schemeClr val="tx1"/>
                </a:solidFill>
                <a:effectLst/>
                <a:latin typeface="+mn-lt"/>
                <a:ea typeface="+mn-ea"/>
                <a:cs typeface="+mn-cs"/>
              </a:rPr>
              <a:t>interacts</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with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organisation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they're</a:t>
            </a:r>
            <a:r>
              <a:rPr lang="nl-NL" sz="1200" b="0" i="0" u="none" strike="noStrike" kern="1200">
                <a:solidFill>
                  <a:schemeClr val="tx1"/>
                </a:solidFill>
                <a:effectLst/>
                <a:latin typeface="+mn-lt"/>
                <a:ea typeface="+mn-ea"/>
                <a:cs typeface="+mn-cs"/>
              </a:rPr>
              <a:t> scoring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Consciously</a:t>
            </a:r>
            <a:r>
              <a:rPr lang="nl-NL" sz="1200" b="0" i="0" u="none" strike="noStrike" kern="1200">
                <a:solidFill>
                  <a:schemeClr val="tx1"/>
                </a:solidFill>
                <a:effectLst/>
                <a:latin typeface="+mn-lt"/>
                <a:ea typeface="+mn-ea"/>
                <a:cs typeface="+mn-cs"/>
              </a:rPr>
              <a:t> or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walk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timeline </a:t>
            </a:r>
            <a:r>
              <a:rPr lang="nl-NL" sz="1200" b="0" i="0" u="none" strike="noStrike" kern="1200" err="1">
                <a:solidFill>
                  <a:schemeClr val="tx1"/>
                </a:solidFill>
                <a:effectLst/>
                <a:latin typeface="+mn-lt"/>
                <a:ea typeface="+mn-ea"/>
                <a:cs typeface="+mn-cs"/>
              </a:rPr>
              <a:t>left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right: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make a </a:t>
            </a:r>
            <a:r>
              <a:rPr lang="nl-NL" sz="1200" b="0" i="0" u="none" strike="noStrike" kern="1200" err="1">
                <a:solidFill>
                  <a:schemeClr val="tx1"/>
                </a:solidFill>
                <a:effectLst/>
                <a:latin typeface="+mn-lt"/>
                <a:ea typeface="+mn-ea"/>
                <a:cs typeface="+mn-cs"/>
              </a:rPr>
              <a:t>request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deliver</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use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for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first time.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Something</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goes</a:t>
            </a:r>
            <a:r>
              <a:rPr lang="nl-NL" sz="1200" b="0" i="0" u="none" strike="noStrike" kern="1200">
                <a:solidFill>
                  <a:schemeClr val="tx1"/>
                </a:solidFill>
                <a:effectLst/>
                <a:latin typeface="+mn-lt"/>
                <a:ea typeface="+mn-ea"/>
                <a:cs typeface="+mn-cs"/>
              </a:rPr>
              <a:t> wrong, </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call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decide</a:t>
            </a:r>
            <a:r>
              <a:rPr lang="nl-NL" sz="1200" b="0" i="0" u="none" strike="noStrike" kern="1200">
                <a:solidFill>
                  <a:schemeClr val="tx1"/>
                </a:solidFill>
                <a:effectLst/>
                <a:latin typeface="+mn-lt"/>
                <a:ea typeface="+mn-ea"/>
                <a:cs typeface="+mn-cs"/>
              </a:rPr>
              <a:t>: do we continue or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Ask</a:t>
            </a:r>
            <a:r>
              <a:rPr lang="nl-NL" sz="1200" b="0" i="0" u="none" strike="noStrike" kern="1200">
                <a:solidFill>
                  <a:schemeClr val="tx1"/>
                </a:solidFill>
                <a:effectLst/>
                <a:latin typeface="+mn-lt"/>
                <a:ea typeface="+mn-ea"/>
                <a:cs typeface="+mn-cs"/>
              </a:rPr>
              <a:t>: "At </a:t>
            </a:r>
            <a:r>
              <a:rPr lang="nl-NL" sz="1200" b="0" i="0" u="none" strike="noStrike" kern="1200" err="1">
                <a:solidFill>
                  <a:schemeClr val="tx1"/>
                </a:solidFill>
                <a:effectLst/>
                <a:latin typeface="+mn-lt"/>
                <a:ea typeface="+mn-ea"/>
                <a:cs typeface="+mn-cs"/>
              </a:rPr>
              <a:t>which</a:t>
            </a:r>
            <a:r>
              <a:rPr lang="nl-NL" sz="1200" b="0" i="0" u="none" strike="noStrike" kern="1200">
                <a:solidFill>
                  <a:schemeClr val="tx1"/>
                </a:solidFill>
                <a:effectLst/>
                <a:latin typeface="+mn-lt"/>
                <a:ea typeface="+mn-ea"/>
                <a:cs typeface="+mn-cs"/>
              </a:rPr>
              <a:t> of these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do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most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problems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become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visible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customer?"</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Let 2-3 </a:t>
            </a:r>
            <a:r>
              <a:rPr lang="nl-NL" sz="1200" b="0" i="0" u="none" strike="noStrike" kern="1200" err="1">
                <a:solidFill>
                  <a:schemeClr val="tx1"/>
                </a:solidFill>
                <a:effectLst/>
                <a:latin typeface="+mn-lt"/>
                <a:ea typeface="+mn-ea"/>
                <a:cs typeface="+mn-cs"/>
              </a:rPr>
              <a:t>people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answer</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There's</a:t>
            </a:r>
            <a:r>
              <a:rPr lang="nl-NL" sz="1200" b="0" i="0" u="none" strike="noStrike" kern="1200">
                <a:solidFill>
                  <a:schemeClr val="tx1"/>
                </a:solidFill>
                <a:effectLst/>
                <a:latin typeface="+mn-lt"/>
                <a:ea typeface="+mn-ea"/>
                <a:cs typeface="+mn-cs"/>
              </a:rPr>
              <a:t> no wrong </a:t>
            </a:r>
            <a:r>
              <a:rPr lang="nl-NL" sz="1200" b="0" i="0" u="none" strike="noStrike" kern="1200" err="1">
                <a:solidFill>
                  <a:schemeClr val="tx1"/>
                </a:solidFill>
                <a:effectLst/>
                <a:latin typeface="+mn-lt"/>
                <a:ea typeface="+mn-ea"/>
                <a:cs typeface="+mn-cs"/>
              </a:rPr>
              <a:t>answer</a:t>
            </a:r>
            <a:r>
              <a:rPr lang="nl-NL" sz="1200" b="0" i="0" u="none" strike="noStrike" kern="1200">
                <a:solidFill>
                  <a:schemeClr val="tx1"/>
                </a:solidFill>
                <a:effectLst/>
                <a:latin typeface="+mn-lt"/>
                <a:ea typeface="+mn-ea"/>
                <a:cs typeface="+mn-cs"/>
              </a:rPr>
              <a:t> —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point is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get </a:t>
            </a:r>
            <a:r>
              <a:rPr lang="nl-NL" sz="1200" b="0" i="0" u="none" strike="noStrike" kern="1200" err="1">
                <a:solidFill>
                  <a:schemeClr val="tx1"/>
                </a:solidFill>
                <a:effectLst/>
                <a:latin typeface="+mn-lt"/>
                <a:ea typeface="+mn-ea"/>
                <a:cs typeface="+mn-cs"/>
              </a:rPr>
              <a:t>them</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thinking </a:t>
            </a:r>
            <a:r>
              <a:rPr lang="nl-NL" sz="1200" b="0" i="0" u="none" strike="noStrike" kern="1200" err="1">
                <a:solidFill>
                  <a:schemeClr val="tx1"/>
                </a:solidFill>
                <a:effectLst/>
                <a:latin typeface="+mn-lt"/>
                <a:ea typeface="+mn-ea"/>
                <a:cs typeface="+mn-cs"/>
              </a:rPr>
              <a:t>from</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customer's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perspective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their</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own</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Key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discussion</a:t>
            </a:r>
            <a:r>
              <a:rPr lang="nl-NL" sz="1200" b="0" i="0" u="none" strike="noStrike" kern="1200">
                <a:solidFill>
                  <a:schemeClr val="tx1"/>
                </a:solidFill>
                <a:effectLst/>
                <a:latin typeface="+mn-lt"/>
                <a:ea typeface="+mn-ea"/>
                <a:cs typeface="+mn-cs"/>
              </a:rPr>
              <a:t> points:</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is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what</a:t>
            </a:r>
            <a:r>
              <a:rPr lang="nl-NL" sz="1200" b="0" i="0" u="none" strike="noStrike" kern="1200">
                <a:solidFill>
                  <a:schemeClr val="tx1"/>
                </a:solidFill>
                <a:effectLst/>
                <a:latin typeface="+mn-lt"/>
                <a:ea typeface="+mn-ea"/>
                <a:cs typeface="+mn-cs"/>
              </a:rPr>
              <a:t> YOU </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matters</a:t>
            </a:r>
            <a:r>
              <a:rPr lang="nl-NL" sz="1200" b="0" i="0" u="none" strike="noStrike" kern="1200">
                <a:solidFill>
                  <a:schemeClr val="tx1"/>
                </a:solidFill>
                <a:effectLst/>
                <a:latin typeface="+mn-lt"/>
                <a:ea typeface="+mn-ea"/>
                <a:cs typeface="+mn-cs"/>
              </a:rPr>
              <a:t> in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It's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when</a:t>
            </a:r>
            <a:r>
              <a:rPr lang="nl-NL" sz="1200" b="0" i="0" u="none" strike="noStrike" kern="1200">
                <a:solidFill>
                  <a:schemeClr val="tx1"/>
                </a:solidFill>
                <a:effectLst/>
                <a:latin typeface="+mn-lt"/>
                <a:ea typeface="+mn-ea"/>
                <a:cs typeface="+mn-cs"/>
              </a:rPr>
              <a:t> THE CUSTOMER </a:t>
            </a:r>
            <a:r>
              <a:rPr lang="nl-NL" sz="1200" b="0" i="0" u="none" strike="noStrike" kern="1200" err="1">
                <a:solidFill>
                  <a:schemeClr val="tx1"/>
                </a:solidFill>
                <a:effectLst/>
                <a:latin typeface="+mn-lt"/>
                <a:ea typeface="+mn-ea"/>
                <a:cs typeface="+mn-cs"/>
              </a:rPr>
              <a:t>forms</a:t>
            </a:r>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judgment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perfectly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efficient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internal</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process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can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still</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fail</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every</a:t>
            </a:r>
            <a:r>
              <a:rPr lang="nl-NL" sz="1200" b="0" i="0" u="none" strike="noStrike" kern="1200">
                <a:solidFill>
                  <a:schemeClr val="tx1"/>
                </a:solidFill>
                <a:effectLst/>
                <a:latin typeface="+mn-lt"/>
                <a:ea typeface="+mn-ea"/>
                <a:cs typeface="+mn-cs"/>
              </a:rPr>
              <a:t> Moment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if</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customer never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feels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improvement</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 The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analysis </a:t>
            </a:r>
            <a:r>
              <a:rPr lang="nl-NL" sz="1200" b="0" i="0" u="none" strike="noStrike" kern="1200" err="1">
                <a:solidFill>
                  <a:schemeClr val="tx1"/>
                </a:solidFill>
                <a:effectLst/>
                <a:latin typeface="+mn-lt"/>
                <a:ea typeface="+mn-ea"/>
                <a:cs typeface="+mn-cs"/>
              </a:rPr>
              <a:t>maps</a:t>
            </a:r>
            <a:r>
              <a:rPr lang="nl-NL" sz="1200" b="0" i="0" u="none" strike="noStrike" kern="1200">
                <a:solidFill>
                  <a:schemeClr val="tx1"/>
                </a:solidFill>
                <a:effectLst/>
                <a:latin typeface="+mn-lt"/>
                <a:ea typeface="+mn-ea"/>
                <a:cs typeface="+mn-cs"/>
              </a:rPr>
              <a:t> ALL </a:t>
            </a:r>
            <a:r>
              <a:rPr lang="nl-NL" sz="1200" b="0" i="0" u="none" strike="noStrike" kern="1200" err="1">
                <a:solidFill>
                  <a:schemeClr val="tx1"/>
                </a:solidFill>
                <a:effectLst/>
                <a:latin typeface="+mn-lt"/>
                <a:ea typeface="+mn-ea"/>
                <a:cs typeface="+mn-cs"/>
              </a:rPr>
              <a:t>touchpoints</a:t>
            </a:r>
            <a:r>
              <a:rPr lang="nl-NL" sz="1200" b="0" i="0" u="none" strike="noStrike" kern="1200">
                <a:solidFill>
                  <a:schemeClr val="tx1"/>
                </a:solidFill>
                <a:effectLst/>
                <a:latin typeface="+mn-lt"/>
                <a:ea typeface="+mn-ea"/>
                <a:cs typeface="+mn-cs"/>
              </a:rPr>
              <a:t> first —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identify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which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ones</a:t>
            </a:r>
            <a:r>
              <a:rPr lang="nl-NL" sz="1200" b="0" i="0" u="none" strike="noStrike" kern="1200">
                <a:solidFill>
                  <a:schemeClr val="tx1"/>
                </a:solidFill>
                <a:effectLst/>
                <a:latin typeface="+mn-lt"/>
                <a:ea typeface="+mn-ea"/>
                <a:cs typeface="+mn-cs"/>
              </a:rPr>
              <a:t> are </a:t>
            </a:r>
            <a:r>
              <a:rPr lang="nl-NL" sz="1200" b="0" i="0" u="none" strike="noStrike" kern="1200" err="1">
                <a:solidFill>
                  <a:schemeClr val="tx1"/>
                </a:solidFill>
                <a:effectLst/>
                <a:latin typeface="+mn-lt"/>
                <a:ea typeface="+mn-ea"/>
                <a:cs typeface="+mn-cs"/>
              </a:rPr>
              <a:t>broken</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Link </a:t>
            </a:r>
            <a:r>
              <a:rPr lang="nl-NL" sz="1200" b="0" i="0" u="none" strike="noStrike" kern="1200" err="1">
                <a:solidFill>
                  <a:schemeClr val="tx1"/>
                </a:solidFill>
                <a:effectLst/>
                <a:latin typeface="+mn-lt"/>
                <a:ea typeface="+mn-ea"/>
                <a:cs typeface="+mn-cs"/>
              </a:rPr>
              <a:t>to</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reality</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a:t>
            </a:r>
            <a:r>
              <a:rPr lang="nl-NL" sz="1200" b="0" i="0" u="none" strike="noStrike" kern="1200" err="1">
                <a:solidFill>
                  <a:schemeClr val="tx1"/>
                </a:solidFill>
                <a:effectLst/>
                <a:latin typeface="+mn-lt"/>
                <a:ea typeface="+mn-ea"/>
                <a:cs typeface="+mn-cs"/>
              </a:rPr>
              <a:t>Think</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about</a:t>
            </a:r>
            <a:r>
              <a:rPr lang="nl-NL" sz="1200" b="0" i="0" u="none" strike="noStrike" kern="1200">
                <a:solidFill>
                  <a:schemeClr val="tx1"/>
                </a:solidFill>
                <a:effectLst/>
                <a:latin typeface="+mn-lt"/>
                <a:ea typeface="+mn-ea"/>
                <a:cs typeface="+mn-cs"/>
              </a:rPr>
              <a:t> a </a:t>
            </a:r>
            <a:r>
              <a:rPr lang="nl-NL" sz="1200" b="0" i="0" u="none" strike="noStrike" kern="1200" err="1">
                <a:solidFill>
                  <a:schemeClr val="tx1"/>
                </a:solidFill>
                <a:effectLst/>
                <a:latin typeface="+mn-lt"/>
                <a:ea typeface="+mn-ea"/>
                <a:cs typeface="+mn-cs"/>
              </a:rPr>
              <a:t>supplier</a:t>
            </a:r>
            <a:r>
              <a:rPr lang="nl-NL" sz="1200" b="0" i="0" u="none" strike="noStrike" kern="1200">
                <a:solidFill>
                  <a:schemeClr val="tx1"/>
                </a:solidFill>
                <a:effectLst/>
                <a:latin typeface="+mn-lt"/>
                <a:ea typeface="+mn-ea"/>
                <a:cs typeface="+mn-cs"/>
              </a:rPr>
              <a:t> or </a:t>
            </a:r>
            <a:r>
              <a:rPr lang="nl-NL" sz="1200" b="0" i="0" u="none" strike="noStrike" kern="1200" err="1">
                <a:solidFill>
                  <a:schemeClr val="tx1"/>
                </a:solidFill>
                <a:effectLst/>
                <a:latin typeface="+mn-lt"/>
                <a:ea typeface="+mn-ea"/>
                <a:cs typeface="+mn-cs"/>
              </a:rPr>
              <a:t>internal</a:t>
            </a:r>
            <a:r>
              <a:rPr lang="nl-NL" sz="1200" b="0" i="0" u="none" strike="noStrike" kern="1200">
                <a:solidFill>
                  <a:schemeClr val="tx1"/>
                </a:solidFill>
                <a:effectLst/>
                <a:latin typeface="+mn-lt"/>
                <a:ea typeface="+mn-ea"/>
                <a:cs typeface="+mn-cs"/>
              </a:rPr>
              <a:t> team </a:t>
            </a:r>
            <a:r>
              <a:rPr lang="nl-NL" sz="1200" b="0" i="0" u="none" strike="noStrike" kern="1200" err="1">
                <a:solidFill>
                  <a:schemeClr val="tx1"/>
                </a:solidFill>
                <a:effectLst/>
                <a:latin typeface="+mn-lt"/>
                <a:ea typeface="+mn-ea"/>
                <a:cs typeface="+mn-cs"/>
              </a:rPr>
              <a:t>you</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stopped</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trusting. It was </a:t>
            </a:r>
            <a:r>
              <a:rPr lang="nl-NL" sz="1200" b="0" i="0" u="none" strike="noStrike" kern="1200" err="1">
                <a:solidFill>
                  <a:schemeClr val="tx1"/>
                </a:solidFill>
                <a:effectLst/>
                <a:latin typeface="+mn-lt"/>
                <a:ea typeface="+mn-ea"/>
                <a:cs typeface="+mn-cs"/>
              </a:rPr>
              <a:t>probably</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not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big failure. </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It was a series of small </a:t>
            </a:r>
            <a:r>
              <a:rPr lang="nl-NL" sz="1200" b="0" i="0" u="none" strike="noStrike" kern="1200" err="1">
                <a:solidFill>
                  <a:schemeClr val="tx1"/>
                </a:solidFill>
                <a:effectLst/>
                <a:latin typeface="+mn-lt"/>
                <a:ea typeface="+mn-ea"/>
                <a:cs typeface="+mn-cs"/>
              </a:rPr>
              <a:t>MoT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failures</a:t>
            </a:r>
            <a:r>
              <a:rPr lang="nl-NL" sz="1200" b="0" i="0" u="none" strike="noStrike" kern="1200">
                <a:solidFill>
                  <a:schemeClr val="tx1"/>
                </a:solidFill>
                <a:effectLst/>
                <a:latin typeface="+mn-lt"/>
                <a:ea typeface="+mn-ea"/>
                <a:cs typeface="+mn-cs"/>
              </a:rPr>
              <a:t> —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report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was </a:t>
            </a:r>
            <a:r>
              <a:rPr lang="nl-NL" sz="1200" b="0" i="0" u="none" strike="noStrike" kern="1200" err="1">
                <a:solidFill>
                  <a:schemeClr val="tx1"/>
                </a:solidFill>
                <a:effectLst/>
                <a:latin typeface="+mn-lt"/>
                <a:ea typeface="+mn-ea"/>
                <a:cs typeface="+mn-cs"/>
              </a:rPr>
              <a:t>always</a:t>
            </a:r>
            <a:r>
              <a:rPr lang="nl-NL" sz="1200" b="0" i="0" u="none" strike="noStrike" kern="1200">
                <a:solidFill>
                  <a:schemeClr val="tx1"/>
                </a:solidFill>
                <a:effectLst/>
                <a:latin typeface="+mn-lt"/>
                <a:ea typeface="+mn-ea"/>
                <a:cs typeface="+mn-cs"/>
              </a:rPr>
              <a:t> late,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email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never </a:t>
            </a:r>
            <a:r>
              <a:rPr lang="nl-NL" sz="1200" b="0" i="0" u="none" strike="noStrike" kern="1200" err="1">
                <a:solidFill>
                  <a:schemeClr val="tx1"/>
                </a:solidFill>
                <a:effectLst/>
                <a:latin typeface="+mn-lt"/>
                <a:ea typeface="+mn-ea"/>
                <a:cs typeface="+mn-cs"/>
              </a:rPr>
              <a:t>got</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answered</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forecast </a:t>
            </a:r>
            <a:r>
              <a:rPr lang="nl-NL" sz="1200" b="0" i="0" u="none" strike="noStrike" kern="1200" err="1">
                <a:solidFill>
                  <a:schemeClr val="tx1"/>
                </a:solidFill>
                <a:effectLst/>
                <a:latin typeface="+mn-lt"/>
                <a:ea typeface="+mn-ea"/>
                <a:cs typeface="+mn-cs"/>
              </a:rPr>
              <a:t>that</a:t>
            </a:r>
            <a:r>
              <a:rPr lang="nl-NL" sz="1200" b="0" i="0" u="none" strike="noStrike" kern="1200">
                <a:solidFill>
                  <a:schemeClr val="tx1"/>
                </a:solidFill>
                <a:effectLst/>
                <a:latin typeface="+mn-lt"/>
                <a:ea typeface="+mn-ea"/>
                <a:cs typeface="+mn-cs"/>
              </a:rPr>
              <a:t> was wrong </a:t>
            </a:r>
            <a:r>
              <a:rPr lang="nl-NL" sz="1200" b="0" i="0" u="none" strike="noStrike" kern="1200" err="1">
                <a:solidFill>
                  <a:schemeClr val="tx1"/>
                </a:solidFill>
                <a:effectLst/>
                <a:latin typeface="+mn-lt"/>
                <a:ea typeface="+mn-ea"/>
                <a:cs typeface="+mn-cs"/>
              </a:rPr>
              <a:t>three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quarters</a:t>
            </a:r>
            <a:r>
              <a:rPr lang="nl-NL" sz="1200" b="0" i="0" u="none" strike="noStrike" kern="1200">
                <a:solidFill>
                  <a:schemeClr val="tx1"/>
                </a:solidFill>
                <a:effectLst/>
                <a:latin typeface="+mn-lt"/>
                <a:ea typeface="+mn-ea"/>
                <a:cs typeface="+mn-cs"/>
              </a:rPr>
              <a:t> in a </a:t>
            </a:r>
            <a:r>
              <a:rPr lang="nl-NL" sz="1200" b="0" i="0" u="none" strike="noStrike" kern="1200" err="1">
                <a:solidFill>
                  <a:schemeClr val="tx1"/>
                </a:solidFill>
                <a:effectLst/>
                <a:latin typeface="+mn-lt"/>
                <a:ea typeface="+mn-ea"/>
                <a:cs typeface="+mn-cs"/>
              </a:rPr>
              <a:t>row</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Each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a Moment of </a:t>
            </a:r>
            <a:r>
              <a:rPr lang="nl-NL" sz="1200" b="0" i="0" u="none" strike="noStrike" kern="1200" err="1">
                <a:solidFill>
                  <a:schemeClr val="tx1"/>
                </a:solidFill>
                <a:effectLst/>
                <a:latin typeface="+mn-lt"/>
                <a:ea typeface="+mn-ea"/>
                <a:cs typeface="+mn-cs"/>
              </a:rPr>
              <a:t>Truth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Each</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one</a:t>
            </a:r>
            <a:r>
              <a:rPr lang="nl-NL" sz="1200" b="0" i="0" u="none" strike="noStrike" kern="1200">
                <a:solidFill>
                  <a:schemeClr val="tx1"/>
                </a:solidFill>
                <a:effectLst/>
                <a:latin typeface="+mn-lt"/>
                <a:ea typeface="+mn-ea"/>
                <a:cs typeface="+mn-cs"/>
              </a:rPr>
              <a:t> a small </a:t>
            </a:r>
            <a:r>
              <a:rPr lang="nl-NL" sz="1200" b="0" i="0" u="none" strike="noStrike" kern="1200" err="1">
                <a:solidFill>
                  <a:schemeClr val="tx1"/>
                </a:solidFill>
                <a:effectLst/>
                <a:latin typeface="+mn-lt"/>
                <a:ea typeface="+mn-ea"/>
                <a:cs typeface="+mn-cs"/>
              </a:rPr>
              <a:t>loss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pPr rtl="0" fontAlgn="base"/>
            <a:r>
              <a:rPr lang="nl-NL"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Debrief &amp; Summary:</a:t>
            </a:r>
            <a:r>
              <a:rPr lang="en-US" sz="1200" b="0" i="0" kern="1200">
                <a:solidFill>
                  <a:schemeClr val="tx1"/>
                </a:solidFill>
                <a:effectLst/>
                <a:latin typeface="+mn-lt"/>
                <a:ea typeface="+mn-ea"/>
                <a:cs typeface="+mn-cs"/>
              </a:rPr>
              <a:t>​</a:t>
            </a:r>
          </a:p>
          <a:p>
            <a:pPr rtl="0" fontAlgn="base"/>
            <a:r>
              <a:rPr lang="nl-NL" sz="1200" b="0" i="0" u="none" strike="noStrike" kern="1200">
                <a:solidFill>
                  <a:schemeClr val="tx1"/>
                </a:solidFill>
                <a:effectLst/>
                <a:latin typeface="+mn-lt"/>
                <a:ea typeface="+mn-ea"/>
                <a:cs typeface="+mn-cs"/>
              </a:rPr>
              <a:t>"Map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touchpoints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Find</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the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broken</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moments</a:t>
            </a:r>
            <a:r>
              <a:rPr lang="nl-NL" sz="1200" b="0"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a:t>
            </a:r>
          </a:p>
          <a:p>
            <a:pPr rtl="0" fontAlgn="base"/>
            <a:r>
              <a:rPr lang="nl-NL" sz="1200" b="0" i="0" u="none" strike="noStrike" kern="1200" err="1">
                <a:solidFill>
                  <a:schemeClr val="tx1"/>
                </a:solidFill>
                <a:effectLst/>
                <a:latin typeface="+mn-lt"/>
                <a:ea typeface="+mn-ea"/>
                <a:cs typeface="+mn-cs"/>
              </a:rPr>
              <a:t>That's</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where</a:t>
            </a:r>
            <a:r>
              <a:rPr lang="nl-NL" sz="1200" b="0" i="0" u="none" strike="noStrike" kern="1200">
                <a:solidFill>
                  <a:schemeClr val="tx1"/>
                </a:solidFill>
                <a:effectLst/>
                <a:latin typeface="+mn-lt"/>
                <a:ea typeface="+mn-ea"/>
                <a:cs typeface="+mn-cs"/>
              </a:rPr>
              <a:t> </a:t>
            </a:r>
            <a:r>
              <a:rPr lang="nl-NL" sz="1200" b="0" i="0" u="none" strike="noStrike" kern="1200" err="1">
                <a:solidFill>
                  <a:schemeClr val="tx1"/>
                </a:solidFill>
                <a:effectLst/>
                <a:latin typeface="+mn-lt"/>
                <a:ea typeface="+mn-ea"/>
                <a:cs typeface="+mn-cs"/>
              </a:rPr>
              <a:t>your</a:t>
            </a:r>
            <a:r>
              <a:rPr lang="nl-NL" sz="1200" b="0" i="0" u="none" strike="noStrike" kern="1200">
                <a:solidFill>
                  <a:schemeClr val="tx1"/>
                </a:solidFill>
                <a:effectLst/>
                <a:latin typeface="+mn-lt"/>
                <a:ea typeface="+mn-ea"/>
                <a:cs typeface="+mn-cs"/>
              </a:rPr>
              <a:t> project </a:t>
            </a:r>
            <a:r>
              <a:rPr lang="nl-NL" sz="1200" b="0" i="0" u="none" strike="noStrike" kern="1200" err="1">
                <a:solidFill>
                  <a:schemeClr val="tx1"/>
                </a:solidFill>
                <a:effectLst/>
                <a:latin typeface="+mn-lt"/>
                <a:ea typeface="+mn-ea"/>
                <a:cs typeface="+mn-cs"/>
              </a:rPr>
              <a:t>belongs</a:t>
            </a:r>
            <a:r>
              <a:rPr lang="nl-NL" sz="1200" b="0" i="0" u="none" strike="noStrike" kern="1200">
                <a:solidFill>
                  <a:schemeClr val="tx1"/>
                </a:solidFill>
                <a:effectLst/>
                <a:latin typeface="+mn-lt"/>
                <a:ea typeface="+mn-ea"/>
                <a:cs typeface="+mn-cs"/>
              </a:rPr>
              <a:t>."</a:t>
            </a:r>
            <a:r>
              <a:rPr lang="en-US" sz="1200" b="0" i="0" kern="1200">
                <a:solidFill>
                  <a:schemeClr val="tx1"/>
                </a:solidFill>
                <a:effectLst/>
                <a:latin typeface="+mn-lt"/>
                <a:ea typeface="+mn-ea"/>
                <a:cs typeface="+mn-cs"/>
              </a:rPr>
              <a:t>​</a:t>
            </a:r>
          </a:p>
          <a:p>
            <a:endParaRPr lang="nl-NL"/>
          </a:p>
        </p:txBody>
      </p:sp>
      <p:sp>
        <p:nvSpPr>
          <p:cNvPr id="4" name="Tijdelijke aanduiding voor dianummer 3">
            <a:extLst>
              <a:ext uri="{FF2B5EF4-FFF2-40B4-BE49-F238E27FC236}">
                <a16:creationId xmlns:a16="http://schemas.microsoft.com/office/drawing/2014/main" id="{40D33340-BDD7-E67A-2FBB-CE88A05A29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084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F40C-BC3E-0C22-5811-DFDBC066E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1C5A6-987A-8785-F463-4730988FA4E3}"/>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40FA63D6-2646-7544-FC4D-7A4A9348FA92}"/>
              </a:ext>
            </a:extLst>
          </p:cNvPr>
          <p:cNvSpPr>
            <a:spLocks noGrp="1"/>
          </p:cNvSpPr>
          <p:nvPr>
            <p:ph type="body" idx="1"/>
          </p:nvPr>
        </p:nvSpPr>
        <p:spPr/>
        <p:txBody>
          <a:bodyPr/>
          <a:lstStyle/>
          <a:p>
            <a:r>
              <a:rPr lang="en-US"/>
              <a:t>Aim: Introduce Hoshin </a:t>
            </a:r>
            <a:r>
              <a:rPr lang="en-US" err="1"/>
              <a:t>Kanri</a:t>
            </a:r>
            <a:r>
              <a:rPr lang="en-US"/>
              <a:t> as the strategic cascade tool that connects daily project work to long-term </a:t>
            </a:r>
            <a:r>
              <a:rPr lang="en-US" err="1"/>
              <a:t>organisational</a:t>
            </a:r>
            <a:r>
              <a:rPr lang="en-US"/>
              <a:t> direction.</a:t>
            </a:r>
          </a:p>
          <a:p>
            <a:r>
              <a:rPr lang="en-US"/>
              <a:t>Time: 6 minutes</a:t>
            </a:r>
          </a:p>
          <a:p>
            <a:r>
              <a:rPr lang="en-US"/>
              <a:t>Instructions: Start with the definition box on the left: "Hoshin </a:t>
            </a:r>
            <a:r>
              <a:rPr lang="en-US" err="1"/>
              <a:t>Kanri</a:t>
            </a:r>
            <a:r>
              <a:rPr lang="en-US"/>
              <a:t> is a Japanese method developed at Toyota in the 1960s. The idea is simple: </a:t>
            </a:r>
            <a:r>
              <a:rPr lang="en-US" err="1"/>
              <a:t>organisational</a:t>
            </a:r>
            <a:r>
              <a:rPr lang="en-US"/>
              <a:t> goals should cascade all the way down to daily work — so nothing you do is disconnected from where the </a:t>
            </a:r>
            <a:r>
              <a:rPr lang="en-US" err="1"/>
              <a:t>organisation</a:t>
            </a:r>
            <a:r>
              <a:rPr lang="en-US"/>
              <a:t> is going."</a:t>
            </a:r>
          </a:p>
          <a:p>
            <a:r>
              <a:rPr lang="en-US"/>
              <a:t>Explain the two words briefly: "Hoshin means direction and focus. </a:t>
            </a:r>
            <a:r>
              <a:rPr lang="en-US" err="1"/>
              <a:t>Kanri</a:t>
            </a:r>
            <a:r>
              <a:rPr lang="en-US"/>
              <a:t> means management and control. Together: managing your direction."</a:t>
            </a:r>
          </a:p>
          <a:p>
            <a:r>
              <a:rPr lang="en-US"/>
              <a:t>Then walk the cascade on the right, top to bottom: "It starts with a 5-year vision. That gets translated into 3-year breakthrough objectives. Then annual goals. Then quarterly targets. And at the very bottom — your project."</a:t>
            </a:r>
          </a:p>
          <a:p>
            <a:r>
              <a:rPr lang="en-US"/>
              <a:t>Point to the arrow on the right and ask: "Can you draw this arrow for your project right now? Does your project connect to a quarterly target — and does that target connect to something strategic?"</a:t>
            </a:r>
          </a:p>
          <a:p>
            <a:r>
              <a:rPr lang="en-US"/>
              <a:t>Let the question land. Don't answer it yet.</a:t>
            </a:r>
          </a:p>
          <a:p>
            <a:r>
              <a:rPr lang="en-US"/>
              <a:t>Key discussion points:</a:t>
            </a:r>
          </a:p>
          <a:p>
            <a:r>
              <a:rPr lang="en-US"/>
              <a:t>Most projects exist in isolation — they solve a local problem without connecting to anything above them.</a:t>
            </a:r>
          </a:p>
          <a:p>
            <a:r>
              <a:rPr lang="en-US"/>
              <a:t>Hoshin makes that connection explicit and testable.</a:t>
            </a:r>
          </a:p>
          <a:p>
            <a:r>
              <a:rPr lang="en-US"/>
              <a:t>If you can't draw the arrow, that's not a failure — it's information. It means you have a conversation to have with your sponsor.</a:t>
            </a:r>
          </a:p>
          <a:p>
            <a:r>
              <a:rPr lang="en-US"/>
              <a:t>Link to reality: "Imagine you've spent six months improving a reporting process. The report gets faster. But the strategic priority was forecast accuracy — and your report wasn't even the input to the forecast. Efficient. But disconnected. Hoshin would have caught that in week one."</a:t>
            </a:r>
          </a:p>
          <a:p>
            <a:r>
              <a:rPr lang="en-US"/>
              <a:t>Debrief &amp; Summary: "Strategy without cascade is just a poster on the wall. Hoshin makes it operational."</a:t>
            </a:r>
          </a:p>
          <a:p>
            <a:endParaRPr lang="en-GB"/>
          </a:p>
        </p:txBody>
      </p:sp>
      <p:sp>
        <p:nvSpPr>
          <p:cNvPr id="4" name="Slide Number Placeholder 3">
            <a:extLst>
              <a:ext uri="{FF2B5EF4-FFF2-40B4-BE49-F238E27FC236}">
                <a16:creationId xmlns:a16="http://schemas.microsoft.com/office/drawing/2014/main" id="{484D3F74-065A-F0E0-1856-5591FF1559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769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Help participants understand that AI progress happens in waves—and why the current wave is fundamentally different</a:t>
            </a:r>
          </a:p>
          <a:p>
            <a:endParaRPr lang="en-GB" b="1"/>
          </a:p>
          <a:p>
            <a:r>
              <a:rPr lang="en-GB" b="1"/>
              <a:t>Time:</a:t>
            </a:r>
            <a:r>
              <a:rPr lang="en-GB"/>
              <a:t> 8 minutes</a:t>
            </a:r>
          </a:p>
          <a:p>
            <a:br>
              <a:rPr lang="en-GB"/>
            </a:br>
            <a:endParaRPr lang="en-GB"/>
          </a:p>
          <a:p>
            <a:r>
              <a:rPr lang="en-GB" b="1"/>
              <a:t>Instructions</a:t>
            </a:r>
          </a:p>
          <a:p>
            <a:r>
              <a:rPr lang="en-GB" b="1"/>
              <a:t>1. Introduce the concept of “AI booms” (1 min)</a:t>
            </a:r>
          </a:p>
          <a:p>
            <a:r>
              <a:rPr lang="en-GB"/>
              <a:t>Say:</a:t>
            </a:r>
          </a:p>
          <a:p>
            <a:r>
              <a:rPr lang="en-GB"/>
              <a:t>“AI hasn’t grown in a straight line. It moves in waves - periods of hype, followed by disappointment, followed by breakthroughs.”</a:t>
            </a:r>
          </a:p>
          <a:p>
            <a:r>
              <a:rPr lang="en-GB"/>
              <a:t>Walk through the visual from left to right.</a:t>
            </a:r>
          </a:p>
          <a:p>
            <a:br>
              <a:rPr lang="en-GB"/>
            </a:br>
            <a:endParaRPr lang="en-GB"/>
          </a:p>
          <a:p>
            <a:r>
              <a:rPr lang="en-GB" b="1"/>
              <a:t>2. First AI Boom — Rule-based systems (1950s–1970s) (1.5 min)</a:t>
            </a:r>
          </a:p>
          <a:p>
            <a:r>
              <a:rPr lang="en-GB"/>
              <a:t>Explain:</a:t>
            </a:r>
          </a:p>
          <a:p>
            <a:r>
              <a:rPr lang="en-GB"/>
              <a:t>Early AI focused on </a:t>
            </a:r>
            <a:r>
              <a:rPr lang="en-GB" b="1"/>
              <a:t>rule-based logic</a:t>
            </a:r>
            <a:r>
              <a:rPr lang="en-GB"/>
              <a:t> </a:t>
            </a:r>
          </a:p>
          <a:p>
            <a:r>
              <a:rPr lang="en-GB"/>
              <a:t>Systems were programmed with: </a:t>
            </a:r>
          </a:p>
          <a:p>
            <a:pPr lvl="1"/>
            <a:r>
              <a:rPr lang="en-GB"/>
              <a:t>“If X → then Y” </a:t>
            </a:r>
          </a:p>
          <a:p>
            <a:r>
              <a:rPr lang="en-GB"/>
              <a:t>Example: </a:t>
            </a:r>
          </a:p>
          <a:p>
            <a:pPr lvl="1"/>
            <a:r>
              <a:rPr lang="en-GB"/>
              <a:t>early fraud detection rules </a:t>
            </a:r>
          </a:p>
          <a:p>
            <a:pPr lvl="1"/>
            <a:r>
              <a:rPr lang="en-GB"/>
              <a:t>simple decision trees </a:t>
            </a:r>
          </a:p>
          <a:p>
            <a:r>
              <a:rPr lang="en-GB"/>
              <a:t>Say:</a:t>
            </a:r>
          </a:p>
          <a:p>
            <a:r>
              <a:rPr lang="en-GB"/>
              <a:t>“These systems worked well in controlled environments—but they completely broke down when things became complex or uncertain.”</a:t>
            </a:r>
          </a:p>
          <a:p>
            <a:r>
              <a:rPr lang="en-GB"/>
              <a:t>Key limitation:</a:t>
            </a:r>
          </a:p>
          <a:p>
            <a:r>
              <a:rPr lang="en-GB"/>
              <a:t>No learning </a:t>
            </a:r>
          </a:p>
          <a:p>
            <a:r>
              <a:rPr lang="en-GB"/>
              <a:t>No adaptability </a:t>
            </a:r>
          </a:p>
          <a:p>
            <a:br>
              <a:rPr lang="en-GB"/>
            </a:br>
            <a:endParaRPr lang="en-GB"/>
          </a:p>
          <a:p>
            <a:r>
              <a:rPr lang="en-GB" b="1"/>
              <a:t>3. Second AI Boom — Expert systems (1980s–early 90s) (1.5 min)</a:t>
            </a:r>
          </a:p>
          <a:p>
            <a:r>
              <a:rPr lang="en-GB"/>
              <a:t>Explain:</a:t>
            </a:r>
          </a:p>
          <a:p>
            <a:r>
              <a:rPr lang="en-GB"/>
              <a:t>Rise of </a:t>
            </a:r>
            <a:r>
              <a:rPr lang="en-GB" b="1"/>
              <a:t>expert systems</a:t>
            </a:r>
            <a:r>
              <a:rPr lang="en-GB"/>
              <a:t> </a:t>
            </a:r>
          </a:p>
          <a:p>
            <a:r>
              <a:rPr lang="en-GB"/>
              <a:t>Goal: capture human expertise in rules </a:t>
            </a:r>
          </a:p>
          <a:p>
            <a:r>
              <a:rPr lang="en-GB"/>
              <a:t>Example:</a:t>
            </a:r>
          </a:p>
          <a:p>
            <a:r>
              <a:rPr lang="en-GB"/>
              <a:t>medical diagnosis systems </a:t>
            </a:r>
          </a:p>
          <a:p>
            <a:r>
              <a:rPr lang="en-GB"/>
              <a:t>early credit scoring models </a:t>
            </a:r>
          </a:p>
          <a:p>
            <a:r>
              <a:rPr lang="en-GB"/>
              <a:t>Say:</a:t>
            </a:r>
          </a:p>
          <a:p>
            <a:r>
              <a:rPr lang="en-GB"/>
              <a:t>“Finance actually adopted AI early here—credit scoring models are a good example.”</a:t>
            </a:r>
          </a:p>
          <a:p>
            <a:r>
              <a:rPr lang="en-GB"/>
              <a:t>Why it failed:</a:t>
            </a:r>
          </a:p>
          <a:p>
            <a:r>
              <a:rPr lang="en-GB"/>
              <a:t>Systems became: </a:t>
            </a:r>
          </a:p>
          <a:p>
            <a:pPr lvl="1"/>
            <a:r>
              <a:rPr lang="en-GB"/>
              <a:t>too complex to maintain </a:t>
            </a:r>
          </a:p>
          <a:p>
            <a:pPr lvl="1"/>
            <a:r>
              <a:rPr lang="en-GB"/>
              <a:t>too rigid </a:t>
            </a:r>
          </a:p>
          <a:p>
            <a:r>
              <a:rPr lang="en-GB"/>
              <a:t>Couldn’t scale with real-world variability </a:t>
            </a:r>
          </a:p>
          <a:p>
            <a:r>
              <a:rPr lang="en-GB"/>
              <a:t>Key message:</a:t>
            </a:r>
          </a:p>
          <a:p>
            <a:r>
              <a:rPr lang="en-GB"/>
              <a:t>“Still no real ‘learning’—just more rules.”</a:t>
            </a:r>
          </a:p>
          <a:p>
            <a:br>
              <a:rPr lang="en-GB"/>
            </a:br>
            <a:endParaRPr lang="en-GB"/>
          </a:p>
          <a:p>
            <a:r>
              <a:rPr lang="en-GB" b="1"/>
              <a:t>4. Transition: Rise of Machine Learning (1990s–2010s) (1.5 min)</a:t>
            </a:r>
          </a:p>
          <a:p>
            <a:r>
              <a:rPr lang="en-GB"/>
              <a:t>Explain:</a:t>
            </a:r>
          </a:p>
          <a:p>
            <a:r>
              <a:rPr lang="en-GB"/>
              <a:t>Shift from rules → </a:t>
            </a:r>
            <a:r>
              <a:rPr lang="en-GB" b="1"/>
              <a:t>learning from data</a:t>
            </a:r>
            <a:r>
              <a:rPr lang="en-GB"/>
              <a:t> </a:t>
            </a:r>
          </a:p>
          <a:p>
            <a:r>
              <a:rPr lang="en-GB"/>
              <a:t>Models started detecting patterns automatically </a:t>
            </a:r>
          </a:p>
          <a:p>
            <a:r>
              <a:rPr lang="en-GB"/>
              <a:t>Examples:</a:t>
            </a:r>
          </a:p>
          <a:p>
            <a:r>
              <a:rPr lang="en-GB"/>
              <a:t>fraud detection </a:t>
            </a:r>
          </a:p>
          <a:p>
            <a:r>
              <a:rPr lang="en-GB"/>
              <a:t>recommendation systems </a:t>
            </a:r>
          </a:p>
          <a:p>
            <a:r>
              <a:rPr lang="en-GB"/>
              <a:t>Say:</a:t>
            </a:r>
          </a:p>
          <a:p>
            <a:r>
              <a:rPr lang="en-GB"/>
              <a:t>“Instead of telling the system what to look for, we started giving it data and letting it figure things out.”</a:t>
            </a:r>
          </a:p>
          <a:p>
            <a:br>
              <a:rPr lang="en-GB"/>
            </a:br>
            <a:endParaRPr lang="en-GB"/>
          </a:p>
          <a:p>
            <a:r>
              <a:rPr lang="en-GB" b="1"/>
              <a:t>5. Breakthrough Moment — </a:t>
            </a:r>
            <a:r>
              <a:rPr lang="en-GB" b="1" err="1"/>
              <a:t>AlexNet</a:t>
            </a:r>
            <a:r>
              <a:rPr lang="en-GB" b="1"/>
              <a:t> &amp; GPUs (2012) (2 min)</a:t>
            </a:r>
          </a:p>
          <a:p>
            <a:r>
              <a:rPr lang="en-GB"/>
              <a:t>This is where you add depth and credibility.</a:t>
            </a:r>
          </a:p>
          <a:p>
            <a:r>
              <a:rPr lang="en-GB"/>
              <a:t>Explain:</a:t>
            </a:r>
          </a:p>
          <a:p>
            <a:r>
              <a:rPr lang="en-GB"/>
              <a:t>“The real turning point came in 2012 with a model called </a:t>
            </a:r>
            <a:r>
              <a:rPr lang="en-GB" err="1"/>
              <a:t>AlexNet</a:t>
            </a:r>
            <a:r>
              <a:rPr lang="en-GB"/>
              <a:t>.”</a:t>
            </a:r>
          </a:p>
          <a:p>
            <a:r>
              <a:rPr lang="en-GB"/>
              <a:t>Key points:</a:t>
            </a:r>
          </a:p>
          <a:p>
            <a:r>
              <a:rPr lang="en-GB" err="1"/>
              <a:t>AlexNet</a:t>
            </a:r>
            <a:r>
              <a:rPr lang="en-GB"/>
              <a:t> was a </a:t>
            </a:r>
            <a:r>
              <a:rPr lang="en-GB" b="1"/>
              <a:t>deep neural network</a:t>
            </a:r>
            <a:r>
              <a:rPr lang="en-GB"/>
              <a:t> </a:t>
            </a:r>
          </a:p>
          <a:p>
            <a:r>
              <a:rPr lang="en-GB"/>
              <a:t>It competed in the ImageNet competition (image recognition) </a:t>
            </a:r>
          </a:p>
          <a:p>
            <a:r>
              <a:rPr lang="en-GB"/>
              <a:t>Reduced error rate dramatically vs all previous models </a:t>
            </a:r>
          </a:p>
          <a:p>
            <a:r>
              <a:rPr lang="en-GB"/>
              <a:t>Why this mattered:</a:t>
            </a:r>
          </a:p>
          <a:p>
            <a:r>
              <a:rPr lang="en-GB">
                <a:sym typeface="Wingdings" panose="05000000000000000000" pitchFamily="2" charset="2"/>
              </a:rPr>
              <a:t></a:t>
            </a:r>
            <a:r>
              <a:rPr lang="en-GB"/>
              <a:t> It showed that </a:t>
            </a:r>
            <a:r>
              <a:rPr lang="en-GB" b="1"/>
              <a:t>deep learning actually works at scale</a:t>
            </a:r>
            <a:endParaRPr lang="en-GB"/>
          </a:p>
          <a:p>
            <a:r>
              <a:rPr lang="en-GB"/>
              <a:t>Now explain GPUs:</a:t>
            </a:r>
          </a:p>
          <a:p>
            <a:r>
              <a:rPr lang="en-GB"/>
              <a:t>Traditional computers (CPUs): </a:t>
            </a:r>
          </a:p>
          <a:p>
            <a:pPr lvl="1"/>
            <a:r>
              <a:rPr lang="en-GB"/>
              <a:t>good at sequential processing </a:t>
            </a:r>
          </a:p>
          <a:p>
            <a:r>
              <a:rPr lang="en-GB"/>
              <a:t>GPUs: </a:t>
            </a:r>
          </a:p>
          <a:p>
            <a:pPr lvl="1"/>
            <a:r>
              <a:rPr lang="en-GB"/>
              <a:t>designed for </a:t>
            </a:r>
            <a:r>
              <a:rPr lang="en-GB" b="1"/>
              <a:t>parallel processing</a:t>
            </a:r>
            <a:r>
              <a:rPr lang="en-GB"/>
              <a:t> </a:t>
            </a:r>
          </a:p>
          <a:p>
            <a:pPr lvl="1"/>
            <a:r>
              <a:rPr lang="en-GB"/>
              <a:t>can process thousands of calculations simultaneously </a:t>
            </a:r>
          </a:p>
          <a:p>
            <a:r>
              <a:rPr lang="en-GB"/>
              <a:t>Say:</a:t>
            </a:r>
          </a:p>
          <a:p>
            <a:r>
              <a:rPr lang="en-GB"/>
              <a:t>“Neural networks require massive amounts of calculations. GPUs made it possible to train these models much faster—this was a critical enabler.”</a:t>
            </a:r>
          </a:p>
          <a:p>
            <a:r>
              <a:rPr lang="en-GB"/>
              <a:t>Key message:</a:t>
            </a:r>
          </a:p>
          <a:p>
            <a:r>
              <a:rPr lang="en-GB"/>
              <a:t>“This wasn’t just a better model—it was a combination of:</a:t>
            </a:r>
          </a:p>
          <a:p>
            <a:r>
              <a:rPr lang="en-GB"/>
              <a:t>more data </a:t>
            </a:r>
          </a:p>
          <a:p>
            <a:r>
              <a:rPr lang="en-GB"/>
              <a:t>better algorithms </a:t>
            </a:r>
          </a:p>
          <a:p>
            <a:r>
              <a:rPr lang="en-GB"/>
              <a:t>and more computing power” </a:t>
            </a:r>
          </a:p>
          <a:p>
            <a:br>
              <a:rPr lang="en-GB"/>
            </a:br>
            <a:endParaRPr lang="en-GB"/>
          </a:p>
          <a:p>
            <a:r>
              <a:rPr lang="en-GB" b="1"/>
              <a:t>6. Third AI Boom — Deep Learning → Generative AI (2010s–2020s) (1.5 min)</a:t>
            </a:r>
          </a:p>
          <a:p>
            <a:r>
              <a:rPr lang="en-GB"/>
              <a:t>Explain:</a:t>
            </a:r>
          </a:p>
          <a:p>
            <a:r>
              <a:rPr lang="en-GB"/>
              <a:t>Rapid progress in: </a:t>
            </a:r>
          </a:p>
          <a:p>
            <a:pPr lvl="1"/>
            <a:r>
              <a:rPr lang="en-GB"/>
              <a:t>speech recognition </a:t>
            </a:r>
          </a:p>
          <a:p>
            <a:pPr lvl="1"/>
            <a:r>
              <a:rPr lang="en-GB"/>
              <a:t>image recognition </a:t>
            </a:r>
          </a:p>
          <a:p>
            <a:pPr lvl="1"/>
            <a:r>
              <a:rPr lang="en-GB"/>
              <a:t>natural language </a:t>
            </a:r>
          </a:p>
          <a:p>
            <a:r>
              <a:rPr lang="en-GB"/>
              <a:t>Then transition:</a:t>
            </a:r>
          </a:p>
          <a:p>
            <a:r>
              <a:rPr lang="en-GB"/>
              <a:t>“But the real explosion happened with generative AI.”</a:t>
            </a:r>
          </a:p>
          <a:p>
            <a:br>
              <a:rPr lang="en-GB"/>
            </a:br>
            <a:endParaRPr lang="en-GB"/>
          </a:p>
          <a:p>
            <a:r>
              <a:rPr lang="en-GB" b="1"/>
              <a:t>7. ChatGPT Adoption Explosion (1 min)</a:t>
            </a:r>
          </a:p>
          <a:p>
            <a:r>
              <a:rPr lang="en-GB"/>
              <a:t>Explain:</a:t>
            </a:r>
          </a:p>
          <a:p>
            <a:r>
              <a:rPr lang="en-GB"/>
              <a:t>ChatGPT launched in late 2022 </a:t>
            </a:r>
          </a:p>
          <a:p>
            <a:r>
              <a:rPr lang="en-GB"/>
              <a:t>Reached: </a:t>
            </a:r>
          </a:p>
          <a:p>
            <a:pPr lvl="1"/>
            <a:r>
              <a:rPr lang="en-GB" b="1"/>
              <a:t>1 million users in 5 days</a:t>
            </a:r>
            <a:r>
              <a:rPr lang="en-GB"/>
              <a:t> </a:t>
            </a:r>
          </a:p>
          <a:p>
            <a:pPr lvl="1"/>
            <a:r>
              <a:rPr lang="en-GB" b="1"/>
              <a:t>100 million users in ~2 months</a:t>
            </a:r>
            <a:r>
              <a:rPr lang="en-GB"/>
              <a:t> </a:t>
            </a:r>
          </a:p>
          <a:p>
            <a:r>
              <a:rPr lang="en-GB"/>
              <a:t>Compare:</a:t>
            </a:r>
          </a:p>
          <a:p>
            <a:r>
              <a:rPr lang="en-GB"/>
              <a:t>Netflix → ~3.5 years </a:t>
            </a:r>
          </a:p>
          <a:p>
            <a:r>
              <a:rPr lang="en-GB"/>
              <a:t>Instagram → ~2.5 years </a:t>
            </a:r>
          </a:p>
          <a:p>
            <a:r>
              <a:rPr lang="en-GB"/>
              <a:t>Say:</a:t>
            </a:r>
          </a:p>
          <a:p>
            <a:r>
              <a:rPr lang="en-GB"/>
              <a:t>“This was the fastest adoption of any consumer technology in history.”</a:t>
            </a:r>
          </a:p>
          <a:p>
            <a:r>
              <a:rPr lang="en-GB"/>
              <a:t>Why this matters:</a:t>
            </a:r>
          </a:p>
          <a:p>
            <a:r>
              <a:rPr lang="en-GB"/>
              <a:t>AI became: </a:t>
            </a:r>
          </a:p>
          <a:p>
            <a:pPr lvl="1"/>
            <a:r>
              <a:rPr lang="en-GB"/>
              <a:t>accessible </a:t>
            </a:r>
          </a:p>
          <a:p>
            <a:pPr lvl="1"/>
            <a:r>
              <a:rPr lang="en-GB"/>
              <a:t>usable without technical knowledge </a:t>
            </a:r>
          </a:p>
          <a:p>
            <a:r>
              <a:rPr lang="en-GB"/>
              <a:t>Key message:</a:t>
            </a:r>
          </a:p>
          <a:p>
            <a:r>
              <a:rPr lang="en-GB"/>
              <a:t>“For the first time, every finance professional can directly use AI.”</a:t>
            </a:r>
          </a:p>
          <a:p>
            <a:br>
              <a:rPr lang="en-GB"/>
            </a:br>
            <a:endParaRPr lang="en-GB"/>
          </a:p>
          <a:p>
            <a:r>
              <a:rPr lang="en-GB" b="1"/>
              <a:t>8. Are we entering the Fourth AI Boom? — Agentic AI (1 min)</a:t>
            </a:r>
          </a:p>
          <a:p>
            <a:r>
              <a:rPr lang="en-GB"/>
              <a:t>Introduce concept:</a:t>
            </a:r>
          </a:p>
          <a:p>
            <a:r>
              <a:rPr lang="en-GB"/>
              <a:t>“Some people argue we’re now entering a fourth AI wave—Agentic AI.”</a:t>
            </a:r>
          </a:p>
          <a:p>
            <a:r>
              <a:rPr lang="en-GB"/>
              <a:t>Explain simply:</a:t>
            </a:r>
          </a:p>
          <a:p>
            <a:r>
              <a:rPr lang="en-GB"/>
              <a:t>Traditional AI: </a:t>
            </a:r>
          </a:p>
          <a:p>
            <a:pPr lvl="1"/>
            <a:r>
              <a:rPr lang="en-GB"/>
              <a:t>responds to prompts </a:t>
            </a:r>
          </a:p>
          <a:p>
            <a:r>
              <a:rPr lang="en-GB"/>
              <a:t>Agentic AI: </a:t>
            </a:r>
          </a:p>
          <a:p>
            <a:pPr lvl="1"/>
            <a:r>
              <a:rPr lang="en-GB"/>
              <a:t>takes actions </a:t>
            </a:r>
          </a:p>
          <a:p>
            <a:pPr lvl="1"/>
            <a:r>
              <a:rPr lang="en-GB"/>
              <a:t>executes tasks autonomously </a:t>
            </a:r>
          </a:p>
          <a:p>
            <a:r>
              <a:rPr lang="en-GB"/>
              <a:t>Examples:</a:t>
            </a:r>
          </a:p>
          <a:p>
            <a:r>
              <a:rPr lang="en-GB"/>
              <a:t>AI that: </a:t>
            </a:r>
          </a:p>
          <a:p>
            <a:pPr lvl="1"/>
            <a:r>
              <a:rPr lang="en-GB"/>
              <a:t>books payments </a:t>
            </a:r>
          </a:p>
          <a:p>
            <a:pPr lvl="1"/>
            <a:r>
              <a:rPr lang="en-GB"/>
              <a:t>monitors transactions </a:t>
            </a:r>
          </a:p>
          <a:p>
            <a:pPr lvl="1"/>
            <a:r>
              <a:rPr lang="en-GB"/>
              <a:t>triggers workflows </a:t>
            </a:r>
          </a:p>
          <a:p>
            <a:r>
              <a:rPr lang="en-GB"/>
              <a:t>Say:</a:t>
            </a:r>
          </a:p>
          <a:p>
            <a:r>
              <a:rPr lang="en-GB"/>
              <a:t>“Instead of just answering questions, AI starts doing work.”</a:t>
            </a:r>
          </a:p>
          <a:p>
            <a:br>
              <a:rPr lang="en-GB"/>
            </a:br>
            <a:endParaRPr lang="en-GB"/>
          </a:p>
          <a:p>
            <a:r>
              <a:rPr lang="en-GB" b="1"/>
              <a:t>9. Connect back to own roles</a:t>
            </a:r>
          </a:p>
          <a:p>
            <a:r>
              <a:rPr lang="en-GB"/>
              <a:t>Say:</a:t>
            </a:r>
          </a:p>
          <a:p>
            <a:r>
              <a:rPr lang="en-GB"/>
              <a:t>“This is where it becomes highly relevant for finance:</a:t>
            </a:r>
          </a:p>
          <a:p>
            <a:r>
              <a:rPr lang="en-GB"/>
              <a:t>automation of processes </a:t>
            </a:r>
          </a:p>
          <a:p>
            <a:r>
              <a:rPr lang="en-GB"/>
              <a:t>decision support </a:t>
            </a:r>
          </a:p>
          <a:p>
            <a:r>
              <a:rPr lang="en-GB"/>
              <a:t>real-time monitoring” </a:t>
            </a:r>
          </a:p>
          <a:p>
            <a:br>
              <a:rPr lang="en-GB"/>
            </a:br>
            <a:endParaRPr lang="en-GB"/>
          </a:p>
          <a:p>
            <a:r>
              <a:rPr lang="en-GB" b="1"/>
              <a:t>Debrief &amp; Summary</a:t>
            </a:r>
          </a:p>
          <a:p>
            <a:r>
              <a:rPr lang="en-GB"/>
              <a:t>Reinforce:</a:t>
            </a:r>
          </a:p>
          <a:p>
            <a:r>
              <a:rPr lang="en-GB"/>
              <a:t>“The key takeaway is not the history itself—it’s the direction.”</a:t>
            </a:r>
          </a:p>
          <a:p>
            <a:r>
              <a:rPr lang="en-GB"/>
              <a:t>“We’ve moved from:</a:t>
            </a:r>
            <a:br>
              <a:rPr lang="en-GB"/>
            </a:br>
            <a:r>
              <a:rPr lang="en-GB"/>
              <a:t>rules → learning → generating → acting”</a:t>
            </a:r>
          </a:p>
          <a:p>
            <a:endParaRPr lang="en-GB"/>
          </a:p>
          <a:p>
            <a:r>
              <a:rPr lang="en-GB" b="1"/>
              <a:t>Final line:</a:t>
            </a:r>
            <a:br>
              <a:rPr lang="en-GB" b="1"/>
            </a:br>
            <a:r>
              <a:rPr lang="en-GB"/>
              <a:t>“The limiting factor today is no longer technology—it’s how fast organizations can adapt.”</a:t>
            </a:r>
          </a:p>
          <a:p>
            <a:endParaRPr lang="en-US"/>
          </a:p>
          <a:p>
            <a:endParaRPr lang="en-NL"/>
          </a:p>
        </p:txBody>
      </p:sp>
      <p:sp>
        <p:nvSpPr>
          <p:cNvPr id="4" name="Slide Number Placeholder 3"/>
          <p:cNvSpPr>
            <a:spLocks noGrp="1"/>
          </p:cNvSpPr>
          <p:nvPr>
            <p:ph type="sldNum" sz="quarter" idx="5"/>
          </p:nvPr>
        </p:nvSpPr>
        <p:spPr/>
        <p:txBody>
          <a:bodyPr/>
          <a:lstStyle/>
          <a:p>
            <a:fld id="{27BFC9BD-4A5B-4D51-A308-86C711F74018}" type="slidenum">
              <a:rPr lang="en-NL" smtClean="0"/>
              <a:t>26</a:t>
            </a:fld>
            <a:endParaRPr lang="en-NL"/>
          </a:p>
        </p:txBody>
      </p:sp>
    </p:spTree>
    <p:extLst>
      <p:ext uri="{BB962C8B-B14F-4D97-AF65-F5344CB8AC3E}">
        <p14:creationId xmlns:p14="http://schemas.microsoft.com/office/powerpoint/2010/main" val="3095934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4776-007C-3754-2BE5-A570AC039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0129-8D15-ECE2-AF29-14CBC4B10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F03DB-3625-2B34-6A2C-E3185C941624}"/>
              </a:ext>
            </a:extLst>
          </p:cNvPr>
          <p:cNvSpPr>
            <a:spLocks noGrp="1"/>
          </p:cNvSpPr>
          <p:nvPr>
            <p:ph type="body" idx="1"/>
          </p:nvPr>
        </p:nvSpPr>
        <p:spPr/>
        <p:txBody>
          <a:bodyPr/>
          <a:lstStyle/>
          <a:p>
            <a:r>
              <a:rPr lang="en-GB" b="1"/>
              <a:t>Aim:</a:t>
            </a:r>
            <a:br>
              <a:rPr lang="en-GB"/>
            </a:br>
            <a:r>
              <a:rPr lang="en-GB"/>
              <a:t>Build real awareness of how AI tools handle data—so participants understand the </a:t>
            </a:r>
            <a:r>
              <a:rPr lang="en-GB" b="1"/>
              <a:t>actual risks</a:t>
            </a:r>
            <a:r>
              <a:rPr lang="en-GB"/>
              <a:t>, not just generic “be careful” advice.</a:t>
            </a:r>
          </a:p>
          <a:p>
            <a:r>
              <a:rPr lang="en-GB" b="1"/>
              <a:t>Time:</a:t>
            </a:r>
            <a:r>
              <a:rPr lang="en-GB"/>
              <a:t> 5 minutes</a:t>
            </a:r>
          </a:p>
          <a:p>
            <a:br>
              <a:rPr lang="en-GB"/>
            </a:br>
            <a:endParaRPr lang="en-GB"/>
          </a:p>
          <a:p>
            <a:r>
              <a:rPr lang="en-GB" b="1"/>
              <a:t>Instructions:</a:t>
            </a:r>
            <a:endParaRPr lang="en-GB"/>
          </a:p>
          <a:p>
            <a:r>
              <a:rPr lang="en-GB"/>
              <a:t>Explain:</a:t>
            </a:r>
          </a:p>
          <a:p>
            <a:r>
              <a:rPr lang="en-GB" b="1"/>
              <a:t>1. Data flow (simple explanation)</a:t>
            </a:r>
          </a:p>
          <a:p>
            <a:r>
              <a:rPr lang="en-GB"/>
              <a:t>“When you enter data into an AI tool, three things can happen:</a:t>
            </a:r>
          </a:p>
          <a:p>
            <a:r>
              <a:rPr lang="en-GB"/>
              <a:t>It is processed temporarily </a:t>
            </a:r>
          </a:p>
          <a:p>
            <a:r>
              <a:rPr lang="en-GB"/>
              <a:t>It may be stored </a:t>
            </a:r>
          </a:p>
          <a:p>
            <a:r>
              <a:rPr lang="en-GB"/>
              <a:t>It may be used to improve the model” </a:t>
            </a:r>
          </a:p>
          <a:p>
            <a:r>
              <a:rPr lang="en-GB"/>
              <a:t>Now differentiate clearly:</a:t>
            </a:r>
          </a:p>
          <a:p>
            <a:br>
              <a:rPr lang="en-GB"/>
            </a:br>
            <a:endParaRPr lang="en-GB"/>
          </a:p>
          <a:p>
            <a:r>
              <a:rPr lang="en-GB" b="1"/>
              <a:t>2. Enterprise tools vs public tools</a:t>
            </a:r>
          </a:p>
          <a:p>
            <a:r>
              <a:rPr lang="en-GB"/>
              <a:t>Walk through two columns:</a:t>
            </a:r>
          </a:p>
          <a:p>
            <a:r>
              <a:rPr lang="en-GB" b="1"/>
              <a:t>Enterprise AI (e.g. Copilot, Azure OpenAI)</a:t>
            </a:r>
          </a:p>
          <a:p>
            <a:r>
              <a:rPr lang="en-GB"/>
              <a:t>Data is typically: </a:t>
            </a:r>
          </a:p>
          <a:p>
            <a:pPr lvl="1"/>
            <a:r>
              <a:rPr lang="en-GB" b="1"/>
              <a:t>not used to train the model</a:t>
            </a:r>
            <a:r>
              <a:rPr lang="en-GB"/>
              <a:t> </a:t>
            </a:r>
          </a:p>
          <a:p>
            <a:pPr lvl="1"/>
            <a:r>
              <a:rPr lang="en-GB"/>
              <a:t>processed within your tenant </a:t>
            </a:r>
          </a:p>
          <a:p>
            <a:pPr lvl="1"/>
            <a:r>
              <a:rPr lang="en-GB"/>
              <a:t>governed by contracts (e.g. Microsoft, OpenAI enterprise agreements) </a:t>
            </a:r>
          </a:p>
          <a:p>
            <a:r>
              <a:rPr lang="en-GB"/>
              <a:t>Often: </a:t>
            </a:r>
          </a:p>
          <a:p>
            <a:pPr lvl="1"/>
            <a:r>
              <a:rPr lang="en-GB"/>
              <a:t>data stays within a defined region (EU / US) </a:t>
            </a:r>
          </a:p>
          <a:p>
            <a:pPr lvl="1"/>
            <a:r>
              <a:rPr lang="en-GB"/>
              <a:t>audit &amp; compliance controls apply </a:t>
            </a:r>
          </a:p>
          <a:p>
            <a:r>
              <a:rPr lang="en-GB"/>
              <a:t>Say:</a:t>
            </a:r>
          </a:p>
          <a:p>
            <a:r>
              <a:rPr lang="en-GB"/>
              <a:t>“These tools are designed for business use—so they usually come with safeguards.”</a:t>
            </a:r>
          </a:p>
          <a:p>
            <a:br>
              <a:rPr lang="en-GB"/>
            </a:br>
            <a:endParaRPr lang="en-GB"/>
          </a:p>
          <a:p>
            <a:r>
              <a:rPr lang="en-GB" b="1"/>
              <a:t>Public AI tools (e.g. free ChatGPT, some SaaS tools)</a:t>
            </a:r>
          </a:p>
          <a:p>
            <a:r>
              <a:rPr lang="en-GB"/>
              <a:t>Data may: </a:t>
            </a:r>
          </a:p>
          <a:p>
            <a:pPr lvl="1"/>
            <a:r>
              <a:rPr lang="en-GB"/>
              <a:t>be stored </a:t>
            </a:r>
          </a:p>
          <a:p>
            <a:pPr lvl="1"/>
            <a:r>
              <a:rPr lang="en-GB"/>
              <a:t>be used for model improvement (depending on settings) </a:t>
            </a:r>
          </a:p>
          <a:p>
            <a:r>
              <a:rPr lang="en-GB"/>
              <a:t>Data location: </a:t>
            </a:r>
          </a:p>
          <a:p>
            <a:pPr lvl="1"/>
            <a:r>
              <a:rPr lang="en-GB"/>
              <a:t>often unclear </a:t>
            </a:r>
          </a:p>
          <a:p>
            <a:pPr lvl="1"/>
            <a:r>
              <a:rPr lang="en-GB"/>
              <a:t>may leave EU (GDPR implication) </a:t>
            </a:r>
          </a:p>
          <a:p>
            <a:r>
              <a:rPr lang="en-GB"/>
              <a:t>Say:</a:t>
            </a:r>
          </a:p>
          <a:p>
            <a:r>
              <a:rPr lang="en-GB"/>
              <a:t>“With public tools, you often don’t fully control where your data goes—or how it’s used.”</a:t>
            </a:r>
          </a:p>
          <a:p>
            <a:br>
              <a:rPr lang="en-GB"/>
            </a:br>
            <a:endParaRPr lang="en-GB"/>
          </a:p>
          <a:p>
            <a:r>
              <a:rPr lang="en-GB" b="1"/>
              <a:t>3. Data residency (important nuance)</a:t>
            </a:r>
          </a:p>
          <a:p>
            <a:r>
              <a:rPr lang="en-GB"/>
              <a:t>Explain:</a:t>
            </a:r>
          </a:p>
          <a:p>
            <a:r>
              <a:rPr lang="en-GB"/>
              <a:t>“For many organizations—especially in finance—</a:t>
            </a:r>
            <a:r>
              <a:rPr lang="en-GB" i="1"/>
              <a:t>where</a:t>
            </a:r>
            <a:r>
              <a:rPr lang="en-GB"/>
              <a:t> the data is stored matters.”</a:t>
            </a:r>
          </a:p>
          <a:p>
            <a:r>
              <a:rPr lang="en-GB"/>
              <a:t>Examples:</a:t>
            </a:r>
          </a:p>
          <a:p>
            <a:r>
              <a:rPr lang="en-GB"/>
              <a:t>EU vs US servers </a:t>
            </a:r>
          </a:p>
          <a:p>
            <a:r>
              <a:rPr lang="en-GB"/>
              <a:t>cross-border data transfer restrictions </a:t>
            </a:r>
          </a:p>
          <a:p>
            <a:r>
              <a:rPr lang="en-GB"/>
              <a:t>regulatory constraints </a:t>
            </a:r>
          </a:p>
          <a:p>
            <a:r>
              <a:rPr lang="en-GB"/>
              <a:t>Ask:</a:t>
            </a:r>
          </a:p>
          <a:p>
            <a:r>
              <a:rPr lang="en-GB"/>
              <a:t>“Would your organization allow financial data to be processed outside the EU?”</a:t>
            </a:r>
          </a:p>
          <a:p>
            <a:br>
              <a:rPr lang="en-GB"/>
            </a:br>
            <a:endParaRPr lang="en-GB"/>
          </a:p>
          <a:p>
            <a:r>
              <a:rPr lang="en-GB" b="1"/>
              <a:t>4. Training on your data</a:t>
            </a:r>
          </a:p>
          <a:p>
            <a:r>
              <a:rPr lang="en-GB"/>
              <a:t>Clarify a common misconception:</a:t>
            </a:r>
          </a:p>
          <a:p>
            <a:r>
              <a:rPr lang="en-GB"/>
              <a:t>“Not every AI tool trains on your data—but some do, and many people don’t know which.”</a:t>
            </a:r>
          </a:p>
          <a:p>
            <a:r>
              <a:rPr lang="en-GB"/>
              <a:t>Explain:</a:t>
            </a:r>
          </a:p>
          <a:p>
            <a:r>
              <a:rPr lang="en-GB"/>
              <a:t>Enterprise tools → usually </a:t>
            </a:r>
            <a:r>
              <a:rPr lang="en-GB" b="1"/>
              <a:t>no training on your inputs</a:t>
            </a:r>
            <a:r>
              <a:rPr lang="en-GB"/>
              <a:t> </a:t>
            </a:r>
          </a:p>
          <a:p>
            <a:r>
              <a:rPr lang="en-GB"/>
              <a:t>Public tools → depends on settings &amp; provider </a:t>
            </a:r>
          </a:p>
          <a:p>
            <a:br>
              <a:rPr lang="en-GB"/>
            </a:br>
            <a:endParaRPr lang="en-GB"/>
          </a:p>
          <a:p>
            <a:r>
              <a:rPr lang="en-GB" b="1"/>
              <a:t>5. Practical decision rule</a:t>
            </a:r>
          </a:p>
          <a:p>
            <a:r>
              <a:rPr lang="en-GB"/>
              <a:t>Give something usable:</a:t>
            </a:r>
          </a:p>
          <a:p>
            <a:r>
              <a:rPr lang="en-GB"/>
              <a:t>“Before using any AI tool, ask three questions:</a:t>
            </a:r>
          </a:p>
          <a:p>
            <a:r>
              <a:rPr lang="en-GB"/>
              <a:t>Where is my data stored? </a:t>
            </a:r>
          </a:p>
          <a:p>
            <a:r>
              <a:rPr lang="en-GB"/>
              <a:t>Is it used to train the model? </a:t>
            </a:r>
          </a:p>
          <a:p>
            <a:r>
              <a:rPr lang="en-GB"/>
              <a:t>Is this tool approved by my organization?” </a:t>
            </a:r>
          </a:p>
          <a:p>
            <a:br>
              <a:rPr lang="en-GB"/>
            </a:br>
            <a:endParaRPr lang="en-GB"/>
          </a:p>
          <a:p>
            <a:r>
              <a:rPr lang="en-GB" b="1"/>
              <a:t>Debrief &amp; Summary:</a:t>
            </a:r>
            <a:endParaRPr lang="en-GB"/>
          </a:p>
          <a:p>
            <a:r>
              <a:rPr lang="en-GB"/>
              <a:t>“The risk is not just </a:t>
            </a:r>
            <a:r>
              <a:rPr lang="en-GB" i="1"/>
              <a:t>what AI produces</a:t>
            </a:r>
            <a:r>
              <a:rPr lang="en-GB"/>
              <a:t>—it’s also </a:t>
            </a:r>
            <a:r>
              <a:rPr lang="en-GB" i="1"/>
              <a:t>what you feed into it</a:t>
            </a:r>
            <a:r>
              <a:rPr lang="en-GB"/>
              <a:t>.”</a:t>
            </a:r>
          </a:p>
          <a:p>
            <a:r>
              <a:rPr lang="en-GB"/>
              <a:t>“In finance, data sensitivity is the default—not the exception.”</a:t>
            </a:r>
          </a:p>
          <a:p>
            <a:endParaRPr lang="en-GB"/>
          </a:p>
        </p:txBody>
      </p:sp>
      <p:sp>
        <p:nvSpPr>
          <p:cNvPr id="4" name="Slide Number Placeholder 3">
            <a:extLst>
              <a:ext uri="{FF2B5EF4-FFF2-40B4-BE49-F238E27FC236}">
                <a16:creationId xmlns:a16="http://schemas.microsoft.com/office/drawing/2014/main" id="{89DCD53A-A3EB-F225-570B-C23A8293C0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1862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CE9E-947B-457B-1D57-EC5E0FFB7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6B01C-B988-140E-E7AF-3B24A18E9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2C452-6C7F-0BFB-A0FB-EA9F34045A73}"/>
              </a:ext>
            </a:extLst>
          </p:cNvPr>
          <p:cNvSpPr>
            <a:spLocks noGrp="1"/>
          </p:cNvSpPr>
          <p:nvPr>
            <p:ph type="body" idx="1"/>
          </p:nvPr>
        </p:nvSpPr>
        <p:spPr/>
        <p:txBody>
          <a:bodyPr/>
          <a:lstStyle/>
          <a:p>
            <a:r>
              <a:rPr lang="en-GB" b="1"/>
              <a:t>Aim:</a:t>
            </a:r>
            <a:br>
              <a:rPr lang="en-GB"/>
            </a:br>
            <a:r>
              <a:rPr lang="en-GB"/>
              <a:t>Build healthy scepticism and awareness.</a:t>
            </a:r>
          </a:p>
          <a:p>
            <a:r>
              <a:rPr lang="en-GB" b="1"/>
              <a:t>Time:</a:t>
            </a:r>
            <a:r>
              <a:rPr lang="en-GB"/>
              <a:t> 7 minutes</a:t>
            </a:r>
          </a:p>
          <a:p>
            <a:br>
              <a:rPr lang="en-GB"/>
            </a:br>
            <a:endParaRPr lang="en-GB"/>
          </a:p>
          <a:p>
            <a:r>
              <a:rPr lang="en-GB" b="1"/>
              <a:t>Instructions:</a:t>
            </a:r>
            <a:endParaRPr lang="en-GB"/>
          </a:p>
          <a:p>
            <a:r>
              <a:rPr lang="en-GB"/>
              <a:t>Explain failure modes:</a:t>
            </a:r>
          </a:p>
          <a:p>
            <a:r>
              <a:rPr lang="en-GB"/>
              <a:t>hallucinations </a:t>
            </a:r>
          </a:p>
          <a:p>
            <a:r>
              <a:rPr lang="en-GB"/>
              <a:t>arithmetic errors </a:t>
            </a:r>
          </a:p>
          <a:p>
            <a:r>
              <a:rPr lang="en-GB"/>
              <a:t>overconfidence </a:t>
            </a:r>
          </a:p>
          <a:p>
            <a:r>
              <a:rPr lang="en-GB"/>
              <a:t>Show example (important moment).</a:t>
            </a:r>
          </a:p>
          <a:p>
            <a:r>
              <a:rPr lang="en-GB"/>
              <a:t>Ask:</a:t>
            </a:r>
          </a:p>
          <a:p>
            <a:r>
              <a:rPr lang="en-GB"/>
              <a:t>“Would you have caught this if this came from a colleague?”</a:t>
            </a:r>
          </a:p>
          <a:p>
            <a:r>
              <a:rPr lang="en-GB"/>
              <a:t>Pause.</a:t>
            </a:r>
          </a:p>
          <a:p>
            <a:r>
              <a:rPr lang="en-GB"/>
              <a:t>Then:</a:t>
            </a:r>
          </a:p>
          <a:p>
            <a:r>
              <a:rPr lang="en-GB"/>
              <a:t>“AI sounds confident—even when it’s wrong.”</a:t>
            </a:r>
          </a:p>
          <a:p>
            <a:br>
              <a:rPr lang="en-GB"/>
            </a:br>
            <a:endParaRPr lang="en-GB"/>
          </a:p>
          <a:p>
            <a:r>
              <a:rPr lang="en-GB" b="1"/>
              <a:t>Debrief &amp; Summary:</a:t>
            </a:r>
            <a:endParaRPr lang="en-GB"/>
          </a:p>
          <a:p>
            <a:r>
              <a:rPr lang="en-GB"/>
              <a:t>“Confidence ≠ correctness. Always validate.”</a:t>
            </a:r>
          </a:p>
          <a:p>
            <a:endParaRPr lang="en-GB"/>
          </a:p>
        </p:txBody>
      </p:sp>
      <p:sp>
        <p:nvSpPr>
          <p:cNvPr id="4" name="Slide Number Placeholder 3">
            <a:extLst>
              <a:ext uri="{FF2B5EF4-FFF2-40B4-BE49-F238E27FC236}">
                <a16:creationId xmlns:a16="http://schemas.microsoft.com/office/drawing/2014/main" id="{F75695E6-B3EB-C2B2-5007-B8370172C7A0}"/>
              </a:ext>
            </a:extLst>
          </p:cNvPr>
          <p:cNvSpPr>
            <a:spLocks noGrp="1"/>
          </p:cNvSpPr>
          <p:nvPr>
            <p:ph type="sldNum" sz="quarter" idx="5"/>
          </p:nvPr>
        </p:nvSpPr>
        <p:spPr/>
        <p:txBody>
          <a:bodyPr/>
          <a:lstStyle/>
          <a:p>
            <a:fld id="{7E1B0218-FCD9-461F-A284-B79033796C48}" type="slidenum">
              <a:rPr lang="en-GB" smtClean="0"/>
              <a:t>28</a:t>
            </a:fld>
            <a:endParaRPr lang="en-GB"/>
          </a:p>
        </p:txBody>
      </p:sp>
    </p:spTree>
    <p:extLst>
      <p:ext uri="{BB962C8B-B14F-4D97-AF65-F5344CB8AC3E}">
        <p14:creationId xmlns:p14="http://schemas.microsoft.com/office/powerpoint/2010/main" val="2519664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A9249-7B81-82ED-D2DF-992049BE4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B31DC-88DA-3DF0-BAF5-90C36671D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17BF9-3ACF-508D-D26C-DE7328101E26}"/>
              </a:ext>
            </a:extLst>
          </p:cNvPr>
          <p:cNvSpPr>
            <a:spLocks noGrp="1"/>
          </p:cNvSpPr>
          <p:nvPr>
            <p:ph type="body" idx="1"/>
          </p:nvPr>
        </p:nvSpPr>
        <p:spPr/>
        <p:txBody>
          <a:bodyPr/>
          <a:lstStyle/>
          <a:p>
            <a:r>
              <a:rPr lang="en-GB" b="1"/>
              <a:t>Aim:</a:t>
            </a:r>
            <a:br>
              <a:rPr lang="en-GB"/>
            </a:br>
            <a:r>
              <a:rPr lang="en-GB"/>
              <a:t>Translate discussion into practical rules.</a:t>
            </a:r>
          </a:p>
          <a:p>
            <a:r>
              <a:rPr lang="en-GB" b="1"/>
              <a:t>Time:</a:t>
            </a:r>
            <a:r>
              <a:rPr lang="en-GB"/>
              <a:t> 5 minutes</a:t>
            </a:r>
          </a:p>
          <a:p>
            <a:br>
              <a:rPr lang="en-GB"/>
            </a:br>
            <a:endParaRPr lang="en-GB"/>
          </a:p>
          <a:p>
            <a:r>
              <a:rPr lang="en-GB" b="1"/>
              <a:t>Instructions:</a:t>
            </a:r>
            <a:endParaRPr lang="en-GB"/>
          </a:p>
          <a:p>
            <a:r>
              <a:rPr lang="en-GB"/>
              <a:t>Summarize patterns:</a:t>
            </a:r>
          </a:p>
          <a:p>
            <a:r>
              <a:rPr lang="en-GB"/>
              <a:t>Personal data → high risk </a:t>
            </a:r>
          </a:p>
          <a:p>
            <a:r>
              <a:rPr lang="en-GB"/>
              <a:t>Internal sensitive data → context dependent </a:t>
            </a:r>
          </a:p>
          <a:p>
            <a:r>
              <a:rPr lang="en-GB"/>
              <a:t>Operational data → often safe (with enterprise tools) </a:t>
            </a:r>
          </a:p>
          <a:p>
            <a:r>
              <a:rPr lang="en-GB"/>
              <a:t>Add nuance:</a:t>
            </a:r>
          </a:p>
          <a:p>
            <a:r>
              <a:rPr lang="en-GB"/>
              <a:t>“But even operational data can become sensitive if it reveals strategy or performance.”</a:t>
            </a:r>
          </a:p>
          <a:p>
            <a:br>
              <a:rPr lang="en-GB"/>
            </a:br>
            <a:endParaRPr lang="en-GB"/>
          </a:p>
          <a:p>
            <a:r>
              <a:rPr lang="en-GB" b="1"/>
              <a:t>Give a decision heuristic:</a:t>
            </a:r>
          </a:p>
          <a:p>
            <a:r>
              <a:rPr lang="en-GB"/>
              <a:t>“If you wouldn’t email it externally—you probably shouldn’t paste it into an AI tool.”</a:t>
            </a:r>
          </a:p>
          <a:p>
            <a:br>
              <a:rPr lang="en-GB"/>
            </a:br>
            <a:endParaRPr lang="en-GB"/>
          </a:p>
          <a:p>
            <a:r>
              <a:rPr lang="en-GB" b="1"/>
              <a:t>Debrief &amp; Summary:</a:t>
            </a:r>
            <a:endParaRPr lang="en-GB"/>
          </a:p>
          <a:p>
            <a:r>
              <a:rPr lang="en-GB"/>
              <a:t>“Think before you paste—and understand your tools.”</a:t>
            </a:r>
          </a:p>
          <a:p>
            <a:endParaRPr lang="en-GB"/>
          </a:p>
        </p:txBody>
      </p:sp>
      <p:sp>
        <p:nvSpPr>
          <p:cNvPr id="4" name="Slide Number Placeholder 3">
            <a:extLst>
              <a:ext uri="{FF2B5EF4-FFF2-40B4-BE49-F238E27FC236}">
                <a16:creationId xmlns:a16="http://schemas.microsoft.com/office/drawing/2014/main" id="{02F827CF-281D-4847-A2CA-6D95AAABD0E1}"/>
              </a:ext>
            </a:extLst>
          </p:cNvPr>
          <p:cNvSpPr>
            <a:spLocks noGrp="1"/>
          </p:cNvSpPr>
          <p:nvPr>
            <p:ph type="sldNum" sz="quarter" idx="5"/>
          </p:nvPr>
        </p:nvSpPr>
        <p:spPr/>
        <p:txBody>
          <a:bodyPr/>
          <a:lstStyle/>
          <a:p>
            <a:fld id="{7E1B0218-FCD9-461F-A284-B79033796C48}" type="slidenum">
              <a:rPr lang="en-GB" smtClean="0"/>
              <a:t>29</a:t>
            </a:fld>
            <a:endParaRPr lang="en-GB"/>
          </a:p>
        </p:txBody>
      </p:sp>
    </p:spTree>
    <p:extLst>
      <p:ext uri="{BB962C8B-B14F-4D97-AF65-F5344CB8AC3E}">
        <p14:creationId xmlns:p14="http://schemas.microsoft.com/office/powerpoint/2010/main" val="823388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D8B58-9499-0B98-582C-778F94102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0A01-F96F-805A-ECC5-BB17E7C3D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EDCFD-7BCE-1AF1-4629-303FC13BEAD9}"/>
              </a:ext>
            </a:extLst>
          </p:cNvPr>
          <p:cNvSpPr>
            <a:spLocks noGrp="1"/>
          </p:cNvSpPr>
          <p:nvPr>
            <p:ph type="body" idx="1"/>
          </p:nvPr>
        </p:nvSpPr>
        <p:spPr/>
        <p:txBody>
          <a:bodyPr/>
          <a:lstStyle/>
          <a:p>
            <a:r>
              <a:rPr lang="en-GB" b="1"/>
              <a:t>Aim:</a:t>
            </a:r>
            <a:br>
              <a:rPr lang="en-GB"/>
            </a:br>
            <a:r>
              <a:rPr lang="en-GB"/>
              <a:t>Help participants recognize how much of their work is repetitive and rule-based—and therefore a strong candidate for AI-driven automation—before showing the Power Automate example.</a:t>
            </a:r>
          </a:p>
          <a:p>
            <a:r>
              <a:rPr lang="en-GB" b="1"/>
              <a:t>Time:</a:t>
            </a:r>
            <a:r>
              <a:rPr lang="en-GB"/>
              <a:t> 5 minutes (before demo)</a:t>
            </a:r>
          </a:p>
          <a:p>
            <a:br>
              <a:rPr lang="en-GB"/>
            </a:br>
            <a:endParaRPr lang="en-GB"/>
          </a:p>
          <a:p>
            <a:r>
              <a:rPr lang="en-GB" b="1"/>
              <a:t>Instructions</a:t>
            </a:r>
          </a:p>
          <a:p>
            <a:r>
              <a:rPr lang="en-GB" b="1"/>
              <a:t>1. Set the context (1 min)</a:t>
            </a:r>
          </a:p>
          <a:p>
            <a:r>
              <a:rPr lang="en-GB"/>
              <a:t>Start with:</a:t>
            </a:r>
          </a:p>
          <a:p>
            <a:r>
              <a:rPr lang="en-GB"/>
              <a:t>“Let’s shift from analysis and decision-making to something very practical—routine work.”</a:t>
            </a:r>
          </a:p>
          <a:p>
            <a:r>
              <a:rPr lang="en-GB"/>
              <a:t>Point to the slide:</a:t>
            </a:r>
          </a:p>
          <a:p>
            <a:r>
              <a:rPr lang="en-GB"/>
              <a:t>“AI is particularly strong when it comes to repetitive, structured tasks—the kind of work that follows patterns.”</a:t>
            </a:r>
          </a:p>
          <a:p>
            <a:br>
              <a:rPr lang="en-GB"/>
            </a:br>
            <a:endParaRPr lang="en-GB"/>
          </a:p>
          <a:p>
            <a:r>
              <a:rPr lang="en-GB" b="1"/>
              <a:t>2. Walk through the examples (2 min)</a:t>
            </a:r>
          </a:p>
          <a:p>
            <a:r>
              <a:rPr lang="en-GB"/>
              <a:t>Go through each item slowly and make it relatable:</a:t>
            </a:r>
          </a:p>
          <a:p>
            <a:r>
              <a:rPr lang="en-GB" b="1"/>
              <a:t>Invoice processing</a:t>
            </a:r>
          </a:p>
          <a:p>
            <a:r>
              <a:rPr lang="en-GB"/>
              <a:t>“Think about invoice processing—reading invoices, extracting fields, entering them into systems.”</a:t>
            </a:r>
          </a:p>
          <a:p>
            <a:r>
              <a:rPr lang="en-GB"/>
              <a:t>Ask:</a:t>
            </a:r>
          </a:p>
          <a:p>
            <a:r>
              <a:rPr lang="en-GB"/>
              <a:t>“Who here still does parts of this manually?”</a:t>
            </a:r>
          </a:p>
          <a:p>
            <a:r>
              <a:rPr lang="en-GB"/>
              <a:t>(Expect many hands)</a:t>
            </a:r>
          </a:p>
          <a:p>
            <a:br>
              <a:rPr lang="en-GB"/>
            </a:br>
            <a:endParaRPr lang="en-GB"/>
          </a:p>
          <a:p>
            <a:r>
              <a:rPr lang="en-GB" b="1"/>
              <a:t>Expense categorization</a:t>
            </a:r>
          </a:p>
          <a:p>
            <a:r>
              <a:rPr lang="en-GB"/>
              <a:t>“Expense categorization—assigning transactions to the right cost category.”</a:t>
            </a:r>
          </a:p>
          <a:p>
            <a:r>
              <a:rPr lang="en-GB"/>
              <a:t>Add nuance:</a:t>
            </a:r>
          </a:p>
          <a:p>
            <a:r>
              <a:rPr lang="en-GB"/>
              <a:t>“Often this is based on rules, memory, or experience—but it’s still repetitive.”</a:t>
            </a:r>
          </a:p>
          <a:p>
            <a:br>
              <a:rPr lang="en-GB"/>
            </a:br>
            <a:endParaRPr lang="en-GB"/>
          </a:p>
          <a:p>
            <a:r>
              <a:rPr lang="en-GB" b="1"/>
              <a:t>Financial reporting</a:t>
            </a:r>
          </a:p>
          <a:p>
            <a:r>
              <a:rPr lang="en-GB"/>
              <a:t>“Even reporting—while it feels analytical—often includes repetitive steps:</a:t>
            </a:r>
          </a:p>
          <a:p>
            <a:r>
              <a:rPr lang="en-GB"/>
              <a:t>gathering data </a:t>
            </a:r>
          </a:p>
          <a:p>
            <a:r>
              <a:rPr lang="en-GB"/>
              <a:t>formatting outputs </a:t>
            </a:r>
          </a:p>
          <a:p>
            <a:r>
              <a:rPr lang="en-GB"/>
              <a:t>writing similar commentary every month” </a:t>
            </a:r>
          </a:p>
          <a:p>
            <a:br>
              <a:rPr lang="en-GB"/>
            </a:br>
            <a:endParaRPr lang="en-GB"/>
          </a:p>
          <a:p>
            <a:r>
              <a:rPr lang="en-GB" b="1"/>
              <a:t>3. Make the key insight explicit (1 min)</a:t>
            </a:r>
          </a:p>
          <a:p>
            <a:r>
              <a:rPr lang="en-GB"/>
              <a:t>Say:</a:t>
            </a:r>
          </a:p>
          <a:p>
            <a:r>
              <a:rPr lang="en-GB"/>
              <a:t>“These tasks share three characteristics:</a:t>
            </a:r>
          </a:p>
          <a:p>
            <a:r>
              <a:rPr lang="en-GB"/>
              <a:t>they are repetitive </a:t>
            </a:r>
          </a:p>
          <a:p>
            <a:r>
              <a:rPr lang="en-GB"/>
              <a:t>they follow patterns </a:t>
            </a:r>
          </a:p>
          <a:p>
            <a:r>
              <a:rPr lang="en-GB"/>
              <a:t>they don’t always require deep judgment” </a:t>
            </a:r>
          </a:p>
          <a:p>
            <a:r>
              <a:rPr lang="en-GB"/>
              <a:t>Pause.</a:t>
            </a:r>
          </a:p>
          <a:p>
            <a:r>
              <a:rPr lang="en-GB"/>
              <a:t>Then:</a:t>
            </a:r>
          </a:p>
          <a:p>
            <a:r>
              <a:rPr lang="en-GB"/>
              <a:t>“That’s exactly where AI performs best.”</a:t>
            </a:r>
          </a:p>
          <a:p>
            <a:br>
              <a:rPr lang="en-GB"/>
            </a:br>
            <a:endParaRPr lang="en-GB"/>
          </a:p>
          <a:p>
            <a:r>
              <a:rPr lang="en-GB" b="1"/>
              <a:t>4. Bridge to automation (1 min)</a:t>
            </a:r>
          </a:p>
          <a:p>
            <a:r>
              <a:rPr lang="en-GB"/>
              <a:t>Transition clearly:</a:t>
            </a:r>
          </a:p>
          <a:p>
            <a:r>
              <a:rPr lang="en-GB"/>
              <a:t>“So instead of asking: </a:t>
            </a:r>
            <a:r>
              <a:rPr lang="en-GB" i="1"/>
              <a:t>Can AI do this?</a:t>
            </a:r>
            <a:br>
              <a:rPr lang="en-GB"/>
            </a:br>
            <a:r>
              <a:rPr lang="en-GB"/>
              <a:t>A better question is: </a:t>
            </a:r>
            <a:r>
              <a:rPr lang="en-GB" i="1"/>
              <a:t>Which parts of this process can be automated—and which parts still need human oversight?</a:t>
            </a:r>
            <a:r>
              <a:rPr lang="en-GB"/>
              <a:t>”</a:t>
            </a:r>
          </a:p>
          <a:p>
            <a:br>
              <a:rPr lang="en-GB"/>
            </a:br>
            <a:endParaRPr lang="en-GB"/>
          </a:p>
          <a:p>
            <a:r>
              <a:rPr lang="en-GB" b="1"/>
              <a:t>5. Set up the demo</a:t>
            </a:r>
          </a:p>
          <a:p>
            <a:r>
              <a:rPr lang="en-GB"/>
              <a:t>Say:</a:t>
            </a:r>
          </a:p>
          <a:p>
            <a:r>
              <a:rPr lang="en-GB"/>
              <a:t>“Let’s make this concrete. I’ll show you a simple example using invoice processing.”</a:t>
            </a:r>
          </a:p>
          <a:p>
            <a:r>
              <a:rPr lang="en-GB"/>
              <a:t>“Not to turn you into Power Automate experts—but to show how AI fits into a real finance workflow.”</a:t>
            </a:r>
          </a:p>
          <a:p>
            <a:br>
              <a:rPr lang="en-GB"/>
            </a:br>
            <a:endParaRPr lang="en-GB"/>
          </a:p>
          <a:p>
            <a:r>
              <a:rPr lang="en-GB" b="1"/>
              <a:t>Debrief &amp; Summary (before demo transition)</a:t>
            </a:r>
          </a:p>
          <a:p>
            <a:r>
              <a:rPr lang="en-GB"/>
              <a:t>“If a task is repetitive and rule-based, AI can likely support or automate it.”</a:t>
            </a:r>
          </a:p>
          <a:p>
            <a:r>
              <a:rPr lang="en-GB"/>
              <a:t>“But—and this is important—it doesn’t remove the need for control. It changes your role from doing → checking.”</a:t>
            </a:r>
          </a:p>
          <a:p>
            <a:endParaRPr lang="en-US"/>
          </a:p>
        </p:txBody>
      </p:sp>
      <p:sp>
        <p:nvSpPr>
          <p:cNvPr id="4" name="Slide Number Placeholder 3">
            <a:extLst>
              <a:ext uri="{FF2B5EF4-FFF2-40B4-BE49-F238E27FC236}">
                <a16:creationId xmlns:a16="http://schemas.microsoft.com/office/drawing/2014/main" id="{90982F9A-C928-8FE5-9BE5-75FF68E32FDC}"/>
              </a:ext>
            </a:extLst>
          </p:cNvPr>
          <p:cNvSpPr>
            <a:spLocks noGrp="1"/>
          </p:cNvSpPr>
          <p:nvPr>
            <p:ph type="sldNum" sz="quarter" idx="5"/>
          </p:nvPr>
        </p:nvSpPr>
        <p:spPr/>
        <p:txBody>
          <a:bodyPr/>
          <a:lstStyle/>
          <a:p>
            <a:fld id="{27BFC9BD-4A5B-4D51-A308-86C711F74018}" type="slidenum">
              <a:rPr lang="en-NL" smtClean="0"/>
              <a:t>30</a:t>
            </a:fld>
            <a:endParaRPr lang="en-NL"/>
          </a:p>
        </p:txBody>
      </p:sp>
    </p:spTree>
    <p:extLst>
      <p:ext uri="{BB962C8B-B14F-4D97-AF65-F5344CB8AC3E}">
        <p14:creationId xmlns:p14="http://schemas.microsoft.com/office/powerpoint/2010/main" val="35248533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6AF49-6801-CDE4-E8C3-F891B1FF8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09C72-A725-B9A3-7354-B421FF13C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949A8-3845-5C6E-3A20-FB9D7F3467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3DD0C2-DB48-53E2-212A-16E4D55C98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1225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AF94-1A65-4033-B5CC-5672FF8C0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FF17B-C8F2-D68D-F7AB-70B0046E495D}"/>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2CB10DFA-4899-FB16-6A0D-5BAF55F9737F}"/>
              </a:ext>
            </a:extLst>
          </p:cNvPr>
          <p:cNvSpPr>
            <a:spLocks noGrp="1"/>
          </p:cNvSpPr>
          <p:nvPr>
            <p:ph type="body" idx="1"/>
          </p:nvPr>
        </p:nvSpPr>
        <p:spPr/>
        <p:txBody>
          <a:bodyPr/>
          <a:lstStyle/>
          <a:p>
            <a:r>
              <a:rPr lang="en-US"/>
              <a:t>Aim: Apply the session's tools directly to participants' own projects — moving from theory to a concrete, upgraded A3.</a:t>
            </a:r>
          </a:p>
          <a:p>
            <a:r>
              <a:rPr lang="en-US"/>
              <a:t>Time: 35 minutes (including debrief)</a:t>
            </a:r>
          </a:p>
          <a:p>
            <a:r>
              <a:rPr lang="en-US"/>
              <a:t>Instructions: Read the instructions clearly before sending groups to breakout rooms. </a:t>
            </a:r>
            <a:r>
              <a:rPr lang="en-US" err="1"/>
              <a:t>Emphasise</a:t>
            </a:r>
            <a:r>
              <a:rPr lang="en-US"/>
              <a:t> three things before they start:</a:t>
            </a:r>
          </a:p>
          <a:p>
            <a:r>
              <a:rPr lang="en-US"/>
              <a:t>"First — one person shares their screen and you work on the A3 together, not separately. Second — if you don't know the answer to a question, that's not a problem. Write it down as a question for your sponsor. That's the output. Third — you're not finishing the A3. You're upgrading it."</a:t>
            </a:r>
          </a:p>
          <a:p>
            <a:r>
              <a:rPr lang="en-US"/>
              <a:t>While groups work, move between rooms. Listen for two things:</a:t>
            </a:r>
          </a:p>
          <a:p>
            <a:r>
              <a:rPr lang="en-US"/>
              <a:t>Groups that are stuck on what a Moment of Truth is — redirect them to the customer perspective, not the internal process.</a:t>
            </a:r>
          </a:p>
          <a:p>
            <a:r>
              <a:rPr lang="en-US"/>
              <a:t>Groups that are filling in KPIs without linking them to </a:t>
            </a:r>
            <a:r>
              <a:rPr lang="en-US" err="1"/>
              <a:t>organisational</a:t>
            </a:r>
            <a:r>
              <a:rPr lang="en-US"/>
              <a:t> goals — push them: "Which KPI tree does this sit in?"</a:t>
            </a:r>
          </a:p>
          <a:p>
            <a:r>
              <a:rPr lang="en-US"/>
              <a:t>At 25 minutes, give a 5-minute warning. At 30 minutes, bring everyone back to the main room.</a:t>
            </a:r>
          </a:p>
          <a:p>
            <a:r>
              <a:rPr lang="en-US"/>
              <a:t>Key discussion points:</a:t>
            </a:r>
          </a:p>
          <a:p>
            <a:r>
              <a:rPr lang="en-US"/>
              <a:t>The Ambition quadrant is about customer and strategy — not about what the team wants to fix.</a:t>
            </a:r>
          </a:p>
          <a:p>
            <a:r>
              <a:rPr lang="en-US"/>
              <a:t>Leading vs. lagging KPI distinction is often the hardest part — give examples if needed.</a:t>
            </a:r>
          </a:p>
          <a:p>
            <a:r>
              <a:rPr lang="en-US"/>
              <a:t>Questions for the sponsor are as valuable as answers — they show strategic thinking.</a:t>
            </a:r>
          </a:p>
          <a:p>
            <a:r>
              <a:rPr lang="en-US"/>
              <a:t>Link to reality: "The upgrade from 0.1 to 0.2 is not about having more answers. It's about asking better questions. A sponsor who receives good questions trusts you more than one who receives a half-finished plan."</a:t>
            </a:r>
          </a:p>
          <a:p>
            <a:r>
              <a:rPr lang="en-US"/>
              <a:t>Debrief &amp; Summary: "What changed in your A3 is less important than what you now know you still need to find out."</a:t>
            </a:r>
          </a:p>
          <a:p>
            <a:endParaRPr lang="en-US"/>
          </a:p>
        </p:txBody>
      </p:sp>
      <p:sp>
        <p:nvSpPr>
          <p:cNvPr id="4" name="Slide Number Placeholder 3">
            <a:extLst>
              <a:ext uri="{FF2B5EF4-FFF2-40B4-BE49-F238E27FC236}">
                <a16:creationId xmlns:a16="http://schemas.microsoft.com/office/drawing/2014/main" id="{6DA1B3BD-4AE7-F2A4-50D4-8CFBE973B2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9359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8E3B8-9AF8-C799-BFF2-CCF1C726E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C0B52-F10C-2E54-9F0F-DBBE33B7B0B3}"/>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0FEA5FB1-4B98-1903-253C-C76D08C083E3}"/>
              </a:ext>
            </a:extLst>
          </p:cNvPr>
          <p:cNvSpPr>
            <a:spLocks noGrp="1"/>
          </p:cNvSpPr>
          <p:nvPr>
            <p:ph type="body" idx="1"/>
          </p:nvPr>
        </p:nvSpPr>
        <p:spPr/>
        <p:txBody>
          <a:bodyPr/>
          <a:lstStyle/>
          <a:p>
            <a:r>
              <a:rPr lang="en-US"/>
              <a:t>Aim: Surface what participants discovered about their own projects — and make the gaps visible as useful information, not failures.</a:t>
            </a:r>
          </a:p>
          <a:p>
            <a:r>
              <a:rPr lang="en-US"/>
              <a:t>Time: 8 minutes</a:t>
            </a:r>
          </a:p>
          <a:p>
            <a:r>
              <a:rPr lang="en-US"/>
              <a:t>Instructions: Ask the three questions one at a time. Don't rush.</a:t>
            </a:r>
          </a:p>
          <a:p>
            <a:r>
              <a:rPr lang="en-US"/>
              <a:t>Start with question 1: "What did you </a:t>
            </a:r>
            <a:r>
              <a:rPr lang="en-US" err="1"/>
              <a:t>realise</a:t>
            </a:r>
            <a:r>
              <a:rPr lang="en-US"/>
              <a:t> you don't know yet about your own project?" Let 2–3 people answer. Validate every answer — there are no wrong ones here.</a:t>
            </a:r>
          </a:p>
          <a:p>
            <a:r>
              <a:rPr lang="en-US"/>
              <a:t>Then question 2: "Which quadrant felt harder — Ambition or KPIs? Why?" This usually splits the room. Ambition is harder when the project lacks strategic clarity. KPIs are harder when success hasn't been defined. Both are useful to surface.</a:t>
            </a:r>
          </a:p>
          <a:p>
            <a:r>
              <a:rPr lang="en-US"/>
              <a:t>Then question 3: "What is ONE question you will ask your sponsor before Session 3?" Write these on the whiteboard or in chat if online. This turns the debrief into a commitment.</a:t>
            </a:r>
          </a:p>
          <a:p>
            <a:r>
              <a:rPr lang="en-US"/>
              <a:t>Key discussion points:</a:t>
            </a:r>
          </a:p>
          <a:p>
            <a:r>
              <a:rPr lang="en-US"/>
              <a:t>Not knowing is not a weakness — it's where the real work begins.</a:t>
            </a:r>
          </a:p>
          <a:p>
            <a:r>
              <a:rPr lang="en-US"/>
              <a:t>The gap between Ambition and KPIs is where most projects lose their sponsor's trust.</a:t>
            </a:r>
          </a:p>
          <a:p>
            <a:r>
              <a:rPr lang="en-US"/>
              <a:t>Leaving with one sponsor question is more valuable than leaving with a filled-in A3.</a:t>
            </a:r>
          </a:p>
          <a:p>
            <a:r>
              <a:rPr lang="en-US"/>
              <a:t>Link to reality: "The best project managers I've worked with aren't the ones with all the answers. They're the ones who know exactly which questions to ask — and who to ask them to."</a:t>
            </a:r>
          </a:p>
          <a:p>
            <a:r>
              <a:rPr lang="en-US"/>
              <a:t>Debrief &amp; Summary: "Your gaps are your agenda. The questions you write down today become your Session 3 preparation."</a:t>
            </a:r>
          </a:p>
          <a:p>
            <a:endParaRPr lang="en-US"/>
          </a:p>
        </p:txBody>
      </p:sp>
      <p:sp>
        <p:nvSpPr>
          <p:cNvPr id="4" name="Slide Number Placeholder 3">
            <a:extLst>
              <a:ext uri="{FF2B5EF4-FFF2-40B4-BE49-F238E27FC236}">
                <a16:creationId xmlns:a16="http://schemas.microsoft.com/office/drawing/2014/main" id="{C0AD239D-A0A4-02DE-44B3-7FF841E0EC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78810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103D-023D-752D-1A9A-960652567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50C5-4E4D-8E1B-4035-85A029900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5420A-4A5B-D66D-AD75-BA6C87D9B9D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8883581-CD3C-F37E-174A-BD9BF040C6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45537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33D5-6397-C4CE-CDF1-D71D62979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BB6DC-1AE2-31D0-4178-5769E87FE410}"/>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3F0FA811-FEFB-3611-4E87-F14F0C8E4077}"/>
              </a:ext>
            </a:extLst>
          </p:cNvPr>
          <p:cNvSpPr>
            <a:spLocks noGrp="1"/>
          </p:cNvSpPr>
          <p:nvPr>
            <p:ph type="body" idx="1"/>
          </p:nvPr>
        </p:nvSpPr>
        <p:spPr/>
        <p:txBody>
          <a:bodyPr/>
          <a:lstStyle/>
          <a:p>
            <a:r>
              <a:rPr lang="en-US"/>
              <a:t>Aim: Consolidate the session's key concepts into a single visual summary — make sure everything lands before closing.</a:t>
            </a:r>
          </a:p>
          <a:p>
            <a:r>
              <a:rPr lang="en-US"/>
              <a:t>Time: 4 minutes</a:t>
            </a:r>
          </a:p>
          <a:p>
            <a:r>
              <a:rPr lang="en-US"/>
              <a:t>Instructions: Walk through the two sections top to bottom.</a:t>
            </a:r>
          </a:p>
          <a:p>
            <a:r>
              <a:rPr lang="en-US"/>
              <a:t>Point to the top row: "We covered three lenses for customer value today. Moments of Truth — when does the customer judge you. Customer Arena — what job are they hiring you to do. Value vs. Waste — what do they actually pay for versus what costs us to deliver."</a:t>
            </a:r>
          </a:p>
          <a:p>
            <a:r>
              <a:rPr lang="en-US"/>
              <a:t>Then the bottom row: "And two tools for managing direction. Hoshin </a:t>
            </a:r>
            <a:r>
              <a:rPr lang="en-US" err="1"/>
              <a:t>Kanri</a:t>
            </a:r>
            <a:r>
              <a:rPr lang="en-US"/>
              <a:t> — cascading strategy from vision to daily work. KPI Trees — measuring at every level to know if we're on track."</a:t>
            </a:r>
          </a:p>
          <a:p>
            <a:r>
              <a:rPr lang="en-US"/>
              <a:t>Then ask: "Which of these five felt most relevant to your project today?" Take 2–3 quick answers. Don't debrief — just acknowledge.</a:t>
            </a:r>
          </a:p>
          <a:p>
            <a:r>
              <a:rPr lang="en-US"/>
              <a:t>Key discussion points:</a:t>
            </a:r>
          </a:p>
          <a:p>
            <a:r>
              <a:rPr lang="en-US"/>
              <a:t>These five tools are not independent — they connect. </a:t>
            </a:r>
            <a:r>
              <a:rPr lang="en-US" err="1"/>
              <a:t>MoT</a:t>
            </a:r>
            <a:r>
              <a:rPr lang="en-US"/>
              <a:t> tells you what to improve; Hoshin tells you why it matters strategically; KPI Trees tell you how you'll know it worked.</a:t>
            </a:r>
          </a:p>
          <a:p>
            <a:r>
              <a:rPr lang="en-US"/>
              <a:t>Participants should be able to name all five from memory by Session 3.</a:t>
            </a:r>
          </a:p>
          <a:p>
            <a:r>
              <a:rPr lang="en-US"/>
              <a:t>This slide is also a preview — all five will come back in later sessions.</a:t>
            </a:r>
          </a:p>
          <a:p>
            <a:r>
              <a:rPr lang="en-US"/>
              <a:t>Link to reality: "A project that can answer all five lenses — what touchpoint it improves, what job it does for the customer, what waste it removes, which strategic goal it connects to, and how success is measured — that project gets sponsor buy-in. Every time."</a:t>
            </a:r>
          </a:p>
          <a:p>
            <a:r>
              <a:rPr lang="en-US"/>
              <a:t>Debrief &amp; Summary: "Five tools. One direction. Your project should be able to answer all of them."</a:t>
            </a:r>
          </a:p>
          <a:p>
            <a:endParaRPr lang="en-US"/>
          </a:p>
        </p:txBody>
      </p:sp>
      <p:sp>
        <p:nvSpPr>
          <p:cNvPr id="4" name="Slide Number Placeholder 3">
            <a:extLst>
              <a:ext uri="{FF2B5EF4-FFF2-40B4-BE49-F238E27FC236}">
                <a16:creationId xmlns:a16="http://schemas.microsoft.com/office/drawing/2014/main" id="{B749C9C6-412F-852D-9B5D-681A4936CA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70479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E614-60A8-DD13-E77C-255A491B0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98B4F-1CF1-A5F2-EA94-EB17EB6C88AE}"/>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B99FE6BC-703D-81CD-8BC6-A1D22CBA70F2}"/>
              </a:ext>
            </a:extLst>
          </p:cNvPr>
          <p:cNvSpPr>
            <a:spLocks noGrp="1"/>
          </p:cNvSpPr>
          <p:nvPr>
            <p:ph type="body" idx="1"/>
          </p:nvPr>
        </p:nvSpPr>
        <p:spPr/>
        <p:txBody>
          <a:bodyPr/>
          <a:lstStyle/>
          <a:p>
            <a:r>
              <a:rPr lang="en-US"/>
              <a:t>Aim: Close the session with clear next steps and build anticipation for Session 3.</a:t>
            </a:r>
          </a:p>
          <a:p>
            <a:r>
              <a:rPr lang="en-US"/>
              <a:t>Time: 4 minutes</a:t>
            </a:r>
          </a:p>
          <a:p>
            <a:r>
              <a:rPr lang="en-US"/>
              <a:t>Instructions: Walk through the three sections briefly.</a:t>
            </a:r>
          </a:p>
          <a:p>
            <a:r>
              <a:rPr lang="en-US"/>
              <a:t>Point to </a:t>
            </a:r>
            <a:r>
              <a:rPr lang="en-US" err="1"/>
              <a:t>Catchball</a:t>
            </a:r>
            <a:r>
              <a:rPr lang="en-US"/>
              <a:t> first: "Session 3 is about pitching your A3 upwards and sideways — to your sponsor and to peers across functions. We'll practice giving and receiving structured feedback."</a:t>
            </a:r>
          </a:p>
          <a:p>
            <a:r>
              <a:rPr lang="en-US"/>
              <a:t>Then A3 as a conversational tool: "Your A3 is not a report. It's how you test your thinking and build alignment. We'll teach you how to walk someone through it — without presenting it."</a:t>
            </a:r>
          </a:p>
          <a:p>
            <a:r>
              <a:rPr lang="en-US"/>
              <a:t>Then the homework — read it out clearly: "Three things before we meet again. One — finish the Ambition and KPI quadrants. Two — have a dialogue with your sponsor about the parts that are still unclear. Three — bring your A3 version 0.2 to Session 3."</a:t>
            </a:r>
          </a:p>
          <a:p>
            <a:r>
              <a:rPr lang="en-US" err="1"/>
              <a:t>Emphasise</a:t>
            </a:r>
            <a:r>
              <a:rPr lang="en-US"/>
              <a:t> the date: 18th of June.</a:t>
            </a:r>
          </a:p>
          <a:p>
            <a:r>
              <a:rPr lang="en-US"/>
              <a:t>Key discussion points:</a:t>
            </a:r>
          </a:p>
          <a:p>
            <a:r>
              <a:rPr lang="en-US"/>
              <a:t>The sponsor dialogue is the most important homework item — not the A3 itself.</a:t>
            </a:r>
          </a:p>
          <a:p>
            <a:r>
              <a:rPr lang="en-US"/>
              <a:t>Version 0.2 doesn't need to be complete — it needs to be better than 0.1.</a:t>
            </a:r>
          </a:p>
          <a:p>
            <a:r>
              <a:rPr lang="en-US" err="1"/>
              <a:t>Catchball</a:t>
            </a:r>
            <a:r>
              <a:rPr lang="en-US"/>
              <a:t> is a skill, not just a meeting — we'll build it deliberately in Session 3.</a:t>
            </a:r>
          </a:p>
          <a:p>
            <a:r>
              <a:rPr lang="en-US"/>
              <a:t>Link to reality: "The teams that come to Session 3 with sponsor input always move faster than the ones who come with a perfectly formatted A3 and no alignment. Format doesn't buy you speed. Alignment does."</a:t>
            </a:r>
          </a:p>
          <a:p>
            <a:r>
              <a:rPr lang="en-US"/>
              <a:t>Debrief &amp; Summary: "Don't finish the A3. Start the conversation. That's your homework."</a:t>
            </a:r>
          </a:p>
          <a:p>
            <a:endParaRPr lang="en-US"/>
          </a:p>
        </p:txBody>
      </p:sp>
      <p:sp>
        <p:nvSpPr>
          <p:cNvPr id="4" name="Slide Number Placeholder 3">
            <a:extLst>
              <a:ext uri="{FF2B5EF4-FFF2-40B4-BE49-F238E27FC236}">
                <a16:creationId xmlns:a16="http://schemas.microsoft.com/office/drawing/2014/main" id="{4E408900-20C2-F63F-7BE9-6358626657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1922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2251-206B-745F-E08E-9D39B8055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96CCE-DA13-D50B-1108-B1E6E7A0F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171D6-0608-A69A-601C-093390CDD1AF}"/>
              </a:ext>
            </a:extLst>
          </p:cNvPr>
          <p:cNvSpPr>
            <a:spLocks noGrp="1"/>
          </p:cNvSpPr>
          <p:nvPr>
            <p:ph type="body" idx="1"/>
          </p:nvPr>
        </p:nvSpPr>
        <p:spPr/>
        <p:txBody>
          <a:bodyPr/>
          <a:lstStyle/>
          <a:p>
            <a:r>
              <a:rPr lang="en-US"/>
              <a:t>Aim: Land the five core learning outcomes as memorable, actionable capabilities — not just concepts.</a:t>
            </a:r>
          </a:p>
          <a:p>
            <a:r>
              <a:rPr lang="en-US"/>
              <a:t>Time: 4 minutes</a:t>
            </a:r>
          </a:p>
          <a:p>
            <a:r>
              <a:rPr lang="en-US"/>
              <a:t>Instructions: Walk through each numbered takeaway, but don't read them verbatim. Translate each one into one plain sentence:</a:t>
            </a:r>
          </a:p>
          <a:p>
            <a:r>
              <a:rPr lang="en-US"/>
              <a:t>"One — Discover. You can now spot where AI could add value in a process. Not everywhere — but somewhere specific. Two — Use. You've used AI tools hands-on. You know what they actually produce. Three — </a:t>
            </a:r>
            <a:r>
              <a:rPr lang="en-US" err="1"/>
              <a:t>Analyse</a:t>
            </a:r>
            <a:r>
              <a:rPr lang="en-US"/>
              <a:t>. You can weigh the trade-offs before committing — value, risk, effort. Four — Validate. You know that confident output is not the same as correct output. That's the most important skill. Five — Navigate. You understand the ethical and governance boundaries well enough to make a judgment call."</a:t>
            </a:r>
          </a:p>
          <a:p>
            <a:r>
              <a:rPr lang="en-US"/>
              <a:t>Then ask the room: "Which of these five do you feel most confident about right now — and which one do you want to keep developing?" Quick show of hands or one word in chat.</a:t>
            </a:r>
          </a:p>
          <a:p>
            <a:r>
              <a:rPr lang="en-US"/>
              <a:t>Key discussion points:</a:t>
            </a:r>
          </a:p>
          <a:p>
            <a:r>
              <a:rPr lang="en-US"/>
              <a:t>These five are a progression: discover → use → </a:t>
            </a:r>
            <a:r>
              <a:rPr lang="en-US" err="1"/>
              <a:t>analyse</a:t>
            </a:r>
            <a:r>
              <a:rPr lang="en-US"/>
              <a:t> → validate → navigate.</a:t>
            </a:r>
          </a:p>
          <a:p>
            <a:r>
              <a:rPr lang="en-US"/>
              <a:t>Validation is the one most people underestimate before the session and rate highest after.</a:t>
            </a:r>
          </a:p>
          <a:p>
            <a:r>
              <a:rPr lang="en-US"/>
              <a:t>These capabilities compound — the more you use AI, the better your judgment becomes.</a:t>
            </a:r>
          </a:p>
          <a:p>
            <a:r>
              <a:rPr lang="en-US"/>
              <a:t>Link to reality: "In six months, the professionals who will get the most from AI are not the ones who used it the most. They're the ones who learned to judge it the best. That's what today was about."</a:t>
            </a:r>
          </a:p>
          <a:p>
            <a:r>
              <a:rPr lang="en-US"/>
              <a:t>Debrief &amp; Summary: "You don't need to be an AI expert. You need to be an informed, critical user. That's what you are now."</a:t>
            </a:r>
          </a:p>
          <a:p>
            <a:endParaRPr lang="en-GB"/>
          </a:p>
        </p:txBody>
      </p:sp>
      <p:sp>
        <p:nvSpPr>
          <p:cNvPr id="4" name="Slide Number Placeholder 3">
            <a:extLst>
              <a:ext uri="{FF2B5EF4-FFF2-40B4-BE49-F238E27FC236}">
                <a16:creationId xmlns:a16="http://schemas.microsoft.com/office/drawing/2014/main" id="{A1F8912A-6260-DC91-C5A5-F6BB517A6BD0}"/>
              </a:ext>
            </a:extLst>
          </p:cNvPr>
          <p:cNvSpPr>
            <a:spLocks noGrp="1"/>
          </p:cNvSpPr>
          <p:nvPr>
            <p:ph type="sldNum" sz="quarter" idx="5"/>
          </p:nvPr>
        </p:nvSpPr>
        <p:spPr/>
        <p:txBody>
          <a:bodyPr/>
          <a:lstStyle/>
          <a:p>
            <a:fld id="{27BFC9BD-4A5B-4D51-A308-86C711F74018}" type="slidenum">
              <a:rPr lang="en-NL" smtClean="0"/>
              <a:t>38</a:t>
            </a:fld>
            <a:endParaRPr lang="en-NL"/>
          </a:p>
        </p:txBody>
      </p:sp>
    </p:spTree>
    <p:extLst>
      <p:ext uri="{BB962C8B-B14F-4D97-AF65-F5344CB8AC3E}">
        <p14:creationId xmlns:p14="http://schemas.microsoft.com/office/powerpoint/2010/main" val="37311360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075DE-39FA-19C0-AD2C-0A212DF9A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EF01C-52E4-DB3D-F409-9797372AF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234F0-3DB2-7371-95C0-D8AAA3B9399C}"/>
              </a:ext>
            </a:extLst>
          </p:cNvPr>
          <p:cNvSpPr>
            <a:spLocks noGrp="1"/>
          </p:cNvSpPr>
          <p:nvPr>
            <p:ph type="body" idx="1"/>
          </p:nvPr>
        </p:nvSpPr>
        <p:spPr/>
        <p:txBody>
          <a:bodyPr/>
          <a:lstStyle/>
          <a:p>
            <a:r>
              <a:rPr lang="en-GB" b="1"/>
              <a:t>Aim:</a:t>
            </a:r>
            <a:br>
              <a:rPr lang="en-GB"/>
            </a:br>
            <a:r>
              <a:rPr lang="en-GB"/>
              <a:t>Enable continued learning.</a:t>
            </a:r>
          </a:p>
          <a:p>
            <a:r>
              <a:rPr lang="en-GB" b="1"/>
              <a:t>Time:</a:t>
            </a:r>
            <a:r>
              <a:rPr lang="en-GB"/>
              <a:t> 3 minutes</a:t>
            </a:r>
          </a:p>
          <a:p>
            <a:br>
              <a:rPr lang="en-GB"/>
            </a:br>
            <a:endParaRPr lang="en-GB"/>
          </a:p>
          <a:p>
            <a:r>
              <a:rPr lang="en-GB" b="1"/>
              <a:t>Instructions:</a:t>
            </a:r>
            <a:endParaRPr lang="en-GB"/>
          </a:p>
          <a:p>
            <a:r>
              <a:rPr lang="en-GB"/>
              <a:t>Highlight:</a:t>
            </a:r>
          </a:p>
          <a:p>
            <a:r>
              <a:rPr lang="en-GB"/>
              <a:t>tools </a:t>
            </a:r>
          </a:p>
          <a:p>
            <a:r>
              <a:rPr lang="en-GB"/>
              <a:t>internal resources </a:t>
            </a:r>
            <a:br>
              <a:rPr lang="en-GB"/>
            </a:br>
            <a:endParaRPr lang="en-GB"/>
          </a:p>
          <a:p>
            <a:r>
              <a:rPr lang="en-GB" b="1"/>
              <a:t>Close with:</a:t>
            </a:r>
          </a:p>
          <a:p>
            <a:r>
              <a:rPr lang="en-GB"/>
              <a:t>“This is just the starting point—the real learning begins when you apply it.”</a:t>
            </a:r>
          </a:p>
          <a:p>
            <a:endParaRPr lang="en-GB"/>
          </a:p>
        </p:txBody>
      </p:sp>
      <p:sp>
        <p:nvSpPr>
          <p:cNvPr id="4" name="Slide Number Placeholder 3">
            <a:extLst>
              <a:ext uri="{FF2B5EF4-FFF2-40B4-BE49-F238E27FC236}">
                <a16:creationId xmlns:a16="http://schemas.microsoft.com/office/drawing/2014/main" id="{6DB9BD22-1E47-9706-9FA1-64A106E2110D}"/>
              </a:ext>
            </a:extLst>
          </p:cNvPr>
          <p:cNvSpPr>
            <a:spLocks noGrp="1"/>
          </p:cNvSpPr>
          <p:nvPr>
            <p:ph type="sldNum" sz="quarter" idx="5"/>
          </p:nvPr>
        </p:nvSpPr>
        <p:spPr/>
        <p:txBody>
          <a:bodyPr/>
          <a:lstStyle/>
          <a:p>
            <a:fld id="{7E1B0218-FCD9-461F-A284-B79033796C48}" type="slidenum">
              <a:rPr lang="en-GB" smtClean="0"/>
              <a:t>39</a:t>
            </a:fld>
            <a:endParaRPr lang="en-GB"/>
          </a:p>
        </p:txBody>
      </p:sp>
    </p:spTree>
    <p:extLst>
      <p:ext uri="{BB962C8B-B14F-4D97-AF65-F5344CB8AC3E}">
        <p14:creationId xmlns:p14="http://schemas.microsoft.com/office/powerpoint/2010/main" val="382097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Drive real-world action.</a:t>
            </a:r>
          </a:p>
          <a:p>
            <a:r>
              <a:rPr lang="en-GB" b="1"/>
              <a:t>Time:</a:t>
            </a:r>
            <a:r>
              <a:rPr lang="en-GB"/>
              <a:t> 6 minutes</a:t>
            </a:r>
          </a:p>
          <a:p>
            <a:br>
              <a:rPr lang="en-GB"/>
            </a:br>
            <a:endParaRPr lang="en-GB"/>
          </a:p>
          <a:p>
            <a:r>
              <a:rPr lang="en-GB" b="1"/>
              <a:t>Instructions:</a:t>
            </a:r>
            <a:endParaRPr lang="en-GB"/>
          </a:p>
          <a:p>
            <a:r>
              <a:rPr lang="en-GB"/>
              <a:t>Ask participants to write:</a:t>
            </a:r>
          </a:p>
          <a:p>
            <a:r>
              <a:rPr lang="en-GB"/>
              <a:t>one process </a:t>
            </a:r>
          </a:p>
          <a:p>
            <a:r>
              <a:rPr lang="en-GB"/>
              <a:t>one tool </a:t>
            </a:r>
          </a:p>
          <a:p>
            <a:r>
              <a:rPr lang="en-GB"/>
              <a:t>one risk </a:t>
            </a:r>
          </a:p>
          <a:p>
            <a:r>
              <a:rPr lang="en-GB"/>
              <a:t>one control </a:t>
            </a:r>
          </a:p>
          <a:p>
            <a:br>
              <a:rPr lang="en-GB"/>
            </a:br>
            <a:endParaRPr lang="en-GB"/>
          </a:p>
          <a:p>
            <a:r>
              <a:rPr lang="en-GB" b="1"/>
              <a:t>Add accountability:</a:t>
            </a:r>
          </a:p>
          <a:p>
            <a:r>
              <a:rPr lang="en-GB"/>
              <a:t>“Share this with someone next to you.”</a:t>
            </a:r>
          </a:p>
          <a:p>
            <a:br>
              <a:rPr lang="en-GB"/>
            </a:br>
            <a:endParaRPr lang="en-GB"/>
          </a:p>
          <a:p>
            <a:r>
              <a:rPr lang="en-GB" b="1"/>
              <a:t>Debrief &amp; Summary:</a:t>
            </a:r>
            <a:endParaRPr lang="en-GB"/>
          </a:p>
          <a:p>
            <a:r>
              <a:rPr lang="en-GB"/>
              <a:t>“Learning only matters if it changes </a:t>
            </a:r>
            <a:r>
              <a:rPr lang="en-GB" err="1"/>
              <a:t>behavior</a:t>
            </a:r>
            <a:r>
              <a:rPr lang="en-GB"/>
              <a:t>.”</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1B0218-FCD9-461F-A284-B79033796C4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1751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B3E71-1080-ED98-AE2E-7620F90C9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2F56D-48A2-E240-9069-A1EA664D8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B7D58-064D-60CA-1908-FEA7CF6304D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620515-002F-DC98-F9CF-7736D1F55785}"/>
              </a:ext>
            </a:extLst>
          </p:cNvPr>
          <p:cNvSpPr>
            <a:spLocks noGrp="1"/>
          </p:cNvSpPr>
          <p:nvPr>
            <p:ph type="sldNum" sz="quarter" idx="5"/>
          </p:nvPr>
        </p:nvSpPr>
        <p:spPr/>
        <p:txBody>
          <a:bodyPr/>
          <a:lstStyle/>
          <a:p>
            <a:fld id="{27BFC9BD-4A5B-4D51-A308-86C711F74018}" type="slidenum">
              <a:rPr lang="en-NL" smtClean="0"/>
              <a:t>42</a:t>
            </a:fld>
            <a:endParaRPr lang="en-NL"/>
          </a:p>
        </p:txBody>
      </p:sp>
    </p:spTree>
    <p:extLst>
      <p:ext uri="{BB962C8B-B14F-4D97-AF65-F5344CB8AC3E}">
        <p14:creationId xmlns:p14="http://schemas.microsoft.com/office/powerpoint/2010/main" val="2583689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97FB1-2977-B889-676F-7E2B3A5E6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A1F3F-5FC8-7C41-EBCC-2F4A34238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E5432-9F92-7D27-268B-0B1434FF0D4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1E7A003-BCEA-55DA-DE35-4D13B27E5B82}"/>
              </a:ext>
            </a:extLst>
          </p:cNvPr>
          <p:cNvSpPr>
            <a:spLocks noGrp="1"/>
          </p:cNvSpPr>
          <p:nvPr>
            <p:ph type="sldNum" sz="quarter" idx="5"/>
          </p:nvPr>
        </p:nvSpPr>
        <p:spPr/>
        <p:txBody>
          <a:bodyPr/>
          <a:lstStyle/>
          <a:p>
            <a:fld id="{27BFC9BD-4A5B-4D51-A308-86C711F74018}" type="slidenum">
              <a:rPr lang="en-NL" smtClean="0"/>
              <a:t>43</a:t>
            </a:fld>
            <a:endParaRPr lang="en-NL"/>
          </a:p>
        </p:txBody>
      </p:sp>
    </p:spTree>
    <p:extLst>
      <p:ext uri="{BB962C8B-B14F-4D97-AF65-F5344CB8AC3E}">
        <p14:creationId xmlns:p14="http://schemas.microsoft.com/office/powerpoint/2010/main" val="683799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DFC6-3E6C-D434-DA9A-19B9E6ACF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1AEC8-093F-B8F9-B5E1-722B33D7F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1E043-7FF9-29D8-DCE0-D1FF42D4F0C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2B56BA-31AB-7489-D16E-C7C63F13C1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FC9BD-4A5B-4D51-A308-86C711F74018}"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99922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27BFC9BD-4A5B-4D51-A308-86C711F74018}" type="slidenum">
              <a:rPr lang="en-NL" smtClean="0"/>
              <a:t>45</a:t>
            </a:fld>
            <a:endParaRPr lang="en-NL"/>
          </a:p>
        </p:txBody>
      </p:sp>
    </p:spTree>
    <p:extLst>
      <p:ext uri="{BB962C8B-B14F-4D97-AF65-F5344CB8AC3E}">
        <p14:creationId xmlns:p14="http://schemas.microsoft.com/office/powerpoint/2010/main" val="144484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1B0218-FCD9-461F-A284-B79033796C48}" type="slidenum">
              <a:rPr lang="en-GB" smtClean="0"/>
              <a:t>47</a:t>
            </a:fld>
            <a:endParaRPr lang="en-GB"/>
          </a:p>
        </p:txBody>
      </p:sp>
    </p:spTree>
    <p:extLst>
      <p:ext uri="{BB962C8B-B14F-4D97-AF65-F5344CB8AC3E}">
        <p14:creationId xmlns:p14="http://schemas.microsoft.com/office/powerpoint/2010/main" val="1932591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Give participants mental reset and create anticipation for the hands-on part.</a:t>
            </a:r>
          </a:p>
          <a:p>
            <a:r>
              <a:rPr lang="en-GB" b="1"/>
              <a:t>Time:</a:t>
            </a:r>
            <a:r>
              <a:rPr lang="en-GB"/>
              <a:t> 10 minutes</a:t>
            </a:r>
          </a:p>
          <a:p>
            <a:br>
              <a:rPr lang="en-GB"/>
            </a:br>
            <a:endParaRPr lang="en-GB"/>
          </a:p>
          <a:p>
            <a:r>
              <a:rPr lang="en-GB" b="1"/>
              <a:t>Instructions:</a:t>
            </a:r>
            <a:endParaRPr lang="en-GB"/>
          </a:p>
          <a:p>
            <a:r>
              <a:rPr lang="en-GB"/>
              <a:t>Say:</a:t>
            </a:r>
          </a:p>
          <a:p>
            <a:r>
              <a:rPr lang="en-GB"/>
              <a:t>“Let’s take a short break. When we come back, we’ll move from discussion into actually working with AI in finance scenarios.”</a:t>
            </a:r>
          </a:p>
          <a:p>
            <a:r>
              <a:rPr lang="en-GB"/>
              <a:t>Optional priming question:</a:t>
            </a:r>
          </a:p>
          <a:p>
            <a:r>
              <a:rPr lang="en-GB"/>
              <a:t>“Think about the three examples we just discussed—which type of application are you most curious or sceptical about?”</a:t>
            </a:r>
          </a:p>
          <a:p>
            <a:r>
              <a:rPr lang="en-GB"/>
              <a:t>Display reconvene time clearly.</a:t>
            </a:r>
          </a:p>
          <a:p>
            <a:br>
              <a:rPr lang="en-GB"/>
            </a:br>
            <a:endParaRPr lang="en-GB"/>
          </a:p>
          <a:p>
            <a:r>
              <a:rPr lang="en-GB" b="1"/>
              <a:t>Debrief &amp; Summary:</a:t>
            </a:r>
            <a:endParaRPr lang="en-GB"/>
          </a:p>
          <a:p>
            <a:r>
              <a:rPr lang="en-GB"/>
              <a:t>“We’re moving from thinking → doing.”</a:t>
            </a:r>
          </a:p>
          <a:p>
            <a:endParaRPr lang="en-GB"/>
          </a:p>
        </p:txBody>
      </p:sp>
      <p:sp>
        <p:nvSpPr>
          <p:cNvPr id="4" name="Slide Number Placeholder 3"/>
          <p:cNvSpPr>
            <a:spLocks noGrp="1"/>
          </p:cNvSpPr>
          <p:nvPr>
            <p:ph type="sldNum" sz="quarter" idx="5"/>
          </p:nvPr>
        </p:nvSpPr>
        <p:spPr/>
        <p:txBody>
          <a:bodyPr/>
          <a:lstStyle/>
          <a:p>
            <a:fld id="{7E1B0218-FCD9-461F-A284-B79033796C48}" type="slidenum">
              <a:rPr lang="en-GB" smtClean="0"/>
              <a:t>48</a:t>
            </a:fld>
            <a:endParaRPr lang="en-GB"/>
          </a:p>
        </p:txBody>
      </p:sp>
    </p:spTree>
    <p:extLst>
      <p:ext uri="{BB962C8B-B14F-4D97-AF65-F5344CB8AC3E}">
        <p14:creationId xmlns:p14="http://schemas.microsoft.com/office/powerpoint/2010/main" val="30330526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Aim:</a:t>
            </a:r>
            <a:br>
              <a:rPr lang="en-GB"/>
            </a:br>
            <a:r>
              <a:rPr lang="en-GB"/>
              <a:t>Turn observation into insight.</a:t>
            </a:r>
          </a:p>
          <a:p>
            <a:r>
              <a:rPr lang="en-GB" b="1"/>
              <a:t>Time:</a:t>
            </a:r>
            <a:r>
              <a:rPr lang="en-GB"/>
              <a:t> 6 minutes</a:t>
            </a:r>
          </a:p>
          <a:p>
            <a:br>
              <a:rPr lang="en-GB"/>
            </a:br>
            <a:endParaRPr lang="en-GB"/>
          </a:p>
          <a:p>
            <a:r>
              <a:rPr lang="en-GB" b="1"/>
              <a:t>Instructions:</a:t>
            </a:r>
            <a:endParaRPr lang="en-GB"/>
          </a:p>
          <a:p>
            <a:r>
              <a:rPr lang="en-GB"/>
              <a:t>Ask:</a:t>
            </a:r>
          </a:p>
          <a:p>
            <a:r>
              <a:rPr lang="en-GB"/>
              <a:t>“What worked well?”</a:t>
            </a:r>
          </a:p>
          <a:p>
            <a:r>
              <a:rPr lang="en-GB"/>
              <a:t>“What didn’t work?”</a:t>
            </a:r>
          </a:p>
          <a:p>
            <a:r>
              <a:rPr lang="en-GB"/>
              <a:t>Capture:</a:t>
            </a:r>
          </a:p>
          <a:p>
            <a:r>
              <a:rPr lang="en-GB"/>
              <a:t>good extraction </a:t>
            </a:r>
          </a:p>
          <a:p>
            <a:r>
              <a:rPr lang="en-GB"/>
              <a:t>missed fields </a:t>
            </a:r>
          </a:p>
          <a:p>
            <a:r>
              <a:rPr lang="en-GB"/>
              <a:t>inconsistent formats </a:t>
            </a:r>
          </a:p>
          <a:p>
            <a:br>
              <a:rPr lang="en-GB"/>
            </a:br>
            <a:endParaRPr lang="en-GB"/>
          </a:p>
          <a:p>
            <a:r>
              <a:rPr lang="en-GB" b="1"/>
              <a:t>Add insight:</a:t>
            </a:r>
          </a:p>
          <a:p>
            <a:r>
              <a:rPr lang="en-GB"/>
              <a:t>“AI struggles with:</a:t>
            </a:r>
          </a:p>
          <a:p>
            <a:r>
              <a:rPr lang="en-GB"/>
              <a:t>poor quality scans </a:t>
            </a:r>
          </a:p>
          <a:p>
            <a:r>
              <a:rPr lang="en-GB"/>
              <a:t>unusual formats </a:t>
            </a:r>
          </a:p>
          <a:p>
            <a:r>
              <a:rPr lang="en-GB"/>
              <a:t>missing context” </a:t>
            </a:r>
          </a:p>
          <a:p>
            <a:br>
              <a:rPr lang="en-GB"/>
            </a:br>
            <a:endParaRPr lang="en-GB"/>
          </a:p>
          <a:p>
            <a:r>
              <a:rPr lang="en-GB" b="1"/>
              <a:t>Link to reality:</a:t>
            </a:r>
          </a:p>
          <a:p>
            <a:r>
              <a:rPr lang="en-GB"/>
              <a:t>“This means you don’t remove the process—you redesign it.”</a:t>
            </a:r>
          </a:p>
          <a:p>
            <a:br>
              <a:rPr lang="en-GB"/>
            </a:br>
            <a:endParaRPr lang="en-GB"/>
          </a:p>
          <a:p>
            <a:r>
              <a:rPr lang="en-GB" b="1"/>
              <a:t>Debrief &amp; Summary:</a:t>
            </a:r>
            <a:endParaRPr lang="en-GB"/>
          </a:p>
          <a:p>
            <a:r>
              <a:rPr lang="en-GB"/>
              <a:t>“AI reduces effort—but requires process thinking.”</a:t>
            </a:r>
          </a:p>
          <a:p>
            <a:endParaRPr lang="en-GB"/>
          </a:p>
        </p:txBody>
      </p:sp>
      <p:sp>
        <p:nvSpPr>
          <p:cNvPr id="4" name="Slide Number Placeholder 3"/>
          <p:cNvSpPr>
            <a:spLocks noGrp="1"/>
          </p:cNvSpPr>
          <p:nvPr>
            <p:ph type="sldNum" sz="quarter" idx="5"/>
          </p:nvPr>
        </p:nvSpPr>
        <p:spPr/>
        <p:txBody>
          <a:bodyPr/>
          <a:lstStyle/>
          <a:p>
            <a:fld id="{7E1B0218-FCD9-461F-A284-B79033796C48}" type="slidenum">
              <a:rPr lang="en-GB" smtClean="0"/>
              <a:t>49</a:t>
            </a:fld>
            <a:endParaRPr lang="en-GB"/>
          </a:p>
        </p:txBody>
      </p:sp>
    </p:spTree>
    <p:extLst>
      <p:ext uri="{BB962C8B-B14F-4D97-AF65-F5344CB8AC3E}">
        <p14:creationId xmlns:p14="http://schemas.microsoft.com/office/powerpoint/2010/main" val="1218415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4.xml"/><Relationship Id="rId5" Type="http://schemas.openxmlformats.org/officeDocument/2006/relationships/image" Target="../media/image2.png"/><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4.jpeg"/><Relationship Id="rId1" Type="http://schemas.openxmlformats.org/officeDocument/2006/relationships/slideMaster" Target="../slideMasters/slideMaster5.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8.xml"/><Relationship Id="rId5" Type="http://schemas.openxmlformats.org/officeDocument/2006/relationships/image" Target="../media/image1.png"/><Relationship Id="rId4"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Master" Target="../slideMasters/slideMaster10.xml"/><Relationship Id="rId5" Type="http://schemas.openxmlformats.org/officeDocument/2006/relationships/image" Target="../media/image11.png"/><Relationship Id="rId4" Type="http://schemas.openxmlformats.org/officeDocument/2006/relationships/image" Target="../media/image14.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Master" Target="../slideMasters/slideMaster10.xml"/><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
        <p:nvSpPr>
          <p:cNvPr id="2" name="Tekstvak 15" descr="MVX23_Logo_Basislogo_Full_colour_Wit">
            <a:extLst>
              <a:ext uri="{FF2B5EF4-FFF2-40B4-BE49-F238E27FC236}">
                <a16:creationId xmlns:a16="http://schemas.microsoft.com/office/drawing/2014/main" id="{B09F8F32-323C-D795-B071-0DE4994504B2}"/>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Tree>
    <p:extLst>
      <p:ext uri="{BB962C8B-B14F-4D97-AF65-F5344CB8AC3E}">
        <p14:creationId xmlns:p14="http://schemas.microsoft.com/office/powerpoint/2010/main" val="3855180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0"/>
            <a:ext cx="5375672" cy="5143500"/>
          </a:xfrm>
          <a:prstGeom prst="rect">
            <a:avLst/>
          </a:prstGeom>
        </p:spPr>
      </p:pic>
    </p:spTree>
    <p:extLst>
      <p:ext uri="{BB962C8B-B14F-4D97-AF65-F5344CB8AC3E}">
        <p14:creationId xmlns:p14="http://schemas.microsoft.com/office/powerpoint/2010/main" val="139859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2487007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3985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7D2CE0B-8BEF-BB4A-245A-2608A7D139BC}"/>
              </a:ext>
            </a:extLst>
          </p:cNvPr>
          <p:cNvSpPr/>
          <p:nvPr/>
        </p:nvSpPr>
        <p:spPr>
          <a:xfrm>
            <a:off x="3296842" y="0"/>
            <a:ext cx="5847159" cy="5143500"/>
          </a:xfrm>
          <a:custGeom>
            <a:avLst/>
            <a:gdLst>
              <a:gd name="csX0" fmla="*/ 2966752 w 5847159"/>
              <a:gd name="csY0" fmla="*/ 0 h 5143500"/>
              <a:gd name="csX1" fmla="*/ 5847159 w 5847159"/>
              <a:gd name="csY1" fmla="*/ 0 h 5143500"/>
              <a:gd name="csX2" fmla="*/ 5847159 w 5847159"/>
              <a:gd name="csY2" fmla="*/ 5143500 h 5143500"/>
              <a:gd name="csX3" fmla="*/ 0 w 5847159"/>
              <a:gd name="csY3" fmla="*/ 5143500 h 5143500"/>
            </a:gdLst>
            <a:ahLst/>
            <a:cxnLst>
              <a:cxn ang="0">
                <a:pos x="csX0" y="csY0"/>
              </a:cxn>
              <a:cxn ang="0">
                <a:pos x="csX1" y="csY1"/>
              </a:cxn>
              <a:cxn ang="0">
                <a:pos x="csX2" y="csY2"/>
              </a:cxn>
              <a:cxn ang="0">
                <a:pos x="csX3" y="csY3"/>
              </a:cxn>
            </a:cxnLst>
            <a:rect l="l" t="t" r="r" b="b"/>
            <a:pathLst>
              <a:path w="5847159" h="5143500">
                <a:moveTo>
                  <a:pt x="2966752" y="0"/>
                </a:moveTo>
                <a:lnTo>
                  <a:pt x="5847159" y="0"/>
                </a:lnTo>
                <a:lnTo>
                  <a:pt x="5847159" y="5143500"/>
                </a:lnTo>
                <a:lnTo>
                  <a:pt x="0" y="51435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wrap="square" rtlCol="0" anchor="ctr">
            <a:noAutofit/>
          </a:bodyPr>
          <a:lstStyle/>
          <a:p>
            <a:endParaRPr lang="nl-NL" sz="1013"/>
          </a:p>
        </p:txBody>
      </p:sp>
    </p:spTree>
    <p:extLst>
      <p:ext uri="{BB962C8B-B14F-4D97-AF65-F5344CB8AC3E}">
        <p14:creationId xmlns:p14="http://schemas.microsoft.com/office/powerpoint/2010/main" val="340891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4028893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44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88250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pic>
        <p:nvPicPr>
          <p:cNvPr id="2" name="Picture 1" descr="A colorful logo on a black background&#10;&#10;AI-generated content may be incorrect.">
            <a:extLst>
              <a:ext uri="{FF2B5EF4-FFF2-40B4-BE49-F238E27FC236}">
                <a16:creationId xmlns:a16="http://schemas.microsoft.com/office/drawing/2014/main" id="{DD80C243-330F-AA6B-175C-B92A19CBDEA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120716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3" name="Afbeelding 2" descr="Afbeelding met kleding, muur, persoon, whiteboard&#10;&#10;Automatisch gegenereerde beschrijving">
            <a:extLst>
              <a:ext uri="{FF2B5EF4-FFF2-40B4-BE49-F238E27FC236}">
                <a16:creationId xmlns:a16="http://schemas.microsoft.com/office/drawing/2014/main" id="{2D600F77-2EEF-E95D-8419-DEFD9BF8197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902970" y="723072"/>
            <a:ext cx="7338060" cy="3697356"/>
          </a:xfrm>
          <a:custGeom>
            <a:avLst/>
            <a:gdLst>
              <a:gd name="connsiteX0" fmla="*/ 0 w 9784080"/>
              <a:gd name="connsiteY0" fmla="*/ 0 h 4929808"/>
              <a:gd name="connsiteX1" fmla="*/ 8962429 w 9784080"/>
              <a:gd name="connsiteY1" fmla="*/ 0 h 4929808"/>
              <a:gd name="connsiteX2" fmla="*/ 9784080 w 9784080"/>
              <a:gd name="connsiteY2" fmla="*/ 821651 h 4929808"/>
              <a:gd name="connsiteX3" fmla="*/ 9784080 w 9784080"/>
              <a:gd name="connsiteY3" fmla="*/ 4929808 h 4929808"/>
              <a:gd name="connsiteX4" fmla="*/ 821650 w 9784080"/>
              <a:gd name="connsiteY4" fmla="*/ 4929808 h 4929808"/>
              <a:gd name="connsiteX5" fmla="*/ 0 w 9784080"/>
              <a:gd name="connsiteY5" fmla="*/ 4108158 h 492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84080" h="4929808">
                <a:moveTo>
                  <a:pt x="0" y="0"/>
                </a:moveTo>
                <a:lnTo>
                  <a:pt x="8962429" y="0"/>
                </a:lnTo>
                <a:lnTo>
                  <a:pt x="9784080" y="821651"/>
                </a:lnTo>
                <a:lnTo>
                  <a:pt x="9784080" y="4929808"/>
                </a:lnTo>
                <a:lnTo>
                  <a:pt x="821650" y="4929808"/>
                </a:lnTo>
                <a:lnTo>
                  <a:pt x="0" y="4108158"/>
                </a:lnTo>
                <a:close/>
              </a:path>
            </a:pathLst>
          </a:custGeom>
        </p:spPr>
      </p:pic>
    </p:spTree>
    <p:extLst>
      <p:ext uri="{BB962C8B-B14F-4D97-AF65-F5344CB8AC3E}">
        <p14:creationId xmlns:p14="http://schemas.microsoft.com/office/powerpoint/2010/main" val="102986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105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
        <p:nvSpPr>
          <p:cNvPr id="8" name="Tekstvak 9" descr="MVX23_Logo_Basislogo_Full_colour_Wit">
            <a:extLst>
              <a:ext uri="{FF2B5EF4-FFF2-40B4-BE49-F238E27FC236}">
                <a16:creationId xmlns:a16="http://schemas.microsoft.com/office/drawing/2014/main" id="{AFF0BDC5-5AAA-7D57-E47A-671851298D8E}"/>
              </a:ext>
            </a:extLst>
          </p:cNvPr>
          <p:cNvSpPr txBox="1"/>
          <p:nvPr userDrawn="1"/>
        </p:nvSpPr>
        <p:spPr>
          <a:xfrm>
            <a:off x="78954"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9" name="Afbeelding 10" descr="Afbeelding met symbool, geel, schermopname, Lettertype&#10;&#10;Automatisch gegenereerde beschrijving">
            <a:extLst>
              <a:ext uri="{FF2B5EF4-FFF2-40B4-BE49-F238E27FC236}">
                <a16:creationId xmlns:a16="http://schemas.microsoft.com/office/drawing/2014/main" id="{354A51D9-00CD-3ECB-CEA9-D75AFA4C5EF3}"/>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8604646" y="4912453"/>
            <a:ext cx="342686" cy="69115"/>
          </a:xfrm>
          <a:prstGeom prst="rect">
            <a:avLst/>
          </a:prstGeom>
        </p:spPr>
      </p:pic>
    </p:spTree>
    <p:extLst>
      <p:ext uri="{BB962C8B-B14F-4D97-AF65-F5344CB8AC3E}">
        <p14:creationId xmlns:p14="http://schemas.microsoft.com/office/powerpoint/2010/main" val="758273496"/>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7367379"/>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2972663"/>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87334605"/>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89440230"/>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72679264"/>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52332023"/>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3373224"/>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55590430"/>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1528310"/>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3313257"/>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1302035"/>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0119" y="-1985319"/>
            <a:ext cx="11179969" cy="7453923"/>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55967" y="74403"/>
            <a:ext cx="8891365" cy="4982254"/>
            <a:chOff x="74622" y="99203"/>
            <a:chExt cx="11855153" cy="6643006"/>
          </a:xfrm>
        </p:grpSpPr>
        <p:pic>
          <p:nvPicPr>
            <p:cNvPr id="40" name="Afbeelding 39" descr="Afbeelding met Graphics, schermopname, Kleurrijkheid&#10;&#10;Automatisch gegenereerde beschrijving">
              <a:extLst>
                <a:ext uri="{FF2B5EF4-FFF2-40B4-BE49-F238E27FC236}">
                  <a16:creationId xmlns:a16="http://schemas.microsoft.com/office/drawing/2014/main" id="{D9D06A52-1A26-1B76-9B7C-66E2C9B67014}"/>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spTree>
    <p:extLst>
      <p:ext uri="{BB962C8B-B14F-4D97-AF65-F5344CB8AC3E}">
        <p14:creationId xmlns:p14="http://schemas.microsoft.com/office/powerpoint/2010/main" val="221126858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pic>
        <p:nvPicPr>
          <p:cNvPr id="32" name="Afbeelding 31" descr="Afbeelding met Graphics, schermopname, Kleurrijkheid&#10;&#10;Automatisch gegenereerde beschrijving">
            <a:extLst>
              <a:ext uri="{FF2B5EF4-FFF2-40B4-BE49-F238E27FC236}">
                <a16:creationId xmlns:a16="http://schemas.microsoft.com/office/drawing/2014/main" id="{212C3E93-EEC2-5A4A-A3A1-C7EC8BFF33C3}"/>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55966" y="74403"/>
            <a:ext cx="342686" cy="342368"/>
          </a:xfrm>
          <a:prstGeom prst="rect">
            <a:avLst/>
          </a:pr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spTree>
    <p:extLst>
      <p:ext uri="{BB962C8B-B14F-4D97-AF65-F5344CB8AC3E}">
        <p14:creationId xmlns:p14="http://schemas.microsoft.com/office/powerpoint/2010/main" val="2638323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07707" y="-275040"/>
            <a:ext cx="6648710" cy="5967986"/>
          </a:xfrm>
          <a:prstGeom prst="rect">
            <a:avLst/>
          </a:prstGeom>
        </p:spPr>
      </p:pic>
    </p:spTree>
    <p:extLst>
      <p:ext uri="{BB962C8B-B14F-4D97-AF65-F5344CB8AC3E}">
        <p14:creationId xmlns:p14="http://schemas.microsoft.com/office/powerpoint/2010/main" val="3762964645"/>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7345" y="-1262742"/>
            <a:ext cx="8849433" cy="7943390"/>
          </a:xfrm>
          <a:prstGeom prst="rect">
            <a:avLst/>
          </a:prstGeom>
        </p:spPr>
      </p:pic>
    </p:spTree>
    <p:extLst>
      <p:ext uri="{BB962C8B-B14F-4D97-AF65-F5344CB8AC3E}">
        <p14:creationId xmlns:p14="http://schemas.microsoft.com/office/powerpoint/2010/main" val="93472880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18425713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Aangepaste indel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9AF5874-D11B-E2BF-63E6-B3B5CABBF3B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25586"/>
          <a:stretch>
            <a:fillRect/>
          </a:stretch>
        </p:blipFill>
        <p:spPr>
          <a:xfrm>
            <a:off x="2339578" y="0"/>
            <a:ext cx="6804422" cy="5143500"/>
          </a:xfrm>
          <a:custGeom>
            <a:avLst/>
            <a:gdLst>
              <a:gd name="csX0" fmla="*/ 0 w 6804422"/>
              <a:gd name="csY0" fmla="*/ 0 h 5143500"/>
              <a:gd name="csX1" fmla="*/ 6804422 w 6804422"/>
              <a:gd name="csY1" fmla="*/ 0 h 5143500"/>
              <a:gd name="csX2" fmla="*/ 6804422 w 6804422"/>
              <a:gd name="csY2" fmla="*/ 5143500 h 5143500"/>
              <a:gd name="csX3" fmla="*/ 0 w 6804422"/>
              <a:gd name="csY3" fmla="*/ 5143500 h 5143500"/>
            </a:gdLst>
            <a:ahLst/>
            <a:cxnLst>
              <a:cxn ang="0">
                <a:pos x="csX0" y="csY0"/>
              </a:cxn>
              <a:cxn ang="0">
                <a:pos x="csX1" y="csY1"/>
              </a:cxn>
              <a:cxn ang="0">
                <a:pos x="csX2" y="csY2"/>
              </a:cxn>
              <a:cxn ang="0">
                <a:pos x="csX3" y="csY3"/>
              </a:cxn>
            </a:cxnLst>
            <a:rect l="l" t="t" r="r" b="b"/>
            <a:pathLst>
              <a:path w="6804422" h="5143500">
                <a:moveTo>
                  <a:pt x="0" y="0"/>
                </a:moveTo>
                <a:lnTo>
                  <a:pt x="6804422" y="0"/>
                </a:lnTo>
                <a:lnTo>
                  <a:pt x="6804422" y="5143500"/>
                </a:lnTo>
                <a:lnTo>
                  <a:pt x="0" y="5143500"/>
                </a:lnTo>
                <a:close/>
              </a:path>
            </a:pathLst>
          </a:custGeom>
        </p:spPr>
      </p:pic>
    </p:spTree>
    <p:extLst>
      <p:ext uri="{BB962C8B-B14F-4D97-AF65-F5344CB8AC3E}">
        <p14:creationId xmlns:p14="http://schemas.microsoft.com/office/powerpoint/2010/main" val="285735397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Aangepaste indel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D4ADF0C-9AA3-F8DC-EF48-44680F9D4F6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37528"/>
          <a:stretch>
            <a:fillRect/>
          </a:stretch>
        </p:blipFill>
        <p:spPr>
          <a:xfrm>
            <a:off x="3418859" y="0"/>
            <a:ext cx="5712469" cy="5143500"/>
          </a:xfrm>
          <a:custGeom>
            <a:avLst/>
            <a:gdLst>
              <a:gd name="csX0" fmla="*/ 0 w 5712469"/>
              <a:gd name="csY0" fmla="*/ 0 h 5143500"/>
              <a:gd name="csX1" fmla="*/ 5712469 w 5712469"/>
              <a:gd name="csY1" fmla="*/ 0 h 5143500"/>
              <a:gd name="csX2" fmla="*/ 5712469 w 5712469"/>
              <a:gd name="csY2" fmla="*/ 5143500 h 5143500"/>
              <a:gd name="csX3" fmla="*/ 0 w 5712469"/>
              <a:gd name="csY3" fmla="*/ 5143500 h 5143500"/>
            </a:gdLst>
            <a:ahLst/>
            <a:cxnLst>
              <a:cxn ang="0">
                <a:pos x="csX0" y="csY0"/>
              </a:cxn>
              <a:cxn ang="0">
                <a:pos x="csX1" y="csY1"/>
              </a:cxn>
              <a:cxn ang="0">
                <a:pos x="csX2" y="csY2"/>
              </a:cxn>
              <a:cxn ang="0">
                <a:pos x="csX3" y="csY3"/>
              </a:cxn>
            </a:cxnLst>
            <a:rect l="l" t="t" r="r" b="b"/>
            <a:pathLst>
              <a:path w="5712469" h="5143500">
                <a:moveTo>
                  <a:pt x="0" y="0"/>
                </a:moveTo>
                <a:lnTo>
                  <a:pt x="5712469" y="0"/>
                </a:lnTo>
                <a:lnTo>
                  <a:pt x="5712469" y="5143500"/>
                </a:lnTo>
                <a:lnTo>
                  <a:pt x="0" y="5143500"/>
                </a:lnTo>
                <a:close/>
              </a:path>
            </a:pathLst>
          </a:custGeom>
        </p:spPr>
      </p:pic>
    </p:spTree>
    <p:extLst>
      <p:ext uri="{BB962C8B-B14F-4D97-AF65-F5344CB8AC3E}">
        <p14:creationId xmlns:p14="http://schemas.microsoft.com/office/powerpoint/2010/main" val="23483226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060706"/>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pic>
        <p:nvPicPr>
          <p:cNvPr id="7" name="Picture 6" descr="A group of people posing for a photo&#10;&#10;Description automatically generated">
            <a:extLst>
              <a:ext uri="{FF2B5EF4-FFF2-40B4-BE49-F238E27FC236}">
                <a16:creationId xmlns:a16="http://schemas.microsoft.com/office/drawing/2014/main" id="{B61B438D-0D4D-77D2-4C40-B5E03996B6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317776" y="714688"/>
            <a:ext cx="5193179" cy="3775672"/>
          </a:xfrm>
          <a:prstGeom prst="rect">
            <a:avLst/>
          </a:prstGeom>
        </p:spPr>
      </p:pic>
    </p:spTree>
    <p:extLst>
      <p:ext uri="{BB962C8B-B14F-4D97-AF65-F5344CB8AC3E}">
        <p14:creationId xmlns:p14="http://schemas.microsoft.com/office/powerpoint/2010/main" val="19372298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spTree>
    <p:extLst>
      <p:ext uri="{BB962C8B-B14F-4D97-AF65-F5344CB8AC3E}">
        <p14:creationId xmlns:p14="http://schemas.microsoft.com/office/powerpoint/2010/main" val="3976076852"/>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4572000" y="0"/>
            <a:ext cx="4572000" cy="5143500"/>
          </a:xfrm>
          <a:prstGeom prst="rect">
            <a:avLst/>
          </a:prstGeom>
        </p:spPr>
      </p:pic>
    </p:spTree>
    <p:extLst>
      <p:ext uri="{BB962C8B-B14F-4D97-AF65-F5344CB8AC3E}">
        <p14:creationId xmlns:p14="http://schemas.microsoft.com/office/powerpoint/2010/main" val="4018776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Aangepaste indeling">
    <p:spTree>
      <p:nvGrpSpPr>
        <p:cNvPr id="1" name=""/>
        <p:cNvGrpSpPr/>
        <p:nvPr/>
      </p:nvGrpSpPr>
      <p:grpSpPr>
        <a:xfrm>
          <a:off x="0" y="0"/>
          <a:ext cx="0" cy="0"/>
          <a:chOff x="0" y="0"/>
          <a:chExt cx="0" cy="0"/>
        </a:xfrm>
      </p:grpSpPr>
      <p:sp>
        <p:nvSpPr>
          <p:cNvPr id="3" name="Graphic 1">
            <a:extLst>
              <a:ext uri="{FF2B5EF4-FFF2-40B4-BE49-F238E27FC236}">
                <a16:creationId xmlns:a16="http://schemas.microsoft.com/office/drawing/2014/main" id="{70451918-92A4-E7AC-4A98-955ABD256E9C}"/>
              </a:ext>
            </a:extLst>
          </p:cNvPr>
          <p:cNvSpPr/>
          <p:nvPr/>
        </p:nvSpPr>
        <p:spPr>
          <a:xfrm>
            <a:off x="4572000" y="0"/>
            <a:ext cx="4572000" cy="5143500"/>
          </a:xfrm>
          <a:prstGeom prst="rect">
            <a:avLst/>
          </a:prstGeom>
          <a:solidFill>
            <a:srgbClr val="F69321"/>
          </a:solidFill>
          <a:ln w="6350" cap="flat">
            <a:noFill/>
            <a:prstDash val="solid"/>
            <a:miter/>
          </a:ln>
        </p:spPr>
        <p:txBody>
          <a:bodyPr rtlCol="0" anchor="ctr"/>
          <a:lstStyle/>
          <a:p>
            <a:endParaRPr lang="en-NL" sz="1013"/>
          </a:p>
        </p:txBody>
      </p:sp>
    </p:spTree>
    <p:extLst>
      <p:ext uri="{BB962C8B-B14F-4D97-AF65-F5344CB8AC3E}">
        <p14:creationId xmlns:p14="http://schemas.microsoft.com/office/powerpoint/2010/main" val="2638896949"/>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515029"/>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eam19 Title Slide Nop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3914235"/>
      </p:ext>
    </p:extLst>
  </p:cSld>
  <p:clrMapOvr>
    <a:masterClrMapping/>
  </p:clrMapOvr>
  <p:hf sldNum="0"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eam19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54012521"/>
      </p:ext>
    </p:extLst>
  </p:cSld>
  <p:clrMapOvr>
    <a:masterClrMapping/>
  </p:clrMapOvr>
  <p:hf sldNum="0"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1386244"/>
      </p:ext>
    </p:extLst>
  </p:cSld>
  <p:clrMapOvr>
    <a:masterClrMapping/>
  </p:clrMapOvr>
  <p:hf sldNum="0"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54173062"/>
      </p:ext>
    </p:extLst>
  </p:cSld>
  <p:clrMapOvr>
    <a:masterClrMapping/>
  </p:clrMapOvr>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74252796"/>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58255395"/>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60430002"/>
      </p:ext>
    </p:extLst>
  </p:cSld>
  <p:clrMapOvr>
    <a:masterClrMapping/>
  </p:clrMapOvr>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0092169"/>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08516357"/>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91107823"/>
      </p:ext>
    </p:extLst>
  </p:cSld>
  <p:clrMapOvr>
    <a:masterClrMapping/>
  </p:clrMapOvr>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75690735"/>
      </p:ext>
    </p:extLst>
  </p:cSld>
  <p:clrMapOvr>
    <a:masterClrMapping/>
  </p:clrMapOvr>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4809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9151683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Foto Slide Gradient Donker ">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7E9AF7-ADB8-1315-5A10-A28BF73C694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7625718" cy="5143499"/>
          </a:xfrm>
          <a:custGeom>
            <a:avLst/>
            <a:gdLst>
              <a:gd name="csX0" fmla="*/ 0 w 7625718"/>
              <a:gd name="csY0" fmla="*/ 0 h 5143499"/>
              <a:gd name="csX1" fmla="*/ 7625718 w 7625718"/>
              <a:gd name="csY1" fmla="*/ 0 h 5143499"/>
              <a:gd name="csX2" fmla="*/ 7625718 w 7625718"/>
              <a:gd name="csY2" fmla="*/ 5143499 h 5143499"/>
              <a:gd name="csX3" fmla="*/ 0 w 7625718"/>
              <a:gd name="csY3" fmla="*/ 5143499 h 5143499"/>
            </a:gdLst>
            <a:ahLst/>
            <a:cxnLst>
              <a:cxn ang="0">
                <a:pos x="csX0" y="csY0"/>
              </a:cxn>
              <a:cxn ang="0">
                <a:pos x="csX1" y="csY1"/>
              </a:cxn>
              <a:cxn ang="0">
                <a:pos x="csX2" y="csY2"/>
              </a:cxn>
              <a:cxn ang="0">
                <a:pos x="csX3" y="csY3"/>
              </a:cxn>
            </a:cxnLst>
            <a:rect l="l" t="t" r="r" b="b"/>
            <a:pathLst>
              <a:path w="7625718" h="5143499">
                <a:moveTo>
                  <a:pt x="0" y="0"/>
                </a:moveTo>
                <a:lnTo>
                  <a:pt x="7625718" y="0"/>
                </a:lnTo>
                <a:lnTo>
                  <a:pt x="7625718" y="5143499"/>
                </a:lnTo>
                <a:lnTo>
                  <a:pt x="0" y="5143499"/>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pic>
        <p:nvPicPr>
          <p:cNvPr id="2" name="Picture 1" descr="A colorful logo on a black background&#10;&#10;AI-generated content may be incorrect.">
            <a:extLst>
              <a:ext uri="{FF2B5EF4-FFF2-40B4-BE49-F238E27FC236}">
                <a16:creationId xmlns:a16="http://schemas.microsoft.com/office/drawing/2014/main" id="{DD80C243-330F-AA6B-175C-B92A19CBDEA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20427780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2237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64761421"/>
      </p:ext>
    </p:extLst>
  </p:cSld>
  <p:clrMapOvr>
    <a:masterClrMapping/>
  </p:clrMapOvr>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42605376"/>
      </p:ext>
    </p:extLst>
  </p:cSld>
  <p:clrMapOvr>
    <a:masterClrMapping/>
  </p:clrMapOvr>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07729431"/>
      </p:ext>
    </p:extLst>
  </p:cSld>
  <p:clrMapOvr>
    <a:masterClrMapping/>
  </p:clrMapOvr>
  <p:hf sldNum="0"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46514695"/>
      </p:ext>
    </p:extLst>
  </p:cSld>
  <p:clrMapOvr>
    <a:masterClrMapping/>
  </p:clrMapOvr>
  <p:hf sldNum="0"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52512726"/>
      </p:ext>
    </p:extLst>
  </p:cSld>
  <p:clrMapOvr>
    <a:masterClrMapping/>
  </p:clrMapOvr>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6351139"/>
      </p:ext>
    </p:extLst>
  </p:cSld>
  <p:clrMapOvr>
    <a:masterClrMapping/>
  </p:clrMapOvr>
  <p:hf sldNum="0"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33175690"/>
      </p:ext>
    </p:extLst>
  </p:cSld>
  <p:clrMapOvr>
    <a:masterClrMapping/>
  </p:clrMapOvr>
  <p:hf sldNum="0"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04843250"/>
      </p:ext>
    </p:extLst>
  </p:cSld>
  <p:clrMapOvr>
    <a:masterClrMapping/>
  </p:clrMapOvr>
  <p:hf sldNum="0"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15644658"/>
      </p:ext>
    </p:extLst>
  </p:cSld>
  <p:clrMapOvr>
    <a:masterClrMapping/>
  </p:clrMapOvr>
  <p:hf sldNum="0"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05867163"/>
      </p:ext>
    </p:extLst>
  </p:cSld>
  <p:clrMapOvr>
    <a:masterClrMapping/>
  </p:clrMapOvr>
  <p:hf sldNum="0"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83093428"/>
      </p:ext>
    </p:extLst>
  </p:cSld>
  <p:clrMapOvr>
    <a:masterClrMapping/>
  </p:clrMapOvr>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856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White - Freeform with icons">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770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52034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15522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47111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16834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228368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57627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826246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406190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844285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21840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919178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1920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142546669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8" y="0"/>
            <a:ext cx="5375672" cy="5143500"/>
          </a:xfrm>
          <a:prstGeom prst="rect">
            <a:avLst/>
          </a:prstGeom>
        </p:spPr>
      </p:pic>
      <p:sp>
        <p:nvSpPr>
          <p:cNvPr id="2" name="Tekstvak 15" descr="MVX23_Logo_Basislogo_Full_colour_Wit">
            <a:extLst>
              <a:ext uri="{FF2B5EF4-FFF2-40B4-BE49-F238E27FC236}">
                <a16:creationId xmlns:a16="http://schemas.microsoft.com/office/drawing/2014/main" id="{3DB7AF06-0343-00CB-E563-18BBB92C7897}"/>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AI Fundamentals</a:t>
            </a:r>
          </a:p>
        </p:txBody>
      </p:sp>
    </p:spTree>
    <p:extLst>
      <p:ext uri="{BB962C8B-B14F-4D97-AF65-F5344CB8AC3E}">
        <p14:creationId xmlns:p14="http://schemas.microsoft.com/office/powerpoint/2010/main" val="304066151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5952816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36545968"/>
      </p:ext>
    </p:extLst>
  </p:cSld>
  <p:clrMapOvr>
    <a:masterClrMapping/>
  </p:clrMapOvr>
  <p:hf sldNum="0" hd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obj" preserve="1">
  <p:cSld name="White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8045673"/>
      </p:ext>
    </p:extLst>
  </p:cSld>
  <p:clrMapOvr>
    <a:masterClrMapping/>
  </p:clrMapOvr>
  <p:hf sldNum="0" hd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9448965"/>
      </p:ext>
    </p:extLst>
  </p:cSld>
  <p:clrMapOvr>
    <a:masterClrMapping/>
  </p:clrMapOvr>
  <p:hf sldNum="0" hd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84721609"/>
      </p:ext>
    </p:extLst>
  </p:cSld>
  <p:clrMapOvr>
    <a:masterClrMapping/>
  </p:clrMapOvr>
  <p:hf sldNum="0" hd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60098456"/>
      </p:ext>
    </p:extLst>
  </p:cSld>
  <p:clrMapOvr>
    <a:masterClrMapping/>
  </p:clrMapOvr>
  <p:hf sldNum="0" hd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07472845"/>
      </p:ext>
    </p:extLst>
  </p:cSld>
  <p:clrMapOvr>
    <a:masterClrMapping/>
  </p:clrMapOvr>
  <p:hf sldNum="0" hd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84105501"/>
      </p:ext>
    </p:extLst>
  </p:cSld>
  <p:clrMapOvr>
    <a:masterClrMapping/>
  </p:clrMapOvr>
  <p:hf sldNum="0" hd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75434484"/>
      </p:ext>
    </p:extLst>
  </p:cSld>
  <p:clrMapOvr>
    <a:masterClrMapping/>
  </p:clrMapOvr>
  <p:hf sldNum="0" hd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17555595"/>
      </p:ext>
    </p:extLst>
  </p:cSld>
  <p:clrMapOvr>
    <a:masterClrMapping/>
  </p:clrMapOvr>
  <p:hf sldNum="0" hd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878041"/>
      </p:ext>
    </p:extLst>
  </p:cSld>
  <p:clrMapOvr>
    <a:masterClrMapping/>
  </p:clrMapOvr>
  <p:hf sldNum="0" hd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16978840"/>
      </p:ext>
    </p:extLst>
  </p:cSld>
  <p:clrMapOvr>
    <a:masterClrMapping/>
  </p:clrMapOvr>
  <p:hf sldNum="0" hdr="0" dt="0"/>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15167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10364896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24971102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 y="-37820"/>
            <a:ext cx="9395460" cy="5181320"/>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78955" y="4860443"/>
            <a:ext cx="8868377" cy="196208"/>
            <a:chOff x="105273" y="6480598"/>
            <a:chExt cx="11824502" cy="261611"/>
          </a:xfrm>
        </p:grpSpPr>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pic>
        <p:nvPicPr>
          <p:cNvPr id="2" name="Picture 1" descr="A colorful logo on a black background&#10;&#10;AI-generated content may be incorrect.">
            <a:extLst>
              <a:ext uri="{FF2B5EF4-FFF2-40B4-BE49-F238E27FC236}">
                <a16:creationId xmlns:a16="http://schemas.microsoft.com/office/drawing/2014/main" id="{AECF33DB-F28B-F8EA-5D3F-E879E25A667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194162939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7223447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3419909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722735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5173198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5846134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991813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032211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483726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084839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565944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177775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09228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Foto Slide Grijs">
    <p:spTree>
      <p:nvGrpSpPr>
        <p:cNvPr id="1" name=""/>
        <p:cNvGrpSpPr/>
        <p:nvPr/>
      </p:nvGrpSpPr>
      <p:grpSpPr>
        <a:xfrm>
          <a:off x="0" y="0"/>
          <a:ext cx="0" cy="0"/>
          <a:chOff x="0" y="0"/>
          <a:chExt cx="0" cy="0"/>
        </a:xfrm>
      </p:grpSpPr>
      <p:sp>
        <p:nvSpPr>
          <p:cNvPr id="14" name="Graphic 12">
            <a:extLst>
              <a:ext uri="{FF2B5EF4-FFF2-40B4-BE49-F238E27FC236}">
                <a16:creationId xmlns:a16="http://schemas.microsoft.com/office/drawing/2014/main" id="{08D59A31-F969-1DB8-A0C3-C94E28D1E849}"/>
              </a:ext>
            </a:extLst>
          </p:cNvPr>
          <p:cNvSpPr/>
          <p:nvPr/>
        </p:nvSpPr>
        <p:spPr>
          <a:xfrm>
            <a:off x="3296841" y="0"/>
            <a:ext cx="9144000" cy="5143500"/>
          </a:xfrm>
          <a:custGeom>
            <a:avLst/>
            <a:gdLst>
              <a:gd name="connsiteX0" fmla="*/ 0 w 12192000"/>
              <a:gd name="connsiteY0" fmla="*/ 6858000 h 6858000"/>
              <a:gd name="connsiteX1" fmla="*/ 3955669 w 12192000"/>
              <a:gd name="connsiteY1" fmla="*/ 0 h 6858000"/>
              <a:gd name="connsiteX2" fmla="*/ 12192000 w 12192000"/>
              <a:gd name="connsiteY2" fmla="*/ 0 h 6858000"/>
              <a:gd name="connsiteX3" fmla="*/ 12192000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6858000"/>
                </a:moveTo>
                <a:lnTo>
                  <a:pt x="3955669" y="0"/>
                </a:lnTo>
                <a:lnTo>
                  <a:pt x="12192000" y="0"/>
                </a:lnTo>
                <a:lnTo>
                  <a:pt x="12192000" y="6858000"/>
                </a:lnTo>
                <a:lnTo>
                  <a:pt x="0" y="68580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rtlCol="0" anchor="ctr"/>
          <a:lstStyle/>
          <a:p>
            <a:endParaRPr lang="nl-NL" sz="1013"/>
          </a:p>
        </p:txBody>
      </p:sp>
    </p:spTree>
    <p:extLst>
      <p:ext uri="{BB962C8B-B14F-4D97-AF65-F5344CB8AC3E}">
        <p14:creationId xmlns:p14="http://schemas.microsoft.com/office/powerpoint/2010/main" val="315629184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8" y="0"/>
            <a:ext cx="5375672" cy="5143500"/>
          </a:xfrm>
          <a:prstGeom prst="rect">
            <a:avLst/>
          </a:prstGeom>
        </p:spPr>
      </p:pic>
      <p:sp>
        <p:nvSpPr>
          <p:cNvPr id="2" name="Tekstvak 15" descr="MVX23_Logo_Basislogo_Full_colour_Wit">
            <a:extLst>
              <a:ext uri="{FF2B5EF4-FFF2-40B4-BE49-F238E27FC236}">
                <a16:creationId xmlns:a16="http://schemas.microsoft.com/office/drawing/2014/main" id="{3DB7AF06-0343-00CB-E563-18BBB92C7897}"/>
              </a:ext>
            </a:extLst>
          </p:cNvPr>
          <p:cNvSpPr txBox="1"/>
          <p:nvPr userDrawn="1"/>
        </p:nvSpPr>
        <p:spPr>
          <a:xfrm>
            <a:off x="4837877" y="166894"/>
            <a:ext cx="4170393" cy="196208"/>
          </a:xfrm>
          <a:prstGeom prst="rect">
            <a:avLst/>
          </a:prstGeom>
          <a:noFill/>
        </p:spPr>
        <p:txBody>
          <a:bodyPr wrap="square" rtlCol="0">
            <a:spAutoFit/>
          </a:bodyPr>
          <a:lstStyle/>
          <a:p>
            <a:pPr algn="r"/>
            <a:r>
              <a:rPr lang="en-US" sz="675" b="1" i="0">
                <a:solidFill>
                  <a:schemeClr val="bg1"/>
                </a:solidFill>
                <a:latin typeface="DM Sans" pitchFamily="2" charset="0"/>
                <a:cs typeface="Calibri" panose="020F0502020204030204" pitchFamily="34" charset="0"/>
              </a:rPr>
              <a:t>AI &amp; Finance | Optimize business processes with AI</a:t>
            </a:r>
          </a:p>
        </p:txBody>
      </p:sp>
    </p:spTree>
    <p:extLst>
      <p:ext uri="{BB962C8B-B14F-4D97-AF65-F5344CB8AC3E}">
        <p14:creationId xmlns:p14="http://schemas.microsoft.com/office/powerpoint/2010/main" val="261454833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23" name="Afbeelding 22">
            <a:extLst>
              <a:ext uri="{FF2B5EF4-FFF2-40B4-BE49-F238E27FC236}">
                <a16:creationId xmlns:a16="http://schemas.microsoft.com/office/drawing/2014/main" id="{E59B7FEB-D241-5C27-5D10-C78579B2ED35}"/>
              </a:ext>
            </a:extLst>
          </p:cNvPr>
          <p:cNvPicPr/>
          <p:nvPr userDrawn="1"/>
        </p:nvPicPr>
        <p:blipFill>
          <a:blip r:embed="rId2" cstate="screen">
            <a:extLst>
              <a:ext uri="{28A0092B-C50C-407E-A947-70E740481C1C}">
                <a14:useLocalDpi xmlns:a14="http://schemas.microsoft.com/office/drawing/2010/main"/>
              </a:ext>
            </a:extLst>
          </a:blip>
          <a:srcRect/>
          <a:stretch/>
        </p:blipFill>
        <p:spPr>
          <a:xfrm>
            <a:off x="3768329" y="0"/>
            <a:ext cx="9144000" cy="5143500"/>
          </a:xfrm>
          <a:prstGeom prst="rect">
            <a:avLst/>
          </a:prstGeom>
        </p:spPr>
      </p:pic>
      <p:pic>
        <p:nvPicPr>
          <p:cNvPr id="22" name="Afbeelding 21" descr="Afbeelding met overdekt, zwart-wit, meubels, computer&#10;&#10;Automatisch gegenereerde beschrijving">
            <a:extLst>
              <a:ext uri="{FF2B5EF4-FFF2-40B4-BE49-F238E27FC236}">
                <a16:creationId xmlns:a16="http://schemas.microsoft.com/office/drawing/2014/main" id="{44D9D383-7D49-3E07-D419-0D3170A1F83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69131" y="805765"/>
            <a:ext cx="5297957" cy="3531971"/>
          </a:xfrm>
          <a:prstGeom prst="rect">
            <a:avLst/>
          </a:prstGeom>
        </p:spPr>
      </p:pic>
    </p:spTree>
    <p:extLst>
      <p:ext uri="{BB962C8B-B14F-4D97-AF65-F5344CB8AC3E}">
        <p14:creationId xmlns:p14="http://schemas.microsoft.com/office/powerpoint/2010/main" val="10040758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Team19 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0608694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7487320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680113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877460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96674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2670031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9975596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0887472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6544574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655866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8984334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Foto Slide Grijs">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70C3D59-95CF-A3CE-83CB-D14E32E61563}"/>
              </a:ext>
            </a:extLst>
          </p:cNvPr>
          <p:cNvSpPr/>
          <p:nvPr/>
        </p:nvSpPr>
        <p:spPr>
          <a:xfrm>
            <a:off x="3296842" y="0"/>
            <a:ext cx="5847159" cy="5143500"/>
          </a:xfrm>
          <a:custGeom>
            <a:avLst/>
            <a:gdLst>
              <a:gd name="csX0" fmla="*/ 2966752 w 5847159"/>
              <a:gd name="csY0" fmla="*/ 0 h 5143500"/>
              <a:gd name="csX1" fmla="*/ 5847159 w 5847159"/>
              <a:gd name="csY1" fmla="*/ 0 h 5143500"/>
              <a:gd name="csX2" fmla="*/ 5847159 w 5847159"/>
              <a:gd name="csY2" fmla="*/ 5143500 h 5143500"/>
              <a:gd name="csX3" fmla="*/ 0 w 5847159"/>
              <a:gd name="csY3" fmla="*/ 5143500 h 5143500"/>
            </a:gdLst>
            <a:ahLst/>
            <a:cxnLst>
              <a:cxn ang="0">
                <a:pos x="csX0" y="csY0"/>
              </a:cxn>
              <a:cxn ang="0">
                <a:pos x="csX1" y="csY1"/>
              </a:cxn>
              <a:cxn ang="0">
                <a:pos x="csX2" y="csY2"/>
              </a:cxn>
              <a:cxn ang="0">
                <a:pos x="csX3" y="csY3"/>
              </a:cxn>
            </a:cxnLst>
            <a:rect l="l" t="t" r="r" b="b"/>
            <a:pathLst>
              <a:path w="5847159" h="5143500">
                <a:moveTo>
                  <a:pt x="2966752" y="0"/>
                </a:moveTo>
                <a:lnTo>
                  <a:pt x="5847159" y="0"/>
                </a:lnTo>
                <a:lnTo>
                  <a:pt x="5847159" y="5143500"/>
                </a:lnTo>
                <a:lnTo>
                  <a:pt x="0" y="514350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w="6350" cap="flat">
            <a:noFill/>
            <a:prstDash val="solid"/>
            <a:miter/>
          </a:ln>
        </p:spPr>
        <p:txBody>
          <a:bodyPr wrap="square" rtlCol="0" anchor="ctr">
            <a:noAutofit/>
          </a:bodyPr>
          <a:lstStyle/>
          <a:p>
            <a:endParaRPr lang="nl-NL" sz="1013"/>
          </a:p>
        </p:txBody>
      </p:sp>
    </p:spTree>
    <p:extLst>
      <p:ext uri="{BB962C8B-B14F-4D97-AF65-F5344CB8AC3E}">
        <p14:creationId xmlns:p14="http://schemas.microsoft.com/office/powerpoint/2010/main" val="233749184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Foto Slide Gradient Licht">
    <p:spTree>
      <p:nvGrpSpPr>
        <p:cNvPr id="1" name=""/>
        <p:cNvGrpSpPr/>
        <p:nvPr/>
      </p:nvGrpSpPr>
      <p:grpSpPr>
        <a:xfrm>
          <a:off x="0" y="0"/>
          <a:ext cx="0" cy="0"/>
          <a:chOff x="0" y="0"/>
          <a:chExt cx="0" cy="0"/>
        </a:xfrm>
      </p:grpSpPr>
      <p:pic>
        <p:nvPicPr>
          <p:cNvPr id="38" name="Afbeelding 37" descr="Afbeelding met Menselijk gezicht, overdekt, muur, persoon&#10;&#10;Automatisch gegenereerde beschrijving">
            <a:extLst>
              <a:ext uri="{FF2B5EF4-FFF2-40B4-BE49-F238E27FC236}">
                <a16:creationId xmlns:a16="http://schemas.microsoft.com/office/drawing/2014/main" id="{3FA1C9BF-6779-A3B2-77BE-D5CE20D8DF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0119" y="-1985319"/>
            <a:ext cx="11179969" cy="7453923"/>
          </a:xfrm>
          <a:prstGeom prst="rect">
            <a:avLst/>
          </a:prstGeom>
        </p:spPr>
      </p:pic>
      <p:pic>
        <p:nvPicPr>
          <p:cNvPr id="34" name="Afbeelding 33" descr="Afbeelding met Kleurrijkheid, waas, sinaasappel, paars&#10;&#10;Automatisch gegenereerde beschrijving">
            <a:extLst>
              <a:ext uri="{FF2B5EF4-FFF2-40B4-BE49-F238E27FC236}">
                <a16:creationId xmlns:a16="http://schemas.microsoft.com/office/drawing/2014/main" id="{B63853B1-8B44-346D-8DA6-7094CFEBAD25}"/>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7321" t="-27143" r="-16126" b="-106472"/>
          <a:stretch>
            <a:fillRect/>
          </a:stretch>
        </p:blipFill>
        <p:spPr>
          <a:xfrm>
            <a:off x="-1590992" y="-1395073"/>
            <a:ext cx="12202409" cy="12012886"/>
          </a:xfrm>
          <a:custGeom>
            <a:avLst/>
            <a:gdLst>
              <a:gd name="connsiteX0" fmla="*/ 7569614 w 16269879"/>
              <a:gd name="connsiteY0" fmla="*/ 6818864 h 16017181"/>
              <a:gd name="connsiteX1" fmla="*/ 7641951 w 16269879"/>
              <a:gd name="connsiteY1" fmla="*/ 6820654 h 16017181"/>
              <a:gd name="connsiteX2" fmla="*/ 14151031 w 16269879"/>
              <a:gd name="connsiteY2" fmla="*/ 7357981 h 16017181"/>
              <a:gd name="connsiteX3" fmla="*/ 14303797 w 16269879"/>
              <a:gd name="connsiteY3" fmla="*/ 7363868 h 16017181"/>
              <a:gd name="connsiteX4" fmla="*/ 14303797 w 16269879"/>
              <a:gd name="connsiteY4" fmla="*/ 8717205 h 16017181"/>
              <a:gd name="connsiteX5" fmla="*/ 11667158 w 16269879"/>
              <a:gd name="connsiteY5" fmla="*/ 8717205 h 16017181"/>
              <a:gd name="connsiteX6" fmla="*/ 11644458 w 16269879"/>
              <a:gd name="connsiteY6" fmla="*/ 8681134 h 16017181"/>
              <a:gd name="connsiteX7" fmla="*/ 10569383 w 16269879"/>
              <a:gd name="connsiteY7" fmla="*/ 7921518 h 16017181"/>
              <a:gd name="connsiteX8" fmla="*/ 7590602 w 16269879"/>
              <a:gd name="connsiteY8" fmla="*/ 7089671 h 16017181"/>
              <a:gd name="connsiteX9" fmla="*/ 7425776 w 16269879"/>
              <a:gd name="connsiteY9" fmla="*/ 6899172 h 16017181"/>
              <a:gd name="connsiteX10" fmla="*/ 7569614 w 16269879"/>
              <a:gd name="connsiteY10" fmla="*/ 6818864 h 16017181"/>
              <a:gd name="connsiteX11" fmla="*/ 2111797 w 16269879"/>
              <a:gd name="connsiteY11" fmla="*/ 6605929 h 16017181"/>
              <a:gd name="connsiteX12" fmla="*/ 2111797 w 16269879"/>
              <a:gd name="connsiteY12" fmla="*/ 8717205 h 16017181"/>
              <a:gd name="connsiteX13" fmla="*/ 11667158 w 16269879"/>
              <a:gd name="connsiteY13" fmla="*/ 8717205 h 16017181"/>
              <a:gd name="connsiteX14" fmla="*/ 11748125 w 16269879"/>
              <a:gd name="connsiteY14" fmla="*/ 8845865 h 16017181"/>
              <a:gd name="connsiteX15" fmla="*/ 11928012 w 16269879"/>
              <a:gd name="connsiteY15" fmla="*/ 10332972 h 16017181"/>
              <a:gd name="connsiteX16" fmla="*/ 10341137 w 16269879"/>
              <a:gd name="connsiteY16" fmla="*/ 11738975 h 16017181"/>
              <a:gd name="connsiteX17" fmla="*/ 6963221 w 16269879"/>
              <a:gd name="connsiteY17" fmla="*/ 12004470 h 16017181"/>
              <a:gd name="connsiteX18" fmla="*/ 6889872 w 16269879"/>
              <a:gd name="connsiteY18" fmla="*/ 12082280 h 16017181"/>
              <a:gd name="connsiteX19" fmla="*/ 6954857 w 16269879"/>
              <a:gd name="connsiteY19" fmla="*/ 12174355 h 16017181"/>
              <a:gd name="connsiteX20" fmla="*/ 8316240 w 16269879"/>
              <a:gd name="connsiteY20" fmla="*/ 14576049 h 16017181"/>
              <a:gd name="connsiteX21" fmla="*/ 7393589 w 16269879"/>
              <a:gd name="connsiteY21" fmla="*/ 15762037 h 16017181"/>
              <a:gd name="connsiteX22" fmla="*/ 7393512 w 16269879"/>
              <a:gd name="connsiteY22" fmla="*/ 15761734 h 16017181"/>
              <a:gd name="connsiteX23" fmla="*/ 5901955 w 16269879"/>
              <a:gd name="connsiteY23" fmla="*/ 15944135 h 16017181"/>
              <a:gd name="connsiteX24" fmla="*/ 4429163 w 16269879"/>
              <a:gd name="connsiteY24" fmla="*/ 15532890 h 16017181"/>
              <a:gd name="connsiteX25" fmla="*/ 3059188 w 16269879"/>
              <a:gd name="connsiteY25" fmla="*/ 14132981 h 16017181"/>
              <a:gd name="connsiteX26" fmla="*/ 3059013 w 16269879"/>
              <a:gd name="connsiteY26" fmla="*/ 14132299 h 16017181"/>
              <a:gd name="connsiteX27" fmla="*/ 3082784 w 16269879"/>
              <a:gd name="connsiteY27" fmla="*/ 13079333 h 16017181"/>
              <a:gd name="connsiteX28" fmla="*/ 4794536 w 16269879"/>
              <a:gd name="connsiteY28" fmla="*/ 11711738 h 16017181"/>
              <a:gd name="connsiteX29" fmla="*/ 4816506 w 16269879"/>
              <a:gd name="connsiteY29" fmla="*/ 11707886 h 16017181"/>
              <a:gd name="connsiteX30" fmla="*/ 7157977 w 16269879"/>
              <a:gd name="connsiteY30" fmla="*/ 11527241 h 16017181"/>
              <a:gd name="connsiteX31" fmla="*/ 7157895 w 16269879"/>
              <a:gd name="connsiteY31" fmla="*/ 11526293 h 16017181"/>
              <a:gd name="connsiteX32" fmla="*/ 7383108 w 16269879"/>
              <a:gd name="connsiteY32" fmla="*/ 11305767 h 16017181"/>
              <a:gd name="connsiteX33" fmla="*/ 7206768 w 16269879"/>
              <a:gd name="connsiteY33" fmla="*/ 11046353 h 16017181"/>
              <a:gd name="connsiteX34" fmla="*/ 2976769 w 16269879"/>
              <a:gd name="connsiteY34" fmla="*/ 9865070 h 16017181"/>
              <a:gd name="connsiteX35" fmla="*/ 1606794 w 16269879"/>
              <a:gd name="connsiteY35" fmla="*/ 8465161 h 16017181"/>
              <a:gd name="connsiteX36" fmla="*/ 1606620 w 16269879"/>
              <a:gd name="connsiteY36" fmla="*/ 8464479 h 16017181"/>
              <a:gd name="connsiteX37" fmla="*/ 1618140 w 16269879"/>
              <a:gd name="connsiteY37" fmla="*/ 7453617 h 16017181"/>
              <a:gd name="connsiteX38" fmla="*/ 2019735 w 16269879"/>
              <a:gd name="connsiteY38" fmla="*/ 6703751 h 16017181"/>
              <a:gd name="connsiteX39" fmla="*/ 2111797 w 16269879"/>
              <a:gd name="connsiteY39" fmla="*/ 4033231 h 16017181"/>
              <a:gd name="connsiteX40" fmla="*/ 9738809 w 16269879"/>
              <a:gd name="connsiteY40" fmla="*/ 6163091 h 16017181"/>
              <a:gd name="connsiteX41" fmla="*/ 9871863 w 16269879"/>
              <a:gd name="connsiteY41" fmla="*/ 6373777 h 16017181"/>
              <a:gd name="connsiteX42" fmla="*/ 9674037 w 16269879"/>
              <a:gd name="connsiteY42" fmla="*/ 6526410 h 16017181"/>
              <a:gd name="connsiteX43" fmla="*/ 3654507 w 16269879"/>
              <a:gd name="connsiteY43" fmla="*/ 6028461 h 16017181"/>
              <a:gd name="connsiteX44" fmla="*/ 3654454 w 16269879"/>
              <a:gd name="connsiteY44" fmla="*/ 6029202 h 16017181"/>
              <a:gd name="connsiteX45" fmla="*/ 2133982 w 16269879"/>
              <a:gd name="connsiteY45" fmla="*/ 6582356 h 16017181"/>
              <a:gd name="connsiteX46" fmla="*/ 2111797 w 16269879"/>
              <a:gd name="connsiteY46" fmla="*/ 6605929 h 16017181"/>
              <a:gd name="connsiteX47" fmla="*/ 14303797 w 16269879"/>
              <a:gd name="connsiteY47" fmla="*/ 3373986 h 16017181"/>
              <a:gd name="connsiteX48" fmla="*/ 14838219 w 16269879"/>
              <a:gd name="connsiteY48" fmla="*/ 3523234 h 16017181"/>
              <a:gd name="connsiteX49" fmla="*/ 16016962 w 16269879"/>
              <a:gd name="connsiteY49" fmla="*/ 4447580 h 16017181"/>
              <a:gd name="connsiteX50" fmla="*/ 16196848 w 16269879"/>
              <a:gd name="connsiteY50" fmla="*/ 5934687 h 16017181"/>
              <a:gd name="connsiteX51" fmla="*/ 14322201 w 16269879"/>
              <a:gd name="connsiteY51" fmla="*/ 7364577 h 16017181"/>
              <a:gd name="connsiteX52" fmla="*/ 14303797 w 16269879"/>
              <a:gd name="connsiteY52" fmla="*/ 7363868 h 16017181"/>
              <a:gd name="connsiteX53" fmla="*/ 8886096 w 16269879"/>
              <a:gd name="connsiteY53" fmla="*/ 1860990 h 16017181"/>
              <a:gd name="connsiteX54" fmla="*/ 14303797 w 16269879"/>
              <a:gd name="connsiteY54" fmla="*/ 1860990 h 16017181"/>
              <a:gd name="connsiteX55" fmla="*/ 14303797 w 16269879"/>
              <a:gd name="connsiteY55" fmla="*/ 3373986 h 16017181"/>
              <a:gd name="connsiteX56" fmla="*/ 1912043 w 16269879"/>
              <a:gd name="connsiteY56" fmla="*/ 460 h 16017181"/>
              <a:gd name="connsiteX57" fmla="*/ 2483777 w 16269879"/>
              <a:gd name="connsiteY57" fmla="*/ 73021 h 16017181"/>
              <a:gd name="connsiteX58" fmla="*/ 8886096 w 16269879"/>
              <a:gd name="connsiteY58" fmla="*/ 1860990 h 16017181"/>
              <a:gd name="connsiteX59" fmla="*/ 2111797 w 16269879"/>
              <a:gd name="connsiteY59" fmla="*/ 1860990 h 16017181"/>
              <a:gd name="connsiteX60" fmla="*/ 2111797 w 16269879"/>
              <a:gd name="connsiteY60" fmla="*/ 4033231 h 16017181"/>
              <a:gd name="connsiteX61" fmla="*/ 1430953 w 16269879"/>
              <a:gd name="connsiteY61" fmla="*/ 3843104 h 16017181"/>
              <a:gd name="connsiteX62" fmla="*/ 60978 w 16269879"/>
              <a:gd name="connsiteY62" fmla="*/ 2443194 h 16017181"/>
              <a:gd name="connsiteX63" fmla="*/ 60784 w 16269879"/>
              <a:gd name="connsiteY63" fmla="*/ 2442436 h 16017181"/>
              <a:gd name="connsiteX64" fmla="*/ 72304 w 16269879"/>
              <a:gd name="connsiteY64" fmla="*/ 1431574 h 16017181"/>
              <a:gd name="connsiteX65" fmla="*/ 996651 w 16269879"/>
              <a:gd name="connsiteY65" fmla="*/ 252831 h 16017181"/>
              <a:gd name="connsiteX66" fmla="*/ 1912043 w 16269879"/>
              <a:gd name="connsiteY66" fmla="*/ 460 h 160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6269879" h="16017181">
                <a:moveTo>
                  <a:pt x="7569614" y="6818864"/>
                </a:moveTo>
                <a:cubicBezTo>
                  <a:pt x="7593319" y="6817571"/>
                  <a:pt x="7617973" y="6818331"/>
                  <a:pt x="7641951" y="6820654"/>
                </a:cubicBezTo>
                <a:lnTo>
                  <a:pt x="14151031" y="7357981"/>
                </a:lnTo>
                <a:lnTo>
                  <a:pt x="14303797" y="7363868"/>
                </a:lnTo>
                <a:lnTo>
                  <a:pt x="14303797" y="8717205"/>
                </a:lnTo>
                <a:lnTo>
                  <a:pt x="11667158" y="8717205"/>
                </a:lnTo>
                <a:lnTo>
                  <a:pt x="11644458" y="8681134"/>
                </a:lnTo>
                <a:cubicBezTo>
                  <a:pt x="11385540" y="8311230"/>
                  <a:pt x="11009895" y="8044530"/>
                  <a:pt x="10569383" y="7921518"/>
                </a:cubicBezTo>
                <a:lnTo>
                  <a:pt x="7590602" y="7089671"/>
                </a:lnTo>
                <a:cubicBezTo>
                  <a:pt x="7451799" y="7050869"/>
                  <a:pt x="7415701" y="6952279"/>
                  <a:pt x="7425776" y="6899172"/>
                </a:cubicBezTo>
                <a:cubicBezTo>
                  <a:pt x="7435929" y="6845097"/>
                  <a:pt x="7498500" y="6822741"/>
                  <a:pt x="7569614" y="6818864"/>
                </a:cubicBezTo>
                <a:close/>
                <a:moveTo>
                  <a:pt x="2111797" y="6605929"/>
                </a:moveTo>
                <a:lnTo>
                  <a:pt x="2111797" y="8717205"/>
                </a:lnTo>
                <a:lnTo>
                  <a:pt x="11667158" y="8717205"/>
                </a:lnTo>
                <a:lnTo>
                  <a:pt x="11748125" y="8845865"/>
                </a:lnTo>
                <a:cubicBezTo>
                  <a:pt x="12004708" y="9301366"/>
                  <a:pt x="12068673" y="9829510"/>
                  <a:pt x="11928012" y="10332972"/>
                </a:cubicBezTo>
                <a:cubicBezTo>
                  <a:pt x="11715238" y="11095089"/>
                  <a:pt x="11076331" y="11624295"/>
                  <a:pt x="10341137" y="11738975"/>
                </a:cubicBezTo>
                <a:cubicBezTo>
                  <a:pt x="10326178" y="11743376"/>
                  <a:pt x="6963221" y="12004470"/>
                  <a:pt x="6963221" y="12004470"/>
                </a:cubicBezTo>
                <a:cubicBezTo>
                  <a:pt x="6909066" y="12013012"/>
                  <a:pt x="6893009" y="12050675"/>
                  <a:pt x="6889872" y="12082280"/>
                </a:cubicBezTo>
                <a:cubicBezTo>
                  <a:pt x="6886647" y="12115119"/>
                  <a:pt x="6895312" y="12157764"/>
                  <a:pt x="6954857" y="12174355"/>
                </a:cubicBezTo>
                <a:cubicBezTo>
                  <a:pt x="7988909" y="12463114"/>
                  <a:pt x="8599748" y="13540433"/>
                  <a:pt x="8316240" y="14576049"/>
                </a:cubicBezTo>
                <a:cubicBezTo>
                  <a:pt x="8177778" y="15082100"/>
                  <a:pt x="7850065" y="15503265"/>
                  <a:pt x="7393589" y="15762037"/>
                </a:cubicBezTo>
                <a:lnTo>
                  <a:pt x="7393512" y="15761734"/>
                </a:lnTo>
                <a:cubicBezTo>
                  <a:pt x="6937035" y="16020507"/>
                  <a:pt x="6407319" y="16085278"/>
                  <a:pt x="5901955" y="15944135"/>
                </a:cubicBezTo>
                <a:lnTo>
                  <a:pt x="4429163" y="15532890"/>
                </a:lnTo>
                <a:cubicBezTo>
                  <a:pt x="3757678" y="15345395"/>
                  <a:pt x="3232741" y="14808950"/>
                  <a:pt x="3059188" y="14132981"/>
                </a:cubicBezTo>
                <a:lnTo>
                  <a:pt x="3059013" y="14132299"/>
                </a:lnTo>
                <a:cubicBezTo>
                  <a:pt x="2970484" y="13786842"/>
                  <a:pt x="2978730" y="13422809"/>
                  <a:pt x="3082784" y="13079333"/>
                </a:cubicBezTo>
                <a:cubicBezTo>
                  <a:pt x="3316790" y="12307328"/>
                  <a:pt x="4013517" y="11785454"/>
                  <a:pt x="4794536" y="11711738"/>
                </a:cubicBezTo>
                <a:cubicBezTo>
                  <a:pt x="4801898" y="11710498"/>
                  <a:pt x="4808970" y="11708442"/>
                  <a:pt x="4816506" y="11707886"/>
                </a:cubicBezTo>
                <a:lnTo>
                  <a:pt x="7157977" y="11527241"/>
                </a:lnTo>
                <a:lnTo>
                  <a:pt x="7157895" y="11526293"/>
                </a:lnTo>
                <a:cubicBezTo>
                  <a:pt x="7309163" y="11514689"/>
                  <a:pt x="7373397" y="11404778"/>
                  <a:pt x="7383108" y="11305767"/>
                </a:cubicBezTo>
                <a:cubicBezTo>
                  <a:pt x="7392765" y="11207173"/>
                  <a:pt x="7351282" y="11087571"/>
                  <a:pt x="7206768" y="11046353"/>
                </a:cubicBezTo>
                <a:lnTo>
                  <a:pt x="2976769" y="9865070"/>
                </a:lnTo>
                <a:cubicBezTo>
                  <a:pt x="2305285" y="9677574"/>
                  <a:pt x="1780347" y="9141129"/>
                  <a:pt x="1606794" y="8465161"/>
                </a:cubicBezTo>
                <a:lnTo>
                  <a:pt x="1606620" y="8464479"/>
                </a:lnTo>
                <a:cubicBezTo>
                  <a:pt x="1521842" y="8133662"/>
                  <a:pt x="1525805" y="7784147"/>
                  <a:pt x="1618140" y="7453617"/>
                </a:cubicBezTo>
                <a:cubicBezTo>
                  <a:pt x="1697949" y="7167859"/>
                  <a:pt x="1837591" y="6914663"/>
                  <a:pt x="2019735" y="6703751"/>
                </a:cubicBezTo>
                <a:close/>
                <a:moveTo>
                  <a:pt x="2111797" y="4033231"/>
                </a:moveTo>
                <a:lnTo>
                  <a:pt x="9738809" y="6163091"/>
                </a:lnTo>
                <a:cubicBezTo>
                  <a:pt x="9889270" y="6204483"/>
                  <a:pt x="9878679" y="6334762"/>
                  <a:pt x="9871863" y="6373777"/>
                </a:cubicBezTo>
                <a:cubicBezTo>
                  <a:pt x="9864989" y="6412885"/>
                  <a:pt x="9830444" y="6539278"/>
                  <a:pt x="9674037" y="6526410"/>
                </a:cubicBezTo>
                <a:lnTo>
                  <a:pt x="3654507" y="6028461"/>
                </a:lnTo>
                <a:lnTo>
                  <a:pt x="3654454" y="6029202"/>
                </a:lnTo>
                <a:cubicBezTo>
                  <a:pt x="3083924" y="5984830"/>
                  <a:pt x="2530883" y="6195137"/>
                  <a:pt x="2133982" y="6582356"/>
                </a:cubicBezTo>
                <a:lnTo>
                  <a:pt x="2111797" y="6605929"/>
                </a:lnTo>
                <a:close/>
                <a:moveTo>
                  <a:pt x="14303797" y="3373986"/>
                </a:moveTo>
                <a:lnTo>
                  <a:pt x="14838219" y="3523234"/>
                </a:lnTo>
                <a:cubicBezTo>
                  <a:pt x="15341662" y="3663818"/>
                  <a:pt x="15760380" y="3992079"/>
                  <a:pt x="16016962" y="4447580"/>
                </a:cubicBezTo>
                <a:cubicBezTo>
                  <a:pt x="16273620" y="4903062"/>
                  <a:pt x="16337509" y="5431226"/>
                  <a:pt x="16196848" y="5934687"/>
                </a:cubicBezTo>
                <a:cubicBezTo>
                  <a:pt x="15956619" y="6795048"/>
                  <a:pt x="15174125" y="7359828"/>
                  <a:pt x="14322201" y="7364577"/>
                </a:cubicBezTo>
                <a:lnTo>
                  <a:pt x="14303797" y="7363868"/>
                </a:lnTo>
                <a:close/>
                <a:moveTo>
                  <a:pt x="8886096" y="1860990"/>
                </a:moveTo>
                <a:lnTo>
                  <a:pt x="14303797" y="1860990"/>
                </a:lnTo>
                <a:lnTo>
                  <a:pt x="14303797" y="3373986"/>
                </a:lnTo>
                <a:close/>
                <a:moveTo>
                  <a:pt x="1912043" y="460"/>
                </a:moveTo>
                <a:cubicBezTo>
                  <a:pt x="2102661" y="-3699"/>
                  <a:pt x="2294950" y="20280"/>
                  <a:pt x="2483777" y="73021"/>
                </a:cubicBezTo>
                <a:lnTo>
                  <a:pt x="8886096" y="1860990"/>
                </a:lnTo>
                <a:lnTo>
                  <a:pt x="2111797" y="1860990"/>
                </a:lnTo>
                <a:lnTo>
                  <a:pt x="2111797" y="4033231"/>
                </a:lnTo>
                <a:lnTo>
                  <a:pt x="1430953" y="3843104"/>
                </a:lnTo>
                <a:cubicBezTo>
                  <a:pt x="759467" y="3655608"/>
                  <a:pt x="234529" y="3119163"/>
                  <a:pt x="60978" y="2443194"/>
                </a:cubicBezTo>
                <a:lnTo>
                  <a:pt x="60784" y="2442436"/>
                </a:lnTo>
                <a:cubicBezTo>
                  <a:pt x="-23994" y="2111620"/>
                  <a:pt x="-20032" y="1762105"/>
                  <a:pt x="72304" y="1431574"/>
                </a:cubicBezTo>
                <a:cubicBezTo>
                  <a:pt x="212964" y="928112"/>
                  <a:pt x="541169" y="509489"/>
                  <a:pt x="996651" y="252831"/>
                </a:cubicBezTo>
                <a:cubicBezTo>
                  <a:pt x="1281291" y="92479"/>
                  <a:pt x="1594345" y="7390"/>
                  <a:pt x="1912043" y="460"/>
                </a:cubicBezTo>
                <a:close/>
              </a:path>
            </a:pathLst>
          </a:custGeom>
        </p:spPr>
      </p:pic>
      <p:grpSp>
        <p:nvGrpSpPr>
          <p:cNvPr id="39" name="Groep 38">
            <a:extLst>
              <a:ext uri="{FF2B5EF4-FFF2-40B4-BE49-F238E27FC236}">
                <a16:creationId xmlns:a16="http://schemas.microsoft.com/office/drawing/2014/main" id="{C6EECA10-21B5-E239-15EA-3E6A68EFC685}"/>
              </a:ext>
            </a:extLst>
          </p:cNvPr>
          <p:cNvGrpSpPr/>
          <p:nvPr userDrawn="1"/>
        </p:nvGrpSpPr>
        <p:grpSpPr>
          <a:xfrm>
            <a:off x="55967" y="74403"/>
            <a:ext cx="8891365" cy="4982254"/>
            <a:chOff x="74622" y="99203"/>
            <a:chExt cx="11855153" cy="6643006"/>
          </a:xfrm>
        </p:grpSpPr>
        <p:pic>
          <p:nvPicPr>
            <p:cNvPr id="40" name="Afbeelding 39" descr="Afbeelding met Graphics, schermopname, Kleurrijkheid&#10;&#10;Automatisch gegenereerde beschrijving">
              <a:extLst>
                <a:ext uri="{FF2B5EF4-FFF2-40B4-BE49-F238E27FC236}">
                  <a16:creationId xmlns:a16="http://schemas.microsoft.com/office/drawing/2014/main" id="{D9D06A52-1A26-1B76-9B7C-66E2C9B67014}"/>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42" name="Tekstvak 41" descr="MVX23_Logo_Basislogo_Full_colour_Wit">
              <a:extLst>
                <a:ext uri="{FF2B5EF4-FFF2-40B4-BE49-F238E27FC236}">
                  <a16:creationId xmlns:a16="http://schemas.microsoft.com/office/drawing/2014/main" id="{B176B7F6-259C-9CF5-7FAB-7473CDBA861B}"/>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43" name="Afbeelding 42" descr="Afbeelding met schermopname, Graphics, Kleurrijkheid, symbool&#10;&#10;Automatisch gegenereerde beschrijving">
              <a:extLst>
                <a:ext uri="{FF2B5EF4-FFF2-40B4-BE49-F238E27FC236}">
                  <a16:creationId xmlns:a16="http://schemas.microsoft.com/office/drawing/2014/main" id="{234C4B93-0005-CA61-B87A-8D306A0E3D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72858" y="6549937"/>
              <a:ext cx="456917" cy="92154"/>
            </a:xfrm>
            <a:prstGeom prst="rect">
              <a:avLst/>
            </a:prstGeom>
          </p:spPr>
        </p:pic>
      </p:grpSp>
    </p:spTree>
    <p:extLst>
      <p:ext uri="{BB962C8B-B14F-4D97-AF65-F5344CB8AC3E}">
        <p14:creationId xmlns:p14="http://schemas.microsoft.com/office/powerpoint/2010/main" val="68716151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oto Slide Gradient Donker ">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D63BE031-69D8-B2F1-CC5B-EFB11F4186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18282" y="1"/>
            <a:ext cx="8427897" cy="5143499"/>
          </a:xfrm>
          <a:custGeom>
            <a:avLst/>
            <a:gdLst>
              <a:gd name="connsiteX0" fmla="*/ 0 w 11237196"/>
              <a:gd name="connsiteY0" fmla="*/ 0 h 6857998"/>
              <a:gd name="connsiteX1" fmla="*/ 11237196 w 11237196"/>
              <a:gd name="connsiteY1" fmla="*/ 0 h 6857998"/>
              <a:gd name="connsiteX2" fmla="*/ 11237196 w 11237196"/>
              <a:gd name="connsiteY2" fmla="*/ 6857998 h 6857998"/>
              <a:gd name="connsiteX3" fmla="*/ 0 w 11237196"/>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1237196" h="6857998">
                <a:moveTo>
                  <a:pt x="0" y="0"/>
                </a:moveTo>
                <a:lnTo>
                  <a:pt x="11237196" y="0"/>
                </a:lnTo>
                <a:lnTo>
                  <a:pt x="11237196" y="6857998"/>
                </a:lnTo>
                <a:lnTo>
                  <a:pt x="0" y="6857998"/>
                </a:lnTo>
                <a:close/>
              </a:path>
            </a:pathLst>
          </a:custGeom>
        </p:spPr>
      </p:pic>
      <p:pic>
        <p:nvPicPr>
          <p:cNvPr id="21" name="Afbeelding 20">
            <a:extLst>
              <a:ext uri="{FF2B5EF4-FFF2-40B4-BE49-F238E27FC236}">
                <a16:creationId xmlns:a16="http://schemas.microsoft.com/office/drawing/2014/main" id="{0EE17414-9636-D248-052D-9CA7D4CB3B0A}"/>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rcRect/>
          <a:stretch/>
        </p:blipFill>
        <p:spPr>
          <a:xfrm>
            <a:off x="0" y="0"/>
            <a:ext cx="9144000" cy="5143500"/>
          </a:xfrm>
          <a:custGeom>
            <a:avLst/>
            <a:gdLst>
              <a:gd name="connsiteX0" fmla="*/ 11722851 w 12192000"/>
              <a:gd name="connsiteY0" fmla="*/ 4851658 h 6858000"/>
              <a:gd name="connsiteX1" fmla="*/ 11783495 w 12192000"/>
              <a:gd name="connsiteY1" fmla="*/ 4864554 h 6858000"/>
              <a:gd name="connsiteX2" fmla="*/ 11911490 w 12192000"/>
              <a:gd name="connsiteY2" fmla="*/ 5086035 h 6858000"/>
              <a:gd name="connsiteX3" fmla="*/ 11912252 w 12192000"/>
              <a:gd name="connsiteY3" fmla="*/ 5086162 h 6858000"/>
              <a:gd name="connsiteX4" fmla="*/ 11601039 w 12192000"/>
              <a:gd name="connsiteY4" fmla="*/ 6858000 h 6858000"/>
              <a:gd name="connsiteX5" fmla="*/ 10444007 w 12192000"/>
              <a:gd name="connsiteY5" fmla="*/ 6858000 h 6858000"/>
              <a:gd name="connsiteX6" fmla="*/ 11544029 w 12192000"/>
              <a:gd name="connsiteY6" fmla="*/ 4950923 h 6858000"/>
              <a:gd name="connsiteX7" fmla="*/ 11722851 w 12192000"/>
              <a:gd name="connsiteY7" fmla="*/ 4851658 h 6858000"/>
              <a:gd name="connsiteX8" fmla="*/ 8323946 w 12192000"/>
              <a:gd name="connsiteY8" fmla="*/ 1899270 h 6858000"/>
              <a:gd name="connsiteX9" fmla="*/ 8407581 w 12192000"/>
              <a:gd name="connsiteY9" fmla="*/ 1914380 h 6858000"/>
              <a:gd name="connsiteX10" fmla="*/ 8487722 w 12192000"/>
              <a:gd name="connsiteY10" fmla="*/ 2100652 h 6858000"/>
              <a:gd name="connsiteX11" fmla="*/ 6883527 w 12192000"/>
              <a:gd name="connsiteY11" fmla="*/ 6732619 h 6858000"/>
              <a:gd name="connsiteX12" fmla="*/ 6884098 w 12192000"/>
              <a:gd name="connsiteY12" fmla="*/ 6732810 h 6858000"/>
              <a:gd name="connsiteX13" fmla="*/ 6847479 w 12192000"/>
              <a:gd name="connsiteY13" fmla="*/ 6858000 h 6858000"/>
              <a:gd name="connsiteX14" fmla="*/ 5399533 w 12192000"/>
              <a:gd name="connsiteY14" fmla="*/ 6858000 h 6858000"/>
              <a:gd name="connsiteX15" fmla="*/ 8215144 w 12192000"/>
              <a:gd name="connsiteY15" fmla="*/ 1976534 h 6858000"/>
              <a:gd name="connsiteX16" fmla="*/ 8323946 w 12192000"/>
              <a:gd name="connsiteY16" fmla="*/ 1899270 h 6858000"/>
              <a:gd name="connsiteX17" fmla="*/ 9610256 w 12192000"/>
              <a:gd name="connsiteY17" fmla="*/ 0 h 6858000"/>
              <a:gd name="connsiteX18" fmla="*/ 12192000 w 12192000"/>
              <a:gd name="connsiteY18" fmla="*/ 0 h 6858000"/>
              <a:gd name="connsiteX19" fmla="*/ 12192000 w 12192000"/>
              <a:gd name="connsiteY19" fmla="*/ 1285863 h 6858000"/>
              <a:gd name="connsiteX20" fmla="*/ 12130216 w 12192000"/>
              <a:gd name="connsiteY20" fmla="*/ 1228799 h 6858000"/>
              <a:gd name="connsiteX21" fmla="*/ 11934369 w 12192000"/>
              <a:gd name="connsiteY21" fmla="*/ 1095568 h 6858000"/>
              <a:gd name="connsiteX22" fmla="*/ 10729030 w 12192000"/>
              <a:gd name="connsiteY22" fmla="*/ 937386 h 6858000"/>
              <a:gd name="connsiteX23" fmla="*/ 9764873 w 12192000"/>
              <a:gd name="connsiteY23" fmla="*/ 1677838 h 6858000"/>
              <a:gd name="connsiteX24" fmla="*/ 8510790 w 12192000"/>
              <a:gd name="connsiteY24" fmla="*/ 3852035 h 6858000"/>
              <a:gd name="connsiteX25" fmla="*/ 8327822 w 12192000"/>
              <a:gd name="connsiteY25" fmla="*/ 3943233 h 6858000"/>
              <a:gd name="connsiteX26" fmla="*/ 8309647 w 12192000"/>
              <a:gd name="connsiteY26" fmla="*/ 3757469 h 6858000"/>
              <a:gd name="connsiteX27" fmla="*/ 0 w 12192000"/>
              <a:gd name="connsiteY27" fmla="*/ 0 h 6858000"/>
              <a:gd name="connsiteX28" fmla="*/ 5688066 w 12192000"/>
              <a:gd name="connsiteY28" fmla="*/ 0 h 6858000"/>
              <a:gd name="connsiteX29" fmla="*/ 1965762 w 12192000"/>
              <a:gd name="connsiteY29" fmla="*/ 6453179 h 6858000"/>
              <a:gd name="connsiteX30" fmla="*/ 1836133 w 12192000"/>
              <a:gd name="connsiteY30" fmla="*/ 6738945 h 6858000"/>
              <a:gd name="connsiteX31" fmla="*/ 1802115 w 12192000"/>
              <a:gd name="connsiteY31" fmla="*/ 6858000 h 6858000"/>
              <a:gd name="connsiteX32" fmla="*/ 0 w 12192000"/>
              <a:gd name="connsiteY3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2000" h="6858000">
                <a:moveTo>
                  <a:pt x="11722851" y="4851658"/>
                </a:moveTo>
                <a:cubicBezTo>
                  <a:pt x="11744036" y="4853075"/>
                  <a:pt x="11764604" y="4857690"/>
                  <a:pt x="11783495" y="4864554"/>
                </a:cubicBezTo>
                <a:cubicBezTo>
                  <a:pt x="11859376" y="4892136"/>
                  <a:pt x="11932843" y="4964777"/>
                  <a:pt x="11911490" y="5086035"/>
                </a:cubicBezTo>
                <a:lnTo>
                  <a:pt x="11912252" y="5086162"/>
                </a:lnTo>
                <a:lnTo>
                  <a:pt x="11601039" y="6858000"/>
                </a:lnTo>
                <a:lnTo>
                  <a:pt x="10444007" y="6858000"/>
                </a:lnTo>
                <a:lnTo>
                  <a:pt x="11544029" y="4950923"/>
                </a:lnTo>
                <a:cubicBezTo>
                  <a:pt x="11590168" y="4871943"/>
                  <a:pt x="11659293" y="4847407"/>
                  <a:pt x="11722851" y="4851658"/>
                </a:cubicBezTo>
                <a:close/>
                <a:moveTo>
                  <a:pt x="8323946" y="1899270"/>
                </a:moveTo>
                <a:cubicBezTo>
                  <a:pt x="8360536" y="1895822"/>
                  <a:pt x="8392932" y="1907770"/>
                  <a:pt x="8407581" y="1914380"/>
                </a:cubicBezTo>
                <a:cubicBezTo>
                  <a:pt x="8436943" y="1927662"/>
                  <a:pt x="8529347" y="1980283"/>
                  <a:pt x="8487722" y="2100652"/>
                </a:cubicBezTo>
                <a:lnTo>
                  <a:pt x="6883527" y="6732619"/>
                </a:lnTo>
                <a:lnTo>
                  <a:pt x="6884098" y="6732810"/>
                </a:lnTo>
                <a:lnTo>
                  <a:pt x="6847479" y="6858000"/>
                </a:lnTo>
                <a:lnTo>
                  <a:pt x="5399533" y="6858000"/>
                </a:lnTo>
                <a:lnTo>
                  <a:pt x="8215144" y="1976534"/>
                </a:lnTo>
                <a:cubicBezTo>
                  <a:pt x="8246571" y="1921561"/>
                  <a:pt x="8287356" y="1902718"/>
                  <a:pt x="8323946" y="1899270"/>
                </a:cubicBezTo>
                <a:close/>
                <a:moveTo>
                  <a:pt x="9610256" y="0"/>
                </a:moveTo>
                <a:lnTo>
                  <a:pt x="12192000" y="0"/>
                </a:lnTo>
                <a:lnTo>
                  <a:pt x="12192000" y="1285863"/>
                </a:lnTo>
                <a:lnTo>
                  <a:pt x="12130216" y="1228799"/>
                </a:lnTo>
                <a:cubicBezTo>
                  <a:pt x="12069236" y="1180273"/>
                  <a:pt x="12003903" y="1135670"/>
                  <a:pt x="11934369" y="1095568"/>
                </a:cubicBezTo>
                <a:cubicBezTo>
                  <a:pt x="11566908" y="883556"/>
                  <a:pt x="11138818" y="827439"/>
                  <a:pt x="10729030" y="937386"/>
                </a:cubicBezTo>
                <a:cubicBezTo>
                  <a:pt x="10319242" y="1047331"/>
                  <a:pt x="9976822" y="1310376"/>
                  <a:pt x="9764873" y="1677838"/>
                </a:cubicBezTo>
                <a:lnTo>
                  <a:pt x="8510790" y="3852035"/>
                </a:lnTo>
                <a:cubicBezTo>
                  <a:pt x="8452322" y="3953337"/>
                  <a:pt x="8367544" y="3961854"/>
                  <a:pt x="8327822" y="3943233"/>
                </a:cubicBezTo>
                <a:cubicBezTo>
                  <a:pt x="8273866" y="3918066"/>
                  <a:pt x="8283019" y="3830998"/>
                  <a:pt x="8309647" y="3757469"/>
                </a:cubicBezTo>
                <a:close/>
                <a:moveTo>
                  <a:pt x="0" y="0"/>
                </a:moveTo>
                <a:lnTo>
                  <a:pt x="5688066" y="0"/>
                </a:lnTo>
                <a:lnTo>
                  <a:pt x="1965762" y="6453179"/>
                </a:lnTo>
                <a:cubicBezTo>
                  <a:pt x="1912759" y="6545060"/>
                  <a:pt x="1869496" y="6640727"/>
                  <a:pt x="1836133" y="6738945"/>
                </a:cubicBezTo>
                <a:lnTo>
                  <a:pt x="1802115" y="6858000"/>
                </a:lnTo>
                <a:lnTo>
                  <a:pt x="0" y="6858000"/>
                </a:lnTo>
                <a:close/>
              </a:path>
            </a:pathLst>
          </a:custGeom>
        </p:spPr>
      </p:pic>
      <p:pic>
        <p:nvPicPr>
          <p:cNvPr id="32" name="Afbeelding 31" descr="Afbeelding met Graphics, schermopname, Kleurrijkheid&#10;&#10;Automatisch gegenereerde beschrijving">
            <a:extLst>
              <a:ext uri="{FF2B5EF4-FFF2-40B4-BE49-F238E27FC236}">
                <a16:creationId xmlns:a16="http://schemas.microsoft.com/office/drawing/2014/main" id="{212C3E93-EEC2-5A4A-A3A1-C7EC8BFF33C3}"/>
              </a:ext>
            </a:extLst>
          </p:cNvPr>
          <p:cNvPicPr>
            <a:picLocks noGrp="1" noRo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55966" y="74403"/>
            <a:ext cx="342686" cy="342368"/>
          </a:xfrm>
          <a:prstGeom prst="rect">
            <a:avLst/>
          </a:prstGeom>
        </p:spPr>
      </p:pic>
      <p:sp>
        <p:nvSpPr>
          <p:cNvPr id="34" name="Tekstvak 33" descr="MVX23_Logo_Basislogo_Full_colour_Wit">
            <a:extLst>
              <a:ext uri="{FF2B5EF4-FFF2-40B4-BE49-F238E27FC236}">
                <a16:creationId xmlns:a16="http://schemas.microsoft.com/office/drawing/2014/main" id="{A986F08F-0B75-4B62-FB33-C46F24CB467D}"/>
              </a:ext>
            </a:extLst>
          </p:cNvPr>
          <p:cNvSpPr txBox="1">
            <a:spLocks noGrp="1" noRot="1" noMove="1" noResize="1" noEditPoints="1" noAdjustHandles="1" noChangeArrowheads="1" noChangeShapeType="1"/>
          </p:cNvSpPr>
          <p:nvPr userDrawn="1"/>
        </p:nvSpPr>
        <p:spPr>
          <a:xfrm>
            <a:off x="78955" y="4860449"/>
            <a:ext cx="853305" cy="196208"/>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35" name="Afbeelding 34" descr="Afbeelding met symbool, geel, schermopname, Lettertype&#10;&#10;Automatisch gegenereerde beschrijving">
            <a:extLst>
              <a:ext uri="{FF2B5EF4-FFF2-40B4-BE49-F238E27FC236}">
                <a16:creationId xmlns:a16="http://schemas.microsoft.com/office/drawing/2014/main" id="{7E928F76-9B21-1ED0-856A-B89080B2B6ED}"/>
              </a:ext>
            </a:extLst>
          </p:cNvPr>
          <p:cNvPicPr>
            <a:picLocks noGrp="1" noRot="1" noMove="1" noResize="1" noEditPoints="1" noAdjustHandles="1" noChangeArrowheads="1" noChangeShapeType="1" noCrop="1"/>
          </p:cNvPicPr>
          <p:nvPr userDrawn="1"/>
        </p:nvPicPr>
        <p:blipFill>
          <a:blip r:embed="rId5" cstate="screen">
            <a:extLst>
              <a:ext uri="{28A0092B-C50C-407E-A947-70E740481C1C}">
                <a14:useLocalDpi xmlns:a14="http://schemas.microsoft.com/office/drawing/2010/main"/>
              </a:ext>
            </a:extLst>
          </a:blip>
          <a:stretch>
            <a:fillRect/>
          </a:stretch>
        </p:blipFill>
        <p:spPr>
          <a:xfrm>
            <a:off x="8604646" y="4912453"/>
            <a:ext cx="342686" cy="69116"/>
          </a:xfrm>
          <a:prstGeom prst="rect">
            <a:avLst/>
          </a:prstGeom>
        </p:spPr>
      </p:pic>
    </p:spTree>
    <p:extLst>
      <p:ext uri="{BB962C8B-B14F-4D97-AF65-F5344CB8AC3E}">
        <p14:creationId xmlns:p14="http://schemas.microsoft.com/office/powerpoint/2010/main" val="162255515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07707" y="-275040"/>
            <a:ext cx="6648710" cy="5967986"/>
          </a:xfrm>
          <a:prstGeom prst="rect">
            <a:avLst/>
          </a:prstGeom>
        </p:spPr>
      </p:pic>
    </p:spTree>
    <p:extLst>
      <p:ext uri="{BB962C8B-B14F-4D97-AF65-F5344CB8AC3E}">
        <p14:creationId xmlns:p14="http://schemas.microsoft.com/office/powerpoint/2010/main" val="5342635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Beeldmerk Oranje">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B66E19F6-27EB-E276-2BD3-26E466E0B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7345" y="-1262742"/>
            <a:ext cx="8849433" cy="7943390"/>
          </a:xfrm>
          <a:prstGeom prst="rect">
            <a:avLst/>
          </a:prstGeom>
        </p:spPr>
      </p:pic>
    </p:spTree>
    <p:extLst>
      <p:ext uri="{BB962C8B-B14F-4D97-AF65-F5344CB8AC3E}">
        <p14:creationId xmlns:p14="http://schemas.microsoft.com/office/powerpoint/2010/main" val="291511098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344534952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39578" y="0"/>
            <a:ext cx="9144000" cy="5143500"/>
          </a:xfrm>
          <a:prstGeom prst="rect">
            <a:avLst/>
          </a:prstGeom>
        </p:spPr>
      </p:pic>
    </p:spTree>
    <p:extLst>
      <p:ext uri="{BB962C8B-B14F-4D97-AF65-F5344CB8AC3E}">
        <p14:creationId xmlns:p14="http://schemas.microsoft.com/office/powerpoint/2010/main" val="43736468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Aangepaste indelin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9C76399-C42D-616C-DD2F-BEFA20D22AE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18858" y="0"/>
            <a:ext cx="9144000" cy="5143500"/>
          </a:xfrm>
          <a:prstGeom prst="rect">
            <a:avLst/>
          </a:prstGeom>
        </p:spPr>
      </p:pic>
    </p:spTree>
    <p:extLst>
      <p:ext uri="{BB962C8B-B14F-4D97-AF65-F5344CB8AC3E}">
        <p14:creationId xmlns:p14="http://schemas.microsoft.com/office/powerpoint/2010/main" val="359568634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558035"/>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pic>
        <p:nvPicPr>
          <p:cNvPr id="7" name="Picture 6" descr="A group of people posing for a photo&#10;&#10;Description automatically generated">
            <a:extLst>
              <a:ext uri="{FF2B5EF4-FFF2-40B4-BE49-F238E27FC236}">
                <a16:creationId xmlns:a16="http://schemas.microsoft.com/office/drawing/2014/main" id="{B61B438D-0D4D-77D2-4C40-B5E03996B6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317776" y="714688"/>
            <a:ext cx="5193179" cy="3775672"/>
          </a:xfrm>
          <a:prstGeom prst="rect">
            <a:avLst/>
          </a:prstGeom>
        </p:spPr>
      </p:pic>
    </p:spTree>
    <p:extLst>
      <p:ext uri="{BB962C8B-B14F-4D97-AF65-F5344CB8AC3E}">
        <p14:creationId xmlns:p14="http://schemas.microsoft.com/office/powerpoint/2010/main" val="428071909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5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3768328" y="0"/>
            <a:ext cx="5375672" cy="5143500"/>
          </a:xfrm>
          <a:prstGeom prst="rect">
            <a:avLst/>
          </a:prstGeom>
        </p:spPr>
      </p:pic>
    </p:spTree>
    <p:extLst>
      <p:ext uri="{BB962C8B-B14F-4D97-AF65-F5344CB8AC3E}">
        <p14:creationId xmlns:p14="http://schemas.microsoft.com/office/powerpoint/2010/main" val="258596300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6_Aangepaste indel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2B19C-3BDA-579C-5F8E-86D5C3C166C0}"/>
              </a:ext>
            </a:extLst>
          </p:cNvPr>
          <p:cNvPicPr>
            <a:picLocks noChangeAspect="1"/>
          </p:cNvPicPr>
          <p:nvPr userDrawn="1"/>
        </p:nvPicPr>
        <p:blipFill>
          <a:blip r:embed="rId2"/>
          <a:stretch>
            <a:fillRect/>
          </a:stretch>
        </p:blipFill>
        <p:spPr>
          <a:xfrm>
            <a:off x="4572000" y="0"/>
            <a:ext cx="4572000" cy="5143500"/>
          </a:xfrm>
          <a:prstGeom prst="rect">
            <a:avLst/>
          </a:prstGeom>
        </p:spPr>
      </p:pic>
    </p:spTree>
    <p:extLst>
      <p:ext uri="{BB962C8B-B14F-4D97-AF65-F5344CB8AC3E}">
        <p14:creationId xmlns:p14="http://schemas.microsoft.com/office/powerpoint/2010/main" val="1626548084"/>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7_Aangepaste indeling">
    <p:spTree>
      <p:nvGrpSpPr>
        <p:cNvPr id="1" name=""/>
        <p:cNvGrpSpPr/>
        <p:nvPr/>
      </p:nvGrpSpPr>
      <p:grpSpPr>
        <a:xfrm>
          <a:off x="0" y="0"/>
          <a:ext cx="0" cy="0"/>
          <a:chOff x="0" y="0"/>
          <a:chExt cx="0" cy="0"/>
        </a:xfrm>
      </p:grpSpPr>
      <p:sp>
        <p:nvSpPr>
          <p:cNvPr id="3" name="Graphic 1">
            <a:extLst>
              <a:ext uri="{FF2B5EF4-FFF2-40B4-BE49-F238E27FC236}">
                <a16:creationId xmlns:a16="http://schemas.microsoft.com/office/drawing/2014/main" id="{70451918-92A4-E7AC-4A98-955ABD256E9C}"/>
              </a:ext>
            </a:extLst>
          </p:cNvPr>
          <p:cNvSpPr/>
          <p:nvPr/>
        </p:nvSpPr>
        <p:spPr>
          <a:xfrm>
            <a:off x="4572000" y="0"/>
            <a:ext cx="4572000" cy="5143500"/>
          </a:xfrm>
          <a:prstGeom prst="rect">
            <a:avLst/>
          </a:prstGeom>
          <a:solidFill>
            <a:srgbClr val="F69321"/>
          </a:solidFill>
          <a:ln w="6350" cap="flat">
            <a:noFill/>
            <a:prstDash val="solid"/>
            <a:miter/>
          </a:ln>
        </p:spPr>
        <p:txBody>
          <a:bodyPr rtlCol="0" anchor="ctr"/>
          <a:lstStyle/>
          <a:p>
            <a:endParaRPr lang="en-NL" sz="1013"/>
          </a:p>
        </p:txBody>
      </p:sp>
    </p:spTree>
    <p:extLst>
      <p:ext uri="{BB962C8B-B14F-4D97-AF65-F5344CB8AC3E}">
        <p14:creationId xmlns:p14="http://schemas.microsoft.com/office/powerpoint/2010/main" val="1906537327"/>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869471"/>
      </p:ext>
    </p:extLst>
  </p:cSld>
  <p:clrMapOvr>
    <a:masterClrMapping/>
  </p:clrMapOvr>
  <p:extLst>
    <p:ext uri="{DCECCB84-F9BA-43D5-87BE-67443E8EF086}">
      <p15:sldGuideLst xmlns:p15="http://schemas.microsoft.com/office/powerpoint/2012/main">
        <p15:guide id="1" orient="horz" pos="1215"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4.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image" Target="../media/image14.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image" Target="../media/image1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image" Target="../media/image7.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image" Target="../media/image2.png"/><Relationship Id="rId2" Type="http://schemas.openxmlformats.org/officeDocument/2006/relationships/slideLayout" Target="../slideLayouts/slideLayout38.xml"/><Relationship Id="rId16" Type="http://schemas.openxmlformats.org/officeDocument/2006/relationships/theme" Target="../theme/theme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2.pn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image" Target="../media/image1.png"/><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image" Target="../media/image1.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2.png"/><Relationship Id="rId2" Type="http://schemas.openxmlformats.org/officeDocument/2006/relationships/slideLayout" Target="../slideLayouts/slideLayout66.xml"/><Relationship Id="rId16" Type="http://schemas.openxmlformats.org/officeDocument/2006/relationships/theme" Target="../theme/theme7.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image" Target="../media/image7.pn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image" Target="../media/image2.png"/><Relationship Id="rId2" Type="http://schemas.openxmlformats.org/officeDocument/2006/relationships/slideLayout" Target="../slideLayouts/slideLayout81.xml"/><Relationship Id="rId16" Type="http://schemas.openxmlformats.org/officeDocument/2006/relationships/theme" Target="../theme/theme8.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image" Target="../media/image26.pn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image" Target="../media/image25.png"/><Relationship Id="rId2" Type="http://schemas.openxmlformats.org/officeDocument/2006/relationships/slideLayout" Target="../slideLayouts/slideLayout96.xml"/><Relationship Id="rId16" Type="http://schemas.openxmlformats.org/officeDocument/2006/relationships/theme" Target="../theme/theme9.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theme" Target="../theme/theme10.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image" Target="../media/image2.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image" Target="../media/image14.png"/><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E7F6C284-74CA-D4C3-2D2C-3451B976B057}"/>
              </a:ext>
            </a:extLst>
          </p:cNvPr>
          <p:cNvSpPr>
            <a:spLocks noGrp="1" noRot="1" noMove="1" noResize="1" noEditPoints="1" noAdjustHandles="1" noChangeArrowheads="1" noChangeShapeType="1"/>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pic>
        <p:nvPicPr>
          <p:cNvPr id="2" name="Picture 1" descr="A colorful logo on a black background&#10;&#10;AI-generated content may be incorrect.">
            <a:extLst>
              <a:ext uri="{FF2B5EF4-FFF2-40B4-BE49-F238E27FC236}">
                <a16:creationId xmlns:a16="http://schemas.microsoft.com/office/drawing/2014/main" id="{1B47E22D-0A81-FF5E-F20D-32C9063F5CD9}"/>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grpSp>
        <p:nvGrpSpPr>
          <p:cNvPr id="8" name="Groep 6">
            <a:extLst>
              <a:ext uri="{FF2B5EF4-FFF2-40B4-BE49-F238E27FC236}">
                <a16:creationId xmlns:a16="http://schemas.microsoft.com/office/drawing/2014/main" id="{EE28F181-27F3-B7F7-B60F-2E59FA4DA7E4}"/>
              </a:ext>
            </a:extLst>
          </p:cNvPr>
          <p:cNvGrpSpPr/>
          <p:nvPr userDrawn="1"/>
        </p:nvGrpSpPr>
        <p:grpSpPr>
          <a:xfrm>
            <a:off x="78955" y="166894"/>
            <a:ext cx="8929315" cy="4889763"/>
            <a:chOff x="105273" y="222525"/>
            <a:chExt cx="11905753" cy="6519684"/>
          </a:xfrm>
        </p:grpSpPr>
        <p:sp>
          <p:nvSpPr>
            <p:cNvPr id="9" name="Tekstvak 8" descr="MVX23_Logo_Basislogo_Full_colour_Wit">
              <a:extLst>
                <a:ext uri="{FF2B5EF4-FFF2-40B4-BE49-F238E27FC236}">
                  <a16:creationId xmlns:a16="http://schemas.microsoft.com/office/drawing/2014/main" id="{07AEC606-D05F-B76A-51E8-1614E4A24297}"/>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Training title</a:t>
              </a:r>
            </a:p>
          </p:txBody>
        </p:sp>
        <p:sp>
          <p:nvSpPr>
            <p:cNvPr id="10" name="Tekstvak 9" descr="MVX23_Logo_Basislogo_Full_colour_Wit">
              <a:extLst>
                <a:ext uri="{FF2B5EF4-FFF2-40B4-BE49-F238E27FC236}">
                  <a16:creationId xmlns:a16="http://schemas.microsoft.com/office/drawing/2014/main" id="{7CAD0D0D-E256-5CBE-4508-36C20576762D}"/>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61431931-7737-608F-67D3-03D72C1F27BC}"/>
                </a:ext>
              </a:extLst>
            </p:cNvPr>
            <p:cNvPicPr/>
            <p:nvPr userDrawn="1"/>
          </p:nvPicPr>
          <p:blipFill>
            <a:blip r:embed="rId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34275040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47" userDrawn="1">
          <p15:clr>
            <a:srgbClr val="F26B43"/>
          </p15:clr>
        </p15:guide>
        <p15:guide id="7" orient="horz" pos="61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EFBF4"/>
        </a:solidFill>
        <a:effectLst/>
      </p:bgPr>
    </p:bg>
    <p:spTree>
      <p:nvGrpSpPr>
        <p:cNvPr id="1" name=""/>
        <p:cNvGrpSpPr/>
        <p:nvPr/>
      </p:nvGrpSpPr>
      <p:grpSpPr>
        <a:xfrm>
          <a:off x="0" y="0"/>
          <a:ext cx="0" cy="0"/>
          <a:chOff x="0" y="0"/>
          <a:chExt cx="0" cy="0"/>
        </a:xfrm>
      </p:grpSpPr>
      <p:grpSp>
        <p:nvGrpSpPr>
          <p:cNvPr id="7" name="Groep 6">
            <a:extLst>
              <a:ext uri="{FF2B5EF4-FFF2-40B4-BE49-F238E27FC236}">
                <a16:creationId xmlns:a16="http://schemas.microsoft.com/office/drawing/2014/main" id="{434D57B2-B86D-D519-AD95-0EF1866CA089}"/>
              </a:ext>
            </a:extLst>
          </p:cNvPr>
          <p:cNvGrpSpPr/>
          <p:nvPr userDrawn="1"/>
        </p:nvGrpSpPr>
        <p:grpSpPr>
          <a:xfrm>
            <a:off x="78955" y="166894"/>
            <a:ext cx="8929315" cy="4889763"/>
            <a:chOff x="105273" y="222525"/>
            <a:chExt cx="11905753" cy="6519684"/>
          </a:xfrm>
        </p:grpSpPr>
        <p:sp>
          <p:nvSpPr>
            <p:cNvPr id="9" name="Tekstvak 8" descr="MVX23_Logo_Basislogo_Full_colour_Wit">
              <a:extLst>
                <a:ext uri="{FF2B5EF4-FFF2-40B4-BE49-F238E27FC236}">
                  <a16:creationId xmlns:a16="http://schemas.microsoft.com/office/drawing/2014/main" id="{3BCB1D36-62CC-6C8E-FEBB-6DF3001964D7}"/>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10" name="Tekstvak 9" descr="MVX23_Logo_Basislogo_Full_colour_Wit">
              <a:extLst>
                <a:ext uri="{FF2B5EF4-FFF2-40B4-BE49-F238E27FC236}">
                  <a16:creationId xmlns:a16="http://schemas.microsoft.com/office/drawing/2014/main" id="{D8C486AB-C703-1CE8-CE92-0D861D3173E3}"/>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8C88EFA1-2E4E-06B7-7228-7224C3E75E71}"/>
                </a:ext>
              </a:extLst>
            </p:cNvPr>
            <p:cNvPicPr/>
            <p:nvPr userDrawn="1"/>
          </p:nvPicPr>
          <p:blipFill>
            <a:blip r:embed="rId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4" name="Image 0" descr="preencoded.png">
            <a:extLst>
              <a:ext uri="{FF2B5EF4-FFF2-40B4-BE49-F238E27FC236}">
                <a16:creationId xmlns:a16="http://schemas.microsoft.com/office/drawing/2014/main" id="{36F4DCC2-DEF6-D39E-5B67-FC7517140222}"/>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70079" y="566278"/>
            <a:ext cx="397242" cy="333683"/>
          </a:xfrm>
          <a:prstGeom prst="rect">
            <a:avLst/>
          </a:prstGeom>
        </p:spPr>
      </p:pic>
    </p:spTree>
    <p:extLst>
      <p:ext uri="{BB962C8B-B14F-4D97-AF65-F5344CB8AC3E}">
        <p14:creationId xmlns:p14="http://schemas.microsoft.com/office/powerpoint/2010/main" val="5843026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702" r:id="rId4"/>
    <p:sldLayoutId id="2147483703" r:id="rId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Afbeelding 6" descr="Afbeelding met Kleurrijkheid, waas, paars, Magenta&#10;&#10;Automatisch gegenereerde beschrijving">
            <a:extLst>
              <a:ext uri="{FF2B5EF4-FFF2-40B4-BE49-F238E27FC236}">
                <a16:creationId xmlns:a16="http://schemas.microsoft.com/office/drawing/2014/main" id="{95E488B0-2B25-908F-9A13-340216D5DE9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116" y="0"/>
            <a:ext cx="9139769" cy="5143500"/>
          </a:xfrm>
          <a:prstGeom prst="rect">
            <a:avLst/>
          </a:prstGeom>
        </p:spPr>
      </p:pic>
      <p:grpSp>
        <p:nvGrpSpPr>
          <p:cNvPr id="8" name="Groep 7">
            <a:extLst>
              <a:ext uri="{FF2B5EF4-FFF2-40B4-BE49-F238E27FC236}">
                <a16:creationId xmlns:a16="http://schemas.microsoft.com/office/drawing/2014/main" id="{07DE731C-0633-E429-E8DB-9B88FC541D3A}"/>
              </a:ext>
            </a:extLst>
          </p:cNvPr>
          <p:cNvGrpSpPr/>
          <p:nvPr userDrawn="1"/>
        </p:nvGrpSpPr>
        <p:grpSpPr>
          <a:xfrm>
            <a:off x="55967" y="74403"/>
            <a:ext cx="8952303" cy="4982254"/>
            <a:chOff x="74622" y="99203"/>
            <a:chExt cx="11936404" cy="6643006"/>
          </a:xfrm>
        </p:grpSpPr>
        <p:pic>
          <p:nvPicPr>
            <p:cNvPr id="9" name="Afbeelding 8" descr="Afbeelding met Graphics, schermopname, Kleurrijkheid&#10;&#10;Automatisch gegenereerde beschrijving">
              <a:extLst>
                <a:ext uri="{FF2B5EF4-FFF2-40B4-BE49-F238E27FC236}">
                  <a16:creationId xmlns:a16="http://schemas.microsoft.com/office/drawing/2014/main" id="{E08DE186-40AC-4F5D-1AE5-476018C19298}"/>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3660DA2F-6A31-7D8A-C177-B243D569D6ED}"/>
                </a:ext>
              </a:extLst>
            </p:cNvPr>
            <p:cNvSpPr txBox="1"/>
            <p:nvPr userDrawn="1"/>
          </p:nvSpPr>
          <p:spPr>
            <a:xfrm>
              <a:off x="6450502" y="222524"/>
              <a:ext cx="5560524" cy="261611"/>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
          <p:nvSpPr>
            <p:cNvPr id="11" name="Tekstvak 10" descr="MVX23_Logo_Basislogo_Full_colour_Wit">
              <a:extLst>
                <a:ext uri="{FF2B5EF4-FFF2-40B4-BE49-F238E27FC236}">
                  <a16:creationId xmlns:a16="http://schemas.microsoft.com/office/drawing/2014/main" id="{C24C2EFE-08B8-3D0B-66F7-ECF0D4A34107}"/>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DM Sans" pitchFamily="2" charset="0"/>
                  <a:cs typeface="Space Grotesk" pitchFamily="2" charset="0"/>
                </a:rPr>
                <a:t>maverx.nl</a:t>
              </a:r>
            </a:p>
          </p:txBody>
        </p:sp>
        <p:pic>
          <p:nvPicPr>
            <p:cNvPr id="12" name="Afbeelding 11" descr="Afbeelding met symbool, geel, schermopname, Lettertype&#10;&#10;Automatisch gegenereerde beschrijving">
              <a:extLst>
                <a:ext uri="{FF2B5EF4-FFF2-40B4-BE49-F238E27FC236}">
                  <a16:creationId xmlns:a16="http://schemas.microsoft.com/office/drawing/2014/main" id="{A578B828-F336-33A4-CC2D-77E598FC7B95}"/>
                </a:ext>
              </a:extLst>
            </p:cNvPr>
            <p:cNvPicPr/>
            <p:nvPr userDrawn="1"/>
          </p:nvPicPr>
          <p:blipFill>
            <a:blip r:embed="rId6"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244281977"/>
      </p:ext>
    </p:extLst>
  </p:cSld>
  <p:clrMap bg1="lt1" tx1="dk1" bg2="lt2" tx2="dk2" accent1="accent1" accent2="accent2" accent3="accent3" accent4="accent4" accent5="accent5" accent6="accent6" hlink="hlink" folHlink="folHlink"/>
  <p:sldLayoutIdLst>
    <p:sldLayoutId id="2147483678" r:id="rId1"/>
    <p:sldLayoutId id="2147483681" r:id="rId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27"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8" name="Groep 6">
            <a:extLst>
              <a:ext uri="{FF2B5EF4-FFF2-40B4-BE49-F238E27FC236}">
                <a16:creationId xmlns:a16="http://schemas.microsoft.com/office/drawing/2014/main" id="{0D904700-AF07-DC07-9444-0E2A233AC9CD}"/>
              </a:ext>
            </a:extLst>
          </p:cNvPr>
          <p:cNvGrpSpPr/>
          <p:nvPr userDrawn="1"/>
        </p:nvGrpSpPr>
        <p:grpSpPr>
          <a:xfrm>
            <a:off x="55966" y="74403"/>
            <a:ext cx="8891366" cy="4982254"/>
            <a:chOff x="74622" y="99203"/>
            <a:chExt cx="11855154"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C8CADE31-940A-0089-79CD-8FAD87F9984D}"/>
                </a:ext>
              </a:extLst>
            </p:cNvPr>
            <p:cNvPicPr/>
            <p:nvPr userDrawn="1"/>
          </p:nvPicPr>
          <p:blipFill>
            <a:blip r:embed="rId28"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FC209FF2-DCD8-BEDE-3F9C-50A439C77467}"/>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570C8FEF-BA0D-F60A-D5E8-44CB2C5CDC8F}"/>
                </a:ext>
              </a:extLst>
            </p:cNvPr>
            <p:cNvPicPr/>
            <p:nvPr userDrawn="1"/>
          </p:nvPicPr>
          <p:blipFill>
            <a:blip r:embed="rId29"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
        <p:nvSpPr>
          <p:cNvPr id="12" name="Tekstvak 15" descr="MVX23_Logo_Basislogo_Full_colour_Wit">
            <a:extLst>
              <a:ext uri="{FF2B5EF4-FFF2-40B4-BE49-F238E27FC236}">
                <a16:creationId xmlns:a16="http://schemas.microsoft.com/office/drawing/2014/main" id="{5A3566B2-7FBC-4261-65F2-FED905178603}"/>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Training</a:t>
            </a:r>
          </a:p>
        </p:txBody>
      </p:sp>
    </p:spTree>
    <p:extLst>
      <p:ext uri="{BB962C8B-B14F-4D97-AF65-F5344CB8AC3E}">
        <p14:creationId xmlns:p14="http://schemas.microsoft.com/office/powerpoint/2010/main" val="1675459342"/>
      </p:ext>
    </p:extLst>
  </p:cSld>
  <p:clrMap bg1="lt1" tx1="dk1" bg2="lt2" tx2="dk2" accent1="accent1" accent2="accent2" accent3="accent3" accent4="accent4" accent5="accent5" accent6="accent6" hlink="hlink" folHlink="folHlink"/>
  <p:sldLayoutIdLst>
    <p:sldLayoutId id="2147483743" r:id="rId1"/>
    <p:sldLayoutId id="2147483848"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660" r:id="rId13"/>
    <p:sldLayoutId id="2147483650" r:id="rId14"/>
    <p:sldLayoutId id="2147483651" r:id="rId15"/>
    <p:sldLayoutId id="2147483685" r:id="rId16"/>
    <p:sldLayoutId id="2147483663" r:id="rId17"/>
    <p:sldLayoutId id="2147483666" r:id="rId18"/>
    <p:sldLayoutId id="2147483667" r:id="rId19"/>
    <p:sldLayoutId id="2147483664" r:id="rId20"/>
    <p:sldLayoutId id="2147483687" r:id="rId21"/>
    <p:sldLayoutId id="2147483689" r:id="rId22"/>
    <p:sldLayoutId id="2147483690" r:id="rId23"/>
    <p:sldLayoutId id="2147483691" r:id="rId24"/>
    <p:sldLayoutId id="2147483692" r:id="rId2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7" name="Groep 6">
            <a:extLst>
              <a:ext uri="{FF2B5EF4-FFF2-40B4-BE49-F238E27FC236}">
                <a16:creationId xmlns:a16="http://schemas.microsoft.com/office/drawing/2014/main" id="{7F2A3183-75F0-60D1-739D-CCE7BC9A20D1}"/>
              </a:ext>
            </a:extLst>
          </p:cNvPr>
          <p:cNvGrpSpPr/>
          <p:nvPr userDrawn="1"/>
        </p:nvGrpSpPr>
        <p:grpSpPr>
          <a:xfrm>
            <a:off x="78955" y="99439"/>
            <a:ext cx="8929315" cy="4957218"/>
            <a:chOff x="105273" y="132588"/>
            <a:chExt cx="11905753" cy="6609621"/>
          </a:xfrm>
        </p:grpSpPr>
        <p:sp>
          <p:nvSpPr>
            <p:cNvPr id="8" name="Tekstvak 8" descr="MVX23_Logo_Basislogo_Full_colour_Wit">
              <a:extLst>
                <a:ext uri="{FF2B5EF4-FFF2-40B4-BE49-F238E27FC236}">
                  <a16:creationId xmlns:a16="http://schemas.microsoft.com/office/drawing/2014/main" id="{228B5E09-54FD-74A5-6CEA-8595A6F1F85D}"/>
                </a:ext>
              </a:extLst>
            </p:cNvPr>
            <p:cNvSpPr txBox="1"/>
            <p:nvPr userDrawn="1"/>
          </p:nvSpPr>
          <p:spPr>
            <a:xfrm>
              <a:off x="6450502" y="132588"/>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9" name="Tekstvak 9" descr="MVX23_Logo_Basislogo_Full_colour_Wit">
              <a:extLst>
                <a:ext uri="{FF2B5EF4-FFF2-40B4-BE49-F238E27FC236}">
                  <a16:creationId xmlns:a16="http://schemas.microsoft.com/office/drawing/2014/main" id="{CB580A89-3907-BC07-5153-62239EB9E95C}"/>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0" name="Afbeelding 10" descr="Afbeelding met symbool, geel, schermopname, Lettertype&#10;&#10;Automatisch gegenereerde beschrijving">
              <a:extLst>
                <a:ext uri="{FF2B5EF4-FFF2-40B4-BE49-F238E27FC236}">
                  <a16:creationId xmlns:a16="http://schemas.microsoft.com/office/drawing/2014/main" id="{37999EE7-B9B6-4F43-F1CF-8DB04EE5D686}"/>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Image 0" descr="preencoded.png">
            <a:extLst>
              <a:ext uri="{FF2B5EF4-FFF2-40B4-BE49-F238E27FC236}">
                <a16:creationId xmlns:a16="http://schemas.microsoft.com/office/drawing/2014/main" id="{95CA000A-1FBD-3EE4-41FD-3A99532C338A}"/>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270079" y="291958"/>
            <a:ext cx="397242" cy="333683"/>
          </a:xfrm>
          <a:prstGeom prst="rect">
            <a:avLst/>
          </a:prstGeom>
        </p:spPr>
      </p:pic>
    </p:spTree>
    <p:extLst>
      <p:ext uri="{BB962C8B-B14F-4D97-AF65-F5344CB8AC3E}">
        <p14:creationId xmlns:p14="http://schemas.microsoft.com/office/powerpoint/2010/main" val="225156896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84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766D448B-1A2C-E8DC-E50A-F79E6346129B}"/>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pic>
        <p:nvPicPr>
          <p:cNvPr id="8" name="Picture 7" descr="A colorful logo on a black background&#10;&#10;AI-generated content may be incorrect.">
            <a:extLst>
              <a:ext uri="{FF2B5EF4-FFF2-40B4-BE49-F238E27FC236}">
                <a16:creationId xmlns:a16="http://schemas.microsoft.com/office/drawing/2014/main" id="{7A7969F9-AE8C-01F1-9251-E0992813847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grpSp>
        <p:nvGrpSpPr>
          <p:cNvPr id="9" name="Groep 6">
            <a:extLst>
              <a:ext uri="{FF2B5EF4-FFF2-40B4-BE49-F238E27FC236}">
                <a16:creationId xmlns:a16="http://schemas.microsoft.com/office/drawing/2014/main" id="{E8057701-12FE-E3B7-CB62-D3209A5CDA39}"/>
              </a:ext>
            </a:extLst>
          </p:cNvPr>
          <p:cNvGrpSpPr/>
          <p:nvPr userDrawn="1"/>
        </p:nvGrpSpPr>
        <p:grpSpPr>
          <a:xfrm>
            <a:off x="78955" y="166894"/>
            <a:ext cx="8929315" cy="4889763"/>
            <a:chOff x="105273" y="222525"/>
            <a:chExt cx="11905753" cy="6519684"/>
          </a:xfrm>
        </p:grpSpPr>
        <p:sp>
          <p:nvSpPr>
            <p:cNvPr id="10" name="Tekstvak 8" descr="MVX23_Logo_Basislogo_Full_colour_Wit">
              <a:extLst>
                <a:ext uri="{FF2B5EF4-FFF2-40B4-BE49-F238E27FC236}">
                  <a16:creationId xmlns:a16="http://schemas.microsoft.com/office/drawing/2014/main" id="{49524D47-F253-47E5-8ED7-8B38F58BA260}"/>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Training title</a:t>
              </a:r>
            </a:p>
          </p:txBody>
        </p:sp>
        <p:sp>
          <p:nvSpPr>
            <p:cNvPr id="11" name="Tekstvak 9" descr="MVX23_Logo_Basislogo_Full_colour_Wit">
              <a:extLst>
                <a:ext uri="{FF2B5EF4-FFF2-40B4-BE49-F238E27FC236}">
                  <a16:creationId xmlns:a16="http://schemas.microsoft.com/office/drawing/2014/main" id="{128D61CC-EC3B-2D88-2489-6F038CAB7B0E}"/>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2" name="Afbeelding 10" descr="Afbeelding met symbool, geel, schermopname, Lettertype&#10;&#10;Automatisch gegenereerde beschrijving">
              <a:extLst>
                <a:ext uri="{FF2B5EF4-FFF2-40B4-BE49-F238E27FC236}">
                  <a16:creationId xmlns:a16="http://schemas.microsoft.com/office/drawing/2014/main" id="{5CDEEA36-DC36-129F-81C5-DE8EA3F394B9}"/>
                </a:ext>
              </a:extLst>
            </p:cNvPr>
            <p:cNvPicPr/>
            <p:nvPr userDrawn="1"/>
          </p:nvPicPr>
          <p:blipFill>
            <a:blip r:embed="rId16"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415732519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849" r:id="rId13"/>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47" userDrawn="1">
          <p15:clr>
            <a:srgbClr val="F26B43"/>
          </p15:clr>
        </p15:guide>
        <p15:guide id="7" orient="horz" pos="617"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F85BD780-48E8-5372-94C7-E7954EE5FFDF}"/>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grpSp>
        <p:nvGrpSpPr>
          <p:cNvPr id="8" name="Groep 6">
            <a:extLst>
              <a:ext uri="{FF2B5EF4-FFF2-40B4-BE49-F238E27FC236}">
                <a16:creationId xmlns:a16="http://schemas.microsoft.com/office/drawing/2014/main" id="{5FE949A3-EF45-5593-1603-6E95B20ED09D}"/>
              </a:ext>
            </a:extLst>
          </p:cNvPr>
          <p:cNvGrpSpPr/>
          <p:nvPr userDrawn="1"/>
        </p:nvGrpSpPr>
        <p:grpSpPr>
          <a:xfrm>
            <a:off x="78955" y="161932"/>
            <a:ext cx="8926095" cy="4894725"/>
            <a:chOff x="105273" y="215909"/>
            <a:chExt cx="11901460" cy="6526300"/>
          </a:xfrm>
        </p:grpSpPr>
        <p:sp>
          <p:nvSpPr>
            <p:cNvPr id="9" name="Tekstvak 8" descr="MVX23_Logo_Basislogo_Full_colour_Wit">
              <a:extLst>
                <a:ext uri="{FF2B5EF4-FFF2-40B4-BE49-F238E27FC236}">
                  <a16:creationId xmlns:a16="http://schemas.microsoft.com/office/drawing/2014/main" id="{961359B6-E249-AB0D-4550-BB040B7E95A9}"/>
                </a:ext>
              </a:extLst>
            </p:cNvPr>
            <p:cNvSpPr txBox="1"/>
            <p:nvPr userDrawn="1"/>
          </p:nvSpPr>
          <p:spPr>
            <a:xfrm>
              <a:off x="6446209" y="215909"/>
              <a:ext cx="5560524" cy="261611"/>
            </a:xfrm>
            <a:prstGeom prst="rect">
              <a:avLst/>
            </a:prstGeom>
            <a:noFill/>
          </p:spPr>
          <p:txBody>
            <a:bodyPr wrap="square" rtlCol="0">
              <a:spAutoFit/>
            </a:bodyPr>
            <a:lstStyle/>
            <a:p>
              <a:pPr algn="r"/>
              <a:r>
                <a:rPr lang="nl-NL" sz="675">
                  <a:solidFill>
                    <a:srgbClr val="1F0531"/>
                  </a:solidFill>
                  <a:latin typeface="DM Sans" pitchFamily="2" charset="0"/>
                  <a:cs typeface="Space Grotesk" pitchFamily="2" charset="0"/>
                </a:rPr>
                <a:t>AI Fundamentals </a:t>
              </a:r>
            </a:p>
          </p:txBody>
        </p:sp>
        <p:sp>
          <p:nvSpPr>
            <p:cNvPr id="10" name="Tekstvak 9" descr="MVX23_Logo_Basislogo_Full_colour_Wit">
              <a:extLst>
                <a:ext uri="{FF2B5EF4-FFF2-40B4-BE49-F238E27FC236}">
                  <a16:creationId xmlns:a16="http://schemas.microsoft.com/office/drawing/2014/main" id="{1A15B383-EA84-3DCB-19C2-92712212BCA3}"/>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2E23D78E-044B-70A6-C2C2-3307D6DC9EEF}"/>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Picture 11" descr="A colorful logo on a black background&#10;&#10;AI-generated content may be incorrect.">
            <a:extLst>
              <a:ext uri="{FF2B5EF4-FFF2-40B4-BE49-F238E27FC236}">
                <a16:creationId xmlns:a16="http://schemas.microsoft.com/office/drawing/2014/main" id="{CA0B5DC2-0BAE-4323-3069-439A15C49AD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a:fillRect/>
          </a:stretch>
        </p:blipFill>
        <p:spPr>
          <a:xfrm>
            <a:off x="91436" y="529044"/>
            <a:ext cx="411480" cy="391886"/>
          </a:xfrm>
          <a:prstGeom prst="rect">
            <a:avLst/>
          </a:prstGeom>
        </p:spPr>
      </p:pic>
    </p:spTree>
    <p:extLst>
      <p:ext uri="{BB962C8B-B14F-4D97-AF65-F5344CB8AC3E}">
        <p14:creationId xmlns:p14="http://schemas.microsoft.com/office/powerpoint/2010/main" val="76047479"/>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05" r:id="rId13"/>
    <p:sldLayoutId id="2147483706" r:id="rId14"/>
    <p:sldLayoutId id="214748370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93" userDrawn="1">
          <p15:clr>
            <a:srgbClr val="F26B43"/>
          </p15:clr>
        </p15:guide>
        <p15:guide id="6" orient="horz" pos="2952" userDrawn="1">
          <p15:clr>
            <a:srgbClr val="F26B43"/>
          </p15:clr>
        </p15:guide>
        <p15:guide id="7" orient="horz" pos="63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grpSp>
        <p:nvGrpSpPr>
          <p:cNvPr id="7" name="Groep 6">
            <a:extLst>
              <a:ext uri="{FF2B5EF4-FFF2-40B4-BE49-F238E27FC236}">
                <a16:creationId xmlns:a16="http://schemas.microsoft.com/office/drawing/2014/main" id="{9BB89D8A-B8DC-58E0-5396-F384268ACE28}"/>
              </a:ext>
            </a:extLst>
          </p:cNvPr>
          <p:cNvGrpSpPr/>
          <p:nvPr userDrawn="1"/>
        </p:nvGrpSpPr>
        <p:grpSpPr>
          <a:xfrm>
            <a:off x="78955" y="166894"/>
            <a:ext cx="8929315" cy="4889763"/>
            <a:chOff x="105273" y="222525"/>
            <a:chExt cx="11905753" cy="6519684"/>
          </a:xfrm>
        </p:grpSpPr>
        <p:sp>
          <p:nvSpPr>
            <p:cNvPr id="8" name="Tekstvak 8" descr="MVX23_Logo_Basislogo_Full_colour_Wit">
              <a:extLst>
                <a:ext uri="{FF2B5EF4-FFF2-40B4-BE49-F238E27FC236}">
                  <a16:creationId xmlns:a16="http://schemas.microsoft.com/office/drawing/2014/main" id="{20F1F630-A25F-29FA-9979-064C82E43026}"/>
                </a:ext>
              </a:extLst>
            </p:cNvPr>
            <p:cNvSpPr txBox="1"/>
            <p:nvPr userDrawn="1"/>
          </p:nvSpPr>
          <p:spPr>
            <a:xfrm>
              <a:off x="6450502" y="222525"/>
              <a:ext cx="5560524" cy="261611"/>
            </a:xfrm>
            <a:prstGeom prst="rect">
              <a:avLst/>
            </a:prstGeom>
            <a:noFill/>
          </p:spPr>
          <p:txBody>
            <a:bodyPr wrap="square" rtlCol="0">
              <a:spAutoFit/>
            </a:bodyPr>
            <a:lstStyle/>
            <a:p>
              <a:pPr algn="r"/>
              <a:r>
                <a:rPr lang="en-US" sz="675">
                  <a:solidFill>
                    <a:srgbClr val="0D006A"/>
                  </a:solidFill>
                  <a:latin typeface="DM Sans" pitchFamily="2" charset="0"/>
                  <a:cs typeface="Space Grotesk" pitchFamily="2" charset="0"/>
                </a:rPr>
                <a:t>Presentation Style Guide</a:t>
              </a:r>
            </a:p>
          </p:txBody>
        </p:sp>
        <p:sp>
          <p:nvSpPr>
            <p:cNvPr id="9" name="Tekstvak 9" descr="MVX23_Logo_Basislogo_Full_colour_Wit">
              <a:extLst>
                <a:ext uri="{FF2B5EF4-FFF2-40B4-BE49-F238E27FC236}">
                  <a16:creationId xmlns:a16="http://schemas.microsoft.com/office/drawing/2014/main" id="{8E6D4485-3891-AA31-8E86-6E323DAEC9D2}"/>
                </a:ext>
              </a:extLst>
            </p:cNvPr>
            <p:cNvSpPr txBox="1"/>
            <p:nvPr userDrawn="1"/>
          </p:nvSpPr>
          <p:spPr>
            <a:xfrm>
              <a:off x="105273" y="6480598"/>
              <a:ext cx="1137740" cy="261611"/>
            </a:xfrm>
            <a:prstGeom prst="rect">
              <a:avLst/>
            </a:prstGeom>
            <a:noFill/>
          </p:spPr>
          <p:txBody>
            <a:bodyPr wrap="square" rtlCol="0">
              <a:spAutoFit/>
            </a:bodyPr>
            <a:lstStyle/>
            <a:p>
              <a:r>
                <a:rPr lang="nl-NL" sz="675">
                  <a:solidFill>
                    <a:srgbClr val="1F0531"/>
                  </a:solidFill>
                  <a:latin typeface="DM Sans" pitchFamily="2" charset="0"/>
                  <a:cs typeface="Space Grotesk" pitchFamily="2" charset="0"/>
                </a:rPr>
                <a:t>maverx.nl</a:t>
              </a:r>
            </a:p>
          </p:txBody>
        </p:sp>
        <p:pic>
          <p:nvPicPr>
            <p:cNvPr id="10" name="Afbeelding 10" descr="Afbeelding met symbool, geel, schermopname, Lettertype&#10;&#10;Automatisch gegenereerde beschrijving">
              <a:extLst>
                <a:ext uri="{FF2B5EF4-FFF2-40B4-BE49-F238E27FC236}">
                  <a16:creationId xmlns:a16="http://schemas.microsoft.com/office/drawing/2014/main" id="{40F26A56-91CD-14EF-4DAA-C4A905CB6E80}"/>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pic>
        <p:nvPicPr>
          <p:cNvPr id="12" name="Image 0" descr="preencoded.png">
            <a:extLst>
              <a:ext uri="{FF2B5EF4-FFF2-40B4-BE49-F238E27FC236}">
                <a16:creationId xmlns:a16="http://schemas.microsoft.com/office/drawing/2014/main" id="{6F101A23-E6BE-21B5-9768-4DE4C09E6B98}"/>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270079" y="291958"/>
            <a:ext cx="397242" cy="333683"/>
          </a:xfrm>
          <a:prstGeom prst="rect">
            <a:avLst/>
          </a:prstGeom>
        </p:spPr>
      </p:pic>
    </p:spTree>
    <p:extLst>
      <p:ext uri="{BB962C8B-B14F-4D97-AF65-F5344CB8AC3E}">
        <p14:creationId xmlns:p14="http://schemas.microsoft.com/office/powerpoint/2010/main" val="376695134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710" r:id="rId13"/>
    <p:sldLayoutId id="2147483711" r:id="rId14"/>
    <p:sldLayoutId id="2147483713"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7" userDrawn="1">
          <p15:clr>
            <a:srgbClr val="F26B43"/>
          </p15:clr>
        </p15:guide>
        <p15:guide id="2" pos="2880" userDrawn="1">
          <p15:clr>
            <a:srgbClr val="F26B43"/>
          </p15:clr>
        </p15:guide>
        <p15:guide id="3" orient="horz" pos="293" userDrawn="1">
          <p15:clr>
            <a:srgbClr val="F26B43"/>
          </p15:clr>
        </p15:guide>
        <p15:guide id="4" orient="horz" pos="2947" userDrawn="1">
          <p15:clr>
            <a:srgbClr val="F26B43"/>
          </p15:clr>
        </p15:guide>
        <p15:guide id="5" pos="397"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sp>
        <p:nvSpPr>
          <p:cNvPr id="7" name="Rechthoek 16">
            <a:extLst>
              <a:ext uri="{FF2B5EF4-FFF2-40B4-BE49-F238E27FC236}">
                <a16:creationId xmlns:a16="http://schemas.microsoft.com/office/drawing/2014/main" id="{92DA734B-B91D-EA0D-D5AB-B80988880A29}"/>
              </a:ext>
            </a:extLst>
          </p:cNvPr>
          <p:cNvSpPr/>
          <p:nvPr userDrawn="1"/>
        </p:nvSpPr>
        <p:spPr>
          <a:xfrm>
            <a:off x="0" y="0"/>
            <a:ext cx="9144000" cy="5143500"/>
          </a:xfrm>
          <a:prstGeom prst="rect">
            <a:avLst/>
          </a:prstGeom>
          <a:solidFill>
            <a:srgbClr val="D6E1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013"/>
          </a:p>
        </p:txBody>
      </p:sp>
      <p:grpSp>
        <p:nvGrpSpPr>
          <p:cNvPr id="8" name="Groep 6">
            <a:extLst>
              <a:ext uri="{FF2B5EF4-FFF2-40B4-BE49-F238E27FC236}">
                <a16:creationId xmlns:a16="http://schemas.microsoft.com/office/drawing/2014/main" id="{D0C22243-6396-B687-C592-C82A5D31539C}"/>
              </a:ext>
            </a:extLst>
          </p:cNvPr>
          <p:cNvGrpSpPr/>
          <p:nvPr userDrawn="1"/>
        </p:nvGrpSpPr>
        <p:grpSpPr>
          <a:xfrm>
            <a:off x="55967" y="74403"/>
            <a:ext cx="8949083" cy="4982254"/>
            <a:chOff x="74622" y="99203"/>
            <a:chExt cx="11932111"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8F36F126-21A6-C4BB-021B-053618CD2804}"/>
                </a:ext>
              </a:extLst>
            </p:cNvPr>
            <p:cNvPicPr/>
            <p:nvPr userDrawn="1"/>
          </p:nvPicPr>
          <p:blipFill>
            <a:blip r:embed="rId17"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8" descr="MVX23_Logo_Basislogo_Full_colour_Wit">
              <a:extLst>
                <a:ext uri="{FF2B5EF4-FFF2-40B4-BE49-F238E27FC236}">
                  <a16:creationId xmlns:a16="http://schemas.microsoft.com/office/drawing/2014/main" id="{885CCE60-B74D-AC21-F684-0A970BF468EE}"/>
                </a:ext>
              </a:extLst>
            </p:cNvPr>
            <p:cNvSpPr txBox="1"/>
            <p:nvPr userDrawn="1"/>
          </p:nvSpPr>
          <p:spPr>
            <a:xfrm>
              <a:off x="6446209" y="215908"/>
              <a:ext cx="5560524" cy="261611"/>
            </a:xfrm>
            <a:prstGeom prst="rect">
              <a:avLst/>
            </a:prstGeom>
            <a:noFill/>
          </p:spPr>
          <p:txBody>
            <a:bodyPr wrap="square" rtlCol="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D006A"/>
                  </a:solidFill>
                  <a:effectLst/>
                  <a:uLnTx/>
                  <a:uFillTx/>
                  <a:latin typeface="DM Sans" pitchFamily="2" charset="0"/>
                  <a:ea typeface="+mn-ea"/>
                  <a:cs typeface="Calibri" panose="020F0502020204030204" pitchFamily="34" charset="0"/>
                </a:rPr>
                <a:t>Lean Green Belt Essentials</a:t>
              </a:r>
            </a:p>
          </p:txBody>
        </p:sp>
        <p:sp>
          <p:nvSpPr>
            <p:cNvPr id="11" name="Tekstvak 9" descr="MVX23_Logo_Basislogo_Full_colour_Wit">
              <a:extLst>
                <a:ext uri="{FF2B5EF4-FFF2-40B4-BE49-F238E27FC236}">
                  <a16:creationId xmlns:a16="http://schemas.microsoft.com/office/drawing/2014/main" id="{652DAE67-0153-9278-D0B8-AA01CC0A37DD}"/>
                </a:ext>
              </a:extLst>
            </p:cNvPr>
            <p:cNvSpPr txBox="1"/>
            <p:nvPr userDrawn="1"/>
          </p:nvSpPr>
          <p:spPr>
            <a:xfrm>
              <a:off x="105273" y="6480598"/>
              <a:ext cx="1137740" cy="261611"/>
            </a:xfrm>
            <a:prstGeom prst="rect">
              <a:avLst/>
            </a:prstGeom>
            <a:noFill/>
          </p:spPr>
          <p:txBody>
            <a:bodyPr wrap="square" rtlCol="0">
              <a:spAutoFit/>
            </a:bodyPr>
            <a:lstStyle/>
            <a:p>
              <a:r>
                <a:rPr lang="nl-NL" sz="675" b="0" i="0" err="1">
                  <a:solidFill>
                    <a:srgbClr val="1F0531"/>
                  </a:solidFill>
                  <a:latin typeface="DM Sans" pitchFamily="2" charset="0"/>
                  <a:cs typeface="Calibri" panose="020F0502020204030204" pitchFamily="34" charset="0"/>
                </a:rPr>
                <a:t>maverx.nl</a:t>
              </a:r>
              <a:endParaRPr lang="nl-NL" sz="675" b="0" i="0">
                <a:solidFill>
                  <a:srgbClr val="1F0531"/>
                </a:solidFill>
                <a:latin typeface="DM Sans" pitchFamily="2" charset="0"/>
                <a:cs typeface="Calibri" panose="020F0502020204030204" pitchFamily="34" charset="0"/>
              </a:endParaRPr>
            </a:p>
          </p:txBody>
        </p:sp>
        <p:pic>
          <p:nvPicPr>
            <p:cNvPr id="12" name="Afbeelding 10" descr="Afbeelding met symbool, geel, schermopname, Lettertype&#10;&#10;Automatisch gegenereerde beschrijving">
              <a:extLst>
                <a:ext uri="{FF2B5EF4-FFF2-40B4-BE49-F238E27FC236}">
                  <a16:creationId xmlns:a16="http://schemas.microsoft.com/office/drawing/2014/main" id="{C011FEDB-68E8-2386-9EAE-28871ED4D262}"/>
                </a:ext>
              </a:extLst>
            </p:cNvPr>
            <p:cNvPicPr/>
            <p:nvPr userDrawn="1"/>
          </p:nvPicPr>
          <p:blipFill>
            <a:blip r:embed="rId18"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Tree>
    <p:extLst>
      <p:ext uri="{BB962C8B-B14F-4D97-AF65-F5344CB8AC3E}">
        <p14:creationId xmlns:p14="http://schemas.microsoft.com/office/powerpoint/2010/main" val="3106719829"/>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715" r:id="rId13"/>
    <p:sldLayoutId id="2147483716" r:id="rId14"/>
    <p:sldLayoutId id="2147483717" r:id="rId1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userDrawn="1">
          <p15:clr>
            <a:srgbClr val="F26B43"/>
          </p15:clr>
        </p15:guide>
        <p15:guide id="2" pos="2880" userDrawn="1">
          <p15:clr>
            <a:srgbClr val="F26B43"/>
          </p15:clr>
        </p15:guide>
        <p15:guide id="3" pos="396" userDrawn="1">
          <p15:clr>
            <a:srgbClr val="F26B43"/>
          </p15:clr>
        </p15:guide>
        <p15:guide id="4" pos="5364" userDrawn="1">
          <p15:clr>
            <a:srgbClr val="F26B43"/>
          </p15:clr>
        </p15:guide>
        <p15:guide id="5" orient="horz" pos="288" userDrawn="1">
          <p15:clr>
            <a:srgbClr val="F26B43"/>
          </p15:clr>
        </p15:guide>
        <p15:guide id="6" orient="horz" pos="2952" userDrawn="1">
          <p15:clr>
            <a:srgbClr val="F26B43"/>
          </p15:clr>
        </p15:guide>
        <p15:guide id="7" orient="horz" pos="63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6/6/26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a:p>
        </p:txBody>
      </p:sp>
      <p:pic>
        <p:nvPicPr>
          <p:cNvPr id="7" name="Afbeelding 13">
            <a:extLst>
              <a:ext uri="{FF2B5EF4-FFF2-40B4-BE49-F238E27FC236}">
                <a16:creationId xmlns:a16="http://schemas.microsoft.com/office/drawing/2014/main" id="{91286825-645C-26E6-2983-AF48334B559B}"/>
              </a:ext>
            </a:extLst>
          </p:cNvPr>
          <p:cNvPicPr/>
          <p:nvPr userDrawn="1"/>
        </p:nvPicPr>
        <p:blipFill>
          <a:blip r:embed="rId27"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grpSp>
        <p:nvGrpSpPr>
          <p:cNvPr id="8" name="Groep 6">
            <a:extLst>
              <a:ext uri="{FF2B5EF4-FFF2-40B4-BE49-F238E27FC236}">
                <a16:creationId xmlns:a16="http://schemas.microsoft.com/office/drawing/2014/main" id="{40F3A803-DF91-F80E-9A0B-8F2B02545B55}"/>
              </a:ext>
            </a:extLst>
          </p:cNvPr>
          <p:cNvGrpSpPr/>
          <p:nvPr userDrawn="1"/>
        </p:nvGrpSpPr>
        <p:grpSpPr>
          <a:xfrm>
            <a:off x="55966" y="74403"/>
            <a:ext cx="8891366" cy="4982254"/>
            <a:chOff x="74622" y="99203"/>
            <a:chExt cx="11855154" cy="6643006"/>
          </a:xfrm>
        </p:grpSpPr>
        <p:pic>
          <p:nvPicPr>
            <p:cNvPr id="9" name="Afbeelding 7" descr="Afbeelding met Graphics, schermopname, Kleurrijkheid&#10;&#10;Automatisch gegenereerde beschrijving">
              <a:extLst>
                <a:ext uri="{FF2B5EF4-FFF2-40B4-BE49-F238E27FC236}">
                  <a16:creationId xmlns:a16="http://schemas.microsoft.com/office/drawing/2014/main" id="{E851D9E9-8A28-2B5F-15BA-828A4B10101D}"/>
                </a:ext>
              </a:extLst>
            </p:cNvPr>
            <p:cNvPicPr/>
            <p:nvPr userDrawn="1"/>
          </p:nvPicPr>
          <p:blipFill>
            <a:blip r:embed="rId28" cstate="screen">
              <a:extLst>
                <a:ext uri="{28A0092B-C50C-407E-A947-70E740481C1C}">
                  <a14:useLocalDpi xmlns:a14="http://schemas.microsoft.com/office/drawing/2010/main"/>
                </a:ext>
              </a:extLst>
            </a:blip>
            <a:stretch>
              <a:fillRect/>
            </a:stretch>
          </p:blipFill>
          <p:spPr>
            <a:xfrm>
              <a:off x="74622" y="99203"/>
              <a:ext cx="456914" cy="456491"/>
            </a:xfrm>
            <a:prstGeom prst="rect">
              <a:avLst/>
            </a:prstGeom>
          </p:spPr>
        </p:pic>
        <p:sp>
          <p:nvSpPr>
            <p:cNvPr id="10" name="Tekstvak 9" descr="MVX23_Logo_Basislogo_Full_colour_Wit">
              <a:extLst>
                <a:ext uri="{FF2B5EF4-FFF2-40B4-BE49-F238E27FC236}">
                  <a16:creationId xmlns:a16="http://schemas.microsoft.com/office/drawing/2014/main" id="{67E36D25-CEC9-DA69-89EB-E747CE9E6DE1}"/>
                </a:ext>
              </a:extLst>
            </p:cNvPr>
            <p:cNvSpPr txBox="1"/>
            <p:nvPr userDrawn="1"/>
          </p:nvSpPr>
          <p:spPr>
            <a:xfrm>
              <a:off x="105273" y="6480598"/>
              <a:ext cx="1137740" cy="261611"/>
            </a:xfrm>
            <a:prstGeom prst="rect">
              <a:avLst/>
            </a:prstGeom>
            <a:noFill/>
          </p:spPr>
          <p:txBody>
            <a:bodyPr wrap="square" rtlCol="0">
              <a:spAutoFit/>
            </a:bodyPr>
            <a:lstStyle/>
            <a:p>
              <a:r>
                <a:rPr lang="nl-NL" sz="675">
                  <a:solidFill>
                    <a:schemeClr val="bg1"/>
                  </a:solidFill>
                  <a:latin typeface="+mj-lt"/>
                  <a:cs typeface="Space Grotesk" pitchFamily="2" charset="0"/>
                </a:rPr>
                <a:t>maverx.nl</a:t>
              </a:r>
            </a:p>
          </p:txBody>
        </p:sp>
        <p:pic>
          <p:nvPicPr>
            <p:cNvPr id="11" name="Afbeelding 10" descr="Afbeelding met symbool, geel, schermopname, Lettertype&#10;&#10;Automatisch gegenereerde beschrijving">
              <a:extLst>
                <a:ext uri="{FF2B5EF4-FFF2-40B4-BE49-F238E27FC236}">
                  <a16:creationId xmlns:a16="http://schemas.microsoft.com/office/drawing/2014/main" id="{66894CB9-C9D9-54EF-1486-53BC5117F9A1}"/>
                </a:ext>
              </a:extLst>
            </p:cNvPr>
            <p:cNvPicPr/>
            <p:nvPr userDrawn="1"/>
          </p:nvPicPr>
          <p:blipFill>
            <a:blip r:embed="rId29" cstate="screen">
              <a:extLst>
                <a:ext uri="{28A0092B-C50C-407E-A947-70E740481C1C}">
                  <a14:useLocalDpi xmlns:a14="http://schemas.microsoft.com/office/drawing/2010/main"/>
                </a:ext>
              </a:extLst>
            </a:blip>
            <a:stretch>
              <a:fillRect/>
            </a:stretch>
          </p:blipFill>
          <p:spPr>
            <a:xfrm>
              <a:off x="11472862" y="6549937"/>
              <a:ext cx="456914" cy="92154"/>
            </a:xfrm>
            <a:prstGeom prst="rect">
              <a:avLst/>
            </a:prstGeom>
          </p:spPr>
        </p:pic>
      </p:grpSp>
      <p:sp>
        <p:nvSpPr>
          <p:cNvPr id="12" name="Tekstvak 15" descr="MVX23_Logo_Basislogo_Full_colour_Wit">
            <a:extLst>
              <a:ext uri="{FF2B5EF4-FFF2-40B4-BE49-F238E27FC236}">
                <a16:creationId xmlns:a16="http://schemas.microsoft.com/office/drawing/2014/main" id="{0C463CD0-008C-9F52-A801-2F578FAB158F}"/>
              </a:ext>
            </a:extLst>
          </p:cNvPr>
          <p:cNvSpPr txBox="1"/>
          <p:nvPr userDrawn="1"/>
        </p:nvSpPr>
        <p:spPr>
          <a:xfrm>
            <a:off x="4837877" y="166894"/>
            <a:ext cx="4170393" cy="196208"/>
          </a:xfrm>
          <a:prstGeom prst="rect">
            <a:avLst/>
          </a:prstGeom>
          <a:noFill/>
        </p:spPr>
        <p:txBody>
          <a:bodyPr wrap="square" rtlCol="0">
            <a:spAutoFit/>
          </a:bodyPr>
          <a:lstStyle/>
          <a:p>
            <a:pPr algn="r"/>
            <a:r>
              <a:rPr lang="en-US" sz="675">
                <a:solidFill>
                  <a:schemeClr val="bg1"/>
                </a:solidFill>
                <a:latin typeface="DM Sans" pitchFamily="2" charset="0"/>
                <a:cs typeface="Space Grotesk" pitchFamily="2" charset="0"/>
              </a:rPr>
              <a:t>AI Fundamentals</a:t>
            </a:r>
          </a:p>
        </p:txBody>
      </p:sp>
    </p:spTree>
    <p:extLst>
      <p:ext uri="{BB962C8B-B14F-4D97-AF65-F5344CB8AC3E}">
        <p14:creationId xmlns:p14="http://schemas.microsoft.com/office/powerpoint/2010/main" val="3532834465"/>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6" r:id="rId2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111.xml"/><Relationship Id="rId6" Type="http://schemas.openxmlformats.org/officeDocument/2006/relationships/image" Target="../media/image33.png"/><Relationship Id="rId5" Type="http://schemas.openxmlformats.org/officeDocument/2006/relationships/hyperlink" Target="https://www.linkedin.com/company/maverx-nl/about/" TargetMode="External"/><Relationship Id="rId4" Type="http://schemas.openxmlformats.org/officeDocument/2006/relationships/image" Target="../media/image32.png"/><Relationship Id="rId9" Type="http://schemas.openxmlformats.org/officeDocument/2006/relationships/hyperlink" Target="https://www.maverx.nl/hom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3.xml.rels><?xml version="1.0" encoding="UTF-8" standalone="yes"?>
<Relationships xmlns="http://schemas.openxmlformats.org/package/2006/relationships"><Relationship Id="rId3" Type="http://schemas.openxmlformats.org/officeDocument/2006/relationships/hyperlink" Target="https://fonts.google.com/specimen/Raleway" TargetMode="External"/><Relationship Id="rId2" Type="http://schemas.openxmlformats.org/officeDocument/2006/relationships/notesSlide" Target="../notesSlides/notesSlide2.xml"/><Relationship Id="rId1" Type="http://schemas.openxmlformats.org/officeDocument/2006/relationships/slideLayout" Target="../slideLayouts/slideLayout4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hyperlink" Target="https://fonts.google.com/specimen/Space+Grotesk?preview.script=Lat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48.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86.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hyperlink" Target="https://fonts.google.com/specimen/Space+Grotesk?preview.script=Latn" TargetMode="External"/><Relationship Id="rId2" Type="http://schemas.openxmlformats.org/officeDocument/2006/relationships/notesSlide" Target="../notesSlides/notesSlide10.xml"/><Relationship Id="rId1" Type="http://schemas.openxmlformats.org/officeDocument/2006/relationships/slideLayout" Target="../slideLayouts/slideLayout86.xml"/></Relationships>
</file>

<file path=ppt/slides/_rels/slide1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1.xml"/><Relationship Id="rId1" Type="http://schemas.openxmlformats.org/officeDocument/2006/relationships/slideLayout" Target="../slideLayouts/slideLayout8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4.xml"/><Relationship Id="rId1" Type="http://schemas.openxmlformats.org/officeDocument/2006/relationships/slideLayout" Target="../slideLayouts/slideLayout91.xml"/><Relationship Id="rId5" Type="http://schemas.openxmlformats.org/officeDocument/2006/relationships/image" Target="../media/image50.svg"/><Relationship Id="rId4" Type="http://schemas.openxmlformats.org/officeDocument/2006/relationships/image" Target="../media/image49.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1.xml"/></Relationships>
</file>

<file path=ppt/slides/_rels/slide1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hyperlink" Target="https://www.linkedin.com/company/maverx-nl/about/" TargetMode="External"/><Relationship Id="rId4" Type="http://schemas.openxmlformats.org/officeDocument/2006/relationships/image" Target="../media/image32.png"/><Relationship Id="rId9" Type="http://schemas.openxmlformats.org/officeDocument/2006/relationships/hyperlink" Target="https://www.maverx.nl/hom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91.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21.xml"/><Relationship Id="rId1" Type="http://schemas.openxmlformats.org/officeDocument/2006/relationships/slideLayout" Target="../slideLayouts/slideLayout91.xml"/><Relationship Id="rId5" Type="http://schemas.openxmlformats.org/officeDocument/2006/relationships/image" Target="../media/image53.svg"/><Relationship Id="rId4" Type="http://schemas.openxmlformats.org/officeDocument/2006/relationships/image" Target="../media/image52.sv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86.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76.xml"/><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25.xml"/><Relationship Id="rId1" Type="http://schemas.openxmlformats.org/officeDocument/2006/relationships/slideLayout" Target="../slideLayouts/slideLayout76.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26.xml"/><Relationship Id="rId1" Type="http://schemas.openxmlformats.org/officeDocument/2006/relationships/slideLayout" Target="../slideLayouts/slideLayout76.xml"/><Relationship Id="rId6" Type="http://schemas.openxmlformats.org/officeDocument/2006/relationships/image" Target="../media/image69.svg"/><Relationship Id="rId5" Type="http://schemas.openxmlformats.org/officeDocument/2006/relationships/image" Target="../media/image68.svg"/><Relationship Id="rId4" Type="http://schemas.openxmlformats.org/officeDocument/2006/relationships/image" Target="../media/image67.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31.xml"/><Relationship Id="rId1" Type="http://schemas.openxmlformats.org/officeDocument/2006/relationships/slideLayout" Target="../slideLayouts/slideLayout106.xml"/><Relationship Id="rId5" Type="http://schemas.openxmlformats.org/officeDocument/2006/relationships/image" Target="../media/image72.svg"/><Relationship Id="rId4" Type="http://schemas.openxmlformats.org/officeDocument/2006/relationships/image" Target="../media/image71.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6.xml"/></Relationships>
</file>

<file path=ppt/slides/_rels/slide39.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34.xml"/><Relationship Id="rId1" Type="http://schemas.openxmlformats.org/officeDocument/2006/relationships/slideLayout" Target="../slideLayouts/slideLayout106.xml"/><Relationship Id="rId4" Type="http://schemas.openxmlformats.org/officeDocument/2006/relationships/image" Target="../media/image74.svg"/></Relationships>
</file>

<file path=ppt/slides/_rels/slide4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5.xml"/><Relationship Id="rId1" Type="http://schemas.openxmlformats.org/officeDocument/2006/relationships/slideLayout" Target="../slideLayouts/slideLayout121.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6.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77.svg"/><Relationship Id="rId7" Type="http://schemas.openxmlformats.org/officeDocument/2006/relationships/image" Target="../media/image81.svg"/><Relationship Id="rId2" Type="http://schemas.openxmlformats.org/officeDocument/2006/relationships/notesSlide" Target="../notesSlides/notesSlide36.xml"/><Relationship Id="rId1" Type="http://schemas.openxmlformats.org/officeDocument/2006/relationships/slideLayout" Target="../slideLayouts/slideLayout91.xml"/><Relationship Id="rId6" Type="http://schemas.openxmlformats.org/officeDocument/2006/relationships/image" Target="../media/image80.svg"/><Relationship Id="rId5" Type="http://schemas.openxmlformats.org/officeDocument/2006/relationships/image" Target="../media/image79.svg"/><Relationship Id="rId4" Type="http://schemas.openxmlformats.org/officeDocument/2006/relationships/image" Target="../media/image78.svg"/></Relationships>
</file>

<file path=ppt/slides/_rels/slide43.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notesSlide" Target="../notesSlides/notesSlide37.xml"/><Relationship Id="rId1" Type="http://schemas.openxmlformats.org/officeDocument/2006/relationships/slideLayout" Target="../slideLayouts/slideLayout48.xml"/></Relationships>
</file>

<file path=ppt/slides/_rels/slide4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1.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jpeg"/><Relationship Id="rId1" Type="http://schemas.openxmlformats.org/officeDocument/2006/relationships/slideLayout" Target="../slideLayouts/slideLayout48.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0.xml"/><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B5DA-BE48-5DCF-B314-D6D0018C6A9C}"/>
            </a:ext>
          </a:extLst>
        </p:cNvPr>
        <p:cNvGrpSpPr/>
        <p:nvPr/>
      </p:nvGrpSpPr>
      <p:grpSpPr>
        <a:xfrm>
          <a:off x="0" y="0"/>
          <a:ext cx="0" cy="0"/>
          <a:chOff x="0" y="0"/>
          <a:chExt cx="0" cy="0"/>
        </a:xfrm>
      </p:grpSpPr>
      <p:pic>
        <p:nvPicPr>
          <p:cNvPr id="16" name="Afbeelding 15" descr="MVX23_Logo_Basislogo_Full_colour_Wit">
            <a:extLst>
              <a:ext uri="{FF2B5EF4-FFF2-40B4-BE49-F238E27FC236}">
                <a16:creationId xmlns:a16="http://schemas.microsoft.com/office/drawing/2014/main" id="{89FEBDC0-D615-8CA3-0CE4-5BA33B035C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3810" y="-610401"/>
            <a:ext cx="2386515" cy="2388725"/>
          </a:xfrm>
          <a:prstGeom prst="rect">
            <a:avLst/>
          </a:prstGeom>
        </p:spPr>
      </p:pic>
      <p:sp>
        <p:nvSpPr>
          <p:cNvPr id="6" name="Tekstvak 5" descr="MVX23_Logo_Basislogo_Full_colour_Wit">
            <a:extLst>
              <a:ext uri="{FF2B5EF4-FFF2-40B4-BE49-F238E27FC236}">
                <a16:creationId xmlns:a16="http://schemas.microsoft.com/office/drawing/2014/main" id="{59B7ECDB-D1CA-B706-8C3C-9CD487003D43}"/>
              </a:ext>
            </a:extLst>
          </p:cNvPr>
          <p:cNvSpPr txBox="1"/>
          <p:nvPr/>
        </p:nvSpPr>
        <p:spPr>
          <a:xfrm>
            <a:off x="380465" y="1662908"/>
            <a:ext cx="8633935" cy="1177245"/>
          </a:xfrm>
          <a:prstGeom prst="rect">
            <a:avLst/>
          </a:prstGeom>
          <a:noFill/>
        </p:spPr>
        <p:txBody>
          <a:bodyPr wrap="square" lIns="68580" tIns="34290" rIns="68580" bIns="34290" rtlCol="0" anchor="t">
            <a:spAutoFit/>
          </a:bodyPr>
          <a:lstStyle/>
          <a:p>
            <a:r>
              <a:rPr lang="nl-NL" sz="3600" b="1">
                <a:solidFill>
                  <a:schemeClr val="bg1"/>
                </a:solidFill>
                <a:latin typeface="Space Grotesk"/>
                <a:cs typeface="Space Grotesk" pitchFamily="2" charset="0"/>
              </a:rPr>
              <a:t>P</a:t>
            </a:r>
            <a:r>
              <a:rPr lang="en-US" sz="3600" b="1" err="1">
                <a:solidFill>
                  <a:schemeClr val="bg1"/>
                </a:solidFill>
                <a:latin typeface="Space Grotesk"/>
                <a:cs typeface="Space Grotesk" pitchFamily="2" charset="0"/>
              </a:rPr>
              <a:t>resentation</a:t>
            </a:r>
            <a:r>
              <a:rPr lang="en-US" sz="3600" b="1">
                <a:solidFill>
                  <a:schemeClr val="bg1"/>
                </a:solidFill>
                <a:latin typeface="Space Grotesk"/>
                <a:cs typeface="Space Grotesk" pitchFamily="2" charset="0"/>
              </a:rPr>
              <a:t> Style Guide  </a:t>
            </a:r>
          </a:p>
          <a:p>
            <a:r>
              <a:rPr lang="en-US" sz="3600" b="1">
                <a:solidFill>
                  <a:schemeClr val="bg1"/>
                </a:solidFill>
                <a:latin typeface="Space Grotesk"/>
                <a:cs typeface="Space Grotesk" pitchFamily="2" charset="0"/>
              </a:rPr>
              <a:t>@ </a:t>
            </a:r>
            <a:r>
              <a:rPr lang="en-US" sz="3600" b="1" err="1">
                <a:solidFill>
                  <a:schemeClr val="bg1"/>
                </a:solidFill>
                <a:latin typeface="Space Grotesk"/>
                <a:cs typeface="Space Grotesk" pitchFamily="2" charset="0"/>
              </a:rPr>
              <a:t>Hackaton</a:t>
            </a:r>
            <a:endParaRPr lang="en-US" sz="3600" b="1">
              <a:solidFill>
                <a:schemeClr val="bg1"/>
              </a:solidFill>
              <a:latin typeface="Space Grotesk"/>
              <a:cs typeface="Space Grotesk" pitchFamily="2" charset="0"/>
            </a:endParaRPr>
          </a:p>
        </p:txBody>
      </p:sp>
      <p:grpSp>
        <p:nvGrpSpPr>
          <p:cNvPr id="23" name="Groep 22">
            <a:extLst>
              <a:ext uri="{FF2B5EF4-FFF2-40B4-BE49-F238E27FC236}">
                <a16:creationId xmlns:a16="http://schemas.microsoft.com/office/drawing/2014/main" id="{36D1D751-FEC0-8C14-3775-B356D34B9837}"/>
              </a:ext>
            </a:extLst>
          </p:cNvPr>
          <p:cNvGrpSpPr/>
          <p:nvPr/>
        </p:nvGrpSpPr>
        <p:grpSpPr>
          <a:xfrm>
            <a:off x="1606962" y="4494463"/>
            <a:ext cx="640393" cy="136882"/>
            <a:chOff x="2970265" y="5870332"/>
            <a:chExt cx="853856" cy="182509"/>
          </a:xfrm>
        </p:grpSpPr>
        <p:pic>
          <p:nvPicPr>
            <p:cNvPr id="18" name="Afbeelding 17" descr="Afbeelding met cirkel, Graphics, tekenfilm&#10;&#10;Automatisch gegenereerde beschrijving">
              <a:extLst>
                <a:ext uri="{FF2B5EF4-FFF2-40B4-BE49-F238E27FC236}">
                  <a16:creationId xmlns:a16="http://schemas.microsoft.com/office/drawing/2014/main" id="{A12C1A1C-4A95-9847-997D-9E37FDBE7C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05851" y="5870332"/>
              <a:ext cx="182509" cy="182509"/>
            </a:xfrm>
            <a:prstGeom prst="rect">
              <a:avLst/>
            </a:prstGeom>
          </p:spPr>
        </p:pic>
        <p:pic>
          <p:nvPicPr>
            <p:cNvPr id="20" name="Afbeelding 19" descr="Afbeelding met Graphics, ontwerp&#10;&#10;Automatisch gegenereerde beschrijving">
              <a:hlinkClick r:id="rId5"/>
              <a:extLst>
                <a:ext uri="{FF2B5EF4-FFF2-40B4-BE49-F238E27FC236}">
                  <a16:creationId xmlns:a16="http://schemas.microsoft.com/office/drawing/2014/main" id="{C2D35190-2E16-92E4-6AE4-A1ABB0D5866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41437" y="5870332"/>
              <a:ext cx="182684" cy="182509"/>
            </a:xfrm>
            <a:prstGeom prst="rect">
              <a:avLst/>
            </a:prstGeom>
          </p:spPr>
        </p:pic>
        <p:pic>
          <p:nvPicPr>
            <p:cNvPr id="22" name="Afbeelding 21" descr="Afbeelding met symbool&#10;&#10;Automatisch gegenereerde beschrijving">
              <a:extLst>
                <a:ext uri="{FF2B5EF4-FFF2-40B4-BE49-F238E27FC236}">
                  <a16:creationId xmlns:a16="http://schemas.microsoft.com/office/drawing/2014/main" id="{88DA4955-7DB5-682A-A31C-D984CFB9446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70265" y="5870332"/>
              <a:ext cx="182509" cy="182509"/>
            </a:xfrm>
            <a:prstGeom prst="rect">
              <a:avLst/>
            </a:prstGeom>
          </p:spPr>
        </p:pic>
      </p:grpSp>
      <p:grpSp>
        <p:nvGrpSpPr>
          <p:cNvPr id="27" name="Groep 26">
            <a:extLst>
              <a:ext uri="{FF2B5EF4-FFF2-40B4-BE49-F238E27FC236}">
                <a16:creationId xmlns:a16="http://schemas.microsoft.com/office/drawing/2014/main" id="{DFF50BCE-1720-D66C-6A9F-ACE27770EF19}"/>
              </a:ext>
            </a:extLst>
          </p:cNvPr>
          <p:cNvGrpSpPr/>
          <p:nvPr/>
        </p:nvGrpSpPr>
        <p:grpSpPr>
          <a:xfrm>
            <a:off x="360319" y="4420999"/>
            <a:ext cx="1189805" cy="280401"/>
            <a:chOff x="1613450" y="5094513"/>
            <a:chExt cx="1586406" cy="373868"/>
          </a:xfrm>
        </p:grpSpPr>
        <p:pic>
          <p:nvPicPr>
            <p:cNvPr id="26" name="Graphic 25">
              <a:extLst>
                <a:ext uri="{FF2B5EF4-FFF2-40B4-BE49-F238E27FC236}">
                  <a16:creationId xmlns:a16="http://schemas.microsoft.com/office/drawing/2014/main" id="{729FEBEF-CEA6-D3DA-9AE4-814915D1BE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450" y="5094513"/>
              <a:ext cx="1586406" cy="363577"/>
            </a:xfrm>
            <a:prstGeom prst="rect">
              <a:avLst/>
            </a:prstGeom>
          </p:spPr>
        </p:pic>
        <p:sp>
          <p:nvSpPr>
            <p:cNvPr id="24" name="Tekstvak 23" descr="MVX23_Logo_Basislogo_Full_colour_Wit">
              <a:hlinkClick r:id="rId9"/>
              <a:extLst>
                <a:ext uri="{FF2B5EF4-FFF2-40B4-BE49-F238E27FC236}">
                  <a16:creationId xmlns:a16="http://schemas.microsoft.com/office/drawing/2014/main" id="{2E178063-FAA6-D988-7F7A-37990F743EE7}"/>
                </a:ext>
              </a:extLst>
            </p:cNvPr>
            <p:cNvSpPr txBox="1"/>
            <p:nvPr/>
          </p:nvSpPr>
          <p:spPr>
            <a:xfrm>
              <a:off x="1813507" y="5099049"/>
              <a:ext cx="1208967" cy="369332"/>
            </a:xfrm>
            <a:prstGeom prst="rect">
              <a:avLst/>
            </a:prstGeom>
            <a:noFill/>
          </p:spPr>
          <p:txBody>
            <a:bodyPr wrap="square" rtlCol="0">
              <a:spAutoFit/>
            </a:bodyPr>
            <a:lstStyle/>
            <a:p>
              <a:r>
                <a:rPr lang="en-US" sz="1200" b="1">
                  <a:solidFill>
                    <a:schemeClr val="bg1"/>
                  </a:solidFill>
                  <a:latin typeface="Space Grotesk" pitchFamily="2" charset="0"/>
                  <a:cs typeface="Space Grotesk" pitchFamily="2" charset="0"/>
                </a:rPr>
                <a:t>maverx.nl</a:t>
              </a:r>
            </a:p>
          </p:txBody>
        </p:sp>
      </p:grpSp>
      <p:sp>
        <p:nvSpPr>
          <p:cNvPr id="3" name="Tekstvak 5" descr="MVX23_Logo_Basislogo_Full_colour_Wit">
            <a:extLst>
              <a:ext uri="{FF2B5EF4-FFF2-40B4-BE49-F238E27FC236}">
                <a16:creationId xmlns:a16="http://schemas.microsoft.com/office/drawing/2014/main" id="{FF948D26-B806-FBED-4F74-55A3E433CAE8}"/>
              </a:ext>
            </a:extLst>
          </p:cNvPr>
          <p:cNvSpPr txBox="1"/>
          <p:nvPr/>
        </p:nvSpPr>
        <p:spPr>
          <a:xfrm>
            <a:off x="846022" y="2917103"/>
            <a:ext cx="7621178" cy="507831"/>
          </a:xfrm>
          <a:prstGeom prst="rect">
            <a:avLst/>
          </a:prstGeom>
          <a:noFill/>
        </p:spPr>
        <p:txBody>
          <a:bodyPr wrap="square" lIns="68580" tIns="34290" rIns="68580" bIns="34290" rtlCol="0" anchor="t">
            <a:spAutoFit/>
          </a:bodyPr>
          <a:lstStyle/>
          <a:p>
            <a:r>
              <a:rPr lang="en-US" sz="2850">
                <a:solidFill>
                  <a:schemeClr val="bg1"/>
                </a:solidFill>
                <a:latin typeface="Space Grotesk"/>
                <a:cs typeface="Space Grotesk" pitchFamily="2" charset="0"/>
              </a:rPr>
              <a:t>Structure, style &amp; assets — all in one place</a:t>
            </a:r>
          </a:p>
        </p:txBody>
      </p:sp>
      <p:sp>
        <p:nvSpPr>
          <p:cNvPr id="5" name="Title 4">
            <a:extLst>
              <a:ext uri="{FF2B5EF4-FFF2-40B4-BE49-F238E27FC236}">
                <a16:creationId xmlns:a16="http://schemas.microsoft.com/office/drawing/2014/main" id="{58141EC2-8821-243F-A1F7-0F8EE2AA694D}"/>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2938755E-A721-C417-AB9E-98B016CD090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4937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222;p55">
            <a:extLst>
              <a:ext uri="{FF2B5EF4-FFF2-40B4-BE49-F238E27FC236}">
                <a16:creationId xmlns:a16="http://schemas.microsoft.com/office/drawing/2014/main" id="{724E198C-632A-9000-11AD-94B48C966FDA}"/>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0" y="0"/>
            <a:ext cx="3890310"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B54EE7F-744A-0A0E-A663-680C25A061FA}"/>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D98DA597-ED86-D956-5243-9C1A25BEA173}"/>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08360" y="949252"/>
            <a:ext cx="4316498" cy="798700"/>
          </a:xfrm>
          <a:prstGeom prst="teardrop">
            <a:avLst/>
          </a:prstGeom>
          <a:noFill/>
          <a:ln>
            <a:noFill/>
          </a:ln>
        </p:spPr>
      </p:pic>
      <p:sp>
        <p:nvSpPr>
          <p:cNvPr id="4" name="Tekstvak 7" descr="MVX23_Logo_Basislogo_Full_colour_Wit">
            <a:extLst>
              <a:ext uri="{FF2B5EF4-FFF2-40B4-BE49-F238E27FC236}">
                <a16:creationId xmlns:a16="http://schemas.microsoft.com/office/drawing/2014/main" id="{2324D817-15F1-45A0-E92E-BFF978C5546E}"/>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solidFill>
                <a:latin typeface="DM Sans"/>
                <a:ea typeface="+mn-lt"/>
                <a:cs typeface="+mn-lt"/>
              </a:rPr>
              <a:t>Layout </a:t>
            </a:r>
          </a:p>
          <a:p>
            <a:pPr marL="202406">
              <a:lnSpc>
                <a:spcPct val="150000"/>
              </a:lnSpc>
              <a:defRPr/>
            </a:pPr>
            <a:r>
              <a:rPr lang="en-US" sz="1050">
                <a:solidFill>
                  <a:schemeClr val="bg1"/>
                </a:solidFill>
                <a:latin typeface="DM Sans"/>
                <a:ea typeface="+mn-lt"/>
                <a:cs typeface="+mn-lt"/>
              </a:rPr>
              <a:t>Fonts, sizes, margins etc. according to </a:t>
            </a:r>
            <a:r>
              <a:rPr lang="en-US" sz="1050" err="1">
                <a:solidFill>
                  <a:schemeClr val="bg1"/>
                </a:solidFill>
                <a:latin typeface="DM Sans"/>
                <a:ea typeface="+mn-lt"/>
                <a:cs typeface="+mn-lt"/>
              </a:rPr>
              <a:t>Maverx</a:t>
            </a:r>
            <a:r>
              <a:rPr lang="en-US" sz="1050">
                <a:solidFill>
                  <a:schemeClr val="bg1"/>
                </a:solidFill>
                <a:latin typeface="DM Sans"/>
                <a:ea typeface="+mn-lt"/>
                <a:cs typeface="+mn-lt"/>
              </a:rPr>
              <a:t> Template</a:t>
            </a:r>
          </a:p>
          <a:p>
            <a:pPr>
              <a:lnSpc>
                <a:spcPct val="150000"/>
              </a:lnSpc>
              <a:defRPr/>
            </a:pPr>
            <a:r>
              <a:rPr lang="en-US" sz="2100">
                <a:solidFill>
                  <a:srgbClr val="0D006A"/>
                </a:solidFill>
                <a:latin typeface="DM Sans"/>
                <a:ea typeface="+mn-lt"/>
                <a:cs typeface="+mn-lt"/>
              </a:rPr>
              <a:t>Structure </a:t>
            </a:r>
          </a:p>
          <a:p>
            <a:pPr marL="202406">
              <a:lnSpc>
                <a:spcPct val="150000"/>
              </a:lnSpc>
              <a:defRPr/>
            </a:pPr>
            <a:r>
              <a:rPr lang="en-US" sz="1050">
                <a:solidFill>
                  <a:srgbClr val="0D006A"/>
                </a:solidFill>
                <a:latin typeface="DM Sans"/>
                <a:ea typeface="+mn-lt"/>
                <a:cs typeface="+mn-lt"/>
              </a:rPr>
              <a:t>The required order of your slides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Templates of assets you can 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Examples</a:t>
            </a:r>
          </a:p>
          <a:p>
            <a:pPr marL="202406">
              <a:lnSpc>
                <a:spcPct val="150000"/>
              </a:lnSpc>
              <a:defRPr/>
            </a:pPr>
            <a:r>
              <a:rPr lang="en-US" sz="1050">
                <a:solidFill>
                  <a:srgbClr val="0D006A"/>
                </a:solidFill>
                <a:latin typeface="DM Sans"/>
                <a:ea typeface="+mn-lt"/>
                <a:cs typeface="+mn-lt"/>
              </a:rPr>
              <a:t>Real slides with speaker notes from other trainings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pic>
        <p:nvPicPr>
          <p:cNvPr id="7" name="Picture 6">
            <a:extLst>
              <a:ext uri="{FF2B5EF4-FFF2-40B4-BE49-F238E27FC236}">
                <a16:creationId xmlns:a16="http://schemas.microsoft.com/office/drawing/2014/main" id="{20336B46-6B60-2832-0859-BBAB83AE64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Tree>
    <p:extLst>
      <p:ext uri="{BB962C8B-B14F-4D97-AF65-F5344CB8AC3E}">
        <p14:creationId xmlns:p14="http://schemas.microsoft.com/office/powerpoint/2010/main" val="4062866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81ED4-32CB-781D-EA3E-F8DAB340DDF4}"/>
            </a:ext>
          </a:extLst>
        </p:cNvPr>
        <p:cNvGrpSpPr/>
        <p:nvPr/>
      </p:nvGrpSpPr>
      <p:grpSpPr>
        <a:xfrm>
          <a:off x="0" y="0"/>
          <a:ext cx="0" cy="0"/>
          <a:chOff x="0" y="0"/>
          <a:chExt cx="0" cy="0"/>
        </a:xfrm>
      </p:grpSpPr>
      <p:sp>
        <p:nvSpPr>
          <p:cNvPr id="4" name="Tekstvak 5" descr="MVX23_Logo_Basislogo_Full_colour_Wit">
            <a:extLst>
              <a:ext uri="{FF2B5EF4-FFF2-40B4-BE49-F238E27FC236}">
                <a16:creationId xmlns:a16="http://schemas.microsoft.com/office/drawing/2014/main" id="{20478077-E71B-CC34-21BB-D6EE9809C85D}"/>
              </a:ext>
            </a:extLst>
          </p:cNvPr>
          <p:cNvSpPr txBox="1"/>
          <p:nvPr/>
        </p:nvSpPr>
        <p:spPr>
          <a:xfrm>
            <a:off x="788566" y="688381"/>
            <a:ext cx="6988251" cy="407804"/>
          </a:xfrm>
          <a:prstGeom prst="rect">
            <a:avLst/>
          </a:prstGeom>
          <a:noFill/>
        </p:spPr>
        <p:txBody>
          <a:bodyPr wrap="square" lIns="68580" tIns="34290" rIns="68580" bIns="34290" rtlCol="0" anchor="t">
            <a:spAutoFit/>
          </a:bodyPr>
          <a:lstStyle/>
          <a:p>
            <a:pPr>
              <a:defRPr/>
            </a:pPr>
            <a:r>
              <a:rPr lang="en-US" sz="2200" b="1">
                <a:solidFill>
                  <a:srgbClr val="F59235"/>
                </a:solidFill>
                <a:latin typeface="Space Grotesk" pitchFamily="2" charset="0"/>
                <a:cs typeface="Space Grotesk" pitchFamily="2" charset="0"/>
              </a:rPr>
              <a:t>Subtitle (optional) &lt;Space Grotesk&gt; - 22 pt</a:t>
            </a:r>
            <a:endParaRPr lang="en-US" sz="2200" b="1">
              <a:solidFill>
                <a:srgbClr val="F04E5B"/>
              </a:solidFill>
              <a:latin typeface="Space Grotesk" pitchFamily="2" charset="0"/>
              <a:cs typeface="Space Grotesk" pitchFamily="2" charset="0"/>
            </a:endParaRPr>
          </a:p>
        </p:txBody>
      </p:sp>
      <p:sp>
        <p:nvSpPr>
          <p:cNvPr id="3" name="Tekstvak 1">
            <a:extLst>
              <a:ext uri="{FF2B5EF4-FFF2-40B4-BE49-F238E27FC236}">
                <a16:creationId xmlns:a16="http://schemas.microsoft.com/office/drawing/2014/main" id="{685BB2F1-9AA2-7C74-4007-F3B8E2B6A802}"/>
              </a:ext>
            </a:extLst>
          </p:cNvPr>
          <p:cNvSpPr txBox="1"/>
          <p:nvPr/>
        </p:nvSpPr>
        <p:spPr>
          <a:xfrm>
            <a:off x="646069" y="1482846"/>
            <a:ext cx="6482865" cy="3223959"/>
          </a:xfrm>
          <a:prstGeom prst="rect">
            <a:avLst/>
          </a:prstGeom>
          <a:noFill/>
        </p:spPr>
        <p:txBody>
          <a:bodyPr wrap="none" rtlCol="0">
            <a:spAutoFit/>
          </a:bodyPr>
          <a:lstStyle/>
          <a:p>
            <a:r>
              <a:rPr lang="en-US" sz="1600" b="1">
                <a:solidFill>
                  <a:srgbClr val="0D006A"/>
                </a:solidFill>
                <a:latin typeface="Raleway" pitchFamily="2" charset="0"/>
                <a:cs typeface="Space Grotesk" pitchFamily="2" charset="0"/>
              </a:rPr>
              <a:t>Main text for ‘bullet points’ &lt;</a:t>
            </a:r>
            <a:r>
              <a:rPr lang="en-US" sz="1600" b="1" err="1">
                <a:solidFill>
                  <a:srgbClr val="0D006A"/>
                </a:solidFill>
                <a:latin typeface="Raleway" pitchFamily="2" charset="0"/>
                <a:cs typeface="Space Grotesk" pitchFamily="2" charset="0"/>
                <a:hlinkClick r:id="rId3"/>
              </a:rPr>
              <a:t>Raleway</a:t>
            </a:r>
            <a:r>
              <a:rPr lang="en-US" sz="1600" b="1">
                <a:solidFill>
                  <a:srgbClr val="0D006A"/>
                </a:solidFill>
                <a:latin typeface="Raleway" pitchFamily="2" charset="0"/>
                <a:cs typeface="Space Grotesk" pitchFamily="2" charset="0"/>
              </a:rPr>
              <a:t> or </a:t>
            </a:r>
            <a:r>
              <a:rPr lang="en-US" sz="1600" b="1">
                <a:solidFill>
                  <a:srgbClr val="0D006A"/>
                </a:solidFill>
                <a:latin typeface="Raleway" pitchFamily="2" charset="0"/>
                <a:cs typeface="Space Grotesk" pitchFamily="2" charset="0"/>
                <a:hlinkClick r:id="rId4"/>
              </a:rPr>
              <a:t>Space Grotesk</a:t>
            </a:r>
            <a:r>
              <a:rPr lang="en-US" sz="1600" b="1">
                <a:solidFill>
                  <a:srgbClr val="0D006A"/>
                </a:solidFill>
                <a:latin typeface="Raleway" pitchFamily="2" charset="0"/>
                <a:cs typeface="Space Grotesk" pitchFamily="2" charset="0"/>
              </a:rPr>
              <a:t>&gt; </a:t>
            </a:r>
            <a:r>
              <a:rPr lang="en-US" sz="1600" i="1">
                <a:solidFill>
                  <a:srgbClr val="0D006A"/>
                </a:solidFill>
                <a:latin typeface="Raleway" pitchFamily="2" charset="0"/>
                <a:cs typeface="Space Grotesk" pitchFamily="2" charset="0"/>
              </a:rPr>
              <a:t>– 15+ pt</a:t>
            </a:r>
          </a:p>
          <a:p>
            <a:endParaRPr lang="en-US" sz="1600" b="1">
              <a:solidFill>
                <a:srgbClr val="3F0576"/>
              </a:solidFill>
              <a:latin typeface="Raleway" pitchFamily="2" charset="0"/>
              <a:cs typeface="Space Grotesk" pitchFamily="2" charset="0"/>
            </a:endParaRPr>
          </a:p>
          <a:p>
            <a:r>
              <a:rPr lang="en-US" sz="1600" b="1">
                <a:solidFill>
                  <a:srgbClr val="F59235"/>
                </a:solidFill>
                <a:latin typeface="Raleway" pitchFamily="2" charset="0"/>
                <a:cs typeface="Space Grotesk" pitchFamily="2" charset="0"/>
              </a:rPr>
              <a:t>Emphasize</a:t>
            </a:r>
            <a:r>
              <a:rPr lang="en-US" sz="1600" b="1">
                <a:solidFill>
                  <a:srgbClr val="3F0576"/>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important words with </a:t>
            </a:r>
            <a:r>
              <a:rPr lang="en-US" sz="1600" b="1">
                <a:solidFill>
                  <a:srgbClr val="F59235"/>
                </a:solidFill>
                <a:latin typeface="Raleway" pitchFamily="2" charset="0"/>
                <a:cs typeface="Space Grotesk" pitchFamily="2" charset="0"/>
              </a:rPr>
              <a:t>color</a:t>
            </a:r>
          </a:p>
          <a:p>
            <a:endParaRPr lang="en-US" sz="1600" b="1">
              <a:solidFill>
                <a:srgbClr val="3F0576"/>
              </a:solidFill>
              <a:latin typeface="Raleway" pitchFamily="2" charset="0"/>
              <a:cs typeface="Space Grotesk" pitchFamily="2" charset="0"/>
            </a:endParaRPr>
          </a:p>
          <a:p>
            <a:r>
              <a:rPr lang="en-US" sz="1600" b="1">
                <a:solidFill>
                  <a:srgbClr val="0D006A"/>
                </a:solidFill>
                <a:latin typeface="Raleway" pitchFamily="2" charset="0"/>
                <a:cs typeface="Space Grotesk" pitchFamily="2" charset="0"/>
              </a:rPr>
              <a:t>Use empty lines between points or increase line spacing </a:t>
            </a:r>
            <a:r>
              <a:rPr lang="en-US" sz="1600" b="1">
                <a:solidFill>
                  <a:srgbClr val="F59235"/>
                </a:solidFill>
                <a:latin typeface="Raleway" pitchFamily="2" charset="0"/>
                <a:cs typeface="Space Grotesk" pitchFamily="2" charset="0"/>
              </a:rPr>
              <a:t>here</a:t>
            </a:r>
          </a:p>
          <a:p>
            <a:endParaRPr lang="en-US" sz="1600" b="1">
              <a:solidFill>
                <a:srgbClr val="3F0576"/>
              </a:solidFill>
              <a:latin typeface="Raleway" pitchFamily="2" charset="0"/>
              <a:cs typeface="Space Grotesk" pitchFamily="2" charset="0"/>
            </a:endParaRPr>
          </a:p>
          <a:p>
            <a:r>
              <a:rPr lang="en-US" sz="1600" b="1">
                <a:solidFill>
                  <a:srgbClr val="0D006A"/>
                </a:solidFill>
                <a:latin typeface="Raleway" pitchFamily="2" charset="0"/>
                <a:cs typeface="Space Grotesk" pitchFamily="2" charset="0"/>
              </a:rPr>
              <a:t>Don’t use </a:t>
            </a:r>
            <a:r>
              <a:rPr lang="en-US" sz="1600" b="1">
                <a:solidFill>
                  <a:srgbClr val="F59235"/>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bullet points for the first line of text</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Only for subtext – 20+ pt. regular</a:t>
            </a:r>
          </a:p>
          <a:p>
            <a:pPr marL="557213" lvl="1" indent="-214313">
              <a:buFont typeface="Arial" panose="020B0604020202020204" pitchFamily="34" charset="0"/>
              <a:buChar char="•"/>
            </a:pPr>
            <a:r>
              <a:rPr lang="en-US" sz="1400">
                <a:solidFill>
                  <a:srgbClr val="0D006A"/>
                </a:solidFill>
                <a:latin typeface="Raleway" pitchFamily="2" charset="0"/>
                <a:cs typeface="Space Grotesk" pitchFamily="2" charset="0"/>
              </a:rPr>
              <a:t>For slides with a lot of text - 18 pt. is also fine</a:t>
            </a:r>
          </a:p>
          <a:p>
            <a:pPr marL="557213" lvl="1" indent="-214313">
              <a:buFont typeface="Arial" panose="020B0604020202020204" pitchFamily="34" charset="0"/>
              <a:buChar char="•"/>
            </a:pPr>
            <a:r>
              <a:rPr lang="en-US" sz="1400">
                <a:solidFill>
                  <a:srgbClr val="0D006A"/>
                </a:solidFill>
                <a:latin typeface="Raleway" pitchFamily="2" charset="0"/>
                <a:cs typeface="Space Grotesk" pitchFamily="2" charset="0"/>
              </a:rPr>
              <a:t>Press </a:t>
            </a:r>
            <a:r>
              <a:rPr lang="en-US" sz="1400">
                <a:solidFill>
                  <a:srgbClr val="F59235"/>
                </a:solidFill>
                <a:latin typeface="Raleway" pitchFamily="2" charset="0"/>
                <a:cs typeface="Space Grotesk" pitchFamily="2" charset="0"/>
              </a:rPr>
              <a:t>tab</a:t>
            </a:r>
            <a:r>
              <a:rPr lang="en-US" sz="1400">
                <a:solidFill>
                  <a:srgbClr val="3F0576"/>
                </a:solidFill>
                <a:latin typeface="Raleway" pitchFamily="2" charset="0"/>
                <a:cs typeface="Space Grotesk" pitchFamily="2" charset="0"/>
              </a:rPr>
              <a:t> </a:t>
            </a:r>
            <a:r>
              <a:rPr lang="en-US" sz="1400">
                <a:solidFill>
                  <a:srgbClr val="0D006A"/>
                </a:solidFill>
                <a:latin typeface="Raleway" pitchFamily="2" charset="0"/>
                <a:cs typeface="Space Grotesk" pitchFamily="2" charset="0"/>
              </a:rPr>
              <a:t>once for indentation</a:t>
            </a:r>
          </a:p>
          <a:p>
            <a:br>
              <a:rPr lang="en-US" sz="1600" b="1">
                <a:solidFill>
                  <a:srgbClr val="3F0576"/>
                </a:solidFill>
                <a:latin typeface="Raleway" pitchFamily="2" charset="0"/>
                <a:cs typeface="Space Grotesk" pitchFamily="2" charset="0"/>
              </a:rPr>
            </a:br>
            <a:r>
              <a:rPr lang="en-US" sz="1600" b="1">
                <a:solidFill>
                  <a:srgbClr val="0D006A"/>
                </a:solidFill>
                <a:latin typeface="Raleway" pitchFamily="2" charset="0"/>
                <a:cs typeface="Space Grotesk" pitchFamily="2" charset="0"/>
              </a:rPr>
              <a:t>Try to avoid using </a:t>
            </a:r>
            <a:r>
              <a:rPr lang="en-US" sz="1600" b="1">
                <a:solidFill>
                  <a:srgbClr val="F59235"/>
                </a:solidFill>
                <a:latin typeface="Raleway" pitchFamily="2" charset="0"/>
                <a:cs typeface="Space Grotesk" pitchFamily="2" charset="0"/>
              </a:rPr>
              <a:t>/</a:t>
            </a:r>
            <a:r>
              <a:rPr lang="en-US" sz="1600" b="1">
                <a:solidFill>
                  <a:srgbClr val="3F0576"/>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and</a:t>
            </a:r>
            <a:r>
              <a:rPr lang="en-US" sz="1600" b="1">
                <a:solidFill>
                  <a:srgbClr val="3F0576"/>
                </a:solidFill>
                <a:latin typeface="Raleway" pitchFamily="2" charset="0"/>
                <a:cs typeface="Space Grotesk" pitchFamily="2" charset="0"/>
              </a:rPr>
              <a:t> </a:t>
            </a:r>
            <a:r>
              <a:rPr lang="en-US" sz="1600" b="1">
                <a:solidFill>
                  <a:srgbClr val="F59235"/>
                </a:solidFill>
                <a:latin typeface="Raleway" pitchFamily="2" charset="0"/>
                <a:cs typeface="Space Grotesk" pitchFamily="2" charset="0"/>
              </a:rPr>
              <a:t>, </a:t>
            </a:r>
            <a:r>
              <a:rPr lang="en-US" sz="1600" b="1">
                <a:solidFill>
                  <a:srgbClr val="0D006A"/>
                </a:solidFill>
                <a:latin typeface="Raleway" pitchFamily="2" charset="0"/>
                <a:cs typeface="Space Grotesk" pitchFamily="2" charset="0"/>
              </a:rPr>
              <a:t>in texts</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Commas are fine in some cases </a:t>
            </a:r>
            <a:r>
              <a:rPr lang="en-US" sz="1050" i="1">
                <a:solidFill>
                  <a:srgbClr val="0D006A"/>
                </a:solidFill>
                <a:latin typeface="Raleway" pitchFamily="2" charset="0"/>
                <a:cs typeface="Space Grotesk" pitchFamily="2" charset="0"/>
              </a:rPr>
              <a:t>– but this is better</a:t>
            </a:r>
          </a:p>
          <a:p>
            <a:pPr marL="557213" lvl="1" indent="-214313">
              <a:buFont typeface="Arial" panose="020B0604020202020204" pitchFamily="34" charset="0"/>
              <a:buChar char="•"/>
            </a:pPr>
            <a:r>
              <a:rPr lang="en-US" sz="1050">
                <a:solidFill>
                  <a:srgbClr val="0D006A"/>
                </a:solidFill>
                <a:latin typeface="Raleway" pitchFamily="2" charset="0"/>
                <a:cs typeface="Space Grotesk" pitchFamily="2" charset="0"/>
              </a:rPr>
              <a:t>Replace left/right with left or right </a:t>
            </a:r>
            <a:r>
              <a:rPr lang="en-US" sz="1050" i="1">
                <a:solidFill>
                  <a:srgbClr val="0D006A"/>
                </a:solidFill>
                <a:latin typeface="Raleway" pitchFamily="2" charset="0"/>
                <a:cs typeface="Space Grotesk" pitchFamily="2" charset="0"/>
              </a:rPr>
              <a:t>– or left &amp; right</a:t>
            </a:r>
          </a:p>
        </p:txBody>
      </p:sp>
      <p:grpSp>
        <p:nvGrpSpPr>
          <p:cNvPr id="33" name="Groep 6">
            <a:extLst>
              <a:ext uri="{FF2B5EF4-FFF2-40B4-BE49-F238E27FC236}">
                <a16:creationId xmlns:a16="http://schemas.microsoft.com/office/drawing/2014/main" id="{B2AA1FBD-9442-E6A6-F99C-6F01D8CA301C}"/>
              </a:ext>
            </a:extLst>
          </p:cNvPr>
          <p:cNvGrpSpPr/>
          <p:nvPr/>
        </p:nvGrpSpPr>
        <p:grpSpPr>
          <a:xfrm>
            <a:off x="6500863" y="1959627"/>
            <a:ext cx="1503905" cy="577081"/>
            <a:chOff x="7042484" y="3162300"/>
            <a:chExt cx="1638300" cy="628651"/>
          </a:xfrm>
        </p:grpSpPr>
        <p:pic>
          <p:nvPicPr>
            <p:cNvPr id="34" name="Afbeelding 3">
              <a:extLst>
                <a:ext uri="{FF2B5EF4-FFF2-40B4-BE49-F238E27FC236}">
                  <a16:creationId xmlns:a16="http://schemas.microsoft.com/office/drawing/2014/main" id="{D9B6AF6F-3CF5-B0F7-F687-91AFAAEBC83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042484" y="3162301"/>
              <a:ext cx="1638300" cy="628650"/>
            </a:xfrm>
            <a:prstGeom prst="rect">
              <a:avLst/>
            </a:prstGeom>
          </p:spPr>
        </p:pic>
        <p:sp>
          <p:nvSpPr>
            <p:cNvPr id="35" name="Rechthoek 4">
              <a:extLst>
                <a:ext uri="{FF2B5EF4-FFF2-40B4-BE49-F238E27FC236}">
                  <a16:creationId xmlns:a16="http://schemas.microsoft.com/office/drawing/2014/main" id="{A629C95F-7BE0-BDD3-C372-694B3A34DA3B}"/>
                </a:ext>
              </a:extLst>
            </p:cNvPr>
            <p:cNvSpPr/>
            <p:nvPr/>
          </p:nvSpPr>
          <p:spPr bwMode="auto">
            <a:xfrm>
              <a:off x="8353425" y="3162300"/>
              <a:ext cx="327359" cy="314325"/>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pic>
        <p:nvPicPr>
          <p:cNvPr id="6" name="Graphic 5" descr="Arrow: Slight curve with solid fill">
            <a:extLst>
              <a:ext uri="{FF2B5EF4-FFF2-40B4-BE49-F238E27FC236}">
                <a16:creationId xmlns:a16="http://schemas.microsoft.com/office/drawing/2014/main" id="{14B26DC8-4430-32F7-D93B-EBB2CE9264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9986496">
            <a:off x="6833954" y="2103787"/>
            <a:ext cx="837725" cy="837725"/>
          </a:xfrm>
          <a:prstGeom prst="rect">
            <a:avLst/>
          </a:prstGeom>
        </p:spPr>
      </p:pic>
      <p:sp>
        <p:nvSpPr>
          <p:cNvPr id="5" name="Title 4">
            <a:extLst>
              <a:ext uri="{FF2B5EF4-FFF2-40B4-BE49-F238E27FC236}">
                <a16:creationId xmlns:a16="http://schemas.microsoft.com/office/drawing/2014/main" id="{72BA7788-1E12-61B3-37FD-F9EABD7AD2B3}"/>
              </a:ext>
            </a:extLst>
          </p:cNvPr>
          <p:cNvSpPr>
            <a:spLocks noGrp="1"/>
          </p:cNvSpPr>
          <p:nvPr>
            <p:ph type="title"/>
          </p:nvPr>
        </p:nvSpPr>
        <p:spPr>
          <a:xfrm>
            <a:off x="726220" y="294164"/>
            <a:ext cx="7365078" cy="435147"/>
          </a:xfrm>
        </p:spPr>
        <p:txBody>
          <a:bodyPr>
            <a:noAutofit/>
          </a:bodyPr>
          <a:lstStyle/>
          <a:p>
            <a:r>
              <a:rPr lang="en-US" sz="3300" b="1">
                <a:solidFill>
                  <a:srgbClr val="0D006A"/>
                </a:solidFill>
                <a:latin typeface="Space Grotesk" pitchFamily="2" charset="0"/>
                <a:cs typeface="Space Grotesk" pitchFamily="2" charset="0"/>
              </a:rPr>
              <a:t>Title &lt; Space Grotesk Bold&gt; - 33 pt</a:t>
            </a:r>
            <a:endParaRPr lang="en-NL" sz="3300" b="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1617117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FABC4-A6E9-58F2-75E9-86A174F4B559}"/>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F1B8ED2C-EFB9-69BA-FA25-990489F1CFFC}"/>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Alternative Style Title – 33 pt</a:t>
            </a:r>
          </a:p>
        </p:txBody>
      </p:sp>
      <p:sp>
        <p:nvSpPr>
          <p:cNvPr id="4" name="Tekstvak 5" descr="MVX23_Logo_Basislogo_Full_colour_Wit">
            <a:extLst>
              <a:ext uri="{FF2B5EF4-FFF2-40B4-BE49-F238E27FC236}">
                <a16:creationId xmlns:a16="http://schemas.microsoft.com/office/drawing/2014/main" id="{67B954A4-874E-FB87-B3AA-28314D73367B}"/>
              </a:ext>
            </a:extLst>
          </p:cNvPr>
          <p:cNvSpPr txBox="1"/>
          <p:nvPr/>
        </p:nvSpPr>
        <p:spPr>
          <a:xfrm>
            <a:off x="0" y="549004"/>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F04E5B"/>
                </a:solidFill>
                <a:latin typeface="Space Grotesk" pitchFamily="2" charset="0"/>
                <a:cs typeface="Space Grotesk" pitchFamily="2" charset="0"/>
              </a:rPr>
              <a:t>Subtitle - 25,5 pt </a:t>
            </a:r>
            <a:r>
              <a:rPr lang="en-US" sz="2100" b="1">
                <a:solidFill>
                  <a:srgbClr val="F59235"/>
                </a:solidFill>
                <a:latin typeface="Space Grotesk" pitchFamily="2" charset="0"/>
                <a:cs typeface="Space Grotesk" pitchFamily="2" charset="0"/>
              </a:rPr>
              <a:t>I “sub-subtitle – 21 pt”</a:t>
            </a:r>
            <a:endParaRPr lang="en-US" sz="2550" b="1">
              <a:solidFill>
                <a:srgbClr val="F04E5B"/>
              </a:solidFill>
              <a:latin typeface="Space Grotesk" pitchFamily="2" charset="0"/>
              <a:cs typeface="Space Grotesk" pitchFamily="2" charset="0"/>
            </a:endParaRPr>
          </a:p>
        </p:txBody>
      </p:sp>
      <p:sp>
        <p:nvSpPr>
          <p:cNvPr id="3" name="Tekstvak 1">
            <a:extLst>
              <a:ext uri="{FF2B5EF4-FFF2-40B4-BE49-F238E27FC236}">
                <a16:creationId xmlns:a16="http://schemas.microsoft.com/office/drawing/2014/main" id="{3D0112F2-25AF-F334-3418-5CC54AE9765A}"/>
              </a:ext>
            </a:extLst>
          </p:cNvPr>
          <p:cNvSpPr txBox="1"/>
          <p:nvPr/>
        </p:nvSpPr>
        <p:spPr>
          <a:xfrm>
            <a:off x="586520" y="1185638"/>
            <a:ext cx="6417141" cy="3404906"/>
          </a:xfrm>
          <a:prstGeom prst="rect">
            <a:avLst/>
          </a:prstGeom>
          <a:noFill/>
        </p:spPr>
        <p:txBody>
          <a:bodyPr wrap="none" rtlCol="0">
            <a:spAutoFit/>
          </a:bodyPr>
          <a:lstStyle/>
          <a:p>
            <a:r>
              <a:rPr lang="en-US" sz="1650" b="1">
                <a:solidFill>
                  <a:srgbClr val="0D006A"/>
                </a:solidFill>
                <a:latin typeface="Raleway" panose="020B0003030101060003" pitchFamily="34" charset="0"/>
              </a:rPr>
              <a:t>Main text for bullet points </a:t>
            </a:r>
            <a:r>
              <a:rPr lang="en-US" sz="1650">
                <a:solidFill>
                  <a:srgbClr val="0D006A"/>
                </a:solidFill>
                <a:latin typeface="Raleway" panose="020B0003030101060003" pitchFamily="34" charset="0"/>
              </a:rPr>
              <a:t>– 22-24 pt &amp; Bold</a:t>
            </a:r>
          </a:p>
          <a:p>
            <a:endParaRPr lang="en-US" sz="1800" b="1">
              <a:solidFill>
                <a:srgbClr val="3F0576"/>
              </a:solidFill>
              <a:latin typeface="Raleway" panose="020B0003030101060003" pitchFamily="34" charset="0"/>
            </a:endParaRPr>
          </a:p>
          <a:p>
            <a:r>
              <a:rPr lang="en-US" sz="1650" b="1">
                <a:solidFill>
                  <a:srgbClr val="F59235"/>
                </a:solidFill>
                <a:latin typeface="Raleway" panose="020B0003030101060003" pitchFamily="34" charset="0"/>
              </a:rPr>
              <a:t>Emphasize</a:t>
            </a:r>
            <a:r>
              <a:rPr lang="en-US" sz="1650" b="1">
                <a:solidFill>
                  <a:srgbClr val="3F0576"/>
                </a:solidFill>
                <a:latin typeface="Raleway" panose="020B0003030101060003" pitchFamily="34" charset="0"/>
              </a:rPr>
              <a:t> </a:t>
            </a:r>
            <a:r>
              <a:rPr lang="en-US" sz="1650" b="1">
                <a:solidFill>
                  <a:srgbClr val="0D006A"/>
                </a:solidFill>
                <a:latin typeface="Raleway" panose="020B0003030101060003" pitchFamily="34" charset="0"/>
              </a:rPr>
              <a:t>important words with </a:t>
            </a:r>
            <a:r>
              <a:rPr lang="en-US" sz="1650" b="1">
                <a:solidFill>
                  <a:srgbClr val="F59235"/>
                </a:solidFill>
                <a:latin typeface="Raleway" panose="020B0003030101060003" pitchFamily="34" charset="0"/>
              </a:rPr>
              <a:t>color</a:t>
            </a:r>
          </a:p>
          <a:p>
            <a:endParaRPr lang="en-US" sz="1650" b="1">
              <a:solidFill>
                <a:srgbClr val="3F0576"/>
              </a:solidFill>
              <a:latin typeface="Raleway" panose="020B0003030101060003" pitchFamily="34" charset="0"/>
            </a:endParaRPr>
          </a:p>
          <a:p>
            <a:r>
              <a:rPr lang="en-US" sz="1650" b="1">
                <a:solidFill>
                  <a:srgbClr val="0D006A"/>
                </a:solidFill>
                <a:latin typeface="Raleway" panose="020B0003030101060003" pitchFamily="34" charset="0"/>
              </a:rPr>
              <a:t>Use empty lines between points or increase line spacing </a:t>
            </a:r>
            <a:r>
              <a:rPr lang="en-US" sz="1650" b="1">
                <a:solidFill>
                  <a:srgbClr val="F59235"/>
                </a:solidFill>
                <a:latin typeface="Raleway" panose="020B0003030101060003" pitchFamily="34" charset="0"/>
              </a:rPr>
              <a:t>here</a:t>
            </a:r>
          </a:p>
          <a:p>
            <a:endParaRPr lang="en-US" sz="1650" b="1">
              <a:solidFill>
                <a:srgbClr val="3F0576"/>
              </a:solidFill>
              <a:latin typeface="Raleway" panose="020B0003030101060003" pitchFamily="34" charset="0"/>
            </a:endParaRPr>
          </a:p>
          <a:p>
            <a:r>
              <a:rPr lang="en-US" sz="1650" b="1">
                <a:solidFill>
                  <a:srgbClr val="0D006A"/>
                </a:solidFill>
                <a:latin typeface="Raleway" panose="020B0003030101060003" pitchFamily="34" charset="0"/>
              </a:rPr>
              <a:t>Don’t use the </a:t>
            </a:r>
            <a:r>
              <a:rPr lang="en-US" sz="1650" b="1">
                <a:solidFill>
                  <a:srgbClr val="F59235"/>
                </a:solidFill>
                <a:latin typeface="Raleway" panose="020B0003030101060003" pitchFamily="34" charset="0"/>
              </a:rPr>
              <a:t>• </a:t>
            </a:r>
            <a:r>
              <a:rPr lang="en-US" sz="1650" b="1">
                <a:solidFill>
                  <a:srgbClr val="0D006A"/>
                </a:solidFill>
                <a:latin typeface="Raleway" panose="020B0003030101060003" pitchFamily="34" charset="0"/>
              </a:rPr>
              <a:t>bullet points for main text</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Only for subtext – 20+ pt. regular</a:t>
            </a:r>
          </a:p>
          <a:p>
            <a:pPr marL="557213" lvl="1" indent="-214313">
              <a:buFont typeface="Arial" panose="020B0604020202020204" pitchFamily="34" charset="0"/>
              <a:buChar char="•"/>
            </a:pPr>
            <a:r>
              <a:rPr lang="en-US" sz="1013">
                <a:solidFill>
                  <a:srgbClr val="0D006A"/>
                </a:solidFill>
                <a:latin typeface="Raleway" panose="020B0003030101060003" pitchFamily="34" charset="0"/>
              </a:rPr>
              <a:t>For slides with a lot of text - 18 pt. is also fine</a:t>
            </a:r>
          </a:p>
          <a:p>
            <a:pPr marL="557213" lvl="1" indent="-214313">
              <a:buFont typeface="Arial" panose="020B0604020202020204" pitchFamily="34" charset="0"/>
              <a:buChar char="•"/>
            </a:pPr>
            <a:r>
              <a:rPr lang="en-US" sz="1013">
                <a:solidFill>
                  <a:srgbClr val="0D006A"/>
                </a:solidFill>
                <a:latin typeface="Raleway" panose="020B0003030101060003" pitchFamily="34" charset="0"/>
              </a:rPr>
              <a:t>Press </a:t>
            </a:r>
            <a:r>
              <a:rPr lang="en-US" sz="1013">
                <a:solidFill>
                  <a:srgbClr val="F59235"/>
                </a:solidFill>
                <a:latin typeface="Raleway" panose="020B0003030101060003" pitchFamily="34" charset="0"/>
              </a:rPr>
              <a:t>tab</a:t>
            </a:r>
            <a:r>
              <a:rPr lang="en-US" sz="1013">
                <a:solidFill>
                  <a:srgbClr val="3F0576"/>
                </a:solidFill>
                <a:latin typeface="Raleway" panose="020B0003030101060003" pitchFamily="34" charset="0"/>
              </a:rPr>
              <a:t> </a:t>
            </a:r>
            <a:r>
              <a:rPr lang="en-US" sz="1013">
                <a:solidFill>
                  <a:srgbClr val="0D006A"/>
                </a:solidFill>
                <a:latin typeface="Raleway" panose="020B0003030101060003" pitchFamily="34" charset="0"/>
              </a:rPr>
              <a:t>once for indentation</a:t>
            </a:r>
          </a:p>
          <a:p>
            <a:br>
              <a:rPr lang="en-US" sz="1650" b="1">
                <a:solidFill>
                  <a:srgbClr val="3F0576"/>
                </a:solidFill>
                <a:latin typeface="Raleway" panose="020B0003030101060003" pitchFamily="34" charset="0"/>
              </a:rPr>
            </a:br>
            <a:r>
              <a:rPr lang="en-US" sz="1650" b="1">
                <a:solidFill>
                  <a:srgbClr val="0D006A"/>
                </a:solidFill>
                <a:latin typeface="Raleway" panose="020B0003030101060003" pitchFamily="34" charset="0"/>
              </a:rPr>
              <a:t>Try to avoid using </a:t>
            </a:r>
            <a:r>
              <a:rPr lang="en-US" sz="1650" b="1">
                <a:solidFill>
                  <a:srgbClr val="F59235"/>
                </a:solidFill>
                <a:latin typeface="Raleway" panose="020B0003030101060003" pitchFamily="34" charset="0"/>
              </a:rPr>
              <a:t>/</a:t>
            </a:r>
            <a:r>
              <a:rPr lang="en-US" sz="1650" b="1">
                <a:solidFill>
                  <a:srgbClr val="3F0576"/>
                </a:solidFill>
                <a:latin typeface="Raleway" panose="020B0003030101060003" pitchFamily="34" charset="0"/>
              </a:rPr>
              <a:t> </a:t>
            </a:r>
            <a:r>
              <a:rPr lang="en-US" sz="1650" b="1">
                <a:solidFill>
                  <a:srgbClr val="0D006A"/>
                </a:solidFill>
                <a:latin typeface="Raleway" panose="020B0003030101060003" pitchFamily="34" charset="0"/>
              </a:rPr>
              <a:t>and</a:t>
            </a:r>
            <a:r>
              <a:rPr lang="en-US" sz="1650" b="1">
                <a:solidFill>
                  <a:srgbClr val="3F0576"/>
                </a:solidFill>
                <a:latin typeface="Raleway" panose="020B0003030101060003" pitchFamily="34" charset="0"/>
              </a:rPr>
              <a:t> </a:t>
            </a:r>
            <a:r>
              <a:rPr lang="en-US" sz="1650" b="1">
                <a:solidFill>
                  <a:srgbClr val="F59235"/>
                </a:solidFill>
                <a:latin typeface="Raleway" panose="020B0003030101060003" pitchFamily="34" charset="0"/>
              </a:rPr>
              <a:t>, </a:t>
            </a:r>
            <a:r>
              <a:rPr lang="en-US" sz="1650" b="1">
                <a:solidFill>
                  <a:srgbClr val="0D006A"/>
                </a:solidFill>
                <a:latin typeface="Raleway" panose="020B0003030101060003" pitchFamily="34" charset="0"/>
              </a:rPr>
              <a:t>in texts</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Commas are fine in some cases </a:t>
            </a:r>
            <a:r>
              <a:rPr lang="en-US" sz="1500" i="1">
                <a:solidFill>
                  <a:srgbClr val="0D006A"/>
                </a:solidFill>
                <a:latin typeface="Raleway" panose="020B0003030101060003" pitchFamily="34" charset="0"/>
              </a:rPr>
              <a:t>– but this is better</a:t>
            </a:r>
          </a:p>
          <a:p>
            <a:pPr marL="557213" lvl="1" indent="-214313">
              <a:buFont typeface="Arial" panose="020B0604020202020204" pitchFamily="34" charset="0"/>
              <a:buChar char="•"/>
            </a:pPr>
            <a:r>
              <a:rPr lang="en-US" sz="1500">
                <a:solidFill>
                  <a:srgbClr val="0D006A"/>
                </a:solidFill>
                <a:latin typeface="Raleway" panose="020B0003030101060003" pitchFamily="34" charset="0"/>
              </a:rPr>
              <a:t>Replace left/right with left or right </a:t>
            </a:r>
            <a:r>
              <a:rPr lang="en-US" sz="1500" i="1">
                <a:solidFill>
                  <a:srgbClr val="0D006A"/>
                </a:solidFill>
                <a:latin typeface="Raleway" panose="020B0003030101060003" pitchFamily="34" charset="0"/>
              </a:rPr>
              <a:t>– or left &amp; right</a:t>
            </a:r>
          </a:p>
        </p:txBody>
      </p:sp>
      <p:grpSp>
        <p:nvGrpSpPr>
          <p:cNvPr id="33" name="Groep 6">
            <a:extLst>
              <a:ext uri="{FF2B5EF4-FFF2-40B4-BE49-F238E27FC236}">
                <a16:creationId xmlns:a16="http://schemas.microsoft.com/office/drawing/2014/main" id="{75D6BB25-ED38-17C2-CCCE-896BBF1B9F1C}"/>
              </a:ext>
            </a:extLst>
          </p:cNvPr>
          <p:cNvGrpSpPr/>
          <p:nvPr/>
        </p:nvGrpSpPr>
        <p:grpSpPr>
          <a:xfrm>
            <a:off x="6748631" y="2667000"/>
            <a:ext cx="1503905" cy="577081"/>
            <a:chOff x="7042484" y="3162300"/>
            <a:chExt cx="1638300" cy="628651"/>
          </a:xfrm>
        </p:grpSpPr>
        <p:pic>
          <p:nvPicPr>
            <p:cNvPr id="34" name="Afbeelding 3">
              <a:extLst>
                <a:ext uri="{FF2B5EF4-FFF2-40B4-BE49-F238E27FC236}">
                  <a16:creationId xmlns:a16="http://schemas.microsoft.com/office/drawing/2014/main" id="{C819A5EE-1B50-944D-4E66-DA3DE0A3C99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42484" y="3162301"/>
              <a:ext cx="1638300" cy="628650"/>
            </a:xfrm>
            <a:prstGeom prst="rect">
              <a:avLst/>
            </a:prstGeom>
          </p:spPr>
        </p:pic>
        <p:sp>
          <p:nvSpPr>
            <p:cNvPr id="35" name="Rechthoek 4">
              <a:extLst>
                <a:ext uri="{FF2B5EF4-FFF2-40B4-BE49-F238E27FC236}">
                  <a16:creationId xmlns:a16="http://schemas.microsoft.com/office/drawing/2014/main" id="{57D5D3C0-595F-5493-40FF-E60E7FE8A677}"/>
                </a:ext>
              </a:extLst>
            </p:cNvPr>
            <p:cNvSpPr/>
            <p:nvPr/>
          </p:nvSpPr>
          <p:spPr bwMode="auto">
            <a:xfrm>
              <a:off x="8353425" y="3162300"/>
              <a:ext cx="327359" cy="314325"/>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Tree>
    <p:extLst>
      <p:ext uri="{BB962C8B-B14F-4D97-AF65-F5344CB8AC3E}">
        <p14:creationId xmlns:p14="http://schemas.microsoft.com/office/powerpoint/2010/main" val="964063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BF47-BC4A-2230-D73C-0DAB8EECD962}"/>
            </a:ext>
          </a:extLst>
        </p:cNvPr>
        <p:cNvGrpSpPr/>
        <p:nvPr/>
      </p:nvGrpSpPr>
      <p:grpSpPr>
        <a:xfrm>
          <a:off x="0" y="0"/>
          <a:ext cx="0" cy="0"/>
          <a:chOff x="0" y="0"/>
          <a:chExt cx="0" cy="0"/>
        </a:xfrm>
      </p:grpSpPr>
      <p:grpSp>
        <p:nvGrpSpPr>
          <p:cNvPr id="91" name="Group 90">
            <a:extLst>
              <a:ext uri="{FF2B5EF4-FFF2-40B4-BE49-F238E27FC236}">
                <a16:creationId xmlns:a16="http://schemas.microsoft.com/office/drawing/2014/main" id="{13D3FF03-E0CC-1DEE-2EBD-6F30361FC095}"/>
              </a:ext>
            </a:extLst>
          </p:cNvPr>
          <p:cNvGrpSpPr/>
          <p:nvPr/>
        </p:nvGrpSpPr>
        <p:grpSpPr>
          <a:xfrm>
            <a:off x="290444" y="1205301"/>
            <a:ext cx="1348353" cy="750787"/>
            <a:chOff x="292608" y="658368"/>
            <a:chExt cx="1609344" cy="896112"/>
          </a:xfrm>
        </p:grpSpPr>
        <p:sp>
          <p:nvSpPr>
            <p:cNvPr id="4" name="Shape 1">
              <a:extLst>
                <a:ext uri="{FF2B5EF4-FFF2-40B4-BE49-F238E27FC236}">
                  <a16:creationId xmlns:a16="http://schemas.microsoft.com/office/drawing/2014/main" id="{FCC1CB02-E919-F170-7075-7551F3980318}"/>
                </a:ext>
              </a:extLst>
            </p:cNvPr>
            <p:cNvSpPr/>
            <p:nvPr/>
          </p:nvSpPr>
          <p:spPr>
            <a:xfrm>
              <a:off x="292608" y="658368"/>
              <a:ext cx="1609344" cy="566928"/>
            </a:xfrm>
            <a:prstGeom prst="roundRect">
              <a:avLst>
                <a:gd name="adj" fmla="val 9677"/>
              </a:avLst>
            </a:prstGeom>
            <a:solidFill>
              <a:srgbClr val="0D006A"/>
            </a:solidFill>
            <a:ln w="12700">
              <a:solidFill>
                <a:srgbClr val="0D006A"/>
              </a:solidFill>
              <a:prstDash val="solid"/>
            </a:ln>
            <a:effectLst>
              <a:outerShdw blurRad="101600" dist="25400" dir="8100000" algn="bl" rotWithShape="0">
                <a:srgbClr val="000000">
                  <a:alpha val="12000"/>
                </a:srgbClr>
              </a:outerShdw>
            </a:effectLst>
          </p:spPr>
          <p:txBody>
            <a:bodyPr/>
            <a:lstStyle/>
            <a:p>
              <a:endParaRPr lang="en-NL" sz="1600"/>
            </a:p>
          </p:txBody>
        </p:sp>
        <p:sp>
          <p:nvSpPr>
            <p:cNvPr id="5" name="Text 2">
              <a:extLst>
                <a:ext uri="{FF2B5EF4-FFF2-40B4-BE49-F238E27FC236}">
                  <a16:creationId xmlns:a16="http://schemas.microsoft.com/office/drawing/2014/main" id="{72C682DE-D60B-C65D-877B-57FCDC909A08}"/>
                </a:ext>
              </a:extLst>
            </p:cNvPr>
            <p:cNvSpPr/>
            <p:nvPr/>
          </p:nvSpPr>
          <p:spPr>
            <a:xfrm>
              <a:off x="292608"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#0D006A</a:t>
              </a:r>
              <a:endParaRPr lang="en-US" sz="800"/>
            </a:p>
          </p:txBody>
        </p:sp>
        <p:sp>
          <p:nvSpPr>
            <p:cNvPr id="6" name="Text 3">
              <a:extLst>
                <a:ext uri="{FF2B5EF4-FFF2-40B4-BE49-F238E27FC236}">
                  <a16:creationId xmlns:a16="http://schemas.microsoft.com/office/drawing/2014/main" id="{8E6C757F-B808-078B-6D1B-FFA51B833718}"/>
                </a:ext>
              </a:extLst>
            </p:cNvPr>
            <p:cNvSpPr/>
            <p:nvPr/>
          </p:nvSpPr>
          <p:spPr>
            <a:xfrm>
              <a:off x="292608"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Primary Dark</a:t>
              </a:r>
              <a:endParaRPr lang="en-US" sz="800">
                <a:solidFill>
                  <a:srgbClr val="0D006A"/>
                </a:solidFill>
              </a:endParaRPr>
            </a:p>
          </p:txBody>
        </p:sp>
        <p:sp>
          <p:nvSpPr>
            <p:cNvPr id="7" name="Text 4">
              <a:extLst>
                <a:ext uri="{FF2B5EF4-FFF2-40B4-BE49-F238E27FC236}">
                  <a16:creationId xmlns:a16="http://schemas.microsoft.com/office/drawing/2014/main" id="{80425F0C-00FF-25D7-7ACA-EFA8C6AF1213}"/>
                </a:ext>
              </a:extLst>
            </p:cNvPr>
            <p:cNvSpPr/>
            <p:nvPr/>
          </p:nvSpPr>
          <p:spPr>
            <a:xfrm>
              <a:off x="292608"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Titles &amp; body text</a:t>
              </a:r>
              <a:endParaRPr lang="en-US" sz="600"/>
            </a:p>
          </p:txBody>
        </p:sp>
      </p:grpSp>
      <p:grpSp>
        <p:nvGrpSpPr>
          <p:cNvPr id="90" name="Group 89">
            <a:extLst>
              <a:ext uri="{FF2B5EF4-FFF2-40B4-BE49-F238E27FC236}">
                <a16:creationId xmlns:a16="http://schemas.microsoft.com/office/drawing/2014/main" id="{0D216E46-225A-E098-840D-1FB57B87A25B}"/>
              </a:ext>
            </a:extLst>
          </p:cNvPr>
          <p:cNvGrpSpPr/>
          <p:nvPr/>
        </p:nvGrpSpPr>
        <p:grpSpPr>
          <a:xfrm>
            <a:off x="3176608" y="1208169"/>
            <a:ext cx="1348353" cy="750787"/>
            <a:chOff x="2011680" y="658368"/>
            <a:chExt cx="1609344" cy="896112"/>
          </a:xfrm>
        </p:grpSpPr>
        <p:sp>
          <p:nvSpPr>
            <p:cNvPr id="8" name="Shape 5">
              <a:extLst>
                <a:ext uri="{FF2B5EF4-FFF2-40B4-BE49-F238E27FC236}">
                  <a16:creationId xmlns:a16="http://schemas.microsoft.com/office/drawing/2014/main" id="{0ED081E9-C205-BFE6-DF7B-001C4354D9AC}"/>
                </a:ext>
              </a:extLst>
            </p:cNvPr>
            <p:cNvSpPr/>
            <p:nvPr/>
          </p:nvSpPr>
          <p:spPr>
            <a:xfrm>
              <a:off x="2011680" y="658368"/>
              <a:ext cx="1609344" cy="566928"/>
            </a:xfrm>
            <a:prstGeom prst="roundRect">
              <a:avLst>
                <a:gd name="adj" fmla="val 9677"/>
              </a:avLst>
            </a:prstGeom>
            <a:solidFill>
              <a:srgbClr val="3F0576"/>
            </a:solidFill>
            <a:ln w="12700">
              <a:solidFill>
                <a:srgbClr val="3F0576"/>
              </a:solidFill>
              <a:prstDash val="solid"/>
            </a:ln>
            <a:effectLst>
              <a:outerShdw blurRad="101600" dist="25400" dir="8100000" algn="bl" rotWithShape="0">
                <a:srgbClr val="000000">
                  <a:alpha val="12000"/>
                </a:srgbClr>
              </a:outerShdw>
            </a:effectLst>
          </p:spPr>
          <p:txBody>
            <a:bodyPr/>
            <a:lstStyle/>
            <a:p>
              <a:endParaRPr lang="en-NL" sz="1600"/>
            </a:p>
          </p:txBody>
        </p:sp>
        <p:sp>
          <p:nvSpPr>
            <p:cNvPr id="9" name="Text 6">
              <a:extLst>
                <a:ext uri="{FF2B5EF4-FFF2-40B4-BE49-F238E27FC236}">
                  <a16:creationId xmlns:a16="http://schemas.microsoft.com/office/drawing/2014/main" id="{8F08E46A-BBB3-CA13-590E-6B3DFCF0D3FB}"/>
                </a:ext>
              </a:extLst>
            </p:cNvPr>
            <p:cNvSpPr/>
            <p:nvPr/>
          </p:nvSpPr>
          <p:spPr>
            <a:xfrm>
              <a:off x="2011680"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#3F0576</a:t>
              </a:r>
              <a:endParaRPr lang="en-US" sz="800"/>
            </a:p>
          </p:txBody>
        </p:sp>
        <p:sp>
          <p:nvSpPr>
            <p:cNvPr id="10" name="Text 7">
              <a:extLst>
                <a:ext uri="{FF2B5EF4-FFF2-40B4-BE49-F238E27FC236}">
                  <a16:creationId xmlns:a16="http://schemas.microsoft.com/office/drawing/2014/main" id="{7D2F2A96-17B9-EF3A-D22E-62F18CBD00BA}"/>
                </a:ext>
              </a:extLst>
            </p:cNvPr>
            <p:cNvSpPr/>
            <p:nvPr/>
          </p:nvSpPr>
          <p:spPr>
            <a:xfrm>
              <a:off x="2011680"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Deep Purple</a:t>
              </a:r>
              <a:endParaRPr lang="en-US" sz="800">
                <a:solidFill>
                  <a:srgbClr val="0D006A"/>
                </a:solidFill>
              </a:endParaRPr>
            </a:p>
          </p:txBody>
        </p:sp>
        <p:sp>
          <p:nvSpPr>
            <p:cNvPr id="11" name="Text 8">
              <a:extLst>
                <a:ext uri="{FF2B5EF4-FFF2-40B4-BE49-F238E27FC236}">
                  <a16:creationId xmlns:a16="http://schemas.microsoft.com/office/drawing/2014/main" id="{E1DFD12D-F18A-7AB0-CF87-F901747A71A0}"/>
                </a:ext>
              </a:extLst>
            </p:cNvPr>
            <p:cNvSpPr/>
            <p:nvPr/>
          </p:nvSpPr>
          <p:spPr>
            <a:xfrm>
              <a:off x="2011680"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Section headers, borders</a:t>
              </a:r>
              <a:endParaRPr lang="en-US" sz="600"/>
            </a:p>
          </p:txBody>
        </p:sp>
      </p:grpSp>
      <p:grpSp>
        <p:nvGrpSpPr>
          <p:cNvPr id="88" name="Group 87">
            <a:extLst>
              <a:ext uri="{FF2B5EF4-FFF2-40B4-BE49-F238E27FC236}">
                <a16:creationId xmlns:a16="http://schemas.microsoft.com/office/drawing/2014/main" id="{2609B076-78EB-8805-1CFC-62DE379B83C0}"/>
              </a:ext>
            </a:extLst>
          </p:cNvPr>
          <p:cNvGrpSpPr/>
          <p:nvPr/>
        </p:nvGrpSpPr>
        <p:grpSpPr>
          <a:xfrm>
            <a:off x="4611301" y="1205301"/>
            <a:ext cx="1348353" cy="750787"/>
            <a:chOff x="5449824" y="658368"/>
            <a:chExt cx="1609344" cy="896112"/>
          </a:xfrm>
        </p:grpSpPr>
        <p:sp>
          <p:nvSpPr>
            <p:cNvPr id="16" name="Shape 13">
              <a:extLst>
                <a:ext uri="{FF2B5EF4-FFF2-40B4-BE49-F238E27FC236}">
                  <a16:creationId xmlns:a16="http://schemas.microsoft.com/office/drawing/2014/main" id="{4B9B8E06-936F-98E3-8B58-10713B366EBF}"/>
                </a:ext>
              </a:extLst>
            </p:cNvPr>
            <p:cNvSpPr/>
            <p:nvPr/>
          </p:nvSpPr>
          <p:spPr>
            <a:xfrm>
              <a:off x="5449824" y="658368"/>
              <a:ext cx="1609344" cy="566928"/>
            </a:xfrm>
            <a:prstGeom prst="roundRect">
              <a:avLst>
                <a:gd name="adj" fmla="val 9677"/>
              </a:avLst>
            </a:prstGeom>
            <a:solidFill>
              <a:srgbClr val="EF4453"/>
            </a:solidFill>
            <a:ln w="12700">
              <a:solidFill>
                <a:srgbClr val="EF4453"/>
              </a:solidFill>
              <a:prstDash val="solid"/>
            </a:ln>
            <a:effectLst>
              <a:outerShdw blurRad="101600" dist="25400" dir="8100000" algn="bl" rotWithShape="0">
                <a:srgbClr val="000000">
                  <a:alpha val="12000"/>
                </a:srgbClr>
              </a:outerShdw>
            </a:effectLst>
          </p:spPr>
          <p:txBody>
            <a:bodyPr/>
            <a:lstStyle/>
            <a:p>
              <a:endParaRPr lang="en-NL" sz="1600"/>
            </a:p>
          </p:txBody>
        </p:sp>
        <p:sp>
          <p:nvSpPr>
            <p:cNvPr id="17" name="Text 14">
              <a:extLst>
                <a:ext uri="{FF2B5EF4-FFF2-40B4-BE49-F238E27FC236}">
                  <a16:creationId xmlns:a16="http://schemas.microsoft.com/office/drawing/2014/main" id="{3D39123F-1BC1-F158-2DD9-79014332CED1}"/>
                </a:ext>
              </a:extLst>
            </p:cNvPr>
            <p:cNvSpPr/>
            <p:nvPr/>
          </p:nvSpPr>
          <p:spPr>
            <a:xfrm>
              <a:off x="5449824"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#EF4453</a:t>
              </a:r>
              <a:endParaRPr lang="en-US" sz="800"/>
            </a:p>
          </p:txBody>
        </p:sp>
        <p:sp>
          <p:nvSpPr>
            <p:cNvPr id="18" name="Text 15">
              <a:extLst>
                <a:ext uri="{FF2B5EF4-FFF2-40B4-BE49-F238E27FC236}">
                  <a16:creationId xmlns:a16="http://schemas.microsoft.com/office/drawing/2014/main" id="{9488E43F-B9F8-85D2-A38E-9DC43D6C4643}"/>
                </a:ext>
              </a:extLst>
            </p:cNvPr>
            <p:cNvSpPr/>
            <p:nvPr/>
          </p:nvSpPr>
          <p:spPr>
            <a:xfrm>
              <a:off x="5449824"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Red</a:t>
              </a:r>
              <a:endParaRPr lang="en-US" sz="800">
                <a:solidFill>
                  <a:srgbClr val="0D006A"/>
                </a:solidFill>
              </a:endParaRPr>
            </a:p>
          </p:txBody>
        </p:sp>
        <p:sp>
          <p:nvSpPr>
            <p:cNvPr id="19" name="Text 16">
              <a:extLst>
                <a:ext uri="{FF2B5EF4-FFF2-40B4-BE49-F238E27FC236}">
                  <a16:creationId xmlns:a16="http://schemas.microsoft.com/office/drawing/2014/main" id="{39AAF9E7-4A48-0099-827F-990611764D20}"/>
                </a:ext>
              </a:extLst>
            </p:cNvPr>
            <p:cNvSpPr/>
            <p:nvPr/>
          </p:nvSpPr>
          <p:spPr>
            <a:xfrm>
              <a:off x="5449824"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Secondary accent</a:t>
              </a:r>
              <a:endParaRPr lang="en-US" sz="600"/>
            </a:p>
          </p:txBody>
        </p:sp>
      </p:grpSp>
      <p:grpSp>
        <p:nvGrpSpPr>
          <p:cNvPr id="87" name="Group 86">
            <a:extLst>
              <a:ext uri="{FF2B5EF4-FFF2-40B4-BE49-F238E27FC236}">
                <a16:creationId xmlns:a16="http://schemas.microsoft.com/office/drawing/2014/main" id="{AB300ABB-7BFF-2E40-AF2C-7197EDE200CD}"/>
              </a:ext>
            </a:extLst>
          </p:cNvPr>
          <p:cNvGrpSpPr/>
          <p:nvPr/>
        </p:nvGrpSpPr>
        <p:grpSpPr>
          <a:xfrm>
            <a:off x="6051587" y="1205301"/>
            <a:ext cx="1348353" cy="750787"/>
            <a:chOff x="7168896" y="658368"/>
            <a:chExt cx="1609344" cy="896112"/>
          </a:xfrm>
        </p:grpSpPr>
        <p:sp>
          <p:nvSpPr>
            <p:cNvPr id="20" name="Shape 17">
              <a:extLst>
                <a:ext uri="{FF2B5EF4-FFF2-40B4-BE49-F238E27FC236}">
                  <a16:creationId xmlns:a16="http://schemas.microsoft.com/office/drawing/2014/main" id="{E695F0DC-D4B4-A26A-C2B2-647BA50488B0}"/>
                </a:ext>
              </a:extLst>
            </p:cNvPr>
            <p:cNvSpPr/>
            <p:nvPr/>
          </p:nvSpPr>
          <p:spPr>
            <a:xfrm>
              <a:off x="7168896" y="658368"/>
              <a:ext cx="1609344" cy="566928"/>
            </a:xfrm>
            <a:prstGeom prst="roundRect">
              <a:avLst>
                <a:gd name="adj" fmla="val 9677"/>
              </a:avLst>
            </a:prstGeom>
            <a:solidFill>
              <a:srgbClr val="F48A28"/>
            </a:solidFill>
            <a:ln w="12700">
              <a:solidFill>
                <a:srgbClr val="F48A28"/>
              </a:solidFill>
              <a:prstDash val="solid"/>
            </a:ln>
            <a:effectLst>
              <a:outerShdw blurRad="101600" dist="25400" dir="8100000" algn="bl" rotWithShape="0">
                <a:srgbClr val="000000">
                  <a:alpha val="12000"/>
                </a:srgbClr>
              </a:outerShdw>
            </a:effectLst>
          </p:spPr>
          <p:txBody>
            <a:bodyPr/>
            <a:lstStyle/>
            <a:p>
              <a:endParaRPr lang="en-NL" sz="1600"/>
            </a:p>
          </p:txBody>
        </p:sp>
        <p:sp>
          <p:nvSpPr>
            <p:cNvPr id="21" name="Text 18">
              <a:extLst>
                <a:ext uri="{FF2B5EF4-FFF2-40B4-BE49-F238E27FC236}">
                  <a16:creationId xmlns:a16="http://schemas.microsoft.com/office/drawing/2014/main" id="{093C6B36-CA20-2F5E-1B3C-8C17D16B90C7}"/>
                </a:ext>
              </a:extLst>
            </p:cNvPr>
            <p:cNvSpPr/>
            <p:nvPr/>
          </p:nvSpPr>
          <p:spPr>
            <a:xfrm>
              <a:off x="7168896" y="694944"/>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#F48A28</a:t>
              </a:r>
              <a:endParaRPr lang="en-US" sz="800"/>
            </a:p>
          </p:txBody>
        </p:sp>
        <p:sp>
          <p:nvSpPr>
            <p:cNvPr id="22" name="Text 19">
              <a:extLst>
                <a:ext uri="{FF2B5EF4-FFF2-40B4-BE49-F238E27FC236}">
                  <a16:creationId xmlns:a16="http://schemas.microsoft.com/office/drawing/2014/main" id="{320978E5-4C84-C649-BD1C-34D386EE004F}"/>
                </a:ext>
              </a:extLst>
            </p:cNvPr>
            <p:cNvSpPr/>
            <p:nvPr/>
          </p:nvSpPr>
          <p:spPr>
            <a:xfrm>
              <a:off x="7168896" y="1261872"/>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a:t>
              </a:r>
              <a:endParaRPr lang="en-US" sz="800">
                <a:solidFill>
                  <a:srgbClr val="0D006A"/>
                </a:solidFill>
              </a:endParaRPr>
            </a:p>
          </p:txBody>
        </p:sp>
        <p:sp>
          <p:nvSpPr>
            <p:cNvPr id="23" name="Text 20">
              <a:extLst>
                <a:ext uri="{FF2B5EF4-FFF2-40B4-BE49-F238E27FC236}">
                  <a16:creationId xmlns:a16="http://schemas.microsoft.com/office/drawing/2014/main" id="{514A3763-A368-EA2F-5DB4-D2B3F8C8E239}"/>
                </a:ext>
              </a:extLst>
            </p:cNvPr>
            <p:cNvSpPr/>
            <p:nvPr/>
          </p:nvSpPr>
          <p:spPr>
            <a:xfrm>
              <a:off x="7168896" y="1408176"/>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CTA, inline highlights</a:t>
              </a:r>
              <a:endParaRPr lang="en-US" sz="600"/>
            </a:p>
          </p:txBody>
        </p:sp>
      </p:grpSp>
      <p:grpSp>
        <p:nvGrpSpPr>
          <p:cNvPr id="92" name="Group 91">
            <a:extLst>
              <a:ext uri="{FF2B5EF4-FFF2-40B4-BE49-F238E27FC236}">
                <a16:creationId xmlns:a16="http://schemas.microsoft.com/office/drawing/2014/main" id="{94BD660F-F56A-E6CA-617B-D1A62CC27669}"/>
              </a:ext>
            </a:extLst>
          </p:cNvPr>
          <p:cNvGrpSpPr/>
          <p:nvPr/>
        </p:nvGrpSpPr>
        <p:grpSpPr>
          <a:xfrm>
            <a:off x="3148640" y="2308499"/>
            <a:ext cx="1348353" cy="750787"/>
            <a:chOff x="292608" y="1975104"/>
            <a:chExt cx="1609344" cy="896112"/>
          </a:xfrm>
        </p:grpSpPr>
        <p:sp>
          <p:nvSpPr>
            <p:cNvPr id="24" name="Shape 21">
              <a:extLst>
                <a:ext uri="{FF2B5EF4-FFF2-40B4-BE49-F238E27FC236}">
                  <a16:creationId xmlns:a16="http://schemas.microsoft.com/office/drawing/2014/main" id="{7C9B982B-E79F-01E8-9134-A62A2FAE9350}"/>
                </a:ext>
              </a:extLst>
            </p:cNvPr>
            <p:cNvSpPr/>
            <p:nvPr/>
          </p:nvSpPr>
          <p:spPr>
            <a:xfrm>
              <a:off x="292608" y="1975104"/>
              <a:ext cx="1609344" cy="566928"/>
            </a:xfrm>
            <a:prstGeom prst="roundRect">
              <a:avLst>
                <a:gd name="adj" fmla="val 9677"/>
              </a:avLst>
            </a:prstGeom>
            <a:solidFill>
              <a:srgbClr val="BCB3FF"/>
            </a:solidFill>
            <a:ln w="12700">
              <a:solidFill>
                <a:srgbClr val="BCB3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25" name="Text 22">
              <a:extLst>
                <a:ext uri="{FF2B5EF4-FFF2-40B4-BE49-F238E27FC236}">
                  <a16:creationId xmlns:a16="http://schemas.microsoft.com/office/drawing/2014/main" id="{902838EB-97C1-CCC2-8DB1-743D21615A32}"/>
                </a:ext>
              </a:extLst>
            </p:cNvPr>
            <p:cNvSpPr/>
            <p:nvPr/>
          </p:nvSpPr>
          <p:spPr>
            <a:xfrm>
              <a:off x="292608"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#BCB3FF</a:t>
              </a:r>
              <a:endParaRPr lang="en-US" sz="800"/>
            </a:p>
          </p:txBody>
        </p:sp>
        <p:sp>
          <p:nvSpPr>
            <p:cNvPr id="26" name="Text 23">
              <a:extLst>
                <a:ext uri="{FF2B5EF4-FFF2-40B4-BE49-F238E27FC236}">
                  <a16:creationId xmlns:a16="http://schemas.microsoft.com/office/drawing/2014/main" id="{3863D9C6-C87B-2A3F-922F-388E1AE8011C}"/>
                </a:ext>
              </a:extLst>
            </p:cNvPr>
            <p:cNvSpPr/>
            <p:nvPr/>
          </p:nvSpPr>
          <p:spPr>
            <a:xfrm>
              <a:off x="292608"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Lavender Tint</a:t>
              </a:r>
              <a:endParaRPr lang="en-US" sz="800"/>
            </a:p>
          </p:txBody>
        </p:sp>
        <p:sp>
          <p:nvSpPr>
            <p:cNvPr id="27" name="Text 24">
              <a:extLst>
                <a:ext uri="{FF2B5EF4-FFF2-40B4-BE49-F238E27FC236}">
                  <a16:creationId xmlns:a16="http://schemas.microsoft.com/office/drawing/2014/main" id="{830AF4FC-CD63-ABF4-4E69-9E6413F54C69}"/>
                </a:ext>
              </a:extLst>
            </p:cNvPr>
            <p:cNvSpPr/>
            <p:nvPr/>
          </p:nvSpPr>
          <p:spPr>
            <a:xfrm>
              <a:off x="292608"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Card backgrounds</a:t>
              </a:r>
              <a:endParaRPr lang="en-US" sz="600"/>
            </a:p>
          </p:txBody>
        </p:sp>
      </p:grpSp>
      <p:grpSp>
        <p:nvGrpSpPr>
          <p:cNvPr id="76" name="Group 75">
            <a:extLst>
              <a:ext uri="{FF2B5EF4-FFF2-40B4-BE49-F238E27FC236}">
                <a16:creationId xmlns:a16="http://schemas.microsoft.com/office/drawing/2014/main" id="{804EBC86-C147-AB80-F8AA-66FA7C3A5988}"/>
              </a:ext>
            </a:extLst>
          </p:cNvPr>
          <p:cNvGrpSpPr/>
          <p:nvPr/>
        </p:nvGrpSpPr>
        <p:grpSpPr>
          <a:xfrm>
            <a:off x="4600114" y="2308499"/>
            <a:ext cx="1348353" cy="750787"/>
            <a:chOff x="3730752" y="1975104"/>
            <a:chExt cx="1609344" cy="896112"/>
          </a:xfrm>
        </p:grpSpPr>
        <p:sp>
          <p:nvSpPr>
            <p:cNvPr id="32" name="Shape 29">
              <a:extLst>
                <a:ext uri="{FF2B5EF4-FFF2-40B4-BE49-F238E27FC236}">
                  <a16:creationId xmlns:a16="http://schemas.microsoft.com/office/drawing/2014/main" id="{7DCAB60C-F9F9-8F09-6077-34EC514DBA53}"/>
                </a:ext>
              </a:extLst>
            </p:cNvPr>
            <p:cNvSpPr/>
            <p:nvPr/>
          </p:nvSpPr>
          <p:spPr>
            <a:xfrm>
              <a:off x="3730752" y="1975104"/>
              <a:ext cx="1609344" cy="566928"/>
            </a:xfrm>
            <a:prstGeom prst="roundRect">
              <a:avLst>
                <a:gd name="adj" fmla="val 9677"/>
              </a:avLst>
            </a:prstGeom>
            <a:solidFill>
              <a:srgbClr val="F7B8C0"/>
            </a:solidFill>
            <a:ln w="12700">
              <a:solidFill>
                <a:srgbClr val="F7B8C0"/>
              </a:solidFill>
              <a:prstDash val="solid"/>
            </a:ln>
            <a:effectLst>
              <a:outerShdw blurRad="101600" dist="25400" dir="8100000" algn="bl" rotWithShape="0">
                <a:srgbClr val="000000">
                  <a:alpha val="12000"/>
                </a:srgbClr>
              </a:outerShdw>
            </a:effectLst>
          </p:spPr>
          <p:txBody>
            <a:bodyPr/>
            <a:lstStyle/>
            <a:p>
              <a:endParaRPr lang="en-NL" sz="1600"/>
            </a:p>
          </p:txBody>
        </p:sp>
        <p:sp>
          <p:nvSpPr>
            <p:cNvPr id="33" name="Text 30">
              <a:extLst>
                <a:ext uri="{FF2B5EF4-FFF2-40B4-BE49-F238E27FC236}">
                  <a16:creationId xmlns:a16="http://schemas.microsoft.com/office/drawing/2014/main" id="{F21E105F-831C-1991-14B6-ED5776F83D60}"/>
                </a:ext>
              </a:extLst>
            </p:cNvPr>
            <p:cNvSpPr/>
            <p:nvPr/>
          </p:nvSpPr>
          <p:spPr>
            <a:xfrm>
              <a:off x="3730752"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#F7B8C0</a:t>
              </a:r>
              <a:endParaRPr lang="en-US" sz="800"/>
            </a:p>
          </p:txBody>
        </p:sp>
        <p:sp>
          <p:nvSpPr>
            <p:cNvPr id="34" name="Text 31">
              <a:extLst>
                <a:ext uri="{FF2B5EF4-FFF2-40B4-BE49-F238E27FC236}">
                  <a16:creationId xmlns:a16="http://schemas.microsoft.com/office/drawing/2014/main" id="{26107B2F-F597-73DE-7D81-1634F14D4E15}"/>
                </a:ext>
              </a:extLst>
            </p:cNvPr>
            <p:cNvSpPr/>
            <p:nvPr/>
          </p:nvSpPr>
          <p:spPr>
            <a:xfrm>
              <a:off x="3730752"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Tint</a:t>
              </a:r>
              <a:endParaRPr lang="en-US" sz="800">
                <a:solidFill>
                  <a:srgbClr val="0D006A"/>
                </a:solidFill>
              </a:endParaRPr>
            </a:p>
          </p:txBody>
        </p:sp>
        <p:sp>
          <p:nvSpPr>
            <p:cNvPr id="35" name="Text 32">
              <a:extLst>
                <a:ext uri="{FF2B5EF4-FFF2-40B4-BE49-F238E27FC236}">
                  <a16:creationId xmlns:a16="http://schemas.microsoft.com/office/drawing/2014/main" id="{18271F0E-F23F-DE77-F94A-1F9B23EC10CF}"/>
                </a:ext>
              </a:extLst>
            </p:cNvPr>
            <p:cNvSpPr/>
            <p:nvPr/>
          </p:nvSpPr>
          <p:spPr>
            <a:xfrm>
              <a:off x="3730752"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Rose</a:t>
              </a:r>
              <a:endParaRPr lang="en-US" sz="600"/>
            </a:p>
          </p:txBody>
        </p:sp>
      </p:grpSp>
      <p:grpSp>
        <p:nvGrpSpPr>
          <p:cNvPr id="70" name="Group 69">
            <a:extLst>
              <a:ext uri="{FF2B5EF4-FFF2-40B4-BE49-F238E27FC236}">
                <a16:creationId xmlns:a16="http://schemas.microsoft.com/office/drawing/2014/main" id="{32FC4129-752B-2FE0-81BC-4AE4A757BB90}"/>
              </a:ext>
            </a:extLst>
          </p:cNvPr>
          <p:cNvGrpSpPr/>
          <p:nvPr/>
        </p:nvGrpSpPr>
        <p:grpSpPr>
          <a:xfrm>
            <a:off x="6051587" y="2304577"/>
            <a:ext cx="1348353" cy="750787"/>
            <a:chOff x="5449824" y="1975104"/>
            <a:chExt cx="1609344" cy="896112"/>
          </a:xfrm>
        </p:grpSpPr>
        <p:sp>
          <p:nvSpPr>
            <p:cNvPr id="36" name="Shape 33">
              <a:extLst>
                <a:ext uri="{FF2B5EF4-FFF2-40B4-BE49-F238E27FC236}">
                  <a16:creationId xmlns:a16="http://schemas.microsoft.com/office/drawing/2014/main" id="{4048616E-650C-23C6-61F1-2074FBCE4E38}"/>
                </a:ext>
              </a:extLst>
            </p:cNvPr>
            <p:cNvSpPr/>
            <p:nvPr/>
          </p:nvSpPr>
          <p:spPr>
            <a:xfrm>
              <a:off x="5449824" y="1975104"/>
              <a:ext cx="1609344" cy="566928"/>
            </a:xfrm>
            <a:prstGeom prst="roundRect">
              <a:avLst>
                <a:gd name="adj" fmla="val 9677"/>
              </a:avLst>
            </a:prstGeom>
            <a:solidFill>
              <a:srgbClr val="FAD0A8"/>
            </a:solidFill>
            <a:ln w="12700">
              <a:solidFill>
                <a:srgbClr val="FAD0A8"/>
              </a:solidFill>
              <a:prstDash val="solid"/>
            </a:ln>
            <a:effectLst>
              <a:outerShdw blurRad="101600" dist="25400" dir="8100000" algn="bl" rotWithShape="0">
                <a:srgbClr val="000000">
                  <a:alpha val="12000"/>
                </a:srgbClr>
              </a:outerShdw>
            </a:effectLst>
          </p:spPr>
          <p:txBody>
            <a:bodyPr/>
            <a:lstStyle/>
            <a:p>
              <a:endParaRPr lang="en-NL" sz="1600"/>
            </a:p>
          </p:txBody>
        </p:sp>
        <p:sp>
          <p:nvSpPr>
            <p:cNvPr id="37" name="Text 34">
              <a:extLst>
                <a:ext uri="{FF2B5EF4-FFF2-40B4-BE49-F238E27FC236}">
                  <a16:creationId xmlns:a16="http://schemas.microsoft.com/office/drawing/2014/main" id="{BE490E13-3646-69EB-CCA2-E019CD8F0B12}"/>
                </a:ext>
              </a:extLst>
            </p:cNvPr>
            <p:cNvSpPr/>
            <p:nvPr/>
          </p:nvSpPr>
          <p:spPr>
            <a:xfrm>
              <a:off x="5449824" y="2011680"/>
              <a:ext cx="1609344" cy="201168"/>
            </a:xfrm>
            <a:prstGeom prst="rect">
              <a:avLst/>
            </a:prstGeom>
            <a:noFill/>
            <a:ln/>
          </p:spPr>
          <p:txBody>
            <a:bodyPr wrap="square" lIns="0" tIns="0" rIns="0" bIns="0" rtlCol="0" anchor="ctr"/>
            <a:lstStyle/>
            <a:p>
              <a:pPr marL="0" indent="0" algn="ctr">
                <a:buNone/>
              </a:pPr>
              <a:r>
                <a:rPr lang="en-US" sz="800" b="1">
                  <a:solidFill>
                    <a:srgbClr val="FFFFFF"/>
                  </a:solidFill>
                  <a:latin typeface="Space Grotesk" pitchFamily="34" charset="0"/>
                  <a:ea typeface="Space Grotesk" pitchFamily="34" charset="-122"/>
                  <a:cs typeface="Space Grotesk" pitchFamily="34" charset="-120"/>
                </a:rPr>
                <a:t>#FAD0A8</a:t>
              </a:r>
              <a:endParaRPr lang="en-US" sz="800"/>
            </a:p>
          </p:txBody>
        </p:sp>
        <p:sp>
          <p:nvSpPr>
            <p:cNvPr id="38" name="Text 35">
              <a:extLst>
                <a:ext uri="{FF2B5EF4-FFF2-40B4-BE49-F238E27FC236}">
                  <a16:creationId xmlns:a16="http://schemas.microsoft.com/office/drawing/2014/main" id="{75A4A382-E2EF-A46E-CA5C-9653F2E98752}"/>
                </a:ext>
              </a:extLst>
            </p:cNvPr>
            <p:cNvSpPr/>
            <p:nvPr/>
          </p:nvSpPr>
          <p:spPr>
            <a:xfrm>
              <a:off x="5449824"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 Tint</a:t>
              </a:r>
              <a:endParaRPr lang="en-US" sz="800">
                <a:solidFill>
                  <a:srgbClr val="0D006A"/>
                </a:solidFill>
              </a:endParaRPr>
            </a:p>
          </p:txBody>
        </p:sp>
        <p:sp>
          <p:nvSpPr>
            <p:cNvPr id="39" name="Text 36">
              <a:extLst>
                <a:ext uri="{FF2B5EF4-FFF2-40B4-BE49-F238E27FC236}">
                  <a16:creationId xmlns:a16="http://schemas.microsoft.com/office/drawing/2014/main" id="{1B75057F-25CD-A312-914D-8DC5202477D2}"/>
                </a:ext>
              </a:extLst>
            </p:cNvPr>
            <p:cNvSpPr/>
            <p:nvPr/>
          </p:nvSpPr>
          <p:spPr>
            <a:xfrm>
              <a:off x="5449824"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orange</a:t>
              </a:r>
              <a:endParaRPr lang="en-US" sz="600"/>
            </a:p>
          </p:txBody>
        </p:sp>
      </p:grpSp>
      <p:grpSp>
        <p:nvGrpSpPr>
          <p:cNvPr id="69" name="Group 68">
            <a:extLst>
              <a:ext uri="{FF2B5EF4-FFF2-40B4-BE49-F238E27FC236}">
                <a16:creationId xmlns:a16="http://schemas.microsoft.com/office/drawing/2014/main" id="{5FEF1E7F-0138-4BA9-691E-38538F5AA3BE}"/>
              </a:ext>
            </a:extLst>
          </p:cNvPr>
          <p:cNvGrpSpPr/>
          <p:nvPr/>
        </p:nvGrpSpPr>
        <p:grpSpPr>
          <a:xfrm>
            <a:off x="1713948" y="2304577"/>
            <a:ext cx="1348353" cy="750787"/>
            <a:chOff x="7168896" y="1975104"/>
            <a:chExt cx="1609344" cy="896112"/>
          </a:xfrm>
        </p:grpSpPr>
        <p:sp>
          <p:nvSpPr>
            <p:cNvPr id="40" name="Shape 37">
              <a:extLst>
                <a:ext uri="{FF2B5EF4-FFF2-40B4-BE49-F238E27FC236}">
                  <a16:creationId xmlns:a16="http://schemas.microsoft.com/office/drawing/2014/main" id="{22C72EB7-446B-7A48-6779-C3842DAD7420}"/>
                </a:ext>
              </a:extLst>
            </p:cNvPr>
            <p:cNvSpPr/>
            <p:nvPr/>
          </p:nvSpPr>
          <p:spPr>
            <a:xfrm>
              <a:off x="7168896" y="1975104"/>
              <a:ext cx="1609344" cy="566928"/>
            </a:xfrm>
            <a:prstGeom prst="roundRect">
              <a:avLst>
                <a:gd name="adj" fmla="val 9677"/>
              </a:avLst>
            </a:prstGeom>
            <a:solidFill>
              <a:srgbClr val="262626"/>
            </a:solidFill>
            <a:ln w="12700">
              <a:solidFill>
                <a:srgbClr val="536379"/>
              </a:solidFill>
              <a:prstDash val="solid"/>
            </a:ln>
            <a:effectLst>
              <a:outerShdw blurRad="101600" dist="25400" dir="8100000" algn="bl" rotWithShape="0">
                <a:srgbClr val="000000">
                  <a:alpha val="12000"/>
                </a:srgbClr>
              </a:outerShdw>
            </a:effectLst>
          </p:spPr>
          <p:txBody>
            <a:bodyPr/>
            <a:lstStyle/>
            <a:p>
              <a:endParaRPr lang="en-NL" sz="1600"/>
            </a:p>
          </p:txBody>
        </p:sp>
        <p:sp>
          <p:nvSpPr>
            <p:cNvPr id="41" name="Text 38">
              <a:extLst>
                <a:ext uri="{FF2B5EF4-FFF2-40B4-BE49-F238E27FC236}">
                  <a16:creationId xmlns:a16="http://schemas.microsoft.com/office/drawing/2014/main" id="{A59FAC88-AEA1-A804-41B2-F4FCCD279F27}"/>
                </a:ext>
              </a:extLst>
            </p:cNvPr>
            <p:cNvSpPr/>
            <p:nvPr/>
          </p:nvSpPr>
          <p:spPr>
            <a:xfrm>
              <a:off x="7168896" y="2011680"/>
              <a:ext cx="1609344" cy="201168"/>
            </a:xfrm>
            <a:prstGeom prst="rect">
              <a:avLst/>
            </a:prstGeom>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#262626</a:t>
              </a:r>
              <a:endParaRPr lang="en-US" sz="800"/>
            </a:p>
          </p:txBody>
        </p:sp>
        <p:sp>
          <p:nvSpPr>
            <p:cNvPr id="42" name="Text 39">
              <a:extLst>
                <a:ext uri="{FF2B5EF4-FFF2-40B4-BE49-F238E27FC236}">
                  <a16:creationId xmlns:a16="http://schemas.microsoft.com/office/drawing/2014/main" id="{41BDB85F-4576-74E0-9F01-5BB6F37C5A0B}"/>
                </a:ext>
              </a:extLst>
            </p:cNvPr>
            <p:cNvSpPr/>
            <p:nvPr/>
          </p:nvSpPr>
          <p:spPr>
            <a:xfrm>
              <a:off x="7168896"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cs typeface="Space Grotesk" pitchFamily="34" charset="-120"/>
                </a:rPr>
                <a:t>Dark Grey</a:t>
              </a:r>
              <a:endParaRPr lang="en-US" sz="800"/>
            </a:p>
          </p:txBody>
        </p:sp>
        <p:sp>
          <p:nvSpPr>
            <p:cNvPr id="43" name="Text 40">
              <a:extLst>
                <a:ext uri="{FF2B5EF4-FFF2-40B4-BE49-F238E27FC236}">
                  <a16:creationId xmlns:a16="http://schemas.microsoft.com/office/drawing/2014/main" id="{D0DC54C4-2008-20A1-72FE-47B2AF63334B}"/>
                </a:ext>
              </a:extLst>
            </p:cNvPr>
            <p:cNvSpPr/>
            <p:nvPr/>
          </p:nvSpPr>
          <p:spPr>
            <a:xfrm>
              <a:off x="7168896"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Captions, footnotes</a:t>
              </a:r>
              <a:endParaRPr lang="en-US" sz="600"/>
            </a:p>
          </p:txBody>
        </p:sp>
      </p:grpSp>
      <p:grpSp>
        <p:nvGrpSpPr>
          <p:cNvPr id="84" name="Group 83">
            <a:extLst>
              <a:ext uri="{FF2B5EF4-FFF2-40B4-BE49-F238E27FC236}">
                <a16:creationId xmlns:a16="http://schemas.microsoft.com/office/drawing/2014/main" id="{789311F0-3474-E662-8474-1AACD47FA5D3}"/>
              </a:ext>
            </a:extLst>
          </p:cNvPr>
          <p:cNvGrpSpPr/>
          <p:nvPr/>
        </p:nvGrpSpPr>
        <p:grpSpPr>
          <a:xfrm>
            <a:off x="3148640" y="3471912"/>
            <a:ext cx="1348353" cy="750787"/>
            <a:chOff x="2011680" y="3124929"/>
            <a:chExt cx="1609344" cy="896112"/>
          </a:xfrm>
        </p:grpSpPr>
        <p:grpSp>
          <p:nvGrpSpPr>
            <p:cNvPr id="67" name="Group 66">
              <a:extLst>
                <a:ext uri="{FF2B5EF4-FFF2-40B4-BE49-F238E27FC236}">
                  <a16:creationId xmlns:a16="http://schemas.microsoft.com/office/drawing/2014/main" id="{EA81A6E1-51C1-2977-B800-062190CA2E3E}"/>
                </a:ext>
              </a:extLst>
            </p:cNvPr>
            <p:cNvGrpSpPr/>
            <p:nvPr/>
          </p:nvGrpSpPr>
          <p:grpSpPr>
            <a:xfrm>
              <a:off x="2011680" y="3124929"/>
              <a:ext cx="1609344" cy="896112"/>
              <a:chOff x="2011680" y="3291840"/>
              <a:chExt cx="1609344" cy="896112"/>
            </a:xfrm>
          </p:grpSpPr>
          <p:sp>
            <p:nvSpPr>
              <p:cNvPr id="48" name="Shape 45">
                <a:extLst>
                  <a:ext uri="{FF2B5EF4-FFF2-40B4-BE49-F238E27FC236}">
                    <a16:creationId xmlns:a16="http://schemas.microsoft.com/office/drawing/2014/main" id="{B8F20265-980E-A796-5368-F2FB5ACDFF99}"/>
                  </a:ext>
                </a:extLst>
              </p:cNvPr>
              <p:cNvSpPr/>
              <p:nvPr/>
            </p:nvSpPr>
            <p:spPr>
              <a:xfrm>
                <a:off x="2011680" y="3291840"/>
                <a:ext cx="1609344" cy="566928"/>
              </a:xfrm>
              <a:prstGeom prst="roundRect">
                <a:avLst>
                  <a:gd name="adj" fmla="val 9677"/>
                </a:avLst>
              </a:prstGeom>
              <a:solidFill>
                <a:srgbClr val="EDE9FF"/>
              </a:solidFill>
              <a:ln w="12700">
                <a:solidFill>
                  <a:srgbClr val="EDE9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50" name="Text 47">
                <a:extLst>
                  <a:ext uri="{FF2B5EF4-FFF2-40B4-BE49-F238E27FC236}">
                    <a16:creationId xmlns:a16="http://schemas.microsoft.com/office/drawing/2014/main" id="{CDD9E35B-9AF1-9842-8E0F-BDDBD0D2A307}"/>
                  </a:ext>
                </a:extLst>
              </p:cNvPr>
              <p:cNvSpPr/>
              <p:nvPr/>
            </p:nvSpPr>
            <p:spPr>
              <a:xfrm>
                <a:off x="2011680"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BG Lavender</a:t>
                </a:r>
                <a:endParaRPr lang="en-US" sz="800"/>
              </a:p>
            </p:txBody>
          </p:sp>
          <p:sp>
            <p:nvSpPr>
              <p:cNvPr id="51" name="Text 48">
                <a:extLst>
                  <a:ext uri="{FF2B5EF4-FFF2-40B4-BE49-F238E27FC236}">
                    <a16:creationId xmlns:a16="http://schemas.microsoft.com/office/drawing/2014/main" id="{C4154EEC-D15B-8F15-8B63-046F88AA61DE}"/>
                  </a:ext>
                </a:extLst>
              </p:cNvPr>
              <p:cNvSpPr/>
              <p:nvPr/>
            </p:nvSpPr>
            <p:spPr>
              <a:xfrm>
                <a:off x="2011680" y="4041648"/>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Alt content background</a:t>
                </a:r>
                <a:endParaRPr lang="en-US" sz="600"/>
              </a:p>
            </p:txBody>
          </p:sp>
        </p:grpSp>
        <p:sp>
          <p:nvSpPr>
            <p:cNvPr id="49" name="Text 46">
              <a:extLst>
                <a:ext uri="{FF2B5EF4-FFF2-40B4-BE49-F238E27FC236}">
                  <a16:creationId xmlns:a16="http://schemas.microsoft.com/office/drawing/2014/main" id="{068DC448-A33F-8267-4385-0CC5CE6F041D}"/>
                </a:ext>
              </a:extLst>
            </p:cNvPr>
            <p:cNvSpPr/>
            <p:nvPr/>
          </p:nvSpPr>
          <p:spPr>
            <a:xfrm>
              <a:off x="2011680" y="3161505"/>
              <a:ext cx="1609344" cy="201168"/>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#EDE9FF</a:t>
              </a:r>
              <a:endParaRPr lang="en-US" sz="800">
                <a:solidFill>
                  <a:srgbClr val="0D006A"/>
                </a:solidFill>
              </a:endParaRPr>
            </a:p>
          </p:txBody>
        </p:sp>
      </p:grpSp>
      <p:grpSp>
        <p:nvGrpSpPr>
          <p:cNvPr id="79" name="Group 78">
            <a:extLst>
              <a:ext uri="{FF2B5EF4-FFF2-40B4-BE49-F238E27FC236}">
                <a16:creationId xmlns:a16="http://schemas.microsoft.com/office/drawing/2014/main" id="{CA320535-E874-40A3-499A-00E30AD6F96E}"/>
              </a:ext>
            </a:extLst>
          </p:cNvPr>
          <p:cNvGrpSpPr/>
          <p:nvPr/>
        </p:nvGrpSpPr>
        <p:grpSpPr>
          <a:xfrm>
            <a:off x="4600114" y="3453691"/>
            <a:ext cx="1348353" cy="852768"/>
            <a:chOff x="5436471" y="3277035"/>
            <a:chExt cx="1609344" cy="1017832"/>
          </a:xfrm>
        </p:grpSpPr>
        <p:grpSp>
          <p:nvGrpSpPr>
            <p:cNvPr id="66" name="Group 65">
              <a:extLst>
                <a:ext uri="{FF2B5EF4-FFF2-40B4-BE49-F238E27FC236}">
                  <a16:creationId xmlns:a16="http://schemas.microsoft.com/office/drawing/2014/main" id="{17EB6FD8-2CE4-F9A6-57F1-388BC7FF58C0}"/>
                </a:ext>
              </a:extLst>
            </p:cNvPr>
            <p:cNvGrpSpPr/>
            <p:nvPr/>
          </p:nvGrpSpPr>
          <p:grpSpPr>
            <a:xfrm>
              <a:off x="5436471" y="3277035"/>
              <a:ext cx="1609344" cy="1017832"/>
              <a:chOff x="3730752" y="3291840"/>
              <a:chExt cx="1609344" cy="1017832"/>
            </a:xfrm>
          </p:grpSpPr>
          <p:sp>
            <p:nvSpPr>
              <p:cNvPr id="52" name="Shape 49">
                <a:extLst>
                  <a:ext uri="{FF2B5EF4-FFF2-40B4-BE49-F238E27FC236}">
                    <a16:creationId xmlns:a16="http://schemas.microsoft.com/office/drawing/2014/main" id="{698EE33C-BDE2-D192-401A-93120075C8E5}"/>
                  </a:ext>
                </a:extLst>
              </p:cNvPr>
              <p:cNvSpPr/>
              <p:nvPr/>
            </p:nvSpPr>
            <p:spPr>
              <a:xfrm>
                <a:off x="3730752" y="3291840"/>
                <a:ext cx="1609344" cy="566928"/>
              </a:xfrm>
              <a:prstGeom prst="roundRect">
                <a:avLst>
                  <a:gd name="adj" fmla="val 9677"/>
                </a:avLst>
              </a:prstGeom>
              <a:solidFill>
                <a:srgbClr val="FEF0F1"/>
              </a:solidFill>
              <a:ln w="12700">
                <a:solidFill>
                  <a:srgbClr val="FAF8F0"/>
                </a:solidFill>
                <a:prstDash val="solid"/>
              </a:ln>
              <a:effectLst>
                <a:outerShdw blurRad="101600" dist="25400" dir="8100000" algn="bl" rotWithShape="0">
                  <a:srgbClr val="000000">
                    <a:alpha val="12000"/>
                  </a:srgbClr>
                </a:outerShdw>
              </a:effectLst>
            </p:spPr>
            <p:txBody>
              <a:bodyPr/>
              <a:lstStyle/>
              <a:p>
                <a:endParaRPr lang="en-NL" sz="1600"/>
              </a:p>
            </p:txBody>
          </p:sp>
          <p:sp>
            <p:nvSpPr>
              <p:cNvPr id="54" name="Text 51">
                <a:extLst>
                  <a:ext uri="{FF2B5EF4-FFF2-40B4-BE49-F238E27FC236}">
                    <a16:creationId xmlns:a16="http://schemas.microsoft.com/office/drawing/2014/main" id="{00FD30B9-97D9-CE08-5BB1-B299DC4B78CD}"/>
                  </a:ext>
                </a:extLst>
              </p:cNvPr>
              <p:cNvSpPr/>
              <p:nvPr/>
            </p:nvSpPr>
            <p:spPr>
              <a:xfrm>
                <a:off x="3730752"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Rose Tint Background</a:t>
                </a:r>
              </a:p>
            </p:txBody>
          </p:sp>
          <p:sp>
            <p:nvSpPr>
              <p:cNvPr id="55" name="Text 52">
                <a:extLst>
                  <a:ext uri="{FF2B5EF4-FFF2-40B4-BE49-F238E27FC236}">
                    <a16:creationId xmlns:a16="http://schemas.microsoft.com/office/drawing/2014/main" id="{3AF14E8F-4B57-790A-5FFE-E9ACDF7BE4DF}"/>
                  </a:ext>
                </a:extLst>
              </p:cNvPr>
              <p:cNvSpPr/>
              <p:nvPr/>
            </p:nvSpPr>
            <p:spPr>
              <a:xfrm>
                <a:off x="3730752" y="4071928"/>
                <a:ext cx="1609344" cy="23774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cs typeface="Space Grotesk" pitchFamily="34" charset="-120"/>
                  </a:rPr>
                  <a:t>Soft shape colors, derived from Rose</a:t>
                </a:r>
                <a:endParaRPr lang="en-US" sz="600"/>
              </a:p>
            </p:txBody>
          </p:sp>
        </p:grpSp>
        <p:sp>
          <p:nvSpPr>
            <p:cNvPr id="78" name="TextBox 77">
              <a:extLst>
                <a:ext uri="{FF2B5EF4-FFF2-40B4-BE49-F238E27FC236}">
                  <a16:creationId xmlns:a16="http://schemas.microsoft.com/office/drawing/2014/main" id="{D7E88878-A5EC-3BB2-3BEC-523290ADD2C7}"/>
                </a:ext>
              </a:extLst>
            </p:cNvPr>
            <p:cNvSpPr txBox="1"/>
            <p:nvPr/>
          </p:nvSpPr>
          <p:spPr>
            <a:xfrm>
              <a:off x="5916167" y="3328415"/>
              <a:ext cx="781358" cy="257146"/>
            </a:xfrm>
            <a:prstGeom prst="rect">
              <a:avLst/>
            </a:prstGeom>
            <a:noFill/>
          </p:spPr>
          <p:txBody>
            <a:bodyPr wrap="square">
              <a:spAutoFit/>
            </a:bodyPr>
            <a:lstStyle/>
            <a:p>
              <a:r>
                <a:rPr lang="en-NL" sz="800" b="1">
                  <a:solidFill>
                    <a:srgbClr val="0D006A"/>
                  </a:solidFill>
                  <a:latin typeface="Space Grotesk" pitchFamily="2" charset="0"/>
                  <a:cs typeface="Space Grotesk" pitchFamily="2" charset="0"/>
                </a:rPr>
                <a:t>#FEF0F1</a:t>
              </a:r>
            </a:p>
          </p:txBody>
        </p:sp>
      </p:grpSp>
      <p:grpSp>
        <p:nvGrpSpPr>
          <p:cNvPr id="82" name="Group 81">
            <a:extLst>
              <a:ext uri="{FF2B5EF4-FFF2-40B4-BE49-F238E27FC236}">
                <a16:creationId xmlns:a16="http://schemas.microsoft.com/office/drawing/2014/main" id="{75EFE7E8-2D6D-87B2-81D2-759DD9864BA3}"/>
              </a:ext>
            </a:extLst>
          </p:cNvPr>
          <p:cNvGrpSpPr/>
          <p:nvPr/>
        </p:nvGrpSpPr>
        <p:grpSpPr>
          <a:xfrm>
            <a:off x="6051587" y="3453692"/>
            <a:ext cx="1348353" cy="740208"/>
            <a:chOff x="7168896" y="3262521"/>
            <a:chExt cx="1609344" cy="883485"/>
          </a:xfrm>
        </p:grpSpPr>
        <p:grpSp>
          <p:nvGrpSpPr>
            <p:cNvPr id="73" name="Group 72">
              <a:extLst>
                <a:ext uri="{FF2B5EF4-FFF2-40B4-BE49-F238E27FC236}">
                  <a16:creationId xmlns:a16="http://schemas.microsoft.com/office/drawing/2014/main" id="{F499C605-5EA9-3BA8-DA19-C26F941755BC}"/>
                </a:ext>
              </a:extLst>
            </p:cNvPr>
            <p:cNvGrpSpPr/>
            <p:nvPr/>
          </p:nvGrpSpPr>
          <p:grpSpPr>
            <a:xfrm>
              <a:off x="7168896" y="3262521"/>
              <a:ext cx="1609344" cy="883485"/>
              <a:chOff x="5449824" y="3291840"/>
              <a:chExt cx="1609344" cy="883485"/>
            </a:xfrm>
          </p:grpSpPr>
          <p:sp>
            <p:nvSpPr>
              <p:cNvPr id="68" name="Shape 57">
                <a:extLst>
                  <a:ext uri="{FF2B5EF4-FFF2-40B4-BE49-F238E27FC236}">
                    <a16:creationId xmlns:a16="http://schemas.microsoft.com/office/drawing/2014/main" id="{96752587-8711-5FDE-958A-6EA729E24F12}"/>
                  </a:ext>
                </a:extLst>
              </p:cNvPr>
              <p:cNvSpPr/>
              <p:nvPr/>
            </p:nvSpPr>
            <p:spPr>
              <a:xfrm>
                <a:off x="5449824" y="3291840"/>
                <a:ext cx="1609344" cy="566928"/>
              </a:xfrm>
              <a:prstGeom prst="roundRect">
                <a:avLst>
                  <a:gd name="adj" fmla="val 9677"/>
                </a:avLst>
              </a:prstGeom>
              <a:solidFill>
                <a:srgbClr val="FDEBDB"/>
              </a:solidFill>
              <a:ln w="12700">
                <a:noFill/>
                <a:prstDash val="solid"/>
              </a:ln>
              <a:effectLst>
                <a:outerShdw blurRad="101600" dist="25400" dir="8100000" algn="bl" rotWithShape="0">
                  <a:srgbClr val="000000">
                    <a:alpha val="12000"/>
                  </a:srgbClr>
                </a:outerShdw>
              </a:effectLst>
            </p:spPr>
            <p:txBody>
              <a:bodyPr/>
              <a:lstStyle/>
              <a:p>
                <a:endParaRPr lang="en-NL" sz="1600"/>
              </a:p>
            </p:txBody>
          </p:sp>
          <p:sp>
            <p:nvSpPr>
              <p:cNvPr id="71" name="Text 35">
                <a:extLst>
                  <a:ext uri="{FF2B5EF4-FFF2-40B4-BE49-F238E27FC236}">
                    <a16:creationId xmlns:a16="http://schemas.microsoft.com/office/drawing/2014/main" id="{057273DD-A8A5-7572-59AA-591E78985281}"/>
                  </a:ext>
                </a:extLst>
              </p:cNvPr>
              <p:cNvSpPr/>
              <p:nvPr/>
            </p:nvSpPr>
            <p:spPr>
              <a:xfrm>
                <a:off x="5449824" y="3882717"/>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Orange Background</a:t>
                </a:r>
                <a:endParaRPr lang="en-US" sz="800"/>
              </a:p>
            </p:txBody>
          </p:sp>
          <p:sp>
            <p:nvSpPr>
              <p:cNvPr id="72" name="Text 36">
                <a:extLst>
                  <a:ext uri="{FF2B5EF4-FFF2-40B4-BE49-F238E27FC236}">
                    <a16:creationId xmlns:a16="http://schemas.microsoft.com/office/drawing/2014/main" id="{5CCD2E35-15B9-9745-8056-CB8D79724272}"/>
                  </a:ext>
                </a:extLst>
              </p:cNvPr>
              <p:cNvSpPr/>
              <p:nvPr/>
            </p:nvSpPr>
            <p:spPr>
              <a:xfrm>
                <a:off x="5449824" y="4029021"/>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orange</a:t>
                </a:r>
                <a:endParaRPr lang="en-US" sz="600"/>
              </a:p>
            </p:txBody>
          </p:sp>
        </p:grpSp>
        <p:sp>
          <p:nvSpPr>
            <p:cNvPr id="81" name="TextBox 80">
              <a:extLst>
                <a:ext uri="{FF2B5EF4-FFF2-40B4-BE49-F238E27FC236}">
                  <a16:creationId xmlns:a16="http://schemas.microsoft.com/office/drawing/2014/main" id="{8F74A203-54FF-B042-0A12-31679144A1CC}"/>
                </a:ext>
              </a:extLst>
            </p:cNvPr>
            <p:cNvSpPr txBox="1"/>
            <p:nvPr/>
          </p:nvSpPr>
          <p:spPr>
            <a:xfrm>
              <a:off x="7607808" y="3323771"/>
              <a:ext cx="798286" cy="257146"/>
            </a:xfrm>
            <a:prstGeom prst="rect">
              <a:avLst/>
            </a:prstGeom>
            <a:ln>
              <a:noFill/>
            </a:ln>
          </p:spPr>
          <p:txBody>
            <a:bodyPr wrap="square">
              <a:spAutoFit/>
            </a:bodyPr>
            <a:lstStyle/>
            <a:p>
              <a:r>
                <a:rPr lang="en-NL" sz="800" b="1">
                  <a:solidFill>
                    <a:srgbClr val="0D006A"/>
                  </a:solidFill>
                  <a:latin typeface="Space Grotesk" pitchFamily="2" charset="0"/>
                  <a:cs typeface="Space Grotesk" pitchFamily="2" charset="0"/>
                </a:rPr>
                <a:t>#FDEBDB</a:t>
              </a:r>
            </a:p>
          </p:txBody>
        </p:sp>
      </p:grpSp>
      <p:grpSp>
        <p:nvGrpSpPr>
          <p:cNvPr id="86" name="Group 85">
            <a:extLst>
              <a:ext uri="{FF2B5EF4-FFF2-40B4-BE49-F238E27FC236}">
                <a16:creationId xmlns:a16="http://schemas.microsoft.com/office/drawing/2014/main" id="{D1EC6B3A-164A-6C21-E7AE-1ADB5905F304}"/>
              </a:ext>
            </a:extLst>
          </p:cNvPr>
          <p:cNvGrpSpPr/>
          <p:nvPr/>
        </p:nvGrpSpPr>
        <p:grpSpPr>
          <a:xfrm>
            <a:off x="1673511" y="3457277"/>
            <a:ext cx="1367692" cy="858133"/>
            <a:chOff x="1968568" y="1970423"/>
            <a:chExt cx="1632426" cy="1024236"/>
          </a:xfrm>
        </p:grpSpPr>
        <p:grpSp>
          <p:nvGrpSpPr>
            <p:cNvPr id="74" name="Group 73">
              <a:extLst>
                <a:ext uri="{FF2B5EF4-FFF2-40B4-BE49-F238E27FC236}">
                  <a16:creationId xmlns:a16="http://schemas.microsoft.com/office/drawing/2014/main" id="{362004FF-F53E-36B7-1156-CC33ACC08A7D}"/>
                </a:ext>
              </a:extLst>
            </p:cNvPr>
            <p:cNvGrpSpPr/>
            <p:nvPr/>
          </p:nvGrpSpPr>
          <p:grpSpPr>
            <a:xfrm>
              <a:off x="1991650" y="1970423"/>
              <a:ext cx="1609344" cy="1024236"/>
              <a:chOff x="7168896" y="3291840"/>
              <a:chExt cx="1609344" cy="1024236"/>
            </a:xfrm>
          </p:grpSpPr>
          <p:sp>
            <p:nvSpPr>
              <p:cNvPr id="60" name="Shape 57">
                <a:extLst>
                  <a:ext uri="{FF2B5EF4-FFF2-40B4-BE49-F238E27FC236}">
                    <a16:creationId xmlns:a16="http://schemas.microsoft.com/office/drawing/2014/main" id="{D817561A-D072-937C-7A95-B0AE1CE6A138}"/>
                  </a:ext>
                </a:extLst>
              </p:cNvPr>
              <p:cNvSpPr/>
              <p:nvPr/>
            </p:nvSpPr>
            <p:spPr>
              <a:xfrm>
                <a:off x="7168896" y="3291840"/>
                <a:ext cx="1609344" cy="566928"/>
              </a:xfrm>
              <a:prstGeom prst="roundRect">
                <a:avLst>
                  <a:gd name="adj" fmla="val 9677"/>
                </a:avLst>
              </a:prstGeom>
              <a:solidFill>
                <a:srgbClr val="F2F2F2"/>
              </a:solidFill>
              <a:ln w="12700">
                <a:solidFill>
                  <a:srgbClr val="CCCCCC"/>
                </a:solidFill>
                <a:prstDash val="solid"/>
              </a:ln>
              <a:effectLst>
                <a:outerShdw blurRad="101600" dist="25400" dir="8100000" algn="bl" rotWithShape="0">
                  <a:srgbClr val="000000">
                    <a:alpha val="12000"/>
                  </a:srgbClr>
                </a:outerShdw>
              </a:effectLst>
            </p:spPr>
            <p:txBody>
              <a:bodyPr/>
              <a:lstStyle/>
              <a:p>
                <a:endParaRPr lang="en-NL" sz="1600"/>
              </a:p>
            </p:txBody>
          </p:sp>
          <p:sp>
            <p:nvSpPr>
              <p:cNvPr id="62" name="Text 59">
                <a:extLst>
                  <a:ext uri="{FF2B5EF4-FFF2-40B4-BE49-F238E27FC236}">
                    <a16:creationId xmlns:a16="http://schemas.microsoft.com/office/drawing/2014/main" id="{84DB0371-A5E3-6AF8-B482-E8E3D5575EE4}"/>
                  </a:ext>
                </a:extLst>
              </p:cNvPr>
              <p:cNvSpPr/>
              <p:nvPr/>
            </p:nvSpPr>
            <p:spPr>
              <a:xfrm>
                <a:off x="7168896"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Off-White</a:t>
                </a:r>
                <a:endParaRPr lang="en-US" sz="800"/>
              </a:p>
            </p:txBody>
          </p:sp>
          <p:sp>
            <p:nvSpPr>
              <p:cNvPr id="63" name="Text 60">
                <a:extLst>
                  <a:ext uri="{FF2B5EF4-FFF2-40B4-BE49-F238E27FC236}">
                    <a16:creationId xmlns:a16="http://schemas.microsoft.com/office/drawing/2014/main" id="{FFE694BF-4C30-5DE9-6C98-46FBBF811D88}"/>
                  </a:ext>
                </a:extLst>
              </p:cNvPr>
              <p:cNvSpPr/>
              <p:nvPr/>
            </p:nvSpPr>
            <p:spPr>
              <a:xfrm>
                <a:off x="7168896" y="4041647"/>
                <a:ext cx="1609344" cy="274429"/>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Background, text on dark backgrounds</a:t>
                </a:r>
              </a:p>
            </p:txBody>
          </p:sp>
        </p:grpSp>
        <p:sp>
          <p:nvSpPr>
            <p:cNvPr id="85" name="Text 46">
              <a:extLst>
                <a:ext uri="{FF2B5EF4-FFF2-40B4-BE49-F238E27FC236}">
                  <a16:creationId xmlns:a16="http://schemas.microsoft.com/office/drawing/2014/main" id="{16DFB87C-E586-21E6-46F4-3B1D42A915C5}"/>
                </a:ext>
              </a:extLst>
            </p:cNvPr>
            <p:cNvSpPr/>
            <p:nvPr/>
          </p:nvSpPr>
          <p:spPr>
            <a:xfrm>
              <a:off x="1968568" y="2018300"/>
              <a:ext cx="1609344" cy="201168"/>
            </a:xfrm>
            <a:prstGeom prst="rect">
              <a:avLst/>
            </a:prstGeom>
            <a:noFill/>
            <a:ln/>
          </p:spPr>
          <p:txBody>
            <a:bodyPr wrap="square" lIns="0" tIns="0" rIns="0" bIns="0" rtlCol="0" anchor="ctr"/>
            <a:lstStyle/>
            <a:p>
              <a:pPr algn="ctr"/>
              <a:r>
                <a:rPr lang="en-US" sz="800" b="1">
                  <a:solidFill>
                    <a:schemeClr val="tx1">
                      <a:lumMod val="95000"/>
                      <a:lumOff val="5000"/>
                    </a:schemeClr>
                  </a:solidFill>
                  <a:latin typeface="Space Grotesk" pitchFamily="34" charset="0"/>
                  <a:ea typeface="Space Grotesk" pitchFamily="34" charset="-122"/>
                  <a:cs typeface="Space Grotesk" pitchFamily="34" charset="-120"/>
                </a:rPr>
                <a:t>#F2F2F2</a:t>
              </a:r>
              <a:endParaRPr lang="en-US" sz="800">
                <a:solidFill>
                  <a:schemeClr val="tx1">
                    <a:lumMod val="95000"/>
                    <a:lumOff val="5000"/>
                  </a:schemeClr>
                </a:solidFill>
              </a:endParaRPr>
            </a:p>
          </p:txBody>
        </p:sp>
      </p:grpSp>
      <p:grpSp>
        <p:nvGrpSpPr>
          <p:cNvPr id="95" name="Group 94">
            <a:extLst>
              <a:ext uri="{FF2B5EF4-FFF2-40B4-BE49-F238E27FC236}">
                <a16:creationId xmlns:a16="http://schemas.microsoft.com/office/drawing/2014/main" id="{6E0F02E9-5EE5-D7CC-5423-E06BB643902C}"/>
              </a:ext>
            </a:extLst>
          </p:cNvPr>
          <p:cNvGrpSpPr/>
          <p:nvPr/>
        </p:nvGrpSpPr>
        <p:grpSpPr>
          <a:xfrm>
            <a:off x="1730728" y="1201602"/>
            <a:ext cx="1348353" cy="750787"/>
            <a:chOff x="279255" y="3134073"/>
            <a:chExt cx="1609344" cy="896112"/>
          </a:xfrm>
        </p:grpSpPr>
        <p:grpSp>
          <p:nvGrpSpPr>
            <p:cNvPr id="65" name="Group 64">
              <a:extLst>
                <a:ext uri="{FF2B5EF4-FFF2-40B4-BE49-F238E27FC236}">
                  <a16:creationId xmlns:a16="http://schemas.microsoft.com/office/drawing/2014/main" id="{DC2A82AE-348F-F4FF-A159-BB347229AC63}"/>
                </a:ext>
              </a:extLst>
            </p:cNvPr>
            <p:cNvGrpSpPr/>
            <p:nvPr/>
          </p:nvGrpSpPr>
          <p:grpSpPr>
            <a:xfrm>
              <a:off x="279255" y="3134073"/>
              <a:ext cx="1609344" cy="896112"/>
              <a:chOff x="5449824" y="3291840"/>
              <a:chExt cx="1609344" cy="896112"/>
            </a:xfrm>
          </p:grpSpPr>
          <p:sp>
            <p:nvSpPr>
              <p:cNvPr id="56" name="Shape 53">
                <a:extLst>
                  <a:ext uri="{FF2B5EF4-FFF2-40B4-BE49-F238E27FC236}">
                    <a16:creationId xmlns:a16="http://schemas.microsoft.com/office/drawing/2014/main" id="{129D1A25-064F-E3B9-5610-F05DBA21BAB8}"/>
                  </a:ext>
                </a:extLst>
              </p:cNvPr>
              <p:cNvSpPr/>
              <p:nvPr/>
            </p:nvSpPr>
            <p:spPr>
              <a:xfrm>
                <a:off x="5449824" y="3291840"/>
                <a:ext cx="1609344" cy="566928"/>
              </a:xfrm>
              <a:prstGeom prst="roundRect">
                <a:avLst>
                  <a:gd name="adj" fmla="val 9677"/>
                </a:avLst>
              </a:prstGeom>
              <a:solidFill>
                <a:srgbClr val="1A0040"/>
              </a:solidFill>
              <a:ln w="12700">
                <a:solidFill>
                  <a:srgbClr val="1A0040"/>
                </a:solidFill>
                <a:prstDash val="solid"/>
              </a:ln>
              <a:effectLst>
                <a:outerShdw blurRad="101600" dist="25400" dir="8100000" algn="bl" rotWithShape="0">
                  <a:srgbClr val="000000">
                    <a:alpha val="12000"/>
                  </a:srgbClr>
                </a:outerShdw>
              </a:effectLst>
            </p:spPr>
            <p:txBody>
              <a:bodyPr/>
              <a:lstStyle/>
              <a:p>
                <a:endParaRPr lang="en-NL" sz="1600"/>
              </a:p>
            </p:txBody>
          </p:sp>
          <p:sp>
            <p:nvSpPr>
              <p:cNvPr id="58" name="Text 55">
                <a:extLst>
                  <a:ext uri="{FF2B5EF4-FFF2-40B4-BE49-F238E27FC236}">
                    <a16:creationId xmlns:a16="http://schemas.microsoft.com/office/drawing/2014/main" id="{2E051A71-B24A-FD61-F379-5602F3375C3F}"/>
                  </a:ext>
                </a:extLst>
              </p:cNvPr>
              <p:cNvSpPr/>
              <p:nvPr/>
            </p:nvSpPr>
            <p:spPr>
              <a:xfrm>
                <a:off x="5449824" y="3895344"/>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Dark Purple</a:t>
                </a:r>
                <a:endParaRPr lang="en-US" sz="800"/>
              </a:p>
            </p:txBody>
          </p:sp>
          <p:sp>
            <p:nvSpPr>
              <p:cNvPr id="59" name="Text 56">
                <a:extLst>
                  <a:ext uri="{FF2B5EF4-FFF2-40B4-BE49-F238E27FC236}">
                    <a16:creationId xmlns:a16="http://schemas.microsoft.com/office/drawing/2014/main" id="{AECBB968-CE2C-13D2-8998-5475810A1BA3}"/>
                  </a:ext>
                </a:extLst>
              </p:cNvPr>
              <p:cNvSpPr/>
              <p:nvPr/>
            </p:nvSpPr>
            <p:spPr>
              <a:xfrm>
                <a:off x="5449824" y="4041648"/>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Cover &amp; section slides</a:t>
                </a:r>
                <a:endParaRPr lang="en-US" sz="600"/>
              </a:p>
            </p:txBody>
          </p:sp>
        </p:grpSp>
        <p:sp>
          <p:nvSpPr>
            <p:cNvPr id="94" name="TextBox 93">
              <a:extLst>
                <a:ext uri="{FF2B5EF4-FFF2-40B4-BE49-F238E27FC236}">
                  <a16:creationId xmlns:a16="http://schemas.microsoft.com/office/drawing/2014/main" id="{11553DDA-A2E7-6C13-1AEA-2E02EF62F814}"/>
                </a:ext>
              </a:extLst>
            </p:cNvPr>
            <p:cNvSpPr txBox="1"/>
            <p:nvPr/>
          </p:nvSpPr>
          <p:spPr>
            <a:xfrm>
              <a:off x="570702" y="3141911"/>
              <a:ext cx="912949" cy="257146"/>
            </a:xfrm>
            <a:prstGeom prst="rect">
              <a:avLst/>
            </a:prstGeom>
            <a:noFill/>
          </p:spPr>
          <p:txBody>
            <a:bodyPr wrap="square">
              <a:spAutoFit/>
            </a:bodyPr>
            <a:lstStyle/>
            <a:p>
              <a:pPr algn="ctr"/>
              <a:r>
                <a:rPr lang="en-NL" sz="800" b="1">
                  <a:solidFill>
                    <a:srgbClr val="FFFFFF"/>
                  </a:solidFill>
                  <a:latin typeface="Space Grotesk" pitchFamily="34" charset="0"/>
                  <a:cs typeface="Space Grotesk" pitchFamily="34" charset="-120"/>
                </a:rPr>
                <a:t>#1A0040</a:t>
              </a:r>
            </a:p>
          </p:txBody>
        </p:sp>
      </p:grpSp>
      <p:sp>
        <p:nvSpPr>
          <p:cNvPr id="44" name="Text 0">
            <a:extLst>
              <a:ext uri="{FF2B5EF4-FFF2-40B4-BE49-F238E27FC236}">
                <a16:creationId xmlns:a16="http://schemas.microsoft.com/office/drawing/2014/main" id="{47BAA431-A3C1-D3B1-1270-8A5017A87140}"/>
              </a:ext>
            </a:extLst>
          </p:cNvPr>
          <p:cNvSpPr/>
          <p:nvPr/>
        </p:nvSpPr>
        <p:spPr>
          <a:xfrm>
            <a:off x="712872" y="297919"/>
            <a:ext cx="6949440" cy="347472"/>
          </a:xfrm>
          <a:prstGeom prst="rect">
            <a:avLst/>
          </a:prstGeom>
          <a:noFill/>
          <a:ln/>
        </p:spPr>
        <p:txBody>
          <a:bodyPr wrap="square" lIns="0" tIns="0" rIns="0" bIns="0" rtlCol="0" anchor="ctr"/>
          <a:lstStyle/>
          <a:p>
            <a:pPr marL="0" indent="0">
              <a:buNone/>
            </a:pPr>
            <a:r>
              <a:rPr lang="en-US" sz="3200" b="1">
                <a:solidFill>
                  <a:srgbClr val="0D006A"/>
                </a:solidFill>
                <a:latin typeface="Space Grotesk" pitchFamily="34" charset="0"/>
                <a:cs typeface="Space Grotesk" pitchFamily="34" charset="-120"/>
              </a:rPr>
              <a:t>Theme Color Usage</a:t>
            </a:r>
            <a:endParaRPr lang="en-US" sz="3200"/>
          </a:p>
        </p:txBody>
      </p:sp>
      <p:grpSp>
        <p:nvGrpSpPr>
          <p:cNvPr id="3" name="Group 2">
            <a:extLst>
              <a:ext uri="{FF2B5EF4-FFF2-40B4-BE49-F238E27FC236}">
                <a16:creationId xmlns:a16="http://schemas.microsoft.com/office/drawing/2014/main" id="{161A4CE8-3527-FA52-48E3-BC3F756238F2}"/>
              </a:ext>
            </a:extLst>
          </p:cNvPr>
          <p:cNvGrpSpPr/>
          <p:nvPr/>
        </p:nvGrpSpPr>
        <p:grpSpPr>
          <a:xfrm>
            <a:off x="7572619" y="1205301"/>
            <a:ext cx="1348353" cy="750787"/>
            <a:chOff x="7168896" y="658368"/>
            <a:chExt cx="1609344" cy="896112"/>
          </a:xfrm>
        </p:grpSpPr>
        <p:sp>
          <p:nvSpPr>
            <p:cNvPr id="45" name="Shape 17">
              <a:extLst>
                <a:ext uri="{FF2B5EF4-FFF2-40B4-BE49-F238E27FC236}">
                  <a16:creationId xmlns:a16="http://schemas.microsoft.com/office/drawing/2014/main" id="{FBB05FFF-A0CE-344B-5C0C-731657E042AE}"/>
                </a:ext>
              </a:extLst>
            </p:cNvPr>
            <p:cNvSpPr/>
            <p:nvPr/>
          </p:nvSpPr>
          <p:spPr>
            <a:xfrm>
              <a:off x="7168896" y="658368"/>
              <a:ext cx="1609344" cy="566928"/>
            </a:xfrm>
            <a:prstGeom prst="roundRect">
              <a:avLst>
                <a:gd name="adj" fmla="val 9677"/>
              </a:avLst>
            </a:prstGeom>
            <a:solidFill>
              <a:srgbClr val="00B0F0"/>
            </a:solidFill>
            <a:ln w="12700">
              <a:solidFill>
                <a:srgbClr val="00B0F0"/>
              </a:solidFill>
              <a:prstDash val="solid"/>
            </a:ln>
            <a:effectLst>
              <a:outerShdw blurRad="101600" dist="25400" dir="8100000" algn="bl" rotWithShape="0">
                <a:srgbClr val="000000">
                  <a:alpha val="12000"/>
                </a:srgbClr>
              </a:outerShdw>
            </a:effectLst>
          </p:spPr>
          <p:txBody>
            <a:bodyPr/>
            <a:lstStyle/>
            <a:p>
              <a:endParaRPr lang="en-NL" sz="1600">
                <a:solidFill>
                  <a:srgbClr val="00B0F0"/>
                </a:solidFill>
              </a:endParaRPr>
            </a:p>
          </p:txBody>
        </p:sp>
        <p:sp>
          <p:nvSpPr>
            <p:cNvPr id="46" name="Text 18">
              <a:extLst>
                <a:ext uri="{FF2B5EF4-FFF2-40B4-BE49-F238E27FC236}">
                  <a16:creationId xmlns:a16="http://schemas.microsoft.com/office/drawing/2014/main" id="{B172EF92-3C34-5D01-9301-EB2AA52151F6}"/>
                </a:ext>
              </a:extLst>
            </p:cNvPr>
            <p:cNvSpPr/>
            <p:nvPr/>
          </p:nvSpPr>
          <p:spPr>
            <a:xfrm>
              <a:off x="7168896" y="694944"/>
              <a:ext cx="1609344" cy="201168"/>
            </a:xfrm>
            <a:prstGeom prst="rect">
              <a:avLst/>
            </a:prstGeom>
            <a:noFill/>
            <a:ln>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#00B0F0</a:t>
              </a:r>
              <a:endParaRPr lang="en-US" sz="800"/>
            </a:p>
          </p:txBody>
        </p:sp>
        <p:sp>
          <p:nvSpPr>
            <p:cNvPr id="53" name="Text 19">
              <a:extLst>
                <a:ext uri="{FF2B5EF4-FFF2-40B4-BE49-F238E27FC236}">
                  <a16:creationId xmlns:a16="http://schemas.microsoft.com/office/drawing/2014/main" id="{C13CA1DD-2468-5976-0CB8-D1441A8955C6}"/>
                </a:ext>
              </a:extLst>
            </p:cNvPr>
            <p:cNvSpPr/>
            <p:nvPr/>
          </p:nvSpPr>
          <p:spPr>
            <a:xfrm>
              <a:off x="7168896" y="1261872"/>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a:t>
              </a:r>
              <a:endParaRPr lang="en-US" sz="800">
                <a:solidFill>
                  <a:srgbClr val="0D006A"/>
                </a:solidFill>
              </a:endParaRPr>
            </a:p>
          </p:txBody>
        </p:sp>
        <p:sp>
          <p:nvSpPr>
            <p:cNvPr id="57" name="Text 20">
              <a:extLst>
                <a:ext uri="{FF2B5EF4-FFF2-40B4-BE49-F238E27FC236}">
                  <a16:creationId xmlns:a16="http://schemas.microsoft.com/office/drawing/2014/main" id="{0D61780A-C1BA-55B8-E946-9E0D5051E1B1}"/>
                </a:ext>
              </a:extLst>
            </p:cNvPr>
            <p:cNvSpPr/>
            <p:nvPr/>
          </p:nvSpPr>
          <p:spPr>
            <a:xfrm>
              <a:off x="7168896" y="1408176"/>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CTA, inline highlights</a:t>
              </a:r>
              <a:endParaRPr lang="en-US" sz="600"/>
            </a:p>
          </p:txBody>
        </p:sp>
      </p:grpSp>
      <p:grpSp>
        <p:nvGrpSpPr>
          <p:cNvPr id="61" name="Group 60">
            <a:extLst>
              <a:ext uri="{FF2B5EF4-FFF2-40B4-BE49-F238E27FC236}">
                <a16:creationId xmlns:a16="http://schemas.microsoft.com/office/drawing/2014/main" id="{68A3B11C-1B36-CA39-CAE6-484AC8257D09}"/>
              </a:ext>
            </a:extLst>
          </p:cNvPr>
          <p:cNvGrpSpPr/>
          <p:nvPr/>
        </p:nvGrpSpPr>
        <p:grpSpPr>
          <a:xfrm>
            <a:off x="7572619" y="2304577"/>
            <a:ext cx="1348353" cy="750787"/>
            <a:chOff x="5449824" y="1975104"/>
            <a:chExt cx="1609344" cy="896112"/>
          </a:xfrm>
        </p:grpSpPr>
        <p:sp>
          <p:nvSpPr>
            <p:cNvPr id="75" name="Shape 33">
              <a:extLst>
                <a:ext uri="{FF2B5EF4-FFF2-40B4-BE49-F238E27FC236}">
                  <a16:creationId xmlns:a16="http://schemas.microsoft.com/office/drawing/2014/main" id="{99378001-4FDC-EA11-775D-D9D8B6026DF9}"/>
                </a:ext>
              </a:extLst>
            </p:cNvPr>
            <p:cNvSpPr/>
            <p:nvPr/>
          </p:nvSpPr>
          <p:spPr>
            <a:xfrm>
              <a:off x="5449824" y="1975104"/>
              <a:ext cx="1609344" cy="566928"/>
            </a:xfrm>
            <a:prstGeom prst="roundRect">
              <a:avLst>
                <a:gd name="adj" fmla="val 9677"/>
              </a:avLst>
            </a:prstGeom>
            <a:solidFill>
              <a:srgbClr val="9FE6FF"/>
            </a:solidFill>
            <a:ln w="12700">
              <a:solidFill>
                <a:srgbClr val="9FE6FF"/>
              </a:solidFill>
              <a:prstDash val="solid"/>
            </a:ln>
            <a:effectLst>
              <a:outerShdw blurRad="101600" dist="25400" dir="8100000" algn="bl" rotWithShape="0">
                <a:srgbClr val="000000">
                  <a:alpha val="12000"/>
                </a:srgbClr>
              </a:outerShdw>
            </a:effectLst>
          </p:spPr>
          <p:txBody>
            <a:bodyPr/>
            <a:lstStyle/>
            <a:p>
              <a:endParaRPr lang="en-NL" sz="1600"/>
            </a:p>
          </p:txBody>
        </p:sp>
        <p:sp>
          <p:nvSpPr>
            <p:cNvPr id="77" name="Text 34">
              <a:extLst>
                <a:ext uri="{FF2B5EF4-FFF2-40B4-BE49-F238E27FC236}">
                  <a16:creationId xmlns:a16="http://schemas.microsoft.com/office/drawing/2014/main" id="{7B34AB64-6FFE-956B-1675-59A46726467C}"/>
                </a:ext>
              </a:extLst>
            </p:cNvPr>
            <p:cNvSpPr/>
            <p:nvPr/>
          </p:nvSpPr>
          <p:spPr>
            <a:xfrm>
              <a:off x="5449824" y="2011680"/>
              <a:ext cx="1609344" cy="201168"/>
            </a:xfrm>
            <a:prstGeom prst="rect">
              <a:avLst/>
            </a:prstGeom>
            <a:noFill/>
            <a:ln/>
          </p:spPr>
          <p:txBody>
            <a:bodyPr wrap="square" lIns="0" tIns="0" rIns="0" bIns="0" rtlCol="0" anchor="ctr"/>
            <a:lstStyle/>
            <a:p>
              <a:pPr algn="ctr"/>
              <a:r>
                <a:rPr lang="en-US" sz="800" b="1">
                  <a:solidFill>
                    <a:srgbClr val="FFFFFF"/>
                  </a:solidFill>
                  <a:latin typeface="Space Grotesk" pitchFamily="34" charset="0"/>
                  <a:ea typeface="Space Grotesk" pitchFamily="34" charset="-122"/>
                  <a:cs typeface="Space Grotesk" pitchFamily="34" charset="-120"/>
                </a:rPr>
                <a:t>#9FE6FF</a:t>
              </a:r>
              <a:endParaRPr lang="en-US" sz="800"/>
            </a:p>
          </p:txBody>
        </p:sp>
        <p:sp>
          <p:nvSpPr>
            <p:cNvPr id="80" name="Text 35">
              <a:extLst>
                <a:ext uri="{FF2B5EF4-FFF2-40B4-BE49-F238E27FC236}">
                  <a16:creationId xmlns:a16="http://schemas.microsoft.com/office/drawing/2014/main" id="{089C7B90-C489-093B-D40B-500B884786DC}"/>
                </a:ext>
              </a:extLst>
            </p:cNvPr>
            <p:cNvSpPr/>
            <p:nvPr/>
          </p:nvSpPr>
          <p:spPr>
            <a:xfrm>
              <a:off x="5449824" y="2578608"/>
              <a:ext cx="1609344" cy="164592"/>
            </a:xfrm>
            <a:prstGeom prst="rect">
              <a:avLst/>
            </a:prstGeom>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 Tint</a:t>
              </a:r>
              <a:endParaRPr lang="en-US" sz="800">
                <a:solidFill>
                  <a:srgbClr val="0D006A"/>
                </a:solidFill>
              </a:endParaRPr>
            </a:p>
          </p:txBody>
        </p:sp>
        <p:sp>
          <p:nvSpPr>
            <p:cNvPr id="93" name="Text 36">
              <a:extLst>
                <a:ext uri="{FF2B5EF4-FFF2-40B4-BE49-F238E27FC236}">
                  <a16:creationId xmlns:a16="http://schemas.microsoft.com/office/drawing/2014/main" id="{AA0EBF61-ED81-5D5C-B569-949E46B504A7}"/>
                </a:ext>
              </a:extLst>
            </p:cNvPr>
            <p:cNvSpPr/>
            <p:nvPr/>
          </p:nvSpPr>
          <p:spPr>
            <a:xfrm>
              <a:off x="5449824" y="2724912"/>
              <a:ext cx="1609344" cy="146304"/>
            </a:xfrm>
            <a:prstGeom prst="rect">
              <a:avLst/>
            </a:prstGeom>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Teal</a:t>
              </a:r>
              <a:endParaRPr lang="en-US" sz="600"/>
            </a:p>
          </p:txBody>
        </p:sp>
      </p:grpSp>
      <p:grpSp>
        <p:nvGrpSpPr>
          <p:cNvPr id="96" name="Group 95">
            <a:extLst>
              <a:ext uri="{FF2B5EF4-FFF2-40B4-BE49-F238E27FC236}">
                <a16:creationId xmlns:a16="http://schemas.microsoft.com/office/drawing/2014/main" id="{7D244B2E-3445-43BD-3E29-424AC8D4EEC3}"/>
              </a:ext>
            </a:extLst>
          </p:cNvPr>
          <p:cNvGrpSpPr/>
          <p:nvPr/>
        </p:nvGrpSpPr>
        <p:grpSpPr>
          <a:xfrm>
            <a:off x="7572619" y="3453692"/>
            <a:ext cx="1348353" cy="740208"/>
            <a:chOff x="7168896" y="3262521"/>
            <a:chExt cx="1609344" cy="883485"/>
          </a:xfrm>
        </p:grpSpPr>
        <p:grpSp>
          <p:nvGrpSpPr>
            <p:cNvPr id="97" name="Group 96">
              <a:extLst>
                <a:ext uri="{FF2B5EF4-FFF2-40B4-BE49-F238E27FC236}">
                  <a16:creationId xmlns:a16="http://schemas.microsoft.com/office/drawing/2014/main" id="{06E8CBD3-EC2E-3BAF-47E2-6EDBED7D8D2D}"/>
                </a:ext>
              </a:extLst>
            </p:cNvPr>
            <p:cNvGrpSpPr/>
            <p:nvPr/>
          </p:nvGrpSpPr>
          <p:grpSpPr>
            <a:xfrm>
              <a:off x="7168896" y="3262521"/>
              <a:ext cx="1609344" cy="883485"/>
              <a:chOff x="5449824" y="3291840"/>
              <a:chExt cx="1609344" cy="883485"/>
            </a:xfrm>
          </p:grpSpPr>
          <p:sp>
            <p:nvSpPr>
              <p:cNvPr id="99" name="Shape 57">
                <a:extLst>
                  <a:ext uri="{FF2B5EF4-FFF2-40B4-BE49-F238E27FC236}">
                    <a16:creationId xmlns:a16="http://schemas.microsoft.com/office/drawing/2014/main" id="{5919DAFD-6488-33AE-2E78-EBFDF8229B20}"/>
                  </a:ext>
                </a:extLst>
              </p:cNvPr>
              <p:cNvSpPr/>
              <p:nvPr/>
            </p:nvSpPr>
            <p:spPr>
              <a:xfrm>
                <a:off x="5449824" y="3291840"/>
                <a:ext cx="1609344" cy="566928"/>
              </a:xfrm>
              <a:prstGeom prst="roundRect">
                <a:avLst>
                  <a:gd name="adj" fmla="val 9677"/>
                </a:avLst>
              </a:prstGeom>
              <a:solidFill>
                <a:srgbClr val="E7F9FF"/>
              </a:solidFill>
              <a:ln w="12700">
                <a:noFill/>
                <a:prstDash val="solid"/>
              </a:ln>
              <a:effectLst>
                <a:outerShdw blurRad="101600" dist="25400" dir="8100000" algn="bl" rotWithShape="0">
                  <a:srgbClr val="000000">
                    <a:alpha val="12000"/>
                  </a:srgbClr>
                </a:outerShdw>
              </a:effectLst>
            </p:spPr>
            <p:txBody>
              <a:bodyPr/>
              <a:lstStyle/>
              <a:p>
                <a:endParaRPr lang="en-NL" sz="1600"/>
              </a:p>
            </p:txBody>
          </p:sp>
          <p:sp>
            <p:nvSpPr>
              <p:cNvPr id="100" name="Text 35">
                <a:extLst>
                  <a:ext uri="{FF2B5EF4-FFF2-40B4-BE49-F238E27FC236}">
                    <a16:creationId xmlns:a16="http://schemas.microsoft.com/office/drawing/2014/main" id="{477B676F-6D9B-6794-27BD-A27378A52096}"/>
                  </a:ext>
                </a:extLst>
              </p:cNvPr>
              <p:cNvSpPr/>
              <p:nvPr/>
            </p:nvSpPr>
            <p:spPr>
              <a:xfrm>
                <a:off x="5449824" y="3882717"/>
                <a:ext cx="1609344" cy="164592"/>
              </a:xfrm>
              <a:prstGeom prst="rect">
                <a:avLst/>
              </a:prstGeom>
              <a:noFill/>
              <a:ln>
                <a:noFill/>
              </a:ln>
            </p:spPr>
            <p:txBody>
              <a:bodyPr wrap="square" lIns="0" tIns="0" rIns="0" bIns="0" rtlCol="0" anchor="ctr"/>
              <a:lstStyle/>
              <a:p>
                <a:pPr marL="0" indent="0" algn="ctr">
                  <a:buNone/>
                </a:pPr>
                <a:r>
                  <a:rPr lang="en-US" sz="800" b="1">
                    <a:solidFill>
                      <a:srgbClr val="0D006A"/>
                    </a:solidFill>
                    <a:latin typeface="Space Grotesk" pitchFamily="34" charset="0"/>
                    <a:ea typeface="Space Grotesk" pitchFamily="34" charset="-122"/>
                    <a:cs typeface="Space Grotesk" pitchFamily="34" charset="-120"/>
                  </a:rPr>
                  <a:t>Teal Background</a:t>
                </a:r>
              </a:p>
            </p:txBody>
          </p:sp>
          <p:sp>
            <p:nvSpPr>
              <p:cNvPr id="101" name="Text 36">
                <a:extLst>
                  <a:ext uri="{FF2B5EF4-FFF2-40B4-BE49-F238E27FC236}">
                    <a16:creationId xmlns:a16="http://schemas.microsoft.com/office/drawing/2014/main" id="{224AE7ED-59FB-0553-0898-5003C15E7A3D}"/>
                  </a:ext>
                </a:extLst>
              </p:cNvPr>
              <p:cNvSpPr/>
              <p:nvPr/>
            </p:nvSpPr>
            <p:spPr>
              <a:xfrm>
                <a:off x="5449824" y="4029021"/>
                <a:ext cx="1609344" cy="146304"/>
              </a:xfrm>
              <a:prstGeom prst="rect">
                <a:avLst/>
              </a:prstGeom>
              <a:noFill/>
              <a:ln>
                <a:noFill/>
              </a:ln>
            </p:spPr>
            <p:txBody>
              <a:bodyPr wrap="square" lIns="0" tIns="0" rIns="0" bIns="0" rtlCol="0" anchor="ctr"/>
              <a:lstStyle/>
              <a:p>
                <a:pPr marL="0" indent="0" algn="ctr">
                  <a:buNone/>
                </a:pPr>
                <a:r>
                  <a:rPr lang="en-US" sz="600">
                    <a:solidFill>
                      <a:srgbClr val="536379"/>
                    </a:solidFill>
                    <a:latin typeface="Space Grotesk" pitchFamily="34" charset="0"/>
                    <a:ea typeface="Space Grotesk" pitchFamily="34" charset="-122"/>
                    <a:cs typeface="Space Grotesk" pitchFamily="34" charset="-120"/>
                  </a:rPr>
                  <a:t>Derived from Teal </a:t>
                </a:r>
                <a:endParaRPr lang="en-US" sz="600"/>
              </a:p>
            </p:txBody>
          </p:sp>
        </p:grpSp>
        <p:sp>
          <p:nvSpPr>
            <p:cNvPr id="98" name="TextBox 97">
              <a:extLst>
                <a:ext uri="{FF2B5EF4-FFF2-40B4-BE49-F238E27FC236}">
                  <a16:creationId xmlns:a16="http://schemas.microsoft.com/office/drawing/2014/main" id="{4ECAD826-74A4-B74E-AB60-9451EF985DEC}"/>
                </a:ext>
              </a:extLst>
            </p:cNvPr>
            <p:cNvSpPr txBox="1"/>
            <p:nvPr/>
          </p:nvSpPr>
          <p:spPr>
            <a:xfrm>
              <a:off x="7607808" y="3323771"/>
              <a:ext cx="798286" cy="257146"/>
            </a:xfrm>
            <a:prstGeom prst="rect">
              <a:avLst/>
            </a:prstGeom>
            <a:ln>
              <a:noFill/>
            </a:ln>
          </p:spPr>
          <p:txBody>
            <a:bodyPr wrap="square">
              <a:spAutoFit/>
            </a:bodyPr>
            <a:lstStyle/>
            <a:p>
              <a:r>
                <a:rPr lang="en-US" sz="800" b="1">
                  <a:solidFill>
                    <a:srgbClr val="0D006A"/>
                  </a:solidFill>
                  <a:latin typeface="Space Grotesk" pitchFamily="2" charset="0"/>
                  <a:cs typeface="Space Grotesk" pitchFamily="2" charset="0"/>
                </a:rPr>
                <a:t>#E7F9FF</a:t>
              </a:r>
              <a:endParaRPr lang="en-NL" sz="800" b="1">
                <a:solidFill>
                  <a:srgbClr val="0D006A"/>
                </a:solidFill>
                <a:latin typeface="Space Grotesk" pitchFamily="2" charset="0"/>
                <a:cs typeface="Space Grotesk" pitchFamily="2" charset="0"/>
              </a:endParaRPr>
            </a:p>
          </p:txBody>
        </p:sp>
      </p:grpSp>
    </p:spTree>
    <p:extLst>
      <p:ext uri="{BB962C8B-B14F-4D97-AF65-F5344CB8AC3E}">
        <p14:creationId xmlns:p14="http://schemas.microsoft.com/office/powerpoint/2010/main" val="104079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71EBF-A21C-CA7D-F927-9B2190E6D9CA}"/>
            </a:ext>
          </a:extLst>
        </p:cNvPr>
        <p:cNvGrpSpPr/>
        <p:nvPr/>
      </p:nvGrpSpPr>
      <p:grpSpPr>
        <a:xfrm>
          <a:off x="0" y="0"/>
          <a:ext cx="0" cy="0"/>
          <a:chOff x="0" y="0"/>
          <a:chExt cx="0" cy="0"/>
        </a:xfrm>
      </p:grpSpPr>
      <p:sp>
        <p:nvSpPr>
          <p:cNvPr id="4" name="Tekstvak 5" descr="MVX23_Logo_Basislogo_Full_colour_Wit">
            <a:extLst>
              <a:ext uri="{FF2B5EF4-FFF2-40B4-BE49-F238E27FC236}">
                <a16:creationId xmlns:a16="http://schemas.microsoft.com/office/drawing/2014/main" id="{55B8AB06-8B9F-25B3-505E-83D9FCABEDEA}"/>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F04E5B"/>
                </a:solidFill>
                <a:latin typeface="Space Grotesk" pitchFamily="2" charset="0"/>
                <a:cs typeface="Space Grotesk" pitchFamily="2" charset="0"/>
              </a:rPr>
              <a:t>Color usage </a:t>
            </a:r>
            <a:r>
              <a:rPr lang="en-US" sz="2100" b="1">
                <a:solidFill>
                  <a:srgbClr val="F59235"/>
                </a:solidFill>
                <a:latin typeface="Space Grotesk" pitchFamily="2" charset="0"/>
                <a:cs typeface="Space Grotesk" pitchFamily="2" charset="0"/>
              </a:rPr>
              <a:t>I “How do I pick the right color?”</a:t>
            </a:r>
            <a:endParaRPr lang="en-US" sz="2550">
              <a:solidFill>
                <a:srgbClr val="F04E5B"/>
              </a:solidFill>
              <a:latin typeface="Space Grotesk" pitchFamily="2" charset="0"/>
              <a:cs typeface="Space Grotesk" pitchFamily="2" charset="0"/>
            </a:endParaRPr>
          </a:p>
        </p:txBody>
      </p:sp>
      <p:sp>
        <p:nvSpPr>
          <p:cNvPr id="2" name="Tekstvak 5" descr="MVX23_Logo_Basislogo_Full_colour_Wit">
            <a:extLst>
              <a:ext uri="{FF2B5EF4-FFF2-40B4-BE49-F238E27FC236}">
                <a16:creationId xmlns:a16="http://schemas.microsoft.com/office/drawing/2014/main" id="{BA06C1C9-543C-2C30-8475-C71E175D2DD6}"/>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 guide</a:t>
            </a:r>
          </a:p>
        </p:txBody>
      </p:sp>
      <p:sp>
        <p:nvSpPr>
          <p:cNvPr id="87" name="TextBox 86">
            <a:extLst>
              <a:ext uri="{FF2B5EF4-FFF2-40B4-BE49-F238E27FC236}">
                <a16:creationId xmlns:a16="http://schemas.microsoft.com/office/drawing/2014/main" id="{42CB9E6C-419D-B246-DD30-B9B249454B80}"/>
              </a:ext>
            </a:extLst>
          </p:cNvPr>
          <p:cNvSpPr txBox="1"/>
          <p:nvPr/>
        </p:nvSpPr>
        <p:spPr>
          <a:xfrm>
            <a:off x="405765" y="1320015"/>
            <a:ext cx="7261860" cy="1159805"/>
          </a:xfrm>
          <a:prstGeom prst="rect">
            <a:avLst/>
          </a:prstGeom>
          <a:noFill/>
        </p:spPr>
        <p:txBody>
          <a:bodyPr wrap="square">
            <a:spAutoFit/>
          </a:bodyPr>
          <a:lstStyle/>
          <a:p>
            <a:pPr>
              <a:lnSpc>
                <a:spcPct val="150000"/>
              </a:lnSpc>
            </a:pPr>
            <a:r>
              <a:rPr lang="en-US" sz="1800" b="1">
                <a:solidFill>
                  <a:srgbClr val="0D006A"/>
                </a:solidFill>
                <a:latin typeface="Raleway" panose="020B0003030101060003" pitchFamily="34" charset="0"/>
              </a:rPr>
              <a:t>The </a:t>
            </a:r>
            <a:r>
              <a:rPr lang="en-US" sz="1800" b="1">
                <a:solidFill>
                  <a:srgbClr val="F59235"/>
                </a:solidFill>
                <a:latin typeface="Raleway" panose="020B0003030101060003" pitchFamily="34" charset="0"/>
              </a:rPr>
              <a:t>lighter</a:t>
            </a:r>
            <a:r>
              <a:rPr lang="en-US" sz="1800" b="1">
                <a:solidFill>
                  <a:srgbClr val="0D006A"/>
                </a:solidFill>
                <a:latin typeface="Raleway" panose="020B0003030101060003" pitchFamily="34" charset="0"/>
              </a:rPr>
              <a:t> the </a:t>
            </a:r>
            <a:r>
              <a:rPr lang="en-US" sz="1800" b="1">
                <a:solidFill>
                  <a:srgbClr val="FBD3AF"/>
                </a:solidFill>
                <a:latin typeface="Raleway" panose="020B0003030101060003" pitchFamily="34" charset="0"/>
              </a:rPr>
              <a:t>background</a:t>
            </a:r>
            <a:r>
              <a:rPr lang="en-US" sz="1800" b="1">
                <a:solidFill>
                  <a:srgbClr val="0D006A"/>
                </a:solidFill>
                <a:latin typeface="Raleway" panose="020B0003030101060003" pitchFamily="34" charset="0"/>
              </a:rPr>
              <a:t> – the </a:t>
            </a:r>
            <a:r>
              <a:rPr lang="en-US" sz="1800" b="1">
                <a:solidFill>
                  <a:srgbClr val="EF4453"/>
                </a:solidFill>
                <a:latin typeface="Raleway" panose="020B0003030101060003" pitchFamily="34" charset="0"/>
              </a:rPr>
              <a:t>darker</a:t>
            </a:r>
            <a:r>
              <a:rPr lang="en-US" sz="1800" b="1">
                <a:solidFill>
                  <a:srgbClr val="0D006A"/>
                </a:solidFill>
                <a:latin typeface="Raleway" panose="020B0003030101060003" pitchFamily="34" charset="0"/>
              </a:rPr>
              <a:t> the </a:t>
            </a:r>
            <a:r>
              <a:rPr lang="en-US" sz="1800" b="1">
                <a:solidFill>
                  <a:srgbClr val="FF0000"/>
                </a:solidFill>
                <a:latin typeface="Raleway" panose="020B0003030101060003" pitchFamily="34" charset="0"/>
              </a:rPr>
              <a:t>highlights</a:t>
            </a:r>
          </a:p>
          <a:p>
            <a:pPr marL="557213" lvl="1" indent="-214313">
              <a:lnSpc>
                <a:spcPct val="150000"/>
              </a:lnSpc>
              <a:buFont typeface="Arial" panose="020B0604020202020204" pitchFamily="34" charset="0"/>
              <a:buChar char="•"/>
            </a:pPr>
            <a:r>
              <a:rPr lang="en-US" sz="1500">
                <a:solidFill>
                  <a:srgbClr val="0D006A"/>
                </a:solidFill>
                <a:latin typeface="Raleway" panose="020B0003030101060003" pitchFamily="34" charset="0"/>
              </a:rPr>
              <a:t>Use </a:t>
            </a:r>
            <a:r>
              <a:rPr lang="en-US" sz="1500" b="1">
                <a:solidFill>
                  <a:srgbClr val="7030A0"/>
                </a:solidFill>
                <a:latin typeface="Raleway" panose="020B0003030101060003" pitchFamily="34" charset="0"/>
              </a:rPr>
              <a:t>hard</a:t>
            </a:r>
            <a:r>
              <a:rPr lang="en-US" sz="1500">
                <a:solidFill>
                  <a:srgbClr val="0D006A"/>
                </a:solidFill>
                <a:latin typeface="Raleway" panose="020B0003030101060003" pitchFamily="34" charset="0"/>
              </a:rPr>
              <a:t> or </a:t>
            </a:r>
            <a:r>
              <a:rPr lang="en-US" sz="1500" b="1">
                <a:solidFill>
                  <a:srgbClr val="7030A0"/>
                </a:solidFill>
                <a:latin typeface="Raleway" panose="020B0003030101060003" pitchFamily="34" charset="0"/>
              </a:rPr>
              <a:t>darkened</a:t>
            </a:r>
            <a:r>
              <a:rPr lang="en-US" sz="1500">
                <a:solidFill>
                  <a:srgbClr val="0D006A"/>
                </a:solidFill>
                <a:latin typeface="Raleway" panose="020B0003030101060003" pitchFamily="34" charset="0"/>
              </a:rPr>
              <a:t> colors for </a:t>
            </a:r>
            <a:r>
              <a:rPr lang="en-US" sz="1500" b="1">
                <a:solidFill>
                  <a:srgbClr val="7030A0"/>
                </a:solidFill>
                <a:latin typeface="Raleway" panose="020B0003030101060003" pitchFamily="34" charset="0"/>
              </a:rPr>
              <a:t>light</a:t>
            </a:r>
            <a:r>
              <a:rPr lang="en-US" sz="1500" b="1">
                <a:solidFill>
                  <a:srgbClr val="002A13"/>
                </a:solidFill>
                <a:latin typeface="Raleway" panose="020B0003030101060003" pitchFamily="34" charset="0"/>
              </a:rPr>
              <a:t> </a:t>
            </a:r>
            <a:r>
              <a:rPr lang="en-US" sz="1500" b="1">
                <a:solidFill>
                  <a:srgbClr val="7030A0"/>
                </a:solidFill>
                <a:latin typeface="Raleway" panose="020B0003030101060003" pitchFamily="34" charset="0"/>
              </a:rPr>
              <a:t>backgrounds</a:t>
            </a:r>
          </a:p>
          <a:p>
            <a:pPr marL="900113" lvl="2" indent="-214313">
              <a:lnSpc>
                <a:spcPct val="150000"/>
              </a:lnSpc>
              <a:buFont typeface="Arial" panose="020B0604020202020204" pitchFamily="34" charset="0"/>
              <a:buChar char="•"/>
            </a:pPr>
            <a:r>
              <a:rPr lang="en-US" sz="1500">
                <a:solidFill>
                  <a:schemeClr val="bg1">
                    <a:lumMod val="85000"/>
                  </a:schemeClr>
                </a:solidFill>
                <a:highlight>
                  <a:srgbClr val="262626"/>
                </a:highlight>
                <a:latin typeface="Raleway" panose="020B0003030101060003" pitchFamily="34" charset="0"/>
              </a:rPr>
              <a:t>And</a:t>
            </a:r>
            <a:r>
              <a:rPr lang="en-US" sz="1500">
                <a:solidFill>
                  <a:srgbClr val="C5BDFF"/>
                </a:solidFill>
                <a:highlight>
                  <a:srgbClr val="262626"/>
                </a:highlight>
                <a:latin typeface="Raleway" panose="020B0003030101060003" pitchFamily="34" charset="0"/>
              </a:rPr>
              <a:t> </a:t>
            </a:r>
            <a:r>
              <a:rPr lang="en-US" sz="1500" b="1">
                <a:solidFill>
                  <a:srgbClr val="C5BDFF"/>
                </a:solidFill>
                <a:highlight>
                  <a:srgbClr val="262626"/>
                </a:highlight>
                <a:latin typeface="Raleway" panose="020B0003030101060003" pitchFamily="34" charset="0"/>
              </a:rPr>
              <a:t>pastel</a:t>
            </a:r>
            <a:r>
              <a:rPr lang="en-US" sz="1500">
                <a:solidFill>
                  <a:srgbClr val="C5BDFF"/>
                </a:solidFill>
                <a:highlight>
                  <a:srgbClr val="262626"/>
                </a:highlight>
                <a:latin typeface="Raleway" panose="020B0003030101060003" pitchFamily="34" charset="0"/>
              </a:rPr>
              <a:t> </a:t>
            </a:r>
            <a:r>
              <a:rPr lang="en-US" sz="1500">
                <a:solidFill>
                  <a:schemeClr val="bg1">
                    <a:lumMod val="85000"/>
                  </a:schemeClr>
                </a:solidFill>
                <a:highlight>
                  <a:srgbClr val="262626"/>
                </a:highlight>
                <a:latin typeface="Raleway" panose="020B0003030101060003" pitchFamily="34" charset="0"/>
              </a:rPr>
              <a:t>colors</a:t>
            </a:r>
            <a:r>
              <a:rPr lang="en-US" sz="1500">
                <a:solidFill>
                  <a:srgbClr val="C5BDFF"/>
                </a:solidFill>
                <a:highlight>
                  <a:srgbClr val="262626"/>
                </a:highlight>
                <a:latin typeface="Raleway" panose="020B0003030101060003" pitchFamily="34" charset="0"/>
              </a:rPr>
              <a:t> </a:t>
            </a:r>
            <a:r>
              <a:rPr lang="en-US" sz="1500">
                <a:solidFill>
                  <a:schemeClr val="bg1">
                    <a:lumMod val="85000"/>
                  </a:schemeClr>
                </a:solidFill>
                <a:highlight>
                  <a:srgbClr val="262626"/>
                </a:highlight>
                <a:latin typeface="Raleway" panose="020B0003030101060003" pitchFamily="34" charset="0"/>
              </a:rPr>
              <a:t>for</a:t>
            </a:r>
            <a:r>
              <a:rPr lang="en-US" sz="1500">
                <a:solidFill>
                  <a:srgbClr val="C5BDFF"/>
                </a:solidFill>
                <a:highlight>
                  <a:srgbClr val="262626"/>
                </a:highlight>
                <a:latin typeface="Raleway" panose="020B0003030101060003" pitchFamily="34" charset="0"/>
              </a:rPr>
              <a:t> </a:t>
            </a:r>
            <a:r>
              <a:rPr lang="en-US" sz="1500">
                <a:solidFill>
                  <a:srgbClr val="FBD3AF"/>
                </a:solidFill>
                <a:highlight>
                  <a:srgbClr val="262626"/>
                </a:highlight>
                <a:latin typeface="Raleway" panose="020B0003030101060003" pitchFamily="34" charset="0"/>
              </a:rPr>
              <a:t>dark</a:t>
            </a:r>
            <a:r>
              <a:rPr lang="en-US" sz="1500">
                <a:solidFill>
                  <a:srgbClr val="C5BDFF"/>
                </a:solidFill>
                <a:highlight>
                  <a:srgbClr val="262626"/>
                </a:highlight>
                <a:latin typeface="Raleway" panose="020B0003030101060003" pitchFamily="34" charset="0"/>
              </a:rPr>
              <a:t> </a:t>
            </a:r>
            <a:r>
              <a:rPr lang="en-US" sz="1500">
                <a:solidFill>
                  <a:srgbClr val="F4808B"/>
                </a:solidFill>
                <a:highlight>
                  <a:srgbClr val="262626"/>
                </a:highlight>
                <a:latin typeface="Raleway" panose="020B0003030101060003" pitchFamily="34" charset="0"/>
              </a:rPr>
              <a:t>backgrounds</a:t>
            </a:r>
          </a:p>
        </p:txBody>
      </p:sp>
      <p:sp>
        <p:nvSpPr>
          <p:cNvPr id="12" name="TextBox 11">
            <a:extLst>
              <a:ext uri="{FF2B5EF4-FFF2-40B4-BE49-F238E27FC236}">
                <a16:creationId xmlns:a16="http://schemas.microsoft.com/office/drawing/2014/main" id="{4D63AD90-B730-6F20-C5EB-DA2EC8563EC5}"/>
              </a:ext>
            </a:extLst>
          </p:cNvPr>
          <p:cNvSpPr txBox="1"/>
          <p:nvPr/>
        </p:nvSpPr>
        <p:spPr>
          <a:xfrm>
            <a:off x="405765" y="2600702"/>
            <a:ext cx="5890260" cy="874663"/>
          </a:xfrm>
          <a:prstGeom prst="rect">
            <a:avLst/>
          </a:prstGeom>
          <a:noFill/>
        </p:spPr>
        <p:txBody>
          <a:bodyPr wrap="square">
            <a:spAutoFit/>
          </a:bodyPr>
          <a:lstStyle/>
          <a:p>
            <a:pPr>
              <a:lnSpc>
                <a:spcPct val="150000"/>
              </a:lnSpc>
            </a:pPr>
            <a:r>
              <a:rPr lang="en-US" sz="1800" b="1">
                <a:solidFill>
                  <a:srgbClr val="00668A"/>
                </a:solidFill>
                <a:latin typeface="Raleway" panose="020B0003030101060003" pitchFamily="34" charset="0"/>
              </a:rPr>
              <a:t>New colors </a:t>
            </a:r>
            <a:r>
              <a:rPr lang="en-US" sz="1800" b="1">
                <a:solidFill>
                  <a:srgbClr val="F59235"/>
                </a:solidFill>
                <a:latin typeface="Raleway" panose="020B0003030101060003" pitchFamily="34" charset="0"/>
              </a:rPr>
              <a:t>should always be introduced by </a:t>
            </a:r>
            <a:r>
              <a:rPr lang="en-US" sz="1800" b="1">
                <a:solidFill>
                  <a:srgbClr val="71DAFF"/>
                </a:solidFill>
                <a:latin typeface="Raleway" panose="020B0003030101060003" pitchFamily="34" charset="0"/>
              </a:rPr>
              <a:t>adding </a:t>
            </a:r>
            <a:r>
              <a:rPr lang="en-US" sz="1800" b="1">
                <a:solidFill>
                  <a:srgbClr val="0D006A"/>
                </a:solidFill>
                <a:latin typeface="Raleway" panose="020B0003030101060003" pitchFamily="34" charset="0"/>
              </a:rPr>
              <a:t> </a:t>
            </a:r>
            <a:r>
              <a:rPr lang="en-US" sz="1800" b="1">
                <a:solidFill>
                  <a:srgbClr val="F59235"/>
                </a:solidFill>
                <a:latin typeface="Raleway" panose="020B0003030101060003" pitchFamily="34" charset="0"/>
              </a:rPr>
              <a:t>or</a:t>
            </a:r>
            <a:r>
              <a:rPr lang="en-US" sz="1800" b="1">
                <a:solidFill>
                  <a:srgbClr val="0D006A"/>
                </a:solidFill>
                <a:latin typeface="Raleway" panose="020B0003030101060003" pitchFamily="34" charset="0"/>
              </a:rPr>
              <a:t> </a:t>
            </a:r>
            <a:r>
              <a:rPr lang="en-US" sz="1800" b="1">
                <a:solidFill>
                  <a:srgbClr val="002E3E"/>
                </a:solidFill>
                <a:latin typeface="Raleway" panose="020B0003030101060003" pitchFamily="34" charset="0"/>
              </a:rPr>
              <a:t>removing</a:t>
            </a:r>
            <a:r>
              <a:rPr lang="en-US" sz="1800" b="1">
                <a:solidFill>
                  <a:srgbClr val="0D006A"/>
                </a:solidFill>
                <a:latin typeface="Raleway" panose="020B0003030101060003" pitchFamily="34" charset="0"/>
              </a:rPr>
              <a:t> </a:t>
            </a:r>
            <a:r>
              <a:rPr lang="en-US" sz="1800" b="1">
                <a:solidFill>
                  <a:srgbClr val="F59235"/>
                </a:solidFill>
                <a:latin typeface="Raleway" panose="020B0003030101060003" pitchFamily="34" charset="0"/>
              </a:rPr>
              <a:t>brightness to </a:t>
            </a:r>
            <a:r>
              <a:rPr lang="en-US" sz="1800" b="1">
                <a:solidFill>
                  <a:srgbClr val="00668A"/>
                </a:solidFill>
                <a:latin typeface="Raleway" panose="020B0003030101060003" pitchFamily="34" charset="0"/>
              </a:rPr>
              <a:t>existing colors</a:t>
            </a:r>
          </a:p>
        </p:txBody>
      </p:sp>
      <p:grpSp>
        <p:nvGrpSpPr>
          <p:cNvPr id="17" name="Group 16">
            <a:extLst>
              <a:ext uri="{FF2B5EF4-FFF2-40B4-BE49-F238E27FC236}">
                <a16:creationId xmlns:a16="http://schemas.microsoft.com/office/drawing/2014/main" id="{4C507C25-83DB-4FFB-0961-EBE1C23C6B09}"/>
              </a:ext>
            </a:extLst>
          </p:cNvPr>
          <p:cNvGrpSpPr/>
          <p:nvPr/>
        </p:nvGrpSpPr>
        <p:grpSpPr>
          <a:xfrm>
            <a:off x="5000626" y="1816323"/>
            <a:ext cx="3988199" cy="2685612"/>
            <a:chOff x="7901727" y="3596108"/>
            <a:chExt cx="3749253" cy="2524708"/>
          </a:xfrm>
        </p:grpSpPr>
        <p:sp>
          <p:nvSpPr>
            <p:cNvPr id="14" name="Rechthoek 7">
              <a:extLst>
                <a:ext uri="{FF2B5EF4-FFF2-40B4-BE49-F238E27FC236}">
                  <a16:creationId xmlns:a16="http://schemas.microsoft.com/office/drawing/2014/main" id="{380D5E98-BB13-B3D0-5683-FADC8A69959C}"/>
                </a:ext>
              </a:extLst>
            </p:cNvPr>
            <p:cNvSpPr/>
            <p:nvPr/>
          </p:nvSpPr>
          <p:spPr bwMode="auto">
            <a:xfrm>
              <a:off x="9343456" y="3596108"/>
              <a:ext cx="2307524" cy="2524708"/>
            </a:xfrm>
            <a:prstGeom prst="rect">
              <a:avLst/>
            </a:prstGeom>
            <a:noFill/>
            <a:ln w="38100">
              <a:solidFill>
                <a:srgbClr val="00668A"/>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cxnSp>
          <p:nvCxnSpPr>
            <p:cNvPr id="16" name="Rechte verbindingslijn 14">
              <a:extLst>
                <a:ext uri="{FF2B5EF4-FFF2-40B4-BE49-F238E27FC236}">
                  <a16:creationId xmlns:a16="http://schemas.microsoft.com/office/drawing/2014/main" id="{7B603672-CB2B-16EE-2E89-2D9A60ACFB99}"/>
                </a:ext>
              </a:extLst>
            </p:cNvPr>
            <p:cNvCxnSpPr>
              <a:cxnSpLocks/>
            </p:cNvCxnSpPr>
            <p:nvPr/>
          </p:nvCxnSpPr>
          <p:spPr>
            <a:xfrm flipH="1">
              <a:off x="7901727" y="5000772"/>
              <a:ext cx="1414866" cy="0"/>
            </a:xfrm>
            <a:prstGeom prst="line">
              <a:avLst/>
            </a:prstGeom>
            <a:ln w="38100">
              <a:solidFill>
                <a:srgbClr val="00668A"/>
              </a:solidFill>
              <a:prstDash val="dashDot"/>
            </a:ln>
          </p:spPr>
          <p:style>
            <a:lnRef idx="1">
              <a:schemeClr val="accent1"/>
            </a:lnRef>
            <a:fillRef idx="0">
              <a:schemeClr val="accent1"/>
            </a:fillRef>
            <a:effectRef idx="0">
              <a:schemeClr val="accent1"/>
            </a:effectRef>
            <a:fontRef idx="minor">
              <a:schemeClr val="tx1"/>
            </a:fontRef>
          </p:style>
        </p:cxnSp>
      </p:grpSp>
      <p:pic>
        <p:nvPicPr>
          <p:cNvPr id="22" name="Picture 21">
            <a:extLst>
              <a:ext uri="{FF2B5EF4-FFF2-40B4-BE49-F238E27FC236}">
                <a16:creationId xmlns:a16="http://schemas.microsoft.com/office/drawing/2014/main" id="{105175E4-21A3-DDEC-9A7F-3F967D2371B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624242" y="1888368"/>
            <a:ext cx="2300684" cy="2541004"/>
          </a:xfrm>
          <a:prstGeom prst="rect">
            <a:avLst/>
          </a:prstGeom>
        </p:spPr>
      </p:pic>
      <p:sp>
        <p:nvSpPr>
          <p:cNvPr id="24" name="TextBox 23">
            <a:extLst>
              <a:ext uri="{FF2B5EF4-FFF2-40B4-BE49-F238E27FC236}">
                <a16:creationId xmlns:a16="http://schemas.microsoft.com/office/drawing/2014/main" id="{2F5D8B19-39FB-0E24-3A6D-4CD27080C94C}"/>
              </a:ext>
            </a:extLst>
          </p:cNvPr>
          <p:cNvSpPr txBox="1"/>
          <p:nvPr/>
        </p:nvSpPr>
        <p:spPr>
          <a:xfrm>
            <a:off x="405765" y="3736299"/>
            <a:ext cx="5890260" cy="851580"/>
          </a:xfrm>
          <a:prstGeom prst="rect">
            <a:avLst/>
          </a:prstGeom>
          <a:noFill/>
        </p:spPr>
        <p:txBody>
          <a:bodyPr wrap="square" lIns="68580" tIns="34290" rIns="68580" bIns="34290" anchor="t">
            <a:spAutoFit/>
          </a:bodyPr>
          <a:lstStyle/>
          <a:p>
            <a:pPr>
              <a:lnSpc>
                <a:spcPct val="150000"/>
              </a:lnSpc>
            </a:pPr>
            <a:r>
              <a:rPr lang="en-US" sz="1800" b="1">
                <a:solidFill>
                  <a:srgbClr val="0D006A"/>
                </a:solidFill>
                <a:latin typeface="Raleway" panose="020B0003030101060003" pitchFamily="34" charset="0"/>
              </a:rPr>
              <a:t>Try using </a:t>
            </a:r>
            <a:r>
              <a:rPr lang="en-US" sz="1800" b="1">
                <a:solidFill>
                  <a:srgbClr val="F59235"/>
                </a:solidFill>
                <a:latin typeface="Raleway" panose="020B0003030101060003" pitchFamily="34" charset="0"/>
              </a:rPr>
              <a:t>no more than three </a:t>
            </a:r>
            <a:r>
              <a:rPr lang="en-US" sz="1800" b="1">
                <a:solidFill>
                  <a:srgbClr val="0D006A"/>
                </a:solidFill>
                <a:latin typeface="Raleway" panose="020B0003030101060003" pitchFamily="34" charset="0"/>
              </a:rPr>
              <a:t>base colors per slide</a:t>
            </a:r>
          </a:p>
          <a:p>
            <a:pPr marL="257175" indent="-257175">
              <a:lnSpc>
                <a:spcPct val="150000"/>
              </a:lnSpc>
              <a:buFont typeface="Arial" panose="020B0604020202020204" pitchFamily="34" charset="0"/>
              <a:buChar char="•"/>
            </a:pPr>
            <a:r>
              <a:rPr lang="en-US" sz="1800" b="1">
                <a:solidFill>
                  <a:srgbClr val="00668A"/>
                </a:solidFill>
                <a:latin typeface="Raleway"/>
              </a:rPr>
              <a:t>	</a:t>
            </a:r>
            <a:r>
              <a:rPr lang="en-US" sz="1500" b="1">
                <a:solidFill>
                  <a:srgbClr val="00668A"/>
                </a:solidFill>
                <a:latin typeface="Raleway"/>
              </a:rPr>
              <a:t>Or </a:t>
            </a:r>
            <a:r>
              <a:rPr lang="en-US" sz="1500" b="1">
                <a:solidFill>
                  <a:srgbClr val="0D006A"/>
                </a:solidFill>
                <a:latin typeface="Raleway"/>
              </a:rPr>
              <a:t>risk</a:t>
            </a:r>
            <a:r>
              <a:rPr lang="en-US" sz="1500" b="1">
                <a:solidFill>
                  <a:srgbClr val="00668A"/>
                </a:solidFill>
                <a:latin typeface="Raleway"/>
              </a:rPr>
              <a:t> </a:t>
            </a:r>
            <a:r>
              <a:rPr lang="en-US" sz="1500" b="1">
                <a:solidFill>
                  <a:srgbClr val="00B050"/>
                </a:solidFill>
                <a:latin typeface="Raleway"/>
              </a:rPr>
              <a:t>looking</a:t>
            </a:r>
            <a:r>
              <a:rPr lang="en-US" sz="1500" b="1">
                <a:solidFill>
                  <a:srgbClr val="00668A"/>
                </a:solidFill>
                <a:latin typeface="Raleway"/>
              </a:rPr>
              <a:t> like </a:t>
            </a:r>
            <a:r>
              <a:rPr lang="en-US" sz="1500" b="1">
                <a:solidFill>
                  <a:srgbClr val="0070C0"/>
                </a:solidFill>
                <a:latin typeface="Raleway"/>
              </a:rPr>
              <a:t>this very slide</a:t>
            </a:r>
            <a:r>
              <a:rPr lang="en-US" sz="1500" b="1">
                <a:solidFill>
                  <a:srgbClr val="00668A"/>
                </a:solidFill>
                <a:latin typeface="Raleway"/>
              </a:rPr>
              <a:t>, </a:t>
            </a:r>
            <a:r>
              <a:rPr lang="en-US" sz="1500" b="1">
                <a:solidFill>
                  <a:schemeClr val="accent2">
                    <a:lumMod val="20000"/>
                    <a:lumOff val="80000"/>
                  </a:schemeClr>
                </a:solidFill>
                <a:highlight>
                  <a:srgbClr val="262626"/>
                </a:highlight>
                <a:latin typeface="Raleway"/>
              </a:rPr>
              <a:t>that violates it</a:t>
            </a:r>
            <a:r>
              <a:rPr lang="en-US" sz="1500" b="1">
                <a:solidFill>
                  <a:srgbClr val="EF4453"/>
                </a:solidFill>
                <a:latin typeface="Raleway"/>
              </a:rPr>
              <a:t>  ;)</a:t>
            </a:r>
            <a:endParaRPr lang="en-US" sz="1800" b="1">
              <a:solidFill>
                <a:srgbClr val="EF4453"/>
              </a:solidFill>
              <a:latin typeface="Raleway"/>
            </a:endParaRPr>
          </a:p>
        </p:txBody>
      </p:sp>
    </p:spTree>
    <p:extLst>
      <p:ext uri="{BB962C8B-B14F-4D97-AF65-F5344CB8AC3E}">
        <p14:creationId xmlns:p14="http://schemas.microsoft.com/office/powerpoint/2010/main" val="1037657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EE28-E2B0-F618-8828-6100FAB6A6BC}"/>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06AAF999-5B96-2353-523A-DB91A00750C9}"/>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Styleguide</a:t>
            </a:r>
          </a:p>
        </p:txBody>
      </p:sp>
      <p:cxnSp>
        <p:nvCxnSpPr>
          <p:cNvPr id="8" name="Rechte verbindingslijn 53">
            <a:extLst>
              <a:ext uri="{FF2B5EF4-FFF2-40B4-BE49-F238E27FC236}">
                <a16:creationId xmlns:a16="http://schemas.microsoft.com/office/drawing/2014/main" id="{5557DF1E-3671-F7A7-9861-8247F3D9A087}"/>
              </a:ext>
            </a:extLst>
          </p:cNvPr>
          <p:cNvCxnSpPr>
            <a:cxnSpLocks/>
          </p:cNvCxnSpPr>
          <p:nvPr/>
        </p:nvCxnSpPr>
        <p:spPr>
          <a:xfrm flipH="1" flipV="1">
            <a:off x="0" y="281845"/>
            <a:ext cx="9144000" cy="49985"/>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0" name="Rechte verbindingslijn 81">
            <a:extLst>
              <a:ext uri="{FF2B5EF4-FFF2-40B4-BE49-F238E27FC236}">
                <a16:creationId xmlns:a16="http://schemas.microsoft.com/office/drawing/2014/main" id="{61F63260-ABF7-4800-00D1-64CE7BF15DE4}"/>
              </a:ext>
            </a:extLst>
          </p:cNvPr>
          <p:cNvCxnSpPr>
            <a:cxnSpLocks/>
          </p:cNvCxnSpPr>
          <p:nvPr/>
        </p:nvCxnSpPr>
        <p:spPr>
          <a:xfrm flipH="1">
            <a:off x="0" y="4865063"/>
            <a:ext cx="9144000" cy="0"/>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1" name="Rechte verbindingslijn 84">
            <a:extLst>
              <a:ext uri="{FF2B5EF4-FFF2-40B4-BE49-F238E27FC236}">
                <a16:creationId xmlns:a16="http://schemas.microsoft.com/office/drawing/2014/main" id="{0FA50491-2FEC-3EBB-09CE-695A025B0D1D}"/>
              </a:ext>
            </a:extLst>
          </p:cNvPr>
          <p:cNvCxnSpPr>
            <a:cxnSpLocks/>
          </p:cNvCxnSpPr>
          <p:nvPr/>
        </p:nvCxnSpPr>
        <p:spPr>
          <a:xfrm flipH="1" flipV="1">
            <a:off x="0" y="1224109"/>
            <a:ext cx="9144000" cy="22158"/>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13" name="Rechte verbindingslijn 88">
            <a:extLst>
              <a:ext uri="{FF2B5EF4-FFF2-40B4-BE49-F238E27FC236}">
                <a16:creationId xmlns:a16="http://schemas.microsoft.com/office/drawing/2014/main" id="{3517D6B5-128D-907F-1E5D-DF9CCEF88622}"/>
              </a:ext>
            </a:extLst>
          </p:cNvPr>
          <p:cNvCxnSpPr>
            <a:cxnSpLocks/>
          </p:cNvCxnSpPr>
          <p:nvPr/>
        </p:nvCxnSpPr>
        <p:spPr>
          <a:xfrm flipH="1" flipV="1">
            <a:off x="0" y="1361326"/>
            <a:ext cx="9144000" cy="43412"/>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sp>
        <p:nvSpPr>
          <p:cNvPr id="14" name="Tekstvak 85">
            <a:extLst>
              <a:ext uri="{FF2B5EF4-FFF2-40B4-BE49-F238E27FC236}">
                <a16:creationId xmlns:a16="http://schemas.microsoft.com/office/drawing/2014/main" id="{7AE46157-0F73-89D7-B13F-60182893A524}"/>
              </a:ext>
            </a:extLst>
          </p:cNvPr>
          <p:cNvSpPr txBox="1"/>
          <p:nvPr/>
        </p:nvSpPr>
        <p:spPr>
          <a:xfrm rot="21086326">
            <a:off x="5566918" y="450078"/>
            <a:ext cx="266101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i="1">
                <a:solidFill>
                  <a:schemeClr val="accent2"/>
                </a:solidFill>
                <a:latin typeface="Montserrat" panose="00000500000000000000" pitchFamily="2" charset="0"/>
              </a:rPr>
              <a:t>Flexible area</a:t>
            </a:r>
            <a:endParaRPr lang="en-US" sz="750" b="1" i="1">
              <a:solidFill>
                <a:schemeClr val="accent2"/>
              </a:solidFill>
              <a:latin typeface="Montserrat" panose="00000500000000000000" pitchFamily="2" charset="0"/>
            </a:endParaRPr>
          </a:p>
        </p:txBody>
      </p:sp>
      <p:sp>
        <p:nvSpPr>
          <p:cNvPr id="16" name="Tekstvak 90">
            <a:extLst>
              <a:ext uri="{FF2B5EF4-FFF2-40B4-BE49-F238E27FC236}">
                <a16:creationId xmlns:a16="http://schemas.microsoft.com/office/drawing/2014/main" id="{F7ABE733-083A-F131-72A7-E140003972B3}"/>
              </a:ext>
            </a:extLst>
          </p:cNvPr>
          <p:cNvSpPr txBox="1"/>
          <p:nvPr/>
        </p:nvSpPr>
        <p:spPr>
          <a:xfrm rot="20700000">
            <a:off x="939103" y="4516814"/>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17" name="Tekstvak 93">
            <a:extLst>
              <a:ext uri="{FF2B5EF4-FFF2-40B4-BE49-F238E27FC236}">
                <a16:creationId xmlns:a16="http://schemas.microsoft.com/office/drawing/2014/main" id="{DD12DCC5-B3CD-8B6E-4049-F7B42BB1390C}"/>
              </a:ext>
            </a:extLst>
          </p:cNvPr>
          <p:cNvSpPr txBox="1"/>
          <p:nvPr/>
        </p:nvSpPr>
        <p:spPr>
          <a:xfrm rot="20700000">
            <a:off x="3765826" y="4516882"/>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18" name="Tekstvak 94">
            <a:extLst>
              <a:ext uri="{FF2B5EF4-FFF2-40B4-BE49-F238E27FC236}">
                <a16:creationId xmlns:a16="http://schemas.microsoft.com/office/drawing/2014/main" id="{9AC18AF6-F4C6-A5A1-0F7E-EA09E6502340}"/>
              </a:ext>
            </a:extLst>
          </p:cNvPr>
          <p:cNvSpPr txBox="1"/>
          <p:nvPr/>
        </p:nvSpPr>
        <p:spPr>
          <a:xfrm rot="20700000">
            <a:off x="6300934" y="4516815"/>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20" name="Tekstvak 96">
            <a:extLst>
              <a:ext uri="{FF2B5EF4-FFF2-40B4-BE49-F238E27FC236}">
                <a16:creationId xmlns:a16="http://schemas.microsoft.com/office/drawing/2014/main" id="{F548CEEA-4B3C-C784-B18F-56BF8DEEEBFB}"/>
              </a:ext>
            </a:extLst>
          </p:cNvPr>
          <p:cNvSpPr txBox="1"/>
          <p:nvPr/>
        </p:nvSpPr>
        <p:spPr>
          <a:xfrm rot="20666118">
            <a:off x="1846504" y="17836"/>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8585"/>
                </a:solidFill>
                <a:latin typeface="Montserrat" panose="00000500000000000000" pitchFamily="2" charset="0"/>
              </a:rPr>
              <a:t>No-go area</a:t>
            </a:r>
          </a:p>
        </p:txBody>
      </p:sp>
      <p:sp>
        <p:nvSpPr>
          <p:cNvPr id="21" name="Tekstvak 98">
            <a:extLst>
              <a:ext uri="{FF2B5EF4-FFF2-40B4-BE49-F238E27FC236}">
                <a16:creationId xmlns:a16="http://schemas.microsoft.com/office/drawing/2014/main" id="{E4F9A8F5-7B6F-2005-D2A1-BC9F7759D76B}"/>
              </a:ext>
            </a:extLst>
          </p:cNvPr>
          <p:cNvSpPr txBox="1"/>
          <p:nvPr/>
        </p:nvSpPr>
        <p:spPr>
          <a:xfrm rot="20666118">
            <a:off x="-224768" y="670569"/>
            <a:ext cx="1180096"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i="1">
                <a:solidFill>
                  <a:srgbClr val="FF0000"/>
                </a:solidFill>
                <a:latin typeface="Montserrat" panose="00000500000000000000" pitchFamily="2" charset="0"/>
              </a:rPr>
              <a:t>No-go area</a:t>
            </a:r>
            <a:endParaRPr lang="en-US" sz="375" i="1">
              <a:solidFill>
                <a:srgbClr val="FF0000"/>
              </a:solidFill>
              <a:latin typeface="Montserrat" panose="00000500000000000000" pitchFamily="2" charset="0"/>
            </a:endParaRPr>
          </a:p>
        </p:txBody>
      </p:sp>
      <p:sp>
        <p:nvSpPr>
          <p:cNvPr id="22" name="Tekstvak 99">
            <a:extLst>
              <a:ext uri="{FF2B5EF4-FFF2-40B4-BE49-F238E27FC236}">
                <a16:creationId xmlns:a16="http://schemas.microsoft.com/office/drawing/2014/main" id="{2DE4399D-CEDC-D1F2-741C-968E8DF60814}"/>
              </a:ext>
            </a:extLst>
          </p:cNvPr>
          <p:cNvSpPr txBox="1"/>
          <p:nvPr/>
        </p:nvSpPr>
        <p:spPr>
          <a:xfrm rot="20666118">
            <a:off x="8336489" y="647428"/>
            <a:ext cx="897479"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i="1">
                <a:solidFill>
                  <a:srgbClr val="FF8585"/>
                </a:solidFill>
                <a:latin typeface="Montserrat" panose="00000500000000000000" pitchFamily="2" charset="0"/>
              </a:rPr>
              <a:t>No-go area</a:t>
            </a:r>
            <a:endParaRPr lang="en-US" sz="375" i="1">
              <a:solidFill>
                <a:srgbClr val="FF8585"/>
              </a:solidFill>
              <a:latin typeface="Montserrat" panose="00000500000000000000" pitchFamily="2" charset="0"/>
            </a:endParaRPr>
          </a:p>
        </p:txBody>
      </p:sp>
      <p:sp>
        <p:nvSpPr>
          <p:cNvPr id="23" name="Tekstvak 100">
            <a:extLst>
              <a:ext uri="{FF2B5EF4-FFF2-40B4-BE49-F238E27FC236}">
                <a16:creationId xmlns:a16="http://schemas.microsoft.com/office/drawing/2014/main" id="{439A73FD-8AD7-37BD-3378-B5D3E17AF5F7}"/>
              </a:ext>
            </a:extLst>
          </p:cNvPr>
          <p:cNvSpPr txBox="1"/>
          <p:nvPr/>
        </p:nvSpPr>
        <p:spPr>
          <a:xfrm rot="20666118">
            <a:off x="-223220" y="26135"/>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0000"/>
                </a:solidFill>
                <a:latin typeface="Montserrat" panose="00000500000000000000" pitchFamily="2" charset="0"/>
              </a:rPr>
              <a:t>No-go area</a:t>
            </a:r>
          </a:p>
        </p:txBody>
      </p:sp>
      <p:sp>
        <p:nvSpPr>
          <p:cNvPr id="25" name="Tekstvak 103">
            <a:extLst>
              <a:ext uri="{FF2B5EF4-FFF2-40B4-BE49-F238E27FC236}">
                <a16:creationId xmlns:a16="http://schemas.microsoft.com/office/drawing/2014/main" id="{3914A171-8BFF-9EC4-1729-28A522AAAE98}"/>
              </a:ext>
            </a:extLst>
          </p:cNvPr>
          <p:cNvSpPr txBox="1"/>
          <p:nvPr/>
        </p:nvSpPr>
        <p:spPr>
          <a:xfrm rot="21076069">
            <a:off x="7186870" y="4907486"/>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28" name="Tekstvak 117">
            <a:extLst>
              <a:ext uri="{FF2B5EF4-FFF2-40B4-BE49-F238E27FC236}">
                <a16:creationId xmlns:a16="http://schemas.microsoft.com/office/drawing/2014/main" id="{7EA4F473-9F1F-6770-5239-255E21B904DB}"/>
              </a:ext>
            </a:extLst>
          </p:cNvPr>
          <p:cNvSpPr txBox="1"/>
          <p:nvPr/>
        </p:nvSpPr>
        <p:spPr>
          <a:xfrm rot="20700000">
            <a:off x="8195181" y="2488336"/>
            <a:ext cx="1180096" cy="34624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b="1" i="1">
                <a:solidFill>
                  <a:schemeClr val="accent2"/>
                </a:solidFill>
                <a:latin typeface="Montserrat" panose="00000500000000000000" pitchFamily="2" charset="0"/>
              </a:rPr>
              <a:t>Flexible </a:t>
            </a:r>
          </a:p>
          <a:p>
            <a:pPr algn="ctr"/>
            <a:r>
              <a:rPr lang="en-US" sz="825" b="1" i="1">
                <a:solidFill>
                  <a:schemeClr val="accent2"/>
                </a:solidFill>
                <a:latin typeface="Montserrat" panose="00000500000000000000" pitchFamily="2" charset="0"/>
              </a:rPr>
              <a:t>area</a:t>
            </a:r>
            <a:endParaRPr lang="en-US" sz="300" b="1" i="1">
              <a:solidFill>
                <a:schemeClr val="accent2"/>
              </a:solidFill>
              <a:latin typeface="Montserrat" panose="00000500000000000000" pitchFamily="2" charset="0"/>
            </a:endParaRPr>
          </a:p>
        </p:txBody>
      </p:sp>
      <p:sp>
        <p:nvSpPr>
          <p:cNvPr id="30" name="Tekstvak 119">
            <a:extLst>
              <a:ext uri="{FF2B5EF4-FFF2-40B4-BE49-F238E27FC236}">
                <a16:creationId xmlns:a16="http://schemas.microsoft.com/office/drawing/2014/main" id="{8BFA7061-6C37-156E-D150-C25ACAF85C6A}"/>
              </a:ext>
            </a:extLst>
          </p:cNvPr>
          <p:cNvSpPr txBox="1"/>
          <p:nvPr/>
        </p:nvSpPr>
        <p:spPr>
          <a:xfrm rot="20700000">
            <a:off x="-243237" y="2483937"/>
            <a:ext cx="118009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i="1">
                <a:solidFill>
                  <a:schemeClr val="accent2"/>
                </a:solidFill>
                <a:latin typeface="Montserrat" panose="00000500000000000000" pitchFamily="2" charset="0"/>
              </a:rPr>
              <a:t>Flexible </a:t>
            </a:r>
          </a:p>
          <a:p>
            <a:pPr algn="ctr"/>
            <a:r>
              <a:rPr lang="en-US" sz="900" b="1" i="1">
                <a:solidFill>
                  <a:schemeClr val="accent2"/>
                </a:solidFill>
                <a:latin typeface="Montserrat" panose="00000500000000000000" pitchFamily="2" charset="0"/>
              </a:rPr>
              <a:t>area</a:t>
            </a:r>
            <a:endParaRPr lang="en-US" sz="375" b="1" i="1">
              <a:solidFill>
                <a:schemeClr val="accent2"/>
              </a:solidFill>
              <a:latin typeface="Montserrat" panose="00000500000000000000" pitchFamily="2" charset="0"/>
            </a:endParaRPr>
          </a:p>
        </p:txBody>
      </p:sp>
      <p:sp>
        <p:nvSpPr>
          <p:cNvPr id="31" name="Tekstvak 124">
            <a:extLst>
              <a:ext uri="{FF2B5EF4-FFF2-40B4-BE49-F238E27FC236}">
                <a16:creationId xmlns:a16="http://schemas.microsoft.com/office/drawing/2014/main" id="{AFAB5751-7A81-BC8F-2255-8CD9AEC5A2E1}"/>
              </a:ext>
            </a:extLst>
          </p:cNvPr>
          <p:cNvSpPr txBox="1"/>
          <p:nvPr/>
        </p:nvSpPr>
        <p:spPr>
          <a:xfrm rot="21076069">
            <a:off x="1071139" y="4918082"/>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2" name="Tekstvak 125">
            <a:extLst>
              <a:ext uri="{FF2B5EF4-FFF2-40B4-BE49-F238E27FC236}">
                <a16:creationId xmlns:a16="http://schemas.microsoft.com/office/drawing/2014/main" id="{B4F023D9-4ABF-D279-A928-F30C27528A78}"/>
              </a:ext>
            </a:extLst>
          </p:cNvPr>
          <p:cNvSpPr txBox="1"/>
          <p:nvPr/>
        </p:nvSpPr>
        <p:spPr>
          <a:xfrm rot="21076069">
            <a:off x="3028218" y="4918082"/>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3" name="Tekstvak 126">
            <a:extLst>
              <a:ext uri="{FF2B5EF4-FFF2-40B4-BE49-F238E27FC236}">
                <a16:creationId xmlns:a16="http://schemas.microsoft.com/office/drawing/2014/main" id="{3655722B-79D6-BFD8-9F08-0A3C4EC3D286}"/>
              </a:ext>
            </a:extLst>
          </p:cNvPr>
          <p:cNvSpPr txBox="1"/>
          <p:nvPr/>
        </p:nvSpPr>
        <p:spPr>
          <a:xfrm rot="21076069">
            <a:off x="5507933" y="4918083"/>
            <a:ext cx="897479" cy="2135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88" i="1">
                <a:solidFill>
                  <a:srgbClr val="FF8585"/>
                </a:solidFill>
                <a:latin typeface="Montserrat" panose="00000500000000000000" pitchFamily="2" charset="0"/>
              </a:rPr>
              <a:t>No-go area</a:t>
            </a:r>
            <a:endParaRPr lang="en-US" sz="225" i="1">
              <a:solidFill>
                <a:srgbClr val="FF8585"/>
              </a:solidFill>
              <a:latin typeface="Montserrat" panose="00000500000000000000" pitchFamily="2" charset="0"/>
            </a:endParaRPr>
          </a:p>
        </p:txBody>
      </p:sp>
      <p:sp>
        <p:nvSpPr>
          <p:cNvPr id="34" name="Rechthoek 127">
            <a:extLst>
              <a:ext uri="{FF2B5EF4-FFF2-40B4-BE49-F238E27FC236}">
                <a16:creationId xmlns:a16="http://schemas.microsoft.com/office/drawing/2014/main" id="{E29C75AC-BBD3-2A7B-1BA4-D4BB1FCABA37}"/>
              </a:ext>
            </a:extLst>
          </p:cNvPr>
          <p:cNvSpPr/>
          <p:nvPr/>
        </p:nvSpPr>
        <p:spPr>
          <a:xfrm rot="20700000">
            <a:off x="2870399" y="2244224"/>
            <a:ext cx="3429000" cy="7848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500" b="1" i="1">
                <a:solidFill>
                  <a:srgbClr val="00B050"/>
                </a:solidFill>
                <a:latin typeface="Montserrat" panose="00000500000000000000" pitchFamily="2" charset="0"/>
              </a:rPr>
              <a:t>Safe area</a:t>
            </a:r>
            <a:endParaRPr lang="en-US" b="1" i="1">
              <a:solidFill>
                <a:srgbClr val="00B050"/>
              </a:solidFill>
              <a:latin typeface="Montserrat" panose="00000500000000000000" pitchFamily="2" charset="0"/>
            </a:endParaRPr>
          </a:p>
        </p:txBody>
      </p:sp>
      <p:sp>
        <p:nvSpPr>
          <p:cNvPr id="56" name="Tekstvak 5" descr="MVX23_Logo_Basislogo_Full_colour_Wit">
            <a:extLst>
              <a:ext uri="{FF2B5EF4-FFF2-40B4-BE49-F238E27FC236}">
                <a16:creationId xmlns:a16="http://schemas.microsoft.com/office/drawing/2014/main" id="{5245EC1C-D1E1-8825-3EA0-9C21FB3A6914}"/>
              </a:ext>
            </a:extLst>
          </p:cNvPr>
          <p:cNvSpPr txBox="1"/>
          <p:nvPr/>
        </p:nvSpPr>
        <p:spPr>
          <a:xfrm>
            <a:off x="1" y="599349"/>
            <a:ext cx="2376995" cy="854080"/>
          </a:xfrm>
          <a:prstGeom prst="rect">
            <a:avLst/>
          </a:prstGeom>
          <a:noFill/>
        </p:spPr>
        <p:txBody>
          <a:bodyPr wrap="square" lIns="68580" tIns="34290" rIns="68580" bIns="34290" rtlCol="0" anchor="t">
            <a:spAutoFit/>
          </a:bodyPr>
          <a:lstStyle/>
          <a:p>
            <a:pPr>
              <a:defRPr/>
            </a:pPr>
            <a:r>
              <a:rPr lang="en-US" sz="2550" b="1">
                <a:solidFill>
                  <a:srgbClr val="F04E5B"/>
                </a:solidFill>
                <a:latin typeface="Space Grotesk" pitchFamily="2" charset="0"/>
                <a:cs typeface="Space Grotesk" pitchFamily="2" charset="0"/>
              </a:rPr>
              <a:t>	  Margins</a:t>
            </a:r>
          </a:p>
        </p:txBody>
      </p:sp>
      <p:cxnSp>
        <p:nvCxnSpPr>
          <p:cNvPr id="60" name="Rechte verbindingslijn 81">
            <a:extLst>
              <a:ext uri="{FF2B5EF4-FFF2-40B4-BE49-F238E27FC236}">
                <a16:creationId xmlns:a16="http://schemas.microsoft.com/office/drawing/2014/main" id="{705E7E33-01F5-823C-A056-26318D51FB88}"/>
              </a:ext>
            </a:extLst>
          </p:cNvPr>
          <p:cNvCxnSpPr>
            <a:cxnSpLocks/>
          </p:cNvCxnSpPr>
          <p:nvPr/>
        </p:nvCxnSpPr>
        <p:spPr>
          <a:xfrm>
            <a:off x="4564608" y="19132"/>
            <a:ext cx="6800" cy="1016924"/>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63" name="Tekstvak 96">
            <a:extLst>
              <a:ext uri="{FF2B5EF4-FFF2-40B4-BE49-F238E27FC236}">
                <a16:creationId xmlns:a16="http://schemas.microsoft.com/office/drawing/2014/main" id="{54E99F75-E151-3333-0EE3-9F0BB722EDC2}"/>
              </a:ext>
            </a:extLst>
          </p:cNvPr>
          <p:cNvSpPr txBox="1"/>
          <p:nvPr/>
        </p:nvSpPr>
        <p:spPr>
          <a:xfrm rot="20666118">
            <a:off x="5366625" y="52419"/>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8585"/>
                </a:solidFill>
                <a:latin typeface="Montserrat" panose="00000500000000000000" pitchFamily="2" charset="0"/>
              </a:rPr>
              <a:t>No-go area</a:t>
            </a:r>
          </a:p>
        </p:txBody>
      </p:sp>
      <p:cxnSp>
        <p:nvCxnSpPr>
          <p:cNvPr id="68" name="Rechte verbindingslijn 53">
            <a:extLst>
              <a:ext uri="{FF2B5EF4-FFF2-40B4-BE49-F238E27FC236}">
                <a16:creationId xmlns:a16="http://schemas.microsoft.com/office/drawing/2014/main" id="{A74E21CA-799C-A651-D767-73E20E60D9A1}"/>
              </a:ext>
            </a:extLst>
          </p:cNvPr>
          <p:cNvCxnSpPr>
            <a:cxnSpLocks/>
          </p:cNvCxnSpPr>
          <p:nvPr/>
        </p:nvCxnSpPr>
        <p:spPr>
          <a:xfrm flipH="1" flipV="1">
            <a:off x="1" y="1023850"/>
            <a:ext cx="4564607" cy="1748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77" name="Tekstvak 100">
            <a:extLst>
              <a:ext uri="{FF2B5EF4-FFF2-40B4-BE49-F238E27FC236}">
                <a16:creationId xmlns:a16="http://schemas.microsoft.com/office/drawing/2014/main" id="{E771EBEF-84CF-30EA-D11B-83E3B5EAF606}"/>
              </a:ext>
            </a:extLst>
          </p:cNvPr>
          <p:cNvSpPr txBox="1"/>
          <p:nvPr/>
        </p:nvSpPr>
        <p:spPr>
          <a:xfrm rot="20666118">
            <a:off x="8161985" y="55739"/>
            <a:ext cx="1180096" cy="21929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25" i="1">
                <a:solidFill>
                  <a:srgbClr val="FF0000"/>
                </a:solidFill>
                <a:latin typeface="Montserrat" panose="00000500000000000000" pitchFamily="2" charset="0"/>
              </a:rPr>
              <a:t>No-go area</a:t>
            </a:r>
          </a:p>
        </p:txBody>
      </p:sp>
      <p:cxnSp>
        <p:nvCxnSpPr>
          <p:cNvPr id="85" name="Rechte verbindingslijn 81">
            <a:extLst>
              <a:ext uri="{FF2B5EF4-FFF2-40B4-BE49-F238E27FC236}">
                <a16:creationId xmlns:a16="http://schemas.microsoft.com/office/drawing/2014/main" id="{021E55AD-073F-AE33-9AC5-D3B991F89432}"/>
              </a:ext>
            </a:extLst>
          </p:cNvPr>
          <p:cNvCxnSpPr>
            <a:cxnSpLocks/>
          </p:cNvCxnSpPr>
          <p:nvPr/>
        </p:nvCxnSpPr>
        <p:spPr>
          <a:xfrm flipH="1">
            <a:off x="0" y="4681243"/>
            <a:ext cx="9144000" cy="0"/>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AC72CF2C-40A6-8C39-BE3D-87783104C636}"/>
              </a:ext>
            </a:extLst>
          </p:cNvPr>
          <p:cNvGrpSpPr/>
          <p:nvPr/>
        </p:nvGrpSpPr>
        <p:grpSpPr>
          <a:xfrm>
            <a:off x="8429625" y="0"/>
            <a:ext cx="0" cy="5143501"/>
            <a:chOff x="11239500" y="0"/>
            <a:chExt cx="0" cy="6858000"/>
          </a:xfrm>
        </p:grpSpPr>
        <p:cxnSp>
          <p:nvCxnSpPr>
            <p:cNvPr id="26" name="Rechte verbindingslijn 105">
              <a:extLst>
                <a:ext uri="{FF2B5EF4-FFF2-40B4-BE49-F238E27FC236}">
                  <a16:creationId xmlns:a16="http://schemas.microsoft.com/office/drawing/2014/main" id="{4477C3ED-39F3-6171-EAF0-168520B0DC60}"/>
                </a:ext>
              </a:extLst>
            </p:cNvPr>
            <p:cNvCxnSpPr>
              <a:cxnSpLocks/>
            </p:cNvCxnSpPr>
            <p:nvPr/>
          </p:nvCxnSpPr>
          <p:spPr>
            <a:xfrm flipV="1">
              <a:off x="11239500" y="1556184"/>
              <a:ext cx="0" cy="4930566"/>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80" name="Rechte verbindingslijn 81">
              <a:extLst>
                <a:ext uri="{FF2B5EF4-FFF2-40B4-BE49-F238E27FC236}">
                  <a16:creationId xmlns:a16="http://schemas.microsoft.com/office/drawing/2014/main" id="{8D63499C-DD88-A176-6757-F9ADD27CA929}"/>
                </a:ext>
              </a:extLst>
            </p:cNvPr>
            <p:cNvCxnSpPr>
              <a:cxnSpLocks/>
            </p:cNvCxnSpPr>
            <p:nvPr/>
          </p:nvCxnSpPr>
          <p:spPr>
            <a:xfrm>
              <a:off x="11239500" y="0"/>
              <a:ext cx="0" cy="1646917"/>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87" name="Rechte verbindingslijn 81">
              <a:extLst>
                <a:ext uri="{FF2B5EF4-FFF2-40B4-BE49-F238E27FC236}">
                  <a16:creationId xmlns:a16="http://schemas.microsoft.com/office/drawing/2014/main" id="{C645F7B3-04EC-C963-3AD2-55BFEB2C2287}"/>
                </a:ext>
              </a:extLst>
            </p:cNvPr>
            <p:cNvCxnSpPr>
              <a:cxnSpLocks/>
            </p:cNvCxnSpPr>
            <p:nvPr/>
          </p:nvCxnSpPr>
          <p:spPr>
            <a:xfrm>
              <a:off x="11239500" y="6486751"/>
              <a:ext cx="0" cy="37124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cxnSp>
        <p:nvCxnSpPr>
          <p:cNvPr id="91" name="Rechte verbindingslijn 88">
            <a:extLst>
              <a:ext uri="{FF2B5EF4-FFF2-40B4-BE49-F238E27FC236}">
                <a16:creationId xmlns:a16="http://schemas.microsoft.com/office/drawing/2014/main" id="{E7B3686C-2706-3304-081F-BC540F761164}"/>
              </a:ext>
            </a:extLst>
          </p:cNvPr>
          <p:cNvCxnSpPr>
            <a:cxnSpLocks/>
          </p:cNvCxnSpPr>
          <p:nvPr/>
        </p:nvCxnSpPr>
        <p:spPr>
          <a:xfrm flipH="1" flipV="1">
            <a:off x="-7393" y="4468256"/>
            <a:ext cx="9144000" cy="43412"/>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14F5AFBF-AC34-B030-AA28-8EDE499DF20A}"/>
              </a:ext>
            </a:extLst>
          </p:cNvPr>
          <p:cNvGrpSpPr/>
          <p:nvPr/>
        </p:nvGrpSpPr>
        <p:grpSpPr>
          <a:xfrm>
            <a:off x="746834" y="0"/>
            <a:ext cx="0" cy="5127623"/>
            <a:chOff x="995779" y="0"/>
            <a:chExt cx="0" cy="6836830"/>
          </a:xfrm>
        </p:grpSpPr>
        <p:cxnSp>
          <p:nvCxnSpPr>
            <p:cNvPr id="57" name="Rechte verbindingslijn 81">
              <a:extLst>
                <a:ext uri="{FF2B5EF4-FFF2-40B4-BE49-F238E27FC236}">
                  <a16:creationId xmlns:a16="http://schemas.microsoft.com/office/drawing/2014/main" id="{3310C6E4-0776-8169-4846-8559431B4C2A}"/>
                </a:ext>
              </a:extLst>
            </p:cNvPr>
            <p:cNvCxnSpPr>
              <a:cxnSpLocks/>
            </p:cNvCxnSpPr>
            <p:nvPr/>
          </p:nvCxnSpPr>
          <p:spPr>
            <a:xfrm>
              <a:off x="995779" y="0"/>
              <a:ext cx="0" cy="1365132"/>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97" name="Rechte verbindingslijn 105">
              <a:extLst>
                <a:ext uri="{FF2B5EF4-FFF2-40B4-BE49-F238E27FC236}">
                  <a16:creationId xmlns:a16="http://schemas.microsoft.com/office/drawing/2014/main" id="{DF7E6A36-8A21-1B39-7832-FBAB2482F661}"/>
                </a:ext>
              </a:extLst>
            </p:cNvPr>
            <p:cNvCxnSpPr>
              <a:cxnSpLocks/>
            </p:cNvCxnSpPr>
            <p:nvPr/>
          </p:nvCxnSpPr>
          <p:spPr>
            <a:xfrm flipV="1">
              <a:off x="995779" y="1338677"/>
              <a:ext cx="0" cy="5148073"/>
            </a:xfrm>
            <a:prstGeom prst="line">
              <a:avLst/>
            </a:prstGeom>
            <a:ln w="15875">
              <a:solidFill>
                <a:schemeClr val="accent2"/>
              </a:solidFill>
              <a:prstDash val="dashDot"/>
            </a:ln>
          </p:spPr>
          <p:style>
            <a:lnRef idx="1">
              <a:schemeClr val="accent1"/>
            </a:lnRef>
            <a:fillRef idx="0">
              <a:schemeClr val="accent1"/>
            </a:fillRef>
            <a:effectRef idx="0">
              <a:schemeClr val="accent1"/>
            </a:effectRef>
            <a:fontRef idx="minor">
              <a:schemeClr val="tx1"/>
            </a:fontRef>
          </p:style>
        </p:cxnSp>
        <p:cxnSp>
          <p:nvCxnSpPr>
            <p:cNvPr id="99" name="Rechte verbindingslijn 81">
              <a:extLst>
                <a:ext uri="{FF2B5EF4-FFF2-40B4-BE49-F238E27FC236}">
                  <a16:creationId xmlns:a16="http://schemas.microsoft.com/office/drawing/2014/main" id="{9385B3CF-2001-B0FE-60AC-0F354CB646D7}"/>
                </a:ext>
              </a:extLst>
            </p:cNvPr>
            <p:cNvCxnSpPr>
              <a:cxnSpLocks/>
            </p:cNvCxnSpPr>
            <p:nvPr/>
          </p:nvCxnSpPr>
          <p:spPr>
            <a:xfrm>
              <a:off x="995779" y="6465581"/>
              <a:ext cx="0" cy="371249"/>
            </a:xfrm>
            <a:prstGeom prst="line">
              <a:avLst/>
            </a:prstGeom>
            <a:ln w="15875">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cxnSp>
        <p:nvCxnSpPr>
          <p:cNvPr id="103" name="Rechte verbindingslijn 105">
            <a:extLst>
              <a:ext uri="{FF2B5EF4-FFF2-40B4-BE49-F238E27FC236}">
                <a16:creationId xmlns:a16="http://schemas.microsoft.com/office/drawing/2014/main" id="{AD16E5E7-41E3-5BBA-4CAE-B550B937DD74}"/>
              </a:ext>
            </a:extLst>
          </p:cNvPr>
          <p:cNvCxnSpPr>
            <a:cxnSpLocks/>
          </p:cNvCxnSpPr>
          <p:nvPr/>
        </p:nvCxnSpPr>
        <p:spPr>
          <a:xfrm flipV="1">
            <a:off x="8246022" y="1404737"/>
            <a:ext cx="0" cy="3085224"/>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cxnSp>
        <p:nvCxnSpPr>
          <p:cNvPr id="107" name="Rechte verbindingslijn 105">
            <a:extLst>
              <a:ext uri="{FF2B5EF4-FFF2-40B4-BE49-F238E27FC236}">
                <a16:creationId xmlns:a16="http://schemas.microsoft.com/office/drawing/2014/main" id="{08E596CE-76B9-4379-7954-90CC2E1C9B99}"/>
              </a:ext>
            </a:extLst>
          </p:cNvPr>
          <p:cNvCxnSpPr>
            <a:cxnSpLocks/>
          </p:cNvCxnSpPr>
          <p:nvPr/>
        </p:nvCxnSpPr>
        <p:spPr>
          <a:xfrm flipV="1">
            <a:off x="945110" y="1361325"/>
            <a:ext cx="0" cy="3106931"/>
          </a:xfrm>
          <a:prstGeom prst="line">
            <a:avLst/>
          </a:prstGeom>
          <a:ln w="15875">
            <a:solidFill>
              <a:srgbClr val="00B050"/>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185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F6BE-BB37-599E-2336-5AAF7832CB13}"/>
            </a:ext>
          </a:extLst>
        </p:cNvPr>
        <p:cNvGrpSpPr/>
        <p:nvPr/>
      </p:nvGrpSpPr>
      <p:grpSpPr>
        <a:xfrm>
          <a:off x="0" y="0"/>
          <a:ext cx="0" cy="0"/>
          <a:chOff x="0" y="0"/>
          <a:chExt cx="0" cy="0"/>
        </a:xfrm>
      </p:grpSpPr>
      <p:sp>
        <p:nvSpPr>
          <p:cNvPr id="5" name="Tekstvak 5" descr="MVX23_Logo_Basislogo_Full_colour_Wit">
            <a:extLst>
              <a:ext uri="{FF2B5EF4-FFF2-40B4-BE49-F238E27FC236}">
                <a16:creationId xmlns:a16="http://schemas.microsoft.com/office/drawing/2014/main" id="{66975911-BF71-9A19-A972-8BE6FE02B4B0}"/>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EF4453"/>
                </a:solidFill>
                <a:latin typeface="Space Grotesk" pitchFamily="2" charset="0"/>
                <a:cs typeface="Space Grotesk" pitchFamily="2" charset="0"/>
              </a:rPr>
              <a:t>Examples </a:t>
            </a:r>
            <a:r>
              <a:rPr lang="en-US" sz="2100" b="1">
                <a:solidFill>
                  <a:srgbClr val="F59235"/>
                </a:solidFill>
                <a:latin typeface="Space Grotesk" pitchFamily="2" charset="0"/>
                <a:cs typeface="Space Grotesk" pitchFamily="2" charset="0"/>
              </a:rPr>
              <a:t>I “How do I pick the right color?”</a:t>
            </a:r>
            <a:endParaRPr lang="en-US" sz="2550">
              <a:solidFill>
                <a:srgbClr val="F04E5B"/>
              </a:solidFill>
              <a:latin typeface="Space Grotesk" pitchFamily="2" charset="0"/>
              <a:cs typeface="Space Grotesk" pitchFamily="2" charset="0"/>
            </a:endParaRPr>
          </a:p>
        </p:txBody>
      </p:sp>
      <p:sp>
        <p:nvSpPr>
          <p:cNvPr id="6" name="Tekstvak 5" descr="MVX23_Logo_Basislogo_Full_colour_Wit">
            <a:extLst>
              <a:ext uri="{FF2B5EF4-FFF2-40B4-BE49-F238E27FC236}">
                <a16:creationId xmlns:a16="http://schemas.microsoft.com/office/drawing/2014/main" id="{5881A512-474F-A9A4-64EE-346FC19BB1E4}"/>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Storytelling</a:t>
            </a:r>
          </a:p>
        </p:txBody>
      </p:sp>
      <p:sp>
        <p:nvSpPr>
          <p:cNvPr id="10" name="TextBox 9">
            <a:extLst>
              <a:ext uri="{FF2B5EF4-FFF2-40B4-BE49-F238E27FC236}">
                <a16:creationId xmlns:a16="http://schemas.microsoft.com/office/drawing/2014/main" id="{1174BA2B-0262-011B-79D0-514C682982B0}"/>
              </a:ext>
            </a:extLst>
          </p:cNvPr>
          <p:cNvSpPr txBox="1"/>
          <p:nvPr/>
        </p:nvSpPr>
        <p:spPr>
          <a:xfrm>
            <a:off x="604837" y="1571730"/>
            <a:ext cx="5795963" cy="892552"/>
          </a:xfrm>
          <a:prstGeom prst="rect">
            <a:avLst/>
          </a:prstGeom>
          <a:noFill/>
        </p:spPr>
        <p:txBody>
          <a:bodyPr wrap="square">
            <a:spAutoFit/>
          </a:bodyPr>
          <a:lstStyle/>
          <a:p>
            <a:r>
              <a:rPr lang="en-US" sz="2400" b="1">
                <a:solidFill>
                  <a:srgbClr val="0D006A"/>
                </a:solidFill>
                <a:latin typeface="Raleway" panose="020B0003030101060003" pitchFamily="34" charset="0"/>
              </a:rPr>
              <a:t>The </a:t>
            </a:r>
            <a:r>
              <a:rPr lang="en-US" sz="2400" b="1">
                <a:solidFill>
                  <a:srgbClr val="F59235"/>
                </a:solidFill>
                <a:latin typeface="Raleway" panose="020B0003030101060003" pitchFamily="34" charset="0"/>
              </a:rPr>
              <a:t>pipet</a:t>
            </a:r>
            <a:r>
              <a:rPr lang="en-US" sz="2400" b="1">
                <a:solidFill>
                  <a:srgbClr val="0D006A"/>
                </a:solidFill>
                <a:latin typeface="Raleway" panose="020B0003030101060003" pitchFamily="34" charset="0"/>
              </a:rPr>
              <a:t> is your biggest friend</a:t>
            </a:r>
          </a:p>
          <a:p>
            <a:endParaRPr lang="en-US" sz="1400">
              <a:solidFill>
                <a:srgbClr val="0D006A"/>
              </a:solidFill>
              <a:latin typeface="Raleway" panose="020B0003030101060003" pitchFamily="34" charset="0"/>
            </a:endParaRPr>
          </a:p>
          <a:p>
            <a:r>
              <a:rPr lang="en-US" sz="1400">
                <a:solidFill>
                  <a:srgbClr val="0D006A"/>
                </a:solidFill>
                <a:latin typeface="Raleway" panose="020B0003030101060003" pitchFamily="34" charset="0"/>
              </a:rPr>
              <a:t>Select a color and then </a:t>
            </a:r>
            <a:r>
              <a:rPr lang="en-US" sz="1400" b="1">
                <a:solidFill>
                  <a:srgbClr val="B9AFFF"/>
                </a:solidFill>
                <a:latin typeface="Raleway" panose="020B0003030101060003" pitchFamily="34" charset="0"/>
              </a:rPr>
              <a:t>add white</a:t>
            </a:r>
            <a:r>
              <a:rPr lang="en-US" sz="1400" b="1">
                <a:solidFill>
                  <a:srgbClr val="0D006A"/>
                </a:solidFill>
                <a:latin typeface="Raleway" panose="020B0003030101060003" pitchFamily="34" charset="0"/>
              </a:rPr>
              <a:t> </a:t>
            </a:r>
            <a:r>
              <a:rPr lang="en-US" sz="1400">
                <a:solidFill>
                  <a:srgbClr val="0D006A"/>
                </a:solidFill>
                <a:latin typeface="Raleway" panose="020B0003030101060003" pitchFamily="34" charset="0"/>
              </a:rPr>
              <a:t>or </a:t>
            </a:r>
            <a:r>
              <a:rPr lang="en-US" sz="1400" b="1">
                <a:solidFill>
                  <a:srgbClr val="0A0054"/>
                </a:solidFill>
                <a:latin typeface="Raleway" panose="020B0003030101060003" pitchFamily="34" charset="0"/>
              </a:rPr>
              <a:t>add black </a:t>
            </a:r>
            <a:r>
              <a:rPr lang="en-US" sz="1400">
                <a:solidFill>
                  <a:srgbClr val="0D006A"/>
                </a:solidFill>
                <a:latin typeface="Raleway" panose="020B0003030101060003" pitchFamily="34" charset="0"/>
              </a:rPr>
              <a:t>for consistency</a:t>
            </a:r>
          </a:p>
        </p:txBody>
      </p:sp>
      <p:grpSp>
        <p:nvGrpSpPr>
          <p:cNvPr id="17" name="Group 16">
            <a:extLst>
              <a:ext uri="{FF2B5EF4-FFF2-40B4-BE49-F238E27FC236}">
                <a16:creationId xmlns:a16="http://schemas.microsoft.com/office/drawing/2014/main" id="{681948EF-D40F-7599-BD6F-07BF0FF5F674}"/>
              </a:ext>
            </a:extLst>
          </p:cNvPr>
          <p:cNvGrpSpPr/>
          <p:nvPr/>
        </p:nvGrpSpPr>
        <p:grpSpPr>
          <a:xfrm>
            <a:off x="868720" y="2471859"/>
            <a:ext cx="4600357" cy="1783052"/>
            <a:chOff x="616243" y="3295812"/>
            <a:chExt cx="6133807" cy="2377403"/>
          </a:xfrm>
        </p:grpSpPr>
        <p:sp>
          <p:nvSpPr>
            <p:cNvPr id="11" name="TextBox 10">
              <a:extLst>
                <a:ext uri="{FF2B5EF4-FFF2-40B4-BE49-F238E27FC236}">
                  <a16:creationId xmlns:a16="http://schemas.microsoft.com/office/drawing/2014/main" id="{27AB91B9-EBA0-AA9A-C886-065C32973D7C}"/>
                </a:ext>
              </a:extLst>
            </p:cNvPr>
            <p:cNvSpPr txBox="1"/>
            <p:nvPr/>
          </p:nvSpPr>
          <p:spPr>
            <a:xfrm>
              <a:off x="2765718" y="3295812"/>
              <a:ext cx="1834857" cy="1731072"/>
            </a:xfrm>
            <a:prstGeom prst="rect">
              <a:avLst/>
            </a:prstGeom>
            <a:noFill/>
          </p:spPr>
          <p:txBody>
            <a:bodyPr wrap="square" rtlCol="0">
              <a:spAutoFit/>
            </a:bodyPr>
            <a:lstStyle/>
            <a:p>
              <a:pPr algn="ctr">
                <a:lnSpc>
                  <a:spcPct val="150000"/>
                </a:lnSpc>
              </a:pPr>
              <a:r>
                <a:rPr lang="en-US" sz="2100" b="1">
                  <a:solidFill>
                    <a:srgbClr val="ED2B3D"/>
                  </a:solidFill>
                  <a:latin typeface="Raleway" panose="020B0003030101060003" pitchFamily="34" charset="0"/>
                </a:rPr>
                <a:t>Rose red</a:t>
              </a:r>
              <a:r>
                <a:rPr lang="en-US" sz="1800" b="1">
                  <a:solidFill>
                    <a:srgbClr val="3F0576"/>
                  </a:solidFill>
                  <a:latin typeface="Raleway" panose="020B0003030101060003" pitchFamily="34" charset="0"/>
                </a:rPr>
                <a:t> </a:t>
              </a:r>
            </a:p>
            <a:p>
              <a:pPr algn="ctr">
                <a:lnSpc>
                  <a:spcPct val="150000"/>
                </a:lnSpc>
              </a:pPr>
              <a:r>
                <a:rPr lang="en-US" sz="1800" b="1">
                  <a:solidFill>
                    <a:srgbClr val="F36D7A"/>
                  </a:solidFill>
                  <a:latin typeface="Raleway" panose="020B0003030101060003" pitchFamily="34" charset="0"/>
                </a:rPr>
                <a:t>Accent 1</a:t>
              </a:r>
            </a:p>
            <a:p>
              <a:pPr algn="ctr">
                <a:lnSpc>
                  <a:spcPct val="150000"/>
                </a:lnSpc>
              </a:pPr>
              <a:r>
                <a:rPr lang="en-US" sz="1500" b="1">
                  <a:solidFill>
                    <a:srgbClr val="F8AAB0"/>
                  </a:solidFill>
                  <a:latin typeface="Raleway" panose="020B0003030101060003" pitchFamily="34" charset="0"/>
                </a:rPr>
                <a:t>Accent 2</a:t>
              </a:r>
            </a:p>
          </p:txBody>
        </p:sp>
        <p:sp>
          <p:nvSpPr>
            <p:cNvPr id="14" name="TextBox 13">
              <a:extLst>
                <a:ext uri="{FF2B5EF4-FFF2-40B4-BE49-F238E27FC236}">
                  <a16:creationId xmlns:a16="http://schemas.microsoft.com/office/drawing/2014/main" id="{AE75A3CB-E1C5-6C6E-1B17-9296F89823F5}"/>
                </a:ext>
              </a:extLst>
            </p:cNvPr>
            <p:cNvSpPr txBox="1"/>
            <p:nvPr/>
          </p:nvSpPr>
          <p:spPr>
            <a:xfrm>
              <a:off x="616243" y="3295812"/>
              <a:ext cx="1834857" cy="2377403"/>
            </a:xfrm>
            <a:prstGeom prst="rect">
              <a:avLst/>
            </a:prstGeom>
            <a:noFill/>
          </p:spPr>
          <p:txBody>
            <a:bodyPr wrap="square" rtlCol="0">
              <a:spAutoFit/>
            </a:bodyPr>
            <a:lstStyle/>
            <a:p>
              <a:pPr algn="ctr">
                <a:lnSpc>
                  <a:spcPct val="150000"/>
                </a:lnSpc>
              </a:pPr>
              <a:r>
                <a:rPr lang="en-US" sz="2100" b="1">
                  <a:solidFill>
                    <a:srgbClr val="0D006A"/>
                  </a:solidFill>
                  <a:latin typeface="Raleway" panose="020B0003030101060003" pitchFamily="34" charset="0"/>
                </a:rPr>
                <a:t>Dark blue</a:t>
              </a:r>
              <a:r>
                <a:rPr lang="en-US" sz="1800" b="1">
                  <a:solidFill>
                    <a:srgbClr val="0D006A"/>
                  </a:solidFill>
                  <a:latin typeface="Raleway" panose="020B0003030101060003" pitchFamily="34" charset="0"/>
                </a:rPr>
                <a:t> </a:t>
              </a:r>
            </a:p>
            <a:p>
              <a:pPr algn="ctr">
                <a:lnSpc>
                  <a:spcPct val="150000"/>
                </a:lnSpc>
              </a:pPr>
              <a:r>
                <a:rPr lang="en-US" sz="1800" b="1">
                  <a:solidFill>
                    <a:srgbClr val="1400A8"/>
                  </a:solidFill>
                  <a:latin typeface="Raleway" panose="020B0003030101060003" pitchFamily="34" charset="0"/>
                </a:rPr>
                <a:t>Accent 1</a:t>
              </a:r>
            </a:p>
            <a:p>
              <a:pPr algn="ctr">
                <a:lnSpc>
                  <a:spcPct val="150000"/>
                </a:lnSpc>
              </a:pPr>
              <a:r>
                <a:rPr lang="en-US" sz="1500" b="1">
                  <a:solidFill>
                    <a:srgbClr val="9081FF"/>
                  </a:solidFill>
                  <a:latin typeface="Raleway" panose="020B0003030101060003" pitchFamily="34" charset="0"/>
                </a:rPr>
                <a:t>Accent 2</a:t>
              </a:r>
            </a:p>
          </p:txBody>
        </p:sp>
        <p:sp>
          <p:nvSpPr>
            <p:cNvPr id="15" name="TextBox 14">
              <a:extLst>
                <a:ext uri="{FF2B5EF4-FFF2-40B4-BE49-F238E27FC236}">
                  <a16:creationId xmlns:a16="http://schemas.microsoft.com/office/drawing/2014/main" id="{47225DD3-0B74-C6C0-7356-130B088CC714}"/>
                </a:ext>
              </a:extLst>
            </p:cNvPr>
            <p:cNvSpPr txBox="1"/>
            <p:nvPr/>
          </p:nvSpPr>
          <p:spPr>
            <a:xfrm>
              <a:off x="4915193" y="3295812"/>
              <a:ext cx="1834857" cy="1731072"/>
            </a:xfrm>
            <a:prstGeom prst="rect">
              <a:avLst/>
            </a:prstGeom>
            <a:noFill/>
          </p:spPr>
          <p:txBody>
            <a:bodyPr wrap="square" rtlCol="0">
              <a:spAutoFit/>
            </a:bodyPr>
            <a:lstStyle/>
            <a:p>
              <a:pPr algn="ctr">
                <a:lnSpc>
                  <a:spcPct val="150000"/>
                </a:lnSpc>
              </a:pPr>
              <a:r>
                <a:rPr lang="en-US" sz="2100" b="1">
                  <a:solidFill>
                    <a:srgbClr val="F59235"/>
                  </a:solidFill>
                  <a:latin typeface="Raleway" panose="020B0003030101060003" pitchFamily="34" charset="0"/>
                </a:rPr>
                <a:t>Orange</a:t>
              </a:r>
              <a:r>
                <a:rPr lang="en-US" sz="1800" b="1">
                  <a:solidFill>
                    <a:srgbClr val="F59235"/>
                  </a:solidFill>
                  <a:latin typeface="Raleway" panose="020B0003030101060003" pitchFamily="34" charset="0"/>
                </a:rPr>
                <a:t> </a:t>
              </a:r>
            </a:p>
            <a:p>
              <a:pPr algn="ctr">
                <a:lnSpc>
                  <a:spcPct val="150000"/>
                </a:lnSpc>
              </a:pPr>
              <a:r>
                <a:rPr lang="en-US" sz="1800" b="1">
                  <a:solidFill>
                    <a:srgbClr val="F8AF6C"/>
                  </a:solidFill>
                  <a:latin typeface="Raleway" panose="020B0003030101060003" pitchFamily="34" charset="0"/>
                </a:rPr>
                <a:t>Accent 1</a:t>
              </a:r>
            </a:p>
            <a:p>
              <a:pPr algn="ctr">
                <a:lnSpc>
                  <a:spcPct val="150000"/>
                </a:lnSpc>
              </a:pPr>
              <a:r>
                <a:rPr lang="en-US" sz="1500" b="1">
                  <a:solidFill>
                    <a:srgbClr val="FBCDA3"/>
                  </a:solidFill>
                  <a:latin typeface="Raleway" panose="020B0003030101060003" pitchFamily="34" charset="0"/>
                </a:rPr>
                <a:t>Accent 2</a:t>
              </a:r>
            </a:p>
          </p:txBody>
        </p:sp>
      </p:grpSp>
      <p:grpSp>
        <p:nvGrpSpPr>
          <p:cNvPr id="4" name="Group 3">
            <a:extLst>
              <a:ext uri="{FF2B5EF4-FFF2-40B4-BE49-F238E27FC236}">
                <a16:creationId xmlns:a16="http://schemas.microsoft.com/office/drawing/2014/main" id="{1C316DE1-5D2A-D0F5-4858-83425BDCC8E7}"/>
              </a:ext>
            </a:extLst>
          </p:cNvPr>
          <p:cNvGrpSpPr/>
          <p:nvPr/>
        </p:nvGrpSpPr>
        <p:grpSpPr>
          <a:xfrm>
            <a:off x="6400804" y="1203432"/>
            <a:ext cx="1453197" cy="1708830"/>
            <a:chOff x="6497268" y="1667070"/>
            <a:chExt cx="1945429" cy="2287652"/>
          </a:xfrm>
        </p:grpSpPr>
        <p:grpSp>
          <p:nvGrpSpPr>
            <p:cNvPr id="7" name="Groep 4">
              <a:extLst>
                <a:ext uri="{FF2B5EF4-FFF2-40B4-BE49-F238E27FC236}">
                  <a16:creationId xmlns:a16="http://schemas.microsoft.com/office/drawing/2014/main" id="{7A80032A-BA1D-4D01-0CC3-8779741F79FE}"/>
                </a:ext>
              </a:extLst>
            </p:cNvPr>
            <p:cNvGrpSpPr/>
            <p:nvPr/>
          </p:nvGrpSpPr>
          <p:grpSpPr>
            <a:xfrm>
              <a:off x="6686550" y="1667070"/>
              <a:ext cx="1588732" cy="2180979"/>
              <a:chOff x="7012549" y="977038"/>
              <a:chExt cx="1646260" cy="2307771"/>
            </a:xfrm>
          </p:grpSpPr>
          <p:pic>
            <p:nvPicPr>
              <p:cNvPr id="8" name="Afbeelding 3">
                <a:extLst>
                  <a:ext uri="{FF2B5EF4-FFF2-40B4-BE49-F238E27FC236}">
                    <a16:creationId xmlns:a16="http://schemas.microsoft.com/office/drawing/2014/main" id="{3071086F-E54D-7CF3-3A5F-CF316F7CA5C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012549" y="977038"/>
                <a:ext cx="1646260" cy="2307771"/>
              </a:xfrm>
              <a:prstGeom prst="rect">
                <a:avLst/>
              </a:prstGeom>
            </p:spPr>
          </p:pic>
          <p:sp>
            <p:nvSpPr>
              <p:cNvPr id="9" name="Rechthoek 2">
                <a:extLst>
                  <a:ext uri="{FF2B5EF4-FFF2-40B4-BE49-F238E27FC236}">
                    <a16:creationId xmlns:a16="http://schemas.microsoft.com/office/drawing/2014/main" id="{3B988E81-5F02-4052-31AA-CDC284F2C94C}"/>
                  </a:ext>
                </a:extLst>
              </p:cNvPr>
              <p:cNvSpPr/>
              <p:nvPr/>
            </p:nvSpPr>
            <p:spPr bwMode="auto">
              <a:xfrm>
                <a:off x="7012549" y="977038"/>
                <a:ext cx="1646260" cy="2050927"/>
              </a:xfrm>
              <a:prstGeom prst="rect">
                <a:avLst/>
              </a:prstGeom>
              <a:solidFill>
                <a:schemeClr val="tx1">
                  <a:alpha val="74000"/>
                </a:schemeClr>
              </a:solidFill>
              <a:ln w="9525">
                <a:no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
          <p:nvSpPr>
            <p:cNvPr id="16" name="Rechthoek 7">
              <a:extLst>
                <a:ext uri="{FF2B5EF4-FFF2-40B4-BE49-F238E27FC236}">
                  <a16:creationId xmlns:a16="http://schemas.microsoft.com/office/drawing/2014/main" id="{2F6B5EFE-3282-04E6-0AFA-49BC2020F0D7}"/>
                </a:ext>
              </a:extLst>
            </p:cNvPr>
            <p:cNvSpPr/>
            <p:nvPr/>
          </p:nvSpPr>
          <p:spPr bwMode="auto">
            <a:xfrm>
              <a:off x="6497268" y="3498869"/>
              <a:ext cx="1945429" cy="455853"/>
            </a:xfrm>
            <a:prstGeom prst="rect">
              <a:avLst/>
            </a:prstGeom>
            <a:noFill/>
            <a:ln w="38100">
              <a:solidFill>
                <a:srgbClr val="F59235"/>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grpSp>
        <p:nvGrpSpPr>
          <p:cNvPr id="13" name="Group 12">
            <a:extLst>
              <a:ext uri="{FF2B5EF4-FFF2-40B4-BE49-F238E27FC236}">
                <a16:creationId xmlns:a16="http://schemas.microsoft.com/office/drawing/2014/main" id="{2A688B9F-9D97-ACA0-2A59-E7F16933C746}"/>
              </a:ext>
            </a:extLst>
          </p:cNvPr>
          <p:cNvGrpSpPr/>
          <p:nvPr/>
        </p:nvGrpSpPr>
        <p:grpSpPr>
          <a:xfrm>
            <a:off x="6393965" y="3112810"/>
            <a:ext cx="1552755" cy="1788514"/>
            <a:chOff x="6620809" y="3169222"/>
            <a:chExt cx="1552755" cy="1788514"/>
          </a:xfrm>
        </p:grpSpPr>
        <p:pic>
          <p:nvPicPr>
            <p:cNvPr id="3" name="Picture 2" descr="The image depicts a color picker tool in a software interface, displaying a vibrant gradient with customizable RGB values and hex color codes.&#10;&#10;AI-generated content may be incorrect.">
              <a:extLst>
                <a:ext uri="{FF2B5EF4-FFF2-40B4-BE49-F238E27FC236}">
                  <a16:creationId xmlns:a16="http://schemas.microsoft.com/office/drawing/2014/main" id="{0EC9403A-FF93-B0E1-DB2E-BC34C51A9006}"/>
                </a:ext>
              </a:extLst>
            </p:cNvPr>
            <p:cNvPicPr>
              <a:picLocks noChangeAspect="1"/>
            </p:cNvPicPr>
            <p:nvPr/>
          </p:nvPicPr>
          <p:blipFill>
            <a:blip r:embed="rId4" cstate="screen">
              <a:extLst>
                <a:ext uri="{28A0092B-C50C-407E-A947-70E740481C1C}">
                  <a14:useLocalDpi xmlns:a14="http://schemas.microsoft.com/office/drawing/2010/main"/>
                </a:ext>
              </a:extLst>
            </a:blip>
            <a:srcRect l="2886" t="2720" r="871" b="1050"/>
            <a:stretch>
              <a:fillRect/>
            </a:stretch>
          </p:blipFill>
          <p:spPr>
            <a:xfrm>
              <a:off x="6620809" y="3169222"/>
              <a:ext cx="1552755" cy="1788514"/>
            </a:xfrm>
            <a:prstGeom prst="rect">
              <a:avLst/>
            </a:prstGeom>
          </p:spPr>
        </p:pic>
        <p:sp>
          <p:nvSpPr>
            <p:cNvPr id="12" name="Rechthoek 7">
              <a:extLst>
                <a:ext uri="{FF2B5EF4-FFF2-40B4-BE49-F238E27FC236}">
                  <a16:creationId xmlns:a16="http://schemas.microsoft.com/office/drawing/2014/main" id="{AB9A88BE-F3C7-7D9B-20DF-4F4A640F33BD}"/>
                </a:ext>
              </a:extLst>
            </p:cNvPr>
            <p:cNvSpPr/>
            <p:nvPr/>
          </p:nvSpPr>
          <p:spPr bwMode="auto">
            <a:xfrm rot="5400000">
              <a:off x="7047531" y="3775344"/>
              <a:ext cx="969739" cy="227229"/>
            </a:xfrm>
            <a:prstGeom prst="rect">
              <a:avLst/>
            </a:prstGeom>
            <a:noFill/>
            <a:ln w="38100">
              <a:solidFill>
                <a:srgbClr val="F79421"/>
              </a:solidFill>
              <a:round/>
              <a:headEnd/>
              <a:tailEnd/>
            </a:ln>
          </p:spPr>
          <p:txBody>
            <a:bodyPr vert="horz" wrap="square" lIns="68580" tIns="34290" rIns="68580" bIns="34290" numCol="1" rtlCol="0" anchor="t" anchorCtr="0" compatLnSpc="1">
              <a:prstTxWarp prst="textNoShape">
                <a:avLst/>
              </a:prstTxWarp>
            </a:bodyPr>
            <a:lstStyle/>
            <a:p>
              <a:pPr algn="ctr"/>
              <a:endParaRPr lang="en-US" sz="1013"/>
            </a:p>
          </p:txBody>
        </p:sp>
      </p:grpSp>
    </p:spTree>
    <p:extLst>
      <p:ext uri="{BB962C8B-B14F-4D97-AF65-F5344CB8AC3E}">
        <p14:creationId xmlns:p14="http://schemas.microsoft.com/office/powerpoint/2010/main" val="3650231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DA57-48FF-C046-F789-493293FA0B11}"/>
            </a:ext>
          </a:extLst>
        </p:cNvPr>
        <p:cNvGrpSpPr/>
        <p:nvPr/>
      </p:nvGrpSpPr>
      <p:grpSpPr>
        <a:xfrm>
          <a:off x="0" y="0"/>
          <a:ext cx="0" cy="0"/>
          <a:chOff x="0" y="0"/>
          <a:chExt cx="0" cy="0"/>
        </a:xfrm>
      </p:grpSpPr>
      <p:sp>
        <p:nvSpPr>
          <p:cNvPr id="5" name="Tekstvak 5" descr="MVX23_Logo_Basislogo_Full_colour_Wit">
            <a:extLst>
              <a:ext uri="{FF2B5EF4-FFF2-40B4-BE49-F238E27FC236}">
                <a16:creationId xmlns:a16="http://schemas.microsoft.com/office/drawing/2014/main" id="{881D096C-E4FA-23D4-2367-84CB26C24647}"/>
              </a:ext>
            </a:extLst>
          </p:cNvPr>
          <p:cNvSpPr txBox="1"/>
          <p:nvPr/>
        </p:nvSpPr>
        <p:spPr>
          <a:xfrm>
            <a:off x="0" y="533102"/>
            <a:ext cx="9144000" cy="577081"/>
          </a:xfrm>
          <a:prstGeom prst="rect">
            <a:avLst/>
          </a:prstGeom>
          <a:noFill/>
        </p:spPr>
        <p:txBody>
          <a:bodyPr wrap="square" lIns="68580" tIns="34290" rIns="68580" bIns="34290" rtlCol="0" anchor="t">
            <a:spAutoFit/>
          </a:bodyPr>
          <a:lstStyle/>
          <a:p>
            <a:pPr>
              <a:defRPr/>
            </a:pPr>
            <a:r>
              <a:rPr lang="en-US" sz="3300" b="1">
                <a:solidFill>
                  <a:srgbClr val="F04E5B"/>
                </a:solidFill>
                <a:latin typeface="Space Grotesk" pitchFamily="2" charset="0"/>
                <a:cs typeface="Space Grotesk" pitchFamily="2" charset="0"/>
              </a:rPr>
              <a:t>	  </a:t>
            </a:r>
            <a:r>
              <a:rPr lang="en-US" sz="2550" b="1">
                <a:solidFill>
                  <a:srgbClr val="EF4453"/>
                </a:solidFill>
                <a:latin typeface="Space Grotesk" pitchFamily="2" charset="0"/>
                <a:cs typeface="Space Grotesk" pitchFamily="2" charset="0"/>
              </a:rPr>
              <a:t>Best practices </a:t>
            </a:r>
            <a:r>
              <a:rPr lang="en-US" sz="2100" b="1">
                <a:solidFill>
                  <a:srgbClr val="F59235"/>
                </a:solidFill>
                <a:latin typeface="Space Grotesk" pitchFamily="2" charset="0"/>
                <a:cs typeface="Space Grotesk" pitchFamily="2" charset="0"/>
              </a:rPr>
              <a:t>I Consistency &amp; Takeaways</a:t>
            </a:r>
            <a:endParaRPr lang="en-US" sz="2550">
              <a:solidFill>
                <a:srgbClr val="F04E5B"/>
              </a:solidFill>
              <a:latin typeface="Space Grotesk" pitchFamily="2" charset="0"/>
              <a:cs typeface="Space Grotesk" pitchFamily="2" charset="0"/>
            </a:endParaRPr>
          </a:p>
        </p:txBody>
      </p:sp>
      <p:sp>
        <p:nvSpPr>
          <p:cNvPr id="6" name="Tekstvak 5" descr="MVX23_Logo_Basislogo_Full_colour_Wit">
            <a:extLst>
              <a:ext uri="{FF2B5EF4-FFF2-40B4-BE49-F238E27FC236}">
                <a16:creationId xmlns:a16="http://schemas.microsoft.com/office/drawing/2014/main" id="{46984500-1BA6-9EAB-CF76-935F730C80A9}"/>
              </a:ext>
            </a:extLst>
          </p:cNvPr>
          <p:cNvSpPr txBox="1"/>
          <p:nvPr/>
        </p:nvSpPr>
        <p:spPr>
          <a:xfrm>
            <a:off x="0" y="185764"/>
            <a:ext cx="9144000"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	Style guide</a:t>
            </a:r>
          </a:p>
        </p:txBody>
      </p:sp>
      <p:sp>
        <p:nvSpPr>
          <p:cNvPr id="10" name="TextBox 9">
            <a:extLst>
              <a:ext uri="{FF2B5EF4-FFF2-40B4-BE49-F238E27FC236}">
                <a16:creationId xmlns:a16="http://schemas.microsoft.com/office/drawing/2014/main" id="{98513F6D-5E40-ABA8-8ECD-5A34703DE80F}"/>
              </a:ext>
            </a:extLst>
          </p:cNvPr>
          <p:cNvSpPr txBox="1"/>
          <p:nvPr/>
        </p:nvSpPr>
        <p:spPr>
          <a:xfrm>
            <a:off x="385762" y="1501274"/>
            <a:ext cx="7786688" cy="623248"/>
          </a:xfrm>
          <a:prstGeom prst="rect">
            <a:avLst/>
          </a:prstGeom>
          <a:noFill/>
        </p:spPr>
        <p:txBody>
          <a:bodyPr wrap="square">
            <a:spAutoFit/>
          </a:bodyPr>
          <a:lstStyle/>
          <a:p>
            <a:r>
              <a:rPr lang="en-US" sz="1800" b="1">
                <a:solidFill>
                  <a:srgbClr val="0D006A"/>
                </a:solidFill>
                <a:latin typeface="Raleway" panose="020B0003030101060003" pitchFamily="34" charset="0"/>
              </a:rPr>
              <a:t>Don’t move the title or subtitle </a:t>
            </a:r>
            <a:r>
              <a:rPr lang="en-US" sz="1800" b="1">
                <a:solidFill>
                  <a:srgbClr val="EF4453"/>
                </a:solidFill>
                <a:latin typeface="Raleway" panose="020B0003030101060003" pitchFamily="34" charset="0"/>
              </a:rPr>
              <a:t>unless absolutely necessary</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If so, </a:t>
            </a:r>
            <a:r>
              <a:rPr lang="en-US" sz="1650" b="1">
                <a:solidFill>
                  <a:srgbClr val="EF4453"/>
                </a:solidFill>
                <a:latin typeface="Raleway" panose="020B0003030101060003" pitchFamily="34" charset="0"/>
              </a:rPr>
              <a:t>copy the new placement </a:t>
            </a:r>
            <a:r>
              <a:rPr lang="en-US" sz="1650">
                <a:solidFill>
                  <a:srgbClr val="0D006A"/>
                </a:solidFill>
                <a:latin typeface="Raleway" panose="020B0003030101060003" pitchFamily="34" charset="0"/>
              </a:rPr>
              <a:t>to </a:t>
            </a:r>
            <a:r>
              <a:rPr lang="en-US" sz="1650" b="1">
                <a:solidFill>
                  <a:srgbClr val="EF4453"/>
                </a:solidFill>
                <a:latin typeface="Raleway" panose="020B0003030101060003" pitchFamily="34" charset="0"/>
              </a:rPr>
              <a:t>all</a:t>
            </a:r>
            <a:r>
              <a:rPr lang="en-US" sz="1650">
                <a:solidFill>
                  <a:srgbClr val="0D006A"/>
                </a:solidFill>
                <a:latin typeface="Raleway" panose="020B0003030101060003" pitchFamily="34" charset="0"/>
              </a:rPr>
              <a:t> other slides	</a:t>
            </a:r>
          </a:p>
        </p:txBody>
      </p:sp>
      <p:sp>
        <p:nvSpPr>
          <p:cNvPr id="2" name="TextBox 1">
            <a:extLst>
              <a:ext uri="{FF2B5EF4-FFF2-40B4-BE49-F238E27FC236}">
                <a16:creationId xmlns:a16="http://schemas.microsoft.com/office/drawing/2014/main" id="{B5E7FA3B-E45C-1840-748F-F7CE168C713B}"/>
              </a:ext>
            </a:extLst>
          </p:cNvPr>
          <p:cNvSpPr txBox="1"/>
          <p:nvPr/>
        </p:nvSpPr>
        <p:spPr>
          <a:xfrm>
            <a:off x="985837" y="2302144"/>
            <a:ext cx="7186613" cy="623248"/>
          </a:xfrm>
          <a:prstGeom prst="rect">
            <a:avLst/>
          </a:prstGeom>
          <a:noFill/>
        </p:spPr>
        <p:txBody>
          <a:bodyPr wrap="square">
            <a:spAutoFit/>
          </a:bodyPr>
          <a:lstStyle/>
          <a:p>
            <a:r>
              <a:rPr lang="en-US" sz="1800" b="1">
                <a:solidFill>
                  <a:srgbClr val="0D006A"/>
                </a:solidFill>
                <a:latin typeface="Raleway" panose="020B0003030101060003" pitchFamily="34" charset="0"/>
              </a:rPr>
              <a:t>Copying elements </a:t>
            </a:r>
            <a:r>
              <a:rPr lang="en-US" sz="1800" b="1">
                <a:solidFill>
                  <a:srgbClr val="EF4453"/>
                </a:solidFill>
                <a:latin typeface="Raleway" panose="020B0003030101060003" pitchFamily="34" charset="0"/>
              </a:rPr>
              <a:t>from another slide (or deck) is always better</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Especially when creating stories with </a:t>
            </a:r>
            <a:r>
              <a:rPr lang="en-US" sz="1650" b="1">
                <a:solidFill>
                  <a:srgbClr val="0D006A"/>
                </a:solidFill>
                <a:latin typeface="Raleway" panose="020B0003030101060003" pitchFamily="34" charset="0"/>
              </a:rPr>
              <a:t>compounded icons</a:t>
            </a:r>
          </a:p>
        </p:txBody>
      </p:sp>
      <p:sp>
        <p:nvSpPr>
          <p:cNvPr id="3" name="TextBox 2">
            <a:extLst>
              <a:ext uri="{FF2B5EF4-FFF2-40B4-BE49-F238E27FC236}">
                <a16:creationId xmlns:a16="http://schemas.microsoft.com/office/drawing/2014/main" id="{E230E6A6-8158-5691-1D6B-8A0E194C38AF}"/>
              </a:ext>
            </a:extLst>
          </p:cNvPr>
          <p:cNvSpPr txBox="1"/>
          <p:nvPr/>
        </p:nvSpPr>
        <p:spPr>
          <a:xfrm>
            <a:off x="1857375" y="3147265"/>
            <a:ext cx="7186613" cy="623248"/>
          </a:xfrm>
          <a:prstGeom prst="rect">
            <a:avLst/>
          </a:prstGeom>
          <a:noFill/>
        </p:spPr>
        <p:txBody>
          <a:bodyPr wrap="square">
            <a:spAutoFit/>
          </a:bodyPr>
          <a:lstStyle/>
          <a:p>
            <a:r>
              <a:rPr lang="en-US" sz="1800" b="1">
                <a:solidFill>
                  <a:srgbClr val="EF4453"/>
                </a:solidFill>
                <a:latin typeface="Raleway" panose="020B0003030101060003" pitchFamily="34" charset="0"/>
              </a:rPr>
              <a:t>Use the pipet </a:t>
            </a:r>
            <a:r>
              <a:rPr lang="en-US" sz="1800" b="1">
                <a:solidFill>
                  <a:srgbClr val="0D006A"/>
                </a:solidFill>
                <a:latin typeface="Raleway" panose="020B0003030101060003" pitchFamily="34" charset="0"/>
              </a:rPr>
              <a:t>to find the </a:t>
            </a:r>
            <a:r>
              <a:rPr lang="en-US" sz="1800" b="1">
                <a:solidFill>
                  <a:srgbClr val="EF4453"/>
                </a:solidFill>
                <a:latin typeface="Raleway" panose="020B0003030101060003" pitchFamily="34" charset="0"/>
              </a:rPr>
              <a:t>exact</a:t>
            </a:r>
            <a:r>
              <a:rPr lang="en-US" sz="1800" b="1">
                <a:solidFill>
                  <a:srgbClr val="0D006A"/>
                </a:solidFill>
                <a:latin typeface="Raleway" panose="020B0003030101060003" pitchFamily="34" charset="0"/>
              </a:rPr>
              <a:t> color shade, before adding </a:t>
            </a:r>
            <a:r>
              <a:rPr lang="en-US" sz="1800" b="1">
                <a:solidFill>
                  <a:srgbClr val="EF4453"/>
                </a:solidFill>
                <a:latin typeface="Raleway" panose="020B0003030101060003" pitchFamily="34" charset="0"/>
              </a:rPr>
              <a:t>white</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If the target element is not available, copy it to current slide first</a:t>
            </a:r>
          </a:p>
        </p:txBody>
      </p:sp>
      <p:sp>
        <p:nvSpPr>
          <p:cNvPr id="4" name="TextBox 3">
            <a:extLst>
              <a:ext uri="{FF2B5EF4-FFF2-40B4-BE49-F238E27FC236}">
                <a16:creationId xmlns:a16="http://schemas.microsoft.com/office/drawing/2014/main" id="{7EA76A59-0A2B-F095-3245-1767689F184A}"/>
              </a:ext>
            </a:extLst>
          </p:cNvPr>
          <p:cNvSpPr txBox="1"/>
          <p:nvPr/>
        </p:nvSpPr>
        <p:spPr>
          <a:xfrm>
            <a:off x="500062" y="3969302"/>
            <a:ext cx="6967538" cy="623248"/>
          </a:xfrm>
          <a:prstGeom prst="rect">
            <a:avLst/>
          </a:prstGeom>
          <a:noFill/>
        </p:spPr>
        <p:txBody>
          <a:bodyPr wrap="square">
            <a:spAutoFit/>
          </a:bodyPr>
          <a:lstStyle/>
          <a:p>
            <a:r>
              <a:rPr lang="en-US" sz="1800" b="1">
                <a:solidFill>
                  <a:srgbClr val="0D006A"/>
                </a:solidFill>
                <a:latin typeface="Raleway" panose="020B0003030101060003" pitchFamily="34" charset="0"/>
              </a:rPr>
              <a:t>Don’t be afraid to </a:t>
            </a:r>
            <a:r>
              <a:rPr lang="en-US" sz="1800" b="1">
                <a:solidFill>
                  <a:srgbClr val="EF4453"/>
                </a:solidFill>
                <a:latin typeface="Raleway" panose="020B0003030101060003" pitchFamily="34" charset="0"/>
              </a:rPr>
              <a:t>experiment with text placements</a:t>
            </a:r>
          </a:p>
          <a:p>
            <a:pPr marL="600075" lvl="1" indent="-257175">
              <a:buFont typeface="Arial" panose="020B0604020202020204" pitchFamily="34" charset="0"/>
              <a:buChar char="•"/>
            </a:pPr>
            <a:r>
              <a:rPr lang="en-US" sz="1650">
                <a:solidFill>
                  <a:srgbClr val="0D006A"/>
                </a:solidFill>
                <a:latin typeface="Raleway" panose="020B0003030101060003" pitchFamily="34" charset="0"/>
              </a:rPr>
              <a:t>As long as the composition looks stable, it will look captivating</a:t>
            </a:r>
          </a:p>
        </p:txBody>
      </p:sp>
    </p:spTree>
    <p:extLst>
      <p:ext uri="{BB962C8B-B14F-4D97-AF65-F5344CB8AC3E}">
        <p14:creationId xmlns:p14="http://schemas.microsoft.com/office/powerpoint/2010/main" val="3683192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B0D0D-0151-CBFA-68B9-2657D9E9BDDF}"/>
            </a:ext>
          </a:extLst>
        </p:cNvPr>
        <p:cNvGrpSpPr/>
        <p:nvPr/>
      </p:nvGrpSpPr>
      <p:grpSpPr>
        <a:xfrm>
          <a:off x="0" y="0"/>
          <a:ext cx="0" cy="0"/>
          <a:chOff x="0" y="0"/>
          <a:chExt cx="0" cy="0"/>
        </a:xfrm>
      </p:grpSpPr>
      <p:pic>
        <p:nvPicPr>
          <p:cNvPr id="6" name="Google Shape;1018;p37">
            <a:extLst>
              <a:ext uri="{FF2B5EF4-FFF2-40B4-BE49-F238E27FC236}">
                <a16:creationId xmlns:a16="http://schemas.microsoft.com/office/drawing/2014/main" id="{DF8A9352-9AEE-F01E-3E52-062C3DB80858}"/>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t="-12"/>
          <a:stretch>
            <a:fillRect/>
          </a:stretch>
        </p:blipFill>
        <p:spPr>
          <a:xfrm>
            <a:off x="0" y="0"/>
            <a:ext cx="3890310"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EC08AD29-3026-4107-FE4B-A692CB842496}"/>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914FD5B4-7ADA-72F2-6830-0FD4D983CD5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10043" y="1642233"/>
            <a:ext cx="2751023" cy="798700"/>
          </a:xfrm>
          <a:prstGeom prst="teardrop">
            <a:avLst/>
          </a:prstGeom>
          <a:noFill/>
          <a:ln>
            <a:noFill/>
          </a:ln>
        </p:spPr>
      </p:pic>
      <p:pic>
        <p:nvPicPr>
          <p:cNvPr id="7" name="Picture 6">
            <a:extLst>
              <a:ext uri="{FF2B5EF4-FFF2-40B4-BE49-F238E27FC236}">
                <a16:creationId xmlns:a16="http://schemas.microsoft.com/office/drawing/2014/main" id="{D2D83544-CC45-4820-38E8-A501D73E26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E6E33646-7346-9412-D33A-1570ABAD4CE8}"/>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solidFill>
                <a:latin typeface="DM Sans"/>
                <a:ea typeface="+mn-lt"/>
                <a:cs typeface="+mn-lt"/>
              </a:rPr>
              <a:t>Structure </a:t>
            </a:r>
          </a:p>
          <a:p>
            <a:pPr marL="202406">
              <a:lnSpc>
                <a:spcPct val="150000"/>
              </a:lnSpc>
              <a:defRPr/>
            </a:pPr>
            <a:r>
              <a:rPr lang="en-US" sz="1050">
                <a:solidFill>
                  <a:schemeClr val="bg1"/>
                </a:solidFill>
                <a:latin typeface="DM Sans"/>
                <a:ea typeface="+mn-lt"/>
                <a:cs typeface="+mn-lt"/>
              </a:rPr>
              <a:t>The required order of your slides </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Examples</a:t>
            </a:r>
          </a:p>
          <a:p>
            <a:pPr marL="202406">
              <a:lnSpc>
                <a:spcPct val="150000"/>
              </a:lnSpc>
              <a:defRPr/>
            </a:pPr>
            <a:r>
              <a:rPr lang="en-US" sz="1050">
                <a:solidFill>
                  <a:srgbClr val="0D006A"/>
                </a:solidFill>
                <a:latin typeface="DM Sans"/>
                <a:ea typeface="+mn-lt"/>
                <a:cs typeface="+mn-lt"/>
              </a:rPr>
              <a:t>Real slides with speaker notes from other trainings</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 slides with assets we can reuse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566095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5BA1-B792-EFA4-9AB9-DA9690FD4B26}"/>
            </a:ext>
          </a:extLst>
        </p:cNvPr>
        <p:cNvGrpSpPr/>
        <p:nvPr/>
      </p:nvGrpSpPr>
      <p:grpSpPr>
        <a:xfrm>
          <a:off x="0" y="0"/>
          <a:ext cx="0" cy="0"/>
          <a:chOff x="0" y="0"/>
          <a:chExt cx="0" cy="0"/>
        </a:xfrm>
      </p:grpSpPr>
      <p:pic>
        <p:nvPicPr>
          <p:cNvPr id="5" name="Graphic 4" descr="Full Brick Wall with solid fill">
            <a:extLst>
              <a:ext uri="{FF2B5EF4-FFF2-40B4-BE49-F238E27FC236}">
                <a16:creationId xmlns:a16="http://schemas.microsoft.com/office/drawing/2014/main" id="{A8FCE99B-05B1-D9FF-2910-7FE078AD83F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4075200" y="816498"/>
            <a:ext cx="3844800" cy="3844800"/>
          </a:xfrm>
          <a:prstGeom prst="rect">
            <a:avLst/>
          </a:prstGeom>
        </p:spPr>
      </p:pic>
      <p:sp>
        <p:nvSpPr>
          <p:cNvPr id="2" name="Tekstvak 5" descr="MVX23_Logo_Basislogo_Full_colour_Wit">
            <a:extLst>
              <a:ext uri="{FF2B5EF4-FFF2-40B4-BE49-F238E27FC236}">
                <a16:creationId xmlns:a16="http://schemas.microsoft.com/office/drawing/2014/main" id="{7E85C5CF-503A-4DDE-7C6C-45E8F12B5DE1}"/>
              </a:ext>
            </a:extLst>
          </p:cNvPr>
          <p:cNvSpPr txBox="1"/>
          <p:nvPr/>
        </p:nvSpPr>
        <p:spPr>
          <a:xfrm>
            <a:off x="635213" y="239417"/>
            <a:ext cx="7558915" cy="577081"/>
          </a:xfrm>
          <a:prstGeom prst="rect">
            <a:avLst/>
          </a:prstGeom>
          <a:noFill/>
        </p:spPr>
        <p:txBody>
          <a:bodyPr wrap="square" lIns="68580" tIns="34290" rIns="68580" bIns="34290" rtlCol="0" anchor="t">
            <a:spAutoFit/>
          </a:bodyPr>
          <a:lstStyle/>
          <a:p>
            <a:pPr>
              <a:defRPr/>
            </a:pPr>
            <a:r>
              <a:rPr lang="nl-NL" sz="3300" b="1">
                <a:solidFill>
                  <a:srgbClr val="0D006A"/>
                </a:solidFill>
                <a:latin typeface="Space Grotesk" pitchFamily="2" charset="0"/>
                <a:cs typeface="Space Grotesk" pitchFamily="2" charset="0"/>
              </a:rPr>
              <a:t>T</a:t>
            </a:r>
            <a:r>
              <a:rPr lang="en-US" sz="3300" b="1">
                <a:solidFill>
                  <a:srgbClr val="0D006A"/>
                </a:solidFill>
                <a:latin typeface="Space Grotesk" pitchFamily="2" charset="0"/>
                <a:cs typeface="Space Grotesk" pitchFamily="2" charset="0"/>
              </a:rPr>
              <a:t>he structure of your training</a:t>
            </a:r>
          </a:p>
        </p:txBody>
      </p:sp>
      <p:sp>
        <p:nvSpPr>
          <p:cNvPr id="3" name="TextBox 2">
            <a:extLst>
              <a:ext uri="{FF2B5EF4-FFF2-40B4-BE49-F238E27FC236}">
                <a16:creationId xmlns:a16="http://schemas.microsoft.com/office/drawing/2014/main" id="{AB778816-2E6C-B5FE-CB5C-9A24B0098D25}"/>
              </a:ext>
            </a:extLst>
          </p:cNvPr>
          <p:cNvSpPr txBox="1"/>
          <p:nvPr/>
        </p:nvSpPr>
        <p:spPr>
          <a:xfrm>
            <a:off x="995456" y="1107067"/>
            <a:ext cx="7385344" cy="3431709"/>
          </a:xfrm>
          <a:prstGeom prst="rect">
            <a:avLst/>
          </a:prstGeom>
          <a:noFill/>
        </p:spPr>
        <p:txBody>
          <a:bodyPr wrap="square">
            <a:spAutoFit/>
          </a:bodyPr>
          <a:lstStyle/>
          <a:p>
            <a:r>
              <a:rPr lang="en-US" sz="2400" b="1">
                <a:solidFill>
                  <a:srgbClr val="0D006A"/>
                </a:solidFill>
                <a:latin typeface="Raleway" panose="020B0003030101060003" pitchFamily="34" charset="0"/>
              </a:rPr>
              <a:t>Before</a:t>
            </a:r>
          </a:p>
          <a:p>
            <a:pPr marL="257175" indent="-257175">
              <a:buFontTx/>
              <a:buChar char="-"/>
            </a:pPr>
            <a:r>
              <a:rPr lang="en-US" sz="1100">
                <a:solidFill>
                  <a:srgbClr val="0D006A"/>
                </a:solidFill>
                <a:latin typeface="Raleway" panose="020B0003030101060003" pitchFamily="34" charset="0"/>
              </a:rPr>
              <a:t>About this session (slide 13 of this presentation)</a:t>
            </a:r>
          </a:p>
          <a:p>
            <a:pPr marL="257175" indent="-257175">
              <a:buFontTx/>
              <a:buChar char="-"/>
            </a:pPr>
            <a:r>
              <a:rPr lang="en-US" sz="1100">
                <a:solidFill>
                  <a:srgbClr val="0D006A"/>
                </a:solidFill>
                <a:latin typeface="Raleway" panose="020B0003030101060003" pitchFamily="34" charset="0"/>
              </a:rPr>
              <a:t>Timetable for trainer (slide 14 of this presentation)</a:t>
            </a:r>
          </a:p>
          <a:p>
            <a:pPr marL="257175" indent="-257175">
              <a:buFontTx/>
              <a:buChar char="-"/>
            </a:pPr>
            <a:r>
              <a:rPr lang="en-US" sz="1100">
                <a:solidFill>
                  <a:srgbClr val="0D006A"/>
                </a:solidFill>
                <a:latin typeface="Raleway" panose="020B0003030101060003" pitchFamily="34" charset="0"/>
              </a:rPr>
              <a:t>Timetable for learner (slide 15 of this presentation)</a:t>
            </a:r>
          </a:p>
          <a:p>
            <a:pPr marL="257175" indent="-257175">
              <a:buFontTx/>
              <a:buChar char="-"/>
            </a:pPr>
            <a:r>
              <a:rPr lang="en-US" sz="1100">
                <a:solidFill>
                  <a:srgbClr val="0D006A"/>
                </a:solidFill>
                <a:latin typeface="Raleway" panose="020B0003030101060003" pitchFamily="34" charset="0"/>
              </a:rPr>
              <a:t>Agenda</a:t>
            </a:r>
          </a:p>
          <a:p>
            <a:pPr marL="257175" indent="-257175">
              <a:buFontTx/>
              <a:buChar char="-"/>
            </a:pPr>
            <a:endParaRPr lang="en-US" sz="2400" b="1">
              <a:solidFill>
                <a:srgbClr val="0D006A"/>
              </a:solidFill>
              <a:latin typeface="Raleway" panose="020B0003030101060003" pitchFamily="34" charset="0"/>
            </a:endParaRPr>
          </a:p>
          <a:p>
            <a:r>
              <a:rPr lang="en-US" sz="2400" b="1">
                <a:solidFill>
                  <a:srgbClr val="0D006A"/>
                </a:solidFill>
                <a:latin typeface="Raleway" panose="020B0003030101060003" pitchFamily="34" charset="0"/>
              </a:rPr>
              <a:t>Per topic</a:t>
            </a:r>
          </a:p>
          <a:p>
            <a:pPr marL="257175" indent="-257175">
              <a:buFontTx/>
              <a:buChar char="-"/>
            </a:pPr>
            <a:r>
              <a:rPr lang="en-US" sz="1100">
                <a:solidFill>
                  <a:srgbClr val="0D006A"/>
                </a:solidFill>
                <a:latin typeface="Raleway" panose="020B0003030101060003" pitchFamily="34" charset="0"/>
              </a:rPr>
              <a:t>Introduction of topic (definition, what does it mean?)</a:t>
            </a:r>
          </a:p>
          <a:p>
            <a:pPr marL="257175" indent="-257175">
              <a:buFontTx/>
              <a:buChar char="-"/>
            </a:pPr>
            <a:r>
              <a:rPr lang="en-US" sz="1100">
                <a:solidFill>
                  <a:srgbClr val="0D006A"/>
                </a:solidFill>
                <a:latin typeface="Raleway" panose="020B0003030101060003" pitchFamily="34" charset="0"/>
              </a:rPr>
              <a:t>An example of the topic in practice (can be 1-2 slides)</a:t>
            </a:r>
          </a:p>
          <a:p>
            <a:pPr marL="257175" indent="-257175">
              <a:buFontTx/>
              <a:buChar char="-"/>
            </a:pPr>
            <a:r>
              <a:rPr lang="en-US" sz="1100">
                <a:solidFill>
                  <a:srgbClr val="0D006A"/>
                </a:solidFill>
                <a:latin typeface="Raleway" panose="020B0003030101060003" pitchFamily="34" charset="0"/>
              </a:rPr>
              <a:t>An exercise with the introduced topic (Example of exercise slides can be found in topic 4)</a:t>
            </a:r>
          </a:p>
          <a:p>
            <a:pPr marL="257175" indent="-257175">
              <a:buFontTx/>
              <a:buChar char="-"/>
            </a:pPr>
            <a:endParaRPr lang="en-US" sz="1100">
              <a:solidFill>
                <a:srgbClr val="0D006A"/>
              </a:solidFill>
              <a:latin typeface="Raleway" panose="020B0003030101060003" pitchFamily="34" charset="0"/>
            </a:endParaRPr>
          </a:p>
          <a:p>
            <a:r>
              <a:rPr lang="en-US" sz="2400" b="1">
                <a:solidFill>
                  <a:srgbClr val="0D006A"/>
                </a:solidFill>
                <a:latin typeface="Raleway" panose="020B0003030101060003" pitchFamily="34" charset="0"/>
              </a:rPr>
              <a:t>After</a:t>
            </a:r>
          </a:p>
          <a:p>
            <a:pPr marL="257175" indent="-257175">
              <a:buFontTx/>
              <a:buChar char="-"/>
            </a:pPr>
            <a:r>
              <a:rPr lang="en-US" sz="1100">
                <a:solidFill>
                  <a:srgbClr val="0D006A"/>
                </a:solidFill>
                <a:latin typeface="Raleway" panose="020B0003030101060003" pitchFamily="34" charset="0"/>
              </a:rPr>
              <a:t>Wrap up &amp; Reflection</a:t>
            </a:r>
          </a:p>
          <a:p>
            <a:pPr marL="257175" indent="-257175">
              <a:buFontTx/>
              <a:buChar char="-"/>
            </a:pPr>
            <a:r>
              <a:rPr lang="en-US" sz="1100">
                <a:solidFill>
                  <a:srgbClr val="0D006A"/>
                </a:solidFill>
                <a:latin typeface="Raleway" panose="020B0003030101060003" pitchFamily="34" charset="0"/>
              </a:rPr>
              <a:t>Key takeaways </a:t>
            </a:r>
          </a:p>
          <a:p>
            <a:pPr marL="257175" indent="-257175">
              <a:buFontTx/>
              <a:buChar char="-"/>
            </a:pPr>
            <a:r>
              <a:rPr lang="en-US" sz="1100">
                <a:solidFill>
                  <a:srgbClr val="0D006A"/>
                </a:solidFill>
                <a:latin typeface="Raleway" panose="020B0003030101060003" pitchFamily="34" charset="0"/>
              </a:rPr>
              <a:t>What’s next? </a:t>
            </a:r>
          </a:p>
        </p:txBody>
      </p:sp>
    </p:spTree>
    <p:extLst>
      <p:ext uri="{BB962C8B-B14F-4D97-AF65-F5344CB8AC3E}">
        <p14:creationId xmlns:p14="http://schemas.microsoft.com/office/powerpoint/2010/main" val="850318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E196B-FFDD-EEC3-840A-E1B6D4EC9A7D}"/>
            </a:ext>
          </a:extLst>
        </p:cNvPr>
        <p:cNvGrpSpPr/>
        <p:nvPr/>
      </p:nvGrpSpPr>
      <p:grpSpPr>
        <a:xfrm>
          <a:off x="0" y="0"/>
          <a:ext cx="0" cy="0"/>
          <a:chOff x="0" y="0"/>
          <a:chExt cx="0" cy="0"/>
        </a:xfrm>
      </p:grpSpPr>
      <p:pic>
        <p:nvPicPr>
          <p:cNvPr id="5" name="Google Shape;1166;p51">
            <a:extLst>
              <a:ext uri="{FF2B5EF4-FFF2-40B4-BE49-F238E27FC236}">
                <a16:creationId xmlns:a16="http://schemas.microsoft.com/office/drawing/2014/main" id="{A4F693A1-C146-F780-967F-6E62E05FACC8}"/>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51734" y="0"/>
            <a:ext cx="3937934"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96CBB915-8EB7-008C-2292-129F9BEE3392}"/>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83C686AB-EF3A-BF04-5ECC-718095E9997E}"/>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08630" y="2405349"/>
            <a:ext cx="4064357" cy="798700"/>
          </a:xfrm>
          <a:prstGeom prst="teardrop">
            <a:avLst/>
          </a:prstGeom>
          <a:noFill/>
          <a:ln>
            <a:noFill/>
          </a:ln>
        </p:spPr>
      </p:pic>
      <p:pic>
        <p:nvPicPr>
          <p:cNvPr id="7" name="Picture 6">
            <a:extLst>
              <a:ext uri="{FF2B5EF4-FFF2-40B4-BE49-F238E27FC236}">
                <a16:creationId xmlns:a16="http://schemas.microsoft.com/office/drawing/2014/main" id="{A9052A98-2DB2-A1F8-7AE2-2BA36656391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8" name="Tekstvak 7" descr="MVX23_Logo_Basislogo_Full_colour_Wit">
            <a:extLst>
              <a:ext uri="{FF2B5EF4-FFF2-40B4-BE49-F238E27FC236}">
                <a16:creationId xmlns:a16="http://schemas.microsoft.com/office/drawing/2014/main" id="{EF1E655B-2EB5-425B-45FE-5F044E477E17}"/>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lumMod val="65000"/>
                  </a:schemeClr>
                </a:solidFill>
                <a:latin typeface="DM Sans"/>
                <a:ea typeface="+mn-lt"/>
                <a:cs typeface="+mn-lt"/>
              </a:rPr>
              <a:t>Structure </a:t>
            </a:r>
          </a:p>
          <a:p>
            <a:pPr marL="202406">
              <a:lnSpc>
                <a:spcPct val="150000"/>
              </a:lnSpc>
              <a:defRPr/>
            </a:pPr>
            <a:r>
              <a:rPr lang="en-US" sz="1050">
                <a:solidFill>
                  <a:schemeClr val="bg1">
                    <a:lumMod val="65000"/>
                  </a:schemeClr>
                </a:solidFill>
                <a:latin typeface="DM Sans"/>
                <a:ea typeface="+mn-lt"/>
                <a:cs typeface="+mn-lt"/>
              </a:rPr>
              <a:t>The required order of your slides </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solidFill>
                <a:latin typeface="DM Sans"/>
                <a:ea typeface="+mn-lt"/>
                <a:cs typeface="+mn-lt"/>
              </a:rPr>
              <a:t>Examples</a:t>
            </a:r>
          </a:p>
          <a:p>
            <a:pPr marL="202406">
              <a:lnSpc>
                <a:spcPct val="150000"/>
              </a:lnSpc>
              <a:defRPr/>
            </a:pPr>
            <a:r>
              <a:rPr lang="en-US" sz="1050">
                <a:solidFill>
                  <a:schemeClr val="bg1"/>
                </a:solidFill>
                <a:latin typeface="DM Sans"/>
                <a:ea typeface="+mn-lt"/>
                <a:cs typeface="+mn-lt"/>
              </a:rPr>
              <a:t>Real slides with speaker notes from other trainings</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Assets</a:t>
            </a:r>
          </a:p>
          <a:p>
            <a:pPr marL="202406">
              <a:lnSpc>
                <a:spcPct val="150000"/>
              </a:lnSpc>
              <a:defRPr/>
            </a:pPr>
            <a:r>
              <a:rPr lang="en-US" sz="1050">
                <a:solidFill>
                  <a:srgbClr val="0D006A"/>
                </a:solidFill>
                <a:latin typeface="DM Sans"/>
                <a:ea typeface="+mn-lt"/>
                <a:cs typeface="+mn-lt"/>
              </a:rPr>
              <a:t>Template slides with assets we can reuse </a:t>
            </a:r>
            <a:endParaRPr lang="en-US" sz="2100">
              <a:solidFill>
                <a:srgbClr val="0D006A"/>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1197551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813-C72B-5586-510C-5DCF232C5AD8}"/>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966845E7-7FC3-0B6B-E5F4-81A60F1A0B6C}"/>
              </a:ext>
            </a:extLst>
          </p:cNvPr>
          <p:cNvSpPr txBox="1"/>
          <p:nvPr/>
        </p:nvSpPr>
        <p:spPr>
          <a:xfrm>
            <a:off x="682919" y="199660"/>
            <a:ext cx="7558915" cy="4139979"/>
          </a:xfrm>
          <a:prstGeom prst="rect">
            <a:avLst/>
          </a:prstGeom>
          <a:noFill/>
        </p:spPr>
        <p:txBody>
          <a:bodyPr wrap="square" lIns="68580" tIns="34290" rIns="68580" bIns="34290" rtlCol="0" anchor="t">
            <a:spAutoFit/>
          </a:bodyPr>
          <a:lstStyle/>
          <a:p>
            <a:r>
              <a:rPr lang="en-US" sz="3300" b="1">
                <a:solidFill>
                  <a:srgbClr val="0D006A"/>
                </a:solidFill>
                <a:latin typeface="Space Grotesk" pitchFamily="2" charset="0"/>
                <a:cs typeface="Space Grotesk" pitchFamily="2" charset="0"/>
              </a:rPr>
              <a:t>A note before you dive in</a:t>
            </a:r>
          </a:p>
          <a:p>
            <a:endParaRPr lang="en-US" sz="1500">
              <a:solidFill>
                <a:srgbClr val="0D006A"/>
              </a:solidFill>
              <a:latin typeface="Space Grotesk" pitchFamily="2" charset="0"/>
              <a:cs typeface="Space Grotesk" pitchFamily="2" charset="0"/>
            </a:endParaRPr>
          </a:p>
          <a:p>
            <a:endParaRPr lang="en-US" sz="1500">
              <a:solidFill>
                <a:srgbClr val="0D006A"/>
              </a:solidFill>
              <a:latin typeface="Space Grotesk" pitchFamily="2" charset="0"/>
              <a:cs typeface="Space Grotesk" pitchFamily="2" charset="0"/>
            </a:endParaRPr>
          </a:p>
          <a:p>
            <a:pPr>
              <a:lnSpc>
                <a:spcPct val="120000"/>
              </a:lnSpc>
            </a:pPr>
            <a:r>
              <a:rPr lang="en-US" sz="2000" b="1">
                <a:solidFill>
                  <a:srgbClr val="0D006A"/>
                </a:solidFill>
                <a:latin typeface="Raleway" pitchFamily="2" charset="0"/>
                <a:cs typeface="Space Grotesk" pitchFamily="2" charset="0"/>
              </a:rPr>
              <a:t>The </a:t>
            </a:r>
            <a:r>
              <a:rPr lang="en-US" sz="2000" b="1">
                <a:solidFill>
                  <a:srgbClr val="F79421"/>
                </a:solidFill>
                <a:latin typeface="Raleway" pitchFamily="2" charset="0"/>
                <a:cs typeface="Space Grotesk" pitchFamily="2" charset="0"/>
              </a:rPr>
              <a:t>example slides </a:t>
            </a:r>
            <a:r>
              <a:rPr lang="en-US" sz="2000" b="1">
                <a:solidFill>
                  <a:srgbClr val="0D006A"/>
                </a:solidFill>
                <a:latin typeface="Raleway" pitchFamily="2" charset="0"/>
                <a:cs typeface="Space Grotesk" pitchFamily="2" charset="0"/>
              </a:rPr>
              <a:t>and assets that follow are </a:t>
            </a:r>
            <a:r>
              <a:rPr lang="en-US" sz="2000" b="1">
                <a:solidFill>
                  <a:srgbClr val="F79421"/>
                </a:solidFill>
                <a:latin typeface="Raleway" pitchFamily="2" charset="0"/>
                <a:cs typeface="Space Grotesk" pitchFamily="2" charset="0"/>
              </a:rPr>
              <a:t>inspiration</a:t>
            </a:r>
            <a:r>
              <a:rPr lang="en-US" sz="2000" b="1">
                <a:solidFill>
                  <a:srgbClr val="0D006A"/>
                </a:solidFill>
                <a:latin typeface="Raleway" pitchFamily="2" charset="0"/>
                <a:cs typeface="Space Grotesk" pitchFamily="2" charset="0"/>
              </a:rPr>
              <a:t> — </a:t>
            </a:r>
            <a:r>
              <a:rPr lang="en-US" sz="2000" b="1">
                <a:solidFill>
                  <a:srgbClr val="F79421"/>
                </a:solidFill>
                <a:latin typeface="Raleway" pitchFamily="2" charset="0"/>
                <a:cs typeface="Space Grotesk" pitchFamily="2" charset="0"/>
              </a:rPr>
              <a:t>not a strict template</a:t>
            </a:r>
            <a:r>
              <a:rPr lang="en-US" sz="2000" b="1">
                <a:solidFill>
                  <a:srgbClr val="0D006A"/>
                </a:solidFill>
                <a:latin typeface="Raleway" pitchFamily="2" charset="0"/>
                <a:cs typeface="Space Grotesk" pitchFamily="2" charset="0"/>
              </a:rPr>
              <a:t>.</a:t>
            </a:r>
          </a:p>
          <a:p>
            <a:endParaRPr lang="en-US" sz="1400">
              <a:solidFill>
                <a:srgbClr val="0D006A"/>
              </a:solidFill>
              <a:latin typeface="Raleway" pitchFamily="2" charset="0"/>
              <a:cs typeface="Space Grotesk" pitchFamily="2" charset="0"/>
            </a:endParaRPr>
          </a:p>
          <a:p>
            <a:endParaRPr lang="en-US" sz="1400">
              <a:solidFill>
                <a:srgbClr val="0D006A"/>
              </a:solidFill>
              <a:latin typeface="Raleway" pitchFamily="2" charset="0"/>
              <a:cs typeface="Space Grotesk" pitchFamily="2" charset="0"/>
            </a:endParaRP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Be creative with </a:t>
            </a:r>
            <a:r>
              <a:rPr lang="en-US" sz="1050" b="1">
                <a:solidFill>
                  <a:srgbClr val="0D006A"/>
                </a:solidFill>
                <a:latin typeface="Raleway" pitchFamily="2" charset="0"/>
                <a:ea typeface="+mn-lt"/>
                <a:cs typeface="+mn-lt"/>
              </a:rPr>
              <a:t>layout</a:t>
            </a:r>
            <a:r>
              <a:rPr lang="en-US" sz="1050">
                <a:solidFill>
                  <a:srgbClr val="0D006A"/>
                </a:solidFill>
                <a:latin typeface="Raleway" pitchFamily="2" charset="0"/>
                <a:ea typeface="+mn-lt"/>
                <a:cs typeface="+mn-lt"/>
              </a:rPr>
              <a:t>, </a:t>
            </a:r>
            <a:r>
              <a:rPr lang="en-US" sz="1050" b="1">
                <a:solidFill>
                  <a:srgbClr val="0D006A"/>
                </a:solidFill>
                <a:latin typeface="Raleway" pitchFamily="2" charset="0"/>
                <a:ea typeface="+mn-lt"/>
                <a:cs typeface="+mn-lt"/>
              </a:rPr>
              <a:t>composition</a:t>
            </a:r>
            <a:r>
              <a:rPr lang="en-US" sz="1050">
                <a:solidFill>
                  <a:srgbClr val="0D006A"/>
                </a:solidFill>
                <a:latin typeface="Raleway" pitchFamily="2" charset="0"/>
                <a:ea typeface="+mn-lt"/>
                <a:cs typeface="+mn-lt"/>
              </a:rPr>
              <a:t> and </a:t>
            </a:r>
            <a:r>
              <a:rPr lang="en-US" sz="1050" b="1">
                <a:solidFill>
                  <a:srgbClr val="0D006A"/>
                </a:solidFill>
                <a:latin typeface="Raleway" pitchFamily="2" charset="0"/>
                <a:ea typeface="+mn-lt"/>
                <a:cs typeface="+mn-lt"/>
              </a:rPr>
              <a:t>pacing</a:t>
            </a:r>
            <a:r>
              <a:rPr lang="en-US" sz="1050">
                <a:solidFill>
                  <a:srgbClr val="0D006A"/>
                </a:solidFill>
                <a:latin typeface="Raleway" pitchFamily="2" charset="0"/>
                <a:ea typeface="+mn-lt"/>
                <a:cs typeface="+mn-lt"/>
              </a:rPr>
              <a:t> — not every slide needs to look the same.</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Stick to the </a:t>
            </a:r>
            <a:r>
              <a:rPr lang="en-US" sz="1050" b="1" err="1">
                <a:solidFill>
                  <a:srgbClr val="0D006A"/>
                </a:solidFill>
                <a:latin typeface="Raleway" pitchFamily="2" charset="0"/>
                <a:ea typeface="+mn-lt"/>
                <a:cs typeface="+mn-lt"/>
              </a:rPr>
              <a:t>Maverx</a:t>
            </a:r>
            <a:r>
              <a:rPr lang="en-US" sz="1050" b="1">
                <a:solidFill>
                  <a:srgbClr val="0D006A"/>
                </a:solidFill>
                <a:latin typeface="Raleway" pitchFamily="2" charset="0"/>
                <a:ea typeface="+mn-lt"/>
                <a:cs typeface="+mn-lt"/>
              </a:rPr>
              <a:t> </a:t>
            </a:r>
            <a:r>
              <a:rPr lang="en-US" sz="1050" b="1" err="1">
                <a:solidFill>
                  <a:srgbClr val="0D006A"/>
                </a:solidFill>
                <a:latin typeface="Raleway" pitchFamily="2" charset="0"/>
                <a:ea typeface="+mn-lt"/>
                <a:cs typeface="+mn-lt"/>
              </a:rPr>
              <a:t>colours</a:t>
            </a:r>
            <a:r>
              <a:rPr lang="en-US" sz="1050" b="1">
                <a:solidFill>
                  <a:srgbClr val="0D006A"/>
                </a:solidFill>
                <a:latin typeface="Raleway" pitchFamily="2" charset="0"/>
                <a:ea typeface="+mn-lt"/>
                <a:cs typeface="+mn-lt"/>
              </a:rPr>
              <a:t>, fonts and overall style</a:t>
            </a:r>
            <a:r>
              <a:rPr lang="en-US" sz="1050">
                <a:solidFill>
                  <a:srgbClr val="0D006A"/>
                </a:solidFill>
                <a:latin typeface="Raleway" pitchFamily="2" charset="0"/>
                <a:ea typeface="+mn-lt"/>
                <a:cs typeface="+mn-lt"/>
              </a:rPr>
              <a:t> — that’s what keeps the deck on-brand. </a:t>
            </a:r>
          </a:p>
          <a:p>
            <a:pPr marL="728663" lvl="1" indent="-385763">
              <a:lnSpc>
                <a:spcPct val="120000"/>
              </a:lnSpc>
              <a:spcAft>
                <a:spcPts val="450"/>
              </a:spcAft>
              <a:buFont typeface="Arial" panose="020B0604020202020204" pitchFamily="34" charset="0"/>
              <a:buChar char="•"/>
            </a:pPr>
            <a:r>
              <a:rPr lang="en-US" sz="1050" b="1">
                <a:solidFill>
                  <a:srgbClr val="0D006A"/>
                </a:solidFill>
                <a:latin typeface="Raleway" pitchFamily="2" charset="0"/>
                <a:ea typeface="+mn-lt"/>
                <a:cs typeface="+mn-lt"/>
              </a:rPr>
              <a:t>Download the </a:t>
            </a:r>
            <a:r>
              <a:rPr lang="en-US" sz="1050" b="1">
                <a:solidFill>
                  <a:srgbClr val="0D006A"/>
                </a:solidFill>
                <a:latin typeface="Raleway" pitchFamily="2" charset="0"/>
                <a:ea typeface="+mn-lt"/>
                <a:cs typeface="+mn-lt"/>
                <a:hlinkClick r:id="rId3"/>
              </a:rPr>
              <a:t>Space Grotesk </a:t>
            </a:r>
            <a:r>
              <a:rPr lang="en-US" sz="1050" b="1">
                <a:solidFill>
                  <a:srgbClr val="0D006A"/>
                </a:solidFill>
                <a:latin typeface="Raleway" pitchFamily="2" charset="0"/>
                <a:ea typeface="+mn-lt"/>
                <a:cs typeface="+mn-lt"/>
              </a:rPr>
              <a:t>font before you start — it isn't pre-installed on the devices, and the deck relies on it.</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The </a:t>
            </a:r>
            <a:r>
              <a:rPr lang="en-US" sz="1050" b="1">
                <a:solidFill>
                  <a:srgbClr val="0D006A"/>
                </a:solidFill>
                <a:latin typeface="Raleway" pitchFamily="2" charset="0"/>
                <a:ea typeface="+mn-lt"/>
                <a:cs typeface="+mn-lt"/>
              </a:rPr>
              <a:t>order</a:t>
            </a:r>
            <a:r>
              <a:rPr lang="en-US" sz="1050">
                <a:solidFill>
                  <a:srgbClr val="0D006A"/>
                </a:solidFill>
                <a:latin typeface="Raleway" pitchFamily="2" charset="0"/>
                <a:ea typeface="+mn-lt"/>
                <a:cs typeface="+mn-lt"/>
              </a:rPr>
              <a:t> of slides and the exact </a:t>
            </a:r>
            <a:r>
              <a:rPr lang="en-US" sz="1050" b="1">
                <a:solidFill>
                  <a:srgbClr val="0D006A"/>
                </a:solidFill>
                <a:latin typeface="Raleway" pitchFamily="2" charset="0"/>
                <a:ea typeface="+mn-lt"/>
                <a:cs typeface="+mn-lt"/>
              </a:rPr>
              <a:t>structure</a:t>
            </a:r>
            <a:r>
              <a:rPr lang="en-US" sz="1050">
                <a:solidFill>
                  <a:srgbClr val="0D006A"/>
                </a:solidFill>
                <a:latin typeface="Raleway" pitchFamily="2" charset="0"/>
                <a:ea typeface="+mn-lt"/>
                <a:cs typeface="+mn-lt"/>
              </a:rPr>
              <a:t> are </a:t>
            </a:r>
            <a:r>
              <a:rPr lang="en-US" sz="1050" b="1">
                <a:solidFill>
                  <a:srgbClr val="0D006A"/>
                </a:solidFill>
                <a:latin typeface="Raleway" pitchFamily="2" charset="0"/>
                <a:ea typeface="+mn-lt"/>
                <a:cs typeface="+mn-lt"/>
              </a:rPr>
              <a:t>flexible</a:t>
            </a:r>
            <a:r>
              <a:rPr lang="en-US" sz="1050">
                <a:solidFill>
                  <a:srgbClr val="0D006A"/>
                </a:solidFill>
                <a:latin typeface="Raleway" pitchFamily="2" charset="0"/>
                <a:ea typeface="+mn-lt"/>
                <a:cs typeface="+mn-lt"/>
              </a:rPr>
              <a:t> — adapt them to your story.</a:t>
            </a:r>
          </a:p>
          <a:p>
            <a:pPr marL="385763" indent="-385763">
              <a:lnSpc>
                <a:spcPct val="120000"/>
              </a:lnSpc>
              <a:spcAft>
                <a:spcPts val="450"/>
              </a:spcAft>
              <a:buFont typeface="Arial" panose="020B0604020202020204" pitchFamily="34" charset="0"/>
              <a:buChar char="•"/>
            </a:pPr>
            <a:r>
              <a:rPr lang="en-US" sz="1050">
                <a:solidFill>
                  <a:srgbClr val="0D006A"/>
                </a:solidFill>
                <a:latin typeface="Raleway" pitchFamily="2" charset="0"/>
                <a:ea typeface="+mn-lt"/>
                <a:cs typeface="+mn-lt"/>
              </a:rPr>
              <a:t>Teach theory by </a:t>
            </a:r>
            <a:r>
              <a:rPr lang="en-US" sz="1050" b="1">
                <a:solidFill>
                  <a:srgbClr val="0D006A"/>
                </a:solidFill>
                <a:latin typeface="Raleway" pitchFamily="2" charset="0"/>
                <a:ea typeface="+mn-lt"/>
                <a:cs typeface="+mn-lt"/>
              </a:rPr>
              <a:t>introducing the concept, showing an audience-relevant example, and applying it in an exercise</a:t>
            </a:r>
            <a:r>
              <a:rPr lang="en-US" sz="1050">
                <a:solidFill>
                  <a:srgbClr val="0D006A"/>
                </a:solidFill>
                <a:latin typeface="Raleway" pitchFamily="2" charset="0"/>
                <a:ea typeface="+mn-lt"/>
                <a:cs typeface="+mn-lt"/>
              </a:rPr>
              <a:t> — multiple concepts can share one exercise. Also, be creative with this! </a:t>
            </a:r>
          </a:p>
          <a:p>
            <a:pPr marL="385763" indent="-385763">
              <a:lnSpc>
                <a:spcPct val="120000"/>
              </a:lnSpc>
              <a:spcAft>
                <a:spcPts val="450"/>
              </a:spcAft>
              <a:buFont typeface="Arial" panose="020B0604020202020204" pitchFamily="34" charset="0"/>
              <a:buChar char="•"/>
            </a:pPr>
            <a:endParaRPr lang="en-US" sz="1500">
              <a:solidFill>
                <a:srgbClr val="0D006A"/>
              </a:solidFill>
              <a:latin typeface="Raleway" pitchFamily="2" charset="0"/>
              <a:ea typeface="+mn-lt"/>
              <a:cs typeface="+mn-lt"/>
            </a:endParaRPr>
          </a:p>
        </p:txBody>
      </p:sp>
    </p:spTree>
    <p:extLst>
      <p:ext uri="{BB962C8B-B14F-4D97-AF65-F5344CB8AC3E}">
        <p14:creationId xmlns:p14="http://schemas.microsoft.com/office/powerpoint/2010/main" val="3592238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813-C72B-5586-510C-5DCF232C5AD8}"/>
            </a:ext>
          </a:extLst>
        </p:cNvPr>
        <p:cNvGrpSpPr/>
        <p:nvPr/>
      </p:nvGrpSpPr>
      <p:grpSpPr>
        <a:xfrm>
          <a:off x="0" y="0"/>
          <a:ext cx="0" cy="0"/>
          <a:chOff x="0" y="0"/>
          <a:chExt cx="0" cy="0"/>
        </a:xfrm>
      </p:grpSpPr>
      <p:pic>
        <p:nvPicPr>
          <p:cNvPr id="7" name="Graphic 6" descr="Classroom with solid fill">
            <a:extLst>
              <a:ext uri="{FF2B5EF4-FFF2-40B4-BE49-F238E27FC236}">
                <a16:creationId xmlns:a16="http://schemas.microsoft.com/office/drawing/2014/main" id="{371869AB-0151-E9F3-CDD9-260B7057FAB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4132800" y="384307"/>
            <a:ext cx="4233600" cy="4233600"/>
          </a:xfrm>
          <a:prstGeom prst="rect">
            <a:avLst/>
          </a:prstGeom>
        </p:spPr>
      </p:pic>
      <p:sp>
        <p:nvSpPr>
          <p:cNvPr id="2" name="Tekstvak 5" descr="MVX23_Logo_Basislogo_Full_colour_Wit">
            <a:extLst>
              <a:ext uri="{FF2B5EF4-FFF2-40B4-BE49-F238E27FC236}">
                <a16:creationId xmlns:a16="http://schemas.microsoft.com/office/drawing/2014/main" id="{966845E7-7FC3-0B6B-E5F4-81A60F1A0B6C}"/>
              </a:ext>
            </a:extLst>
          </p:cNvPr>
          <p:cNvSpPr txBox="1"/>
          <p:nvPr/>
        </p:nvSpPr>
        <p:spPr>
          <a:xfrm>
            <a:off x="807485" y="2159031"/>
            <a:ext cx="7558915" cy="2654573"/>
          </a:xfrm>
          <a:prstGeom prst="rect">
            <a:avLst/>
          </a:prstGeom>
          <a:noFill/>
        </p:spPr>
        <p:txBody>
          <a:bodyPr wrap="square" lIns="68580" tIns="34290" rIns="68580" bIns="34290" rtlCol="0" anchor="t">
            <a:spAutoFit/>
          </a:bodyPr>
          <a:lstStyle/>
          <a:p>
            <a:pPr>
              <a:defRPr/>
            </a:pPr>
            <a:endParaRPr lang="en-US" sz="2400">
              <a:solidFill>
                <a:srgbClr val="0D006A"/>
              </a:solidFill>
              <a:latin typeface="Space Grotesk" pitchFamily="2" charset="0"/>
              <a:cs typeface="Space Grotesk" pitchFamily="2" charset="0"/>
            </a:endParaRPr>
          </a:p>
          <a:p>
            <a:pPr>
              <a:defRPr/>
            </a:pPr>
            <a:r>
              <a:rPr lang="en-US" sz="2400" b="1">
                <a:solidFill>
                  <a:srgbClr val="0D006A"/>
                </a:solidFill>
                <a:latin typeface="Raleway" pitchFamily="2" charset="0"/>
                <a:cs typeface="Space Grotesk" pitchFamily="2" charset="0"/>
              </a:rPr>
              <a:t>Four parts:</a:t>
            </a:r>
          </a:p>
          <a:p>
            <a:pPr marL="385763" indent="-385763">
              <a:buFontTx/>
              <a:buAutoNum type="arabicPeriod"/>
              <a:defRPr/>
            </a:pPr>
            <a:r>
              <a:rPr lang="en-US" sz="2400">
                <a:solidFill>
                  <a:srgbClr val="0D006A"/>
                </a:solidFill>
                <a:latin typeface="Raleway" pitchFamily="2" charset="0"/>
                <a:cs typeface="Space Grotesk" pitchFamily="2" charset="0"/>
              </a:rPr>
              <a:t>Pre-training slides</a:t>
            </a:r>
          </a:p>
          <a:p>
            <a:pPr marL="385763" indent="-385763">
              <a:buFontTx/>
              <a:buAutoNum type="arabicPeriod"/>
              <a:defRPr/>
            </a:pPr>
            <a:r>
              <a:rPr lang="en-US" sz="2400">
                <a:solidFill>
                  <a:srgbClr val="0D006A"/>
                </a:solidFill>
                <a:latin typeface="Raleway" pitchFamily="2" charset="0"/>
                <a:cs typeface="Space Grotesk" pitchFamily="2" charset="0"/>
              </a:rPr>
              <a:t>Topic / theory slides</a:t>
            </a:r>
          </a:p>
          <a:p>
            <a:pPr marL="385763" indent="-385763">
              <a:buFontTx/>
              <a:buAutoNum type="arabicPeriod"/>
              <a:defRPr/>
            </a:pPr>
            <a:r>
              <a:rPr lang="en-US" sz="2400">
                <a:solidFill>
                  <a:srgbClr val="0D006A"/>
                </a:solidFill>
                <a:latin typeface="Raleway" pitchFamily="2" charset="0"/>
                <a:cs typeface="Space Grotesk" pitchFamily="2" charset="0"/>
              </a:rPr>
              <a:t>Exercise slides </a:t>
            </a:r>
          </a:p>
          <a:p>
            <a:pPr marL="385763" indent="-385763">
              <a:buFontTx/>
              <a:buAutoNum type="arabicPeriod"/>
              <a:defRPr/>
            </a:pPr>
            <a:r>
              <a:rPr lang="en-US" sz="2400">
                <a:solidFill>
                  <a:srgbClr val="0D006A"/>
                </a:solidFill>
                <a:latin typeface="Raleway" pitchFamily="2" charset="0"/>
                <a:cs typeface="Space Grotesk" pitchFamily="2" charset="0"/>
              </a:rPr>
              <a:t>Wrap up &amp; reflection slides</a:t>
            </a:r>
          </a:p>
          <a:p>
            <a:pPr>
              <a:defRPr/>
            </a:pPr>
            <a:endParaRPr lang="en-US" sz="2400">
              <a:solidFill>
                <a:srgbClr val="0D006A"/>
              </a:solidFill>
              <a:latin typeface="Space Grotesk" pitchFamily="2" charset="0"/>
              <a:cs typeface="Space Grotesk" pitchFamily="2" charset="0"/>
            </a:endParaRPr>
          </a:p>
        </p:txBody>
      </p:sp>
      <p:sp>
        <p:nvSpPr>
          <p:cNvPr id="4" name="TextBox 3">
            <a:extLst>
              <a:ext uri="{FF2B5EF4-FFF2-40B4-BE49-F238E27FC236}">
                <a16:creationId xmlns:a16="http://schemas.microsoft.com/office/drawing/2014/main" id="{BDB47B7C-D516-06FF-1136-9F9E7BB5F810}"/>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Example Slides</a:t>
            </a:r>
          </a:p>
        </p:txBody>
      </p:sp>
      <p:sp>
        <p:nvSpPr>
          <p:cNvPr id="5" name="TextBox 4">
            <a:extLst>
              <a:ext uri="{FF2B5EF4-FFF2-40B4-BE49-F238E27FC236}">
                <a16:creationId xmlns:a16="http://schemas.microsoft.com/office/drawing/2014/main" id="{C4C63033-3BFA-AE10-3384-F707333269B0}"/>
              </a:ext>
            </a:extLst>
          </p:cNvPr>
          <p:cNvSpPr txBox="1"/>
          <p:nvPr/>
        </p:nvSpPr>
        <p:spPr>
          <a:xfrm>
            <a:off x="646968" y="1089907"/>
            <a:ext cx="7850064" cy="830997"/>
          </a:xfrm>
          <a:prstGeom prst="rect">
            <a:avLst/>
          </a:prstGeom>
          <a:noFill/>
        </p:spPr>
        <p:txBody>
          <a:bodyPr wrap="square">
            <a:spAutoFit/>
          </a:bodyPr>
          <a:lstStyle/>
          <a:p>
            <a:pPr>
              <a:defRPr/>
            </a:pPr>
            <a:r>
              <a:rPr lang="en-US" sz="2400" b="1">
                <a:solidFill>
                  <a:srgbClr val="0D006A"/>
                </a:solidFill>
                <a:latin typeface="Raleway" pitchFamily="2" charset="0"/>
                <a:cs typeface="Space Grotesk" pitchFamily="2" charset="0"/>
              </a:rPr>
              <a:t>In the next part, we will show some example slides that are currently  being used in other trainings</a:t>
            </a:r>
          </a:p>
        </p:txBody>
      </p:sp>
    </p:spTree>
    <p:extLst>
      <p:ext uri="{BB962C8B-B14F-4D97-AF65-F5344CB8AC3E}">
        <p14:creationId xmlns:p14="http://schemas.microsoft.com/office/powerpoint/2010/main" val="201924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1ABB2-3368-92CC-74D2-CB3C8116FC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1EB06E-3759-9C10-773B-B729CBE4D4A0}"/>
              </a:ext>
            </a:extLst>
          </p:cNvPr>
          <p:cNvSpPr txBox="1"/>
          <p:nvPr/>
        </p:nvSpPr>
        <p:spPr>
          <a:xfrm>
            <a:off x="521326" y="1119611"/>
            <a:ext cx="7786688" cy="3789627"/>
          </a:xfrm>
          <a:prstGeom prst="rect">
            <a:avLst/>
          </a:prstGeom>
          <a:noFill/>
        </p:spPr>
        <p:txBody>
          <a:bodyPr wrap="square">
            <a:spAutoFit/>
          </a:bodyPr>
          <a:lstStyle/>
          <a:p>
            <a:pPr fontAlgn="base"/>
            <a:r>
              <a:rPr lang="en-US" sz="2000" b="1">
                <a:solidFill>
                  <a:srgbClr val="0D006A"/>
                </a:solidFill>
                <a:latin typeface="Raleway" pitchFamily="2" charset="0"/>
              </a:rPr>
              <a:t>We expect the following regarding the speaker notes</a:t>
            </a:r>
          </a:p>
          <a:p>
            <a:pPr fontAlgn="base"/>
            <a:endParaRPr lang="en-US" sz="1800" b="1">
              <a:solidFill>
                <a:srgbClr val="0D006A"/>
              </a:solidFill>
              <a:latin typeface="Raleway" pitchFamily="2" charset="0"/>
            </a:endParaRPr>
          </a:p>
          <a:p>
            <a:pPr fontAlgn="base"/>
            <a:r>
              <a:rPr lang="en-US" sz="1800" b="1">
                <a:solidFill>
                  <a:srgbClr val="0D006A"/>
                </a:solidFill>
                <a:latin typeface="Raleway" pitchFamily="2" charset="0"/>
              </a:rPr>
              <a:t>Create a </a:t>
            </a:r>
            <a:r>
              <a:rPr lang="en-US" sz="1800" b="1">
                <a:solidFill>
                  <a:srgbClr val="F79421"/>
                </a:solidFill>
                <a:latin typeface="Raleway" pitchFamily="2" charset="0"/>
              </a:rPr>
              <a:t>structured facilitation guide </a:t>
            </a:r>
            <a:r>
              <a:rPr lang="en-US" sz="1800">
                <a:solidFill>
                  <a:srgbClr val="0D006A"/>
                </a:solidFill>
                <a:latin typeface="Raleway" pitchFamily="2" charset="0"/>
              </a:rPr>
              <a:t>for the trainer </a:t>
            </a:r>
            <a:r>
              <a:rPr lang="en-US" sz="1800" i="1">
                <a:solidFill>
                  <a:srgbClr val="0D006A"/>
                </a:solidFill>
                <a:latin typeface="Raleway" pitchFamily="2" charset="0"/>
              </a:rPr>
              <a:t>–per slide- </a:t>
            </a:r>
            <a:r>
              <a:rPr lang="en-US" sz="1800">
                <a:solidFill>
                  <a:srgbClr val="0D006A"/>
                </a:solidFill>
                <a:latin typeface="Raleway" pitchFamily="2" charset="0"/>
              </a:rPr>
              <a:t>with:</a:t>
            </a:r>
          </a:p>
          <a:p>
            <a:pPr marL="557213" lvl="1" indent="-214313" fontAlgn="base">
              <a:buFont typeface="Arial" panose="020B0604020202020204" pitchFamily="34" charset="0"/>
              <a:buChar char="•"/>
            </a:pPr>
            <a:r>
              <a:rPr lang="en-US" sz="1800" b="1">
                <a:solidFill>
                  <a:srgbClr val="0D006A"/>
                </a:solidFill>
                <a:latin typeface="Raleway" pitchFamily="2" charset="0"/>
              </a:rPr>
              <a:t>Aim</a:t>
            </a:r>
            <a:r>
              <a:rPr lang="en-US" sz="1800">
                <a:solidFill>
                  <a:srgbClr val="0D006A"/>
                </a:solidFill>
                <a:latin typeface="Raleway" pitchFamily="2" charset="0"/>
              </a:rPr>
              <a:t> — one clear sentence on purpose</a:t>
            </a:r>
          </a:p>
          <a:p>
            <a:pPr marL="557213" lvl="1" indent="-214313" fontAlgn="base">
              <a:buFont typeface="Arial" panose="020B0604020202020204" pitchFamily="34" charset="0"/>
              <a:buChar char="•"/>
            </a:pPr>
            <a:r>
              <a:rPr lang="en-US" sz="1800" b="1">
                <a:solidFill>
                  <a:srgbClr val="0D006A"/>
                </a:solidFill>
                <a:latin typeface="Raleway" pitchFamily="2" charset="0"/>
              </a:rPr>
              <a:t>Time</a:t>
            </a:r>
            <a:r>
              <a:rPr lang="en-US" sz="1800">
                <a:solidFill>
                  <a:srgbClr val="0D006A"/>
                </a:solidFill>
                <a:latin typeface="Raleway" pitchFamily="2" charset="0"/>
              </a:rPr>
              <a:t> — short estimate</a:t>
            </a:r>
          </a:p>
          <a:p>
            <a:pPr marL="557213" lvl="1" indent="-214313" fontAlgn="base">
              <a:buFont typeface="Arial" panose="020B0604020202020204" pitchFamily="34" charset="0"/>
              <a:buChar char="•"/>
            </a:pPr>
            <a:r>
              <a:rPr lang="en-US" sz="1800" b="1">
                <a:solidFill>
                  <a:srgbClr val="0D006A"/>
                </a:solidFill>
                <a:latin typeface="Raleway" pitchFamily="2" charset="0"/>
              </a:rPr>
              <a:t>Instructions</a:t>
            </a:r>
            <a:r>
              <a:rPr lang="en-US" sz="1800">
                <a:solidFill>
                  <a:srgbClr val="0D006A"/>
                </a:solidFill>
                <a:latin typeface="Raleway" pitchFamily="2" charset="0"/>
              </a:rPr>
              <a:t> — conversational, trainer-ready, what to say and do step by step</a:t>
            </a:r>
          </a:p>
          <a:p>
            <a:pPr marL="557213" lvl="1" indent="-214313" fontAlgn="base">
              <a:buFont typeface="Arial" panose="020B0604020202020204" pitchFamily="34" charset="0"/>
              <a:buChar char="•"/>
            </a:pPr>
            <a:r>
              <a:rPr lang="en-US" sz="1800" b="1">
                <a:solidFill>
                  <a:srgbClr val="0D006A"/>
                </a:solidFill>
                <a:latin typeface="Raleway" pitchFamily="2" charset="0"/>
              </a:rPr>
              <a:t>Key discussion points </a:t>
            </a:r>
            <a:r>
              <a:rPr lang="en-US" sz="1800">
                <a:solidFill>
                  <a:srgbClr val="0D006A"/>
                </a:solidFill>
                <a:latin typeface="Raleway" pitchFamily="2" charset="0"/>
              </a:rPr>
              <a:t>— the 3-4 things that must land</a:t>
            </a:r>
          </a:p>
          <a:p>
            <a:pPr marL="557213" lvl="1" indent="-214313" fontAlgn="base">
              <a:buFont typeface="Arial" panose="020B0604020202020204" pitchFamily="34" charset="0"/>
              <a:buChar char="•"/>
            </a:pPr>
            <a:r>
              <a:rPr lang="en-US" sz="1800" b="1">
                <a:solidFill>
                  <a:srgbClr val="0D006A"/>
                </a:solidFill>
                <a:latin typeface="Raleway" pitchFamily="2" charset="0"/>
              </a:rPr>
              <a:t>Link to reality </a:t>
            </a:r>
            <a:r>
              <a:rPr lang="en-US" sz="1800">
                <a:solidFill>
                  <a:srgbClr val="0D006A"/>
                </a:solidFill>
                <a:latin typeface="Raleway" pitchFamily="2" charset="0"/>
              </a:rPr>
              <a:t>— a concrete story or analogy that makes it stick</a:t>
            </a:r>
          </a:p>
          <a:p>
            <a:pPr marL="557213" lvl="1" indent="-214313" fontAlgn="base">
              <a:buFont typeface="Arial" panose="020B0604020202020204" pitchFamily="34" charset="0"/>
              <a:buChar char="•"/>
            </a:pPr>
            <a:r>
              <a:rPr lang="en-US" sz="1800" b="1">
                <a:solidFill>
                  <a:srgbClr val="0D006A"/>
                </a:solidFill>
                <a:latin typeface="Raleway" pitchFamily="2" charset="0"/>
              </a:rPr>
              <a:t>Debrief &amp; Summary </a:t>
            </a:r>
            <a:r>
              <a:rPr lang="en-US" sz="1800">
                <a:solidFill>
                  <a:srgbClr val="0D006A"/>
                </a:solidFill>
                <a:latin typeface="Raleway" pitchFamily="2" charset="0"/>
              </a:rPr>
              <a:t>— one punchy closing line</a:t>
            </a:r>
          </a:p>
          <a:p>
            <a:pPr lvl="1" fontAlgn="base"/>
            <a:endParaRPr lang="en-US" sz="1800">
              <a:solidFill>
                <a:srgbClr val="0D006A"/>
              </a:solidFill>
              <a:latin typeface="Raleway" pitchFamily="2" charset="0"/>
            </a:endParaRPr>
          </a:p>
          <a:p>
            <a:pPr fontAlgn="base"/>
            <a:r>
              <a:rPr lang="en-US" sz="2000" b="1">
                <a:solidFill>
                  <a:srgbClr val="0D006A"/>
                </a:solidFill>
                <a:latin typeface="Raleway" pitchFamily="2" charset="0"/>
              </a:rPr>
              <a:t>You can look at the example slides to see how it’s done.</a:t>
            </a:r>
          </a:p>
          <a:p>
            <a:pPr marL="557213" lvl="1" indent="-214313" fontAlgn="base">
              <a:buFont typeface="Arial" panose="020B0604020202020204" pitchFamily="34" charset="0"/>
              <a:buChar char="•"/>
            </a:pPr>
            <a:endParaRPr lang="en-US" sz="1013"/>
          </a:p>
          <a:p>
            <a:endParaRPr lang="en-US" sz="1013">
              <a:solidFill>
                <a:srgbClr val="0D006A"/>
              </a:solidFill>
              <a:latin typeface="Raleway" panose="020B0003030101060003" pitchFamily="34" charset="0"/>
            </a:endParaRPr>
          </a:p>
        </p:txBody>
      </p:sp>
      <p:sp>
        <p:nvSpPr>
          <p:cNvPr id="6" name="TextBox 5">
            <a:extLst>
              <a:ext uri="{FF2B5EF4-FFF2-40B4-BE49-F238E27FC236}">
                <a16:creationId xmlns:a16="http://schemas.microsoft.com/office/drawing/2014/main" id="{4650ED02-4523-7077-1D5D-E5DEEEE2502B}"/>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Speaker Notes</a:t>
            </a:r>
          </a:p>
        </p:txBody>
      </p:sp>
    </p:spTree>
    <p:extLst>
      <p:ext uri="{BB962C8B-B14F-4D97-AF65-F5344CB8AC3E}">
        <p14:creationId xmlns:p14="http://schemas.microsoft.com/office/powerpoint/2010/main" val="2738998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27FF0-8535-743F-D711-355EE01E5381}"/>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9992E76D-1FA5-92A5-162C-5999E74FF404}"/>
              </a:ext>
            </a:extLst>
          </p:cNvPr>
          <p:cNvSpPr txBox="1"/>
          <p:nvPr/>
        </p:nvSpPr>
        <p:spPr>
          <a:xfrm>
            <a:off x="584321" y="1269203"/>
            <a:ext cx="4404240" cy="2223686"/>
          </a:xfrm>
          <a:prstGeom prst="rect">
            <a:avLst/>
          </a:prstGeom>
          <a:noFill/>
        </p:spPr>
        <p:txBody>
          <a:bodyPr wrap="square" lIns="68580" tIns="34290" rIns="68580" bIns="34290" rtlCol="0" anchor="t">
            <a:spAutoFit/>
          </a:bodyPr>
          <a:lstStyle/>
          <a:p>
            <a:pPr>
              <a:defRPr/>
            </a:pPr>
            <a:r>
              <a:rPr lang="en-US" sz="2800">
                <a:solidFill>
                  <a:srgbClr val="FEF4E8"/>
                </a:solidFill>
                <a:latin typeface="Raleway" pitchFamily="2" charset="0"/>
                <a:cs typeface="Space Grotesk" pitchFamily="2" charset="0"/>
              </a:rPr>
              <a:t>On the next pages you can find examples of the pre-training slides </a:t>
            </a:r>
          </a:p>
          <a:p>
            <a:pPr>
              <a:defRPr/>
            </a:pPr>
            <a:endParaRPr lang="en-US" sz="2800">
              <a:solidFill>
                <a:srgbClr val="FEF4E8"/>
              </a:solidFill>
              <a:latin typeface="Raleway" pitchFamily="2" charset="0"/>
              <a:cs typeface="Space Grotesk" pitchFamily="2" charset="0"/>
            </a:endParaRPr>
          </a:p>
          <a:p>
            <a:pPr>
              <a:defRPr/>
            </a:pPr>
            <a:endParaRPr lang="en-US" sz="2800">
              <a:solidFill>
                <a:srgbClr val="FEF4E8"/>
              </a:solidFill>
              <a:latin typeface="Space Grotesk" pitchFamily="2" charset="0"/>
              <a:cs typeface="Space Grotesk" pitchFamily="2" charset="0"/>
            </a:endParaRPr>
          </a:p>
        </p:txBody>
      </p:sp>
      <p:sp>
        <p:nvSpPr>
          <p:cNvPr id="4" name="TextBox 3">
            <a:extLst>
              <a:ext uri="{FF2B5EF4-FFF2-40B4-BE49-F238E27FC236}">
                <a16:creationId xmlns:a16="http://schemas.microsoft.com/office/drawing/2014/main" id="{1C25BF64-633F-F496-309B-FF0595AF5035}"/>
              </a:ext>
            </a:extLst>
          </p:cNvPr>
          <p:cNvSpPr txBox="1"/>
          <p:nvPr/>
        </p:nvSpPr>
        <p:spPr>
          <a:xfrm>
            <a:off x="500441" y="506032"/>
            <a:ext cx="4572000"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1 – Pre-training slides</a:t>
            </a:r>
          </a:p>
        </p:txBody>
      </p:sp>
      <p:sp>
        <p:nvSpPr>
          <p:cNvPr id="6" name="TextBox 5">
            <a:extLst>
              <a:ext uri="{FF2B5EF4-FFF2-40B4-BE49-F238E27FC236}">
                <a16:creationId xmlns:a16="http://schemas.microsoft.com/office/drawing/2014/main" id="{7FE05614-85D9-9136-0521-45E2E18177C1}"/>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2762662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C9E920AC-8EDB-0D44-727E-DBBC8A5A80D5}"/>
              </a:ext>
            </a:extLst>
          </p:cNvPr>
          <p:cNvSpPr/>
          <p:nvPr/>
        </p:nvSpPr>
        <p:spPr>
          <a:xfrm>
            <a:off x="600610" y="2905208"/>
            <a:ext cx="3591000" cy="1728000"/>
          </a:xfrm>
          <a:prstGeom prst="roundRect">
            <a:avLst>
              <a:gd name="adj" fmla="val 4551"/>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 name="Rectangle: Rounded Corners 9">
            <a:extLst>
              <a:ext uri="{FF2B5EF4-FFF2-40B4-BE49-F238E27FC236}">
                <a16:creationId xmlns:a16="http://schemas.microsoft.com/office/drawing/2014/main" id="{BDF22047-4BAE-E776-C7AD-56C1C383BBA4}"/>
              </a:ext>
            </a:extLst>
          </p:cNvPr>
          <p:cNvSpPr/>
          <p:nvPr/>
        </p:nvSpPr>
        <p:spPr>
          <a:xfrm>
            <a:off x="628651" y="2925083"/>
            <a:ext cx="3591000" cy="1728000"/>
          </a:xfrm>
          <a:prstGeom prst="roundRect">
            <a:avLst>
              <a:gd name="adj" fmla="val 4551"/>
            </a:avLst>
          </a:prstGeom>
          <a:solidFill>
            <a:srgbClr val="FDF5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5" name="Oval 14">
            <a:extLst>
              <a:ext uri="{FF2B5EF4-FFF2-40B4-BE49-F238E27FC236}">
                <a16:creationId xmlns:a16="http://schemas.microsoft.com/office/drawing/2014/main" id="{D673EAF6-BF45-7E46-8120-742134848966}"/>
              </a:ext>
            </a:extLst>
          </p:cNvPr>
          <p:cNvSpPr/>
          <p:nvPr/>
        </p:nvSpPr>
        <p:spPr>
          <a:xfrm>
            <a:off x="809625" y="3026914"/>
            <a:ext cx="342900" cy="342900"/>
          </a:xfrm>
          <a:prstGeom prst="ellipse">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9" name="TextBox 18">
            <a:extLst>
              <a:ext uri="{FF2B5EF4-FFF2-40B4-BE49-F238E27FC236}">
                <a16:creationId xmlns:a16="http://schemas.microsoft.com/office/drawing/2014/main" id="{7D44828B-B3A2-FED6-0AA9-A34B4083283B}"/>
              </a:ext>
            </a:extLst>
          </p:cNvPr>
          <p:cNvSpPr txBox="1"/>
          <p:nvPr/>
        </p:nvSpPr>
        <p:spPr>
          <a:xfrm>
            <a:off x="1190625" y="3021765"/>
            <a:ext cx="1119024" cy="307777"/>
          </a:xfrm>
          <a:prstGeom prst="rect">
            <a:avLst/>
          </a:prstGeom>
          <a:noFill/>
        </p:spPr>
        <p:txBody>
          <a:bodyPr wrap="none" rtlCol="0">
            <a:spAutoFit/>
          </a:bodyPr>
          <a:lstStyle/>
          <a:p>
            <a:r>
              <a:rPr lang="en-US" sz="1400" b="1">
                <a:solidFill>
                  <a:srgbClr val="D31972"/>
                </a:solidFill>
                <a:latin typeface="Space Grotesk SemiBold" pitchFamily="2" charset="0"/>
                <a:cs typeface="Space Grotesk SemiBold" pitchFamily="2" charset="0"/>
              </a:rPr>
              <a:t>Target group</a:t>
            </a:r>
            <a:endParaRPr lang="en-GB" sz="1400" b="1">
              <a:solidFill>
                <a:srgbClr val="D31972"/>
              </a:solidFill>
              <a:latin typeface="Space Grotesk SemiBold" pitchFamily="2" charset="0"/>
              <a:cs typeface="Space Grotesk SemiBold" pitchFamily="2" charset="0"/>
            </a:endParaRPr>
          </a:p>
        </p:txBody>
      </p:sp>
      <p:pic>
        <p:nvPicPr>
          <p:cNvPr id="39" name="Graphic 38" descr="Users outline">
            <a:extLst>
              <a:ext uri="{FF2B5EF4-FFF2-40B4-BE49-F238E27FC236}">
                <a16:creationId xmlns:a16="http://schemas.microsoft.com/office/drawing/2014/main" id="{41391A2B-3519-21FB-0B86-C820F63713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104" y="3089105"/>
            <a:ext cx="218517" cy="218517"/>
          </a:xfrm>
          <a:prstGeom prst="rect">
            <a:avLst/>
          </a:prstGeom>
        </p:spPr>
      </p:pic>
      <p:grpSp>
        <p:nvGrpSpPr>
          <p:cNvPr id="12" name="Group 11">
            <a:extLst>
              <a:ext uri="{FF2B5EF4-FFF2-40B4-BE49-F238E27FC236}">
                <a16:creationId xmlns:a16="http://schemas.microsoft.com/office/drawing/2014/main" id="{FF36C2E1-A703-6CCF-6464-4EC093F211A2}"/>
              </a:ext>
            </a:extLst>
          </p:cNvPr>
          <p:cNvGrpSpPr/>
          <p:nvPr/>
        </p:nvGrpSpPr>
        <p:grpSpPr>
          <a:xfrm>
            <a:off x="603848" y="1023180"/>
            <a:ext cx="3618966" cy="1743240"/>
            <a:chOff x="603848" y="1109580"/>
            <a:chExt cx="3618966" cy="1743240"/>
          </a:xfrm>
        </p:grpSpPr>
        <p:sp>
          <p:nvSpPr>
            <p:cNvPr id="9" name="Rectangle: Rounded Corners 8">
              <a:extLst>
                <a:ext uri="{FF2B5EF4-FFF2-40B4-BE49-F238E27FC236}">
                  <a16:creationId xmlns:a16="http://schemas.microsoft.com/office/drawing/2014/main" id="{A88C4451-0C13-2410-7CC9-1BAD991993F2}"/>
                </a:ext>
              </a:extLst>
            </p:cNvPr>
            <p:cNvSpPr/>
            <p:nvPr/>
          </p:nvSpPr>
          <p:spPr>
            <a:xfrm>
              <a:off x="603848" y="1109580"/>
              <a:ext cx="3591000" cy="1728000"/>
            </a:xfrm>
            <a:prstGeom prst="roundRect">
              <a:avLst>
                <a:gd name="adj" fmla="val 4551"/>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 name="Rectangle: Rounded Corners 2">
              <a:extLst>
                <a:ext uri="{FF2B5EF4-FFF2-40B4-BE49-F238E27FC236}">
                  <a16:creationId xmlns:a16="http://schemas.microsoft.com/office/drawing/2014/main" id="{BE6DF467-2385-DC42-8D40-E3DCBC6FF4A1}"/>
                </a:ext>
              </a:extLst>
            </p:cNvPr>
            <p:cNvSpPr/>
            <p:nvPr/>
          </p:nvSpPr>
          <p:spPr>
            <a:xfrm>
              <a:off x="628651" y="1124820"/>
              <a:ext cx="3591000" cy="1728000"/>
            </a:xfrm>
            <a:prstGeom prst="roundRect">
              <a:avLst>
                <a:gd name="adj" fmla="val 4551"/>
              </a:avLst>
            </a:prstGeom>
            <a:solidFill>
              <a:srgbClr val="FCF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7" name="TextBox 16">
              <a:extLst>
                <a:ext uri="{FF2B5EF4-FFF2-40B4-BE49-F238E27FC236}">
                  <a16:creationId xmlns:a16="http://schemas.microsoft.com/office/drawing/2014/main" id="{006D0BEA-7433-591F-EB14-02F91F4609BA}"/>
                </a:ext>
              </a:extLst>
            </p:cNvPr>
            <p:cNvSpPr txBox="1"/>
            <p:nvPr/>
          </p:nvSpPr>
          <p:spPr>
            <a:xfrm>
              <a:off x="1190625" y="1207927"/>
              <a:ext cx="1620893" cy="307777"/>
            </a:xfrm>
            <a:prstGeom prst="rect">
              <a:avLst/>
            </a:prstGeom>
            <a:noFill/>
          </p:spPr>
          <p:txBody>
            <a:bodyPr wrap="none" rtlCol="0">
              <a:spAutoFit/>
            </a:bodyPr>
            <a:lstStyle/>
            <a:p>
              <a:r>
                <a:rPr lang="en-US" sz="1400" b="1">
                  <a:solidFill>
                    <a:srgbClr val="5400AD"/>
                  </a:solidFill>
                  <a:latin typeface="Space Grotesk SemiBold" pitchFamily="2" charset="0"/>
                  <a:cs typeface="Space Grotesk SemiBold" pitchFamily="2" charset="0"/>
                </a:rPr>
                <a:t>Learning objectives</a:t>
              </a:r>
              <a:endParaRPr lang="en-GB" sz="1400" b="1">
                <a:solidFill>
                  <a:srgbClr val="5400AD"/>
                </a:solidFill>
                <a:latin typeface="Space Grotesk SemiBold" pitchFamily="2" charset="0"/>
                <a:cs typeface="Space Grotesk SemiBold" pitchFamily="2" charset="0"/>
              </a:endParaRPr>
            </a:p>
          </p:txBody>
        </p:sp>
        <p:grpSp>
          <p:nvGrpSpPr>
            <p:cNvPr id="33" name="Group 32">
              <a:extLst>
                <a:ext uri="{FF2B5EF4-FFF2-40B4-BE49-F238E27FC236}">
                  <a16:creationId xmlns:a16="http://schemas.microsoft.com/office/drawing/2014/main" id="{0F5FEF94-6691-D275-0EB4-83B3858307A4}"/>
                </a:ext>
              </a:extLst>
            </p:cNvPr>
            <p:cNvGrpSpPr/>
            <p:nvPr/>
          </p:nvGrpSpPr>
          <p:grpSpPr>
            <a:xfrm>
              <a:off x="809625" y="1213076"/>
              <a:ext cx="342900" cy="342900"/>
              <a:chOff x="1079500" y="1485900"/>
              <a:chExt cx="457200" cy="457200"/>
            </a:xfrm>
          </p:grpSpPr>
          <p:sp>
            <p:nvSpPr>
              <p:cNvPr id="13" name="Oval 12">
                <a:extLst>
                  <a:ext uri="{FF2B5EF4-FFF2-40B4-BE49-F238E27FC236}">
                    <a16:creationId xmlns:a16="http://schemas.microsoft.com/office/drawing/2014/main" id="{90DDBF50-F765-7D36-05C8-04561F6C20A5}"/>
                  </a:ext>
                </a:extLst>
              </p:cNvPr>
              <p:cNvSpPr/>
              <p:nvPr/>
            </p:nvSpPr>
            <p:spPr>
              <a:xfrm>
                <a:off x="1079500" y="1485900"/>
                <a:ext cx="457200" cy="457200"/>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8" name="Oval 27">
                <a:extLst>
                  <a:ext uri="{FF2B5EF4-FFF2-40B4-BE49-F238E27FC236}">
                    <a16:creationId xmlns:a16="http://schemas.microsoft.com/office/drawing/2014/main" id="{774DBE72-7909-7824-1873-4C07F300FF29}"/>
                  </a:ext>
                </a:extLst>
              </p:cNvPr>
              <p:cNvSpPr/>
              <p:nvPr/>
            </p:nvSpPr>
            <p:spPr>
              <a:xfrm>
                <a:off x="1207770" y="1611630"/>
                <a:ext cx="194400" cy="194310"/>
              </a:xfrm>
              <a:prstGeom prst="ellipse">
                <a:avLst/>
              </a:prstGeom>
              <a:solidFill>
                <a:srgbClr val="5400AD"/>
              </a:solidFill>
              <a:ln>
                <a:solidFill>
                  <a:srgbClr val="884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9" name="Oval 28">
                <a:extLst>
                  <a:ext uri="{FF2B5EF4-FFF2-40B4-BE49-F238E27FC236}">
                    <a16:creationId xmlns:a16="http://schemas.microsoft.com/office/drawing/2014/main" id="{90173C39-EA9A-1E2E-8775-D018922FEF11}"/>
                  </a:ext>
                </a:extLst>
              </p:cNvPr>
              <p:cNvSpPr/>
              <p:nvPr/>
            </p:nvSpPr>
            <p:spPr>
              <a:xfrm>
                <a:off x="1230726" y="1637696"/>
                <a:ext cx="146055" cy="145987"/>
              </a:xfrm>
              <a:prstGeom prst="ellipse">
                <a:avLst/>
              </a:prstGeom>
              <a:solidFill>
                <a:srgbClr val="5400AD"/>
              </a:solidFill>
              <a:ln>
                <a:solidFill>
                  <a:srgbClr val="C9AE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0" name="Oval 29">
                <a:extLst>
                  <a:ext uri="{FF2B5EF4-FFF2-40B4-BE49-F238E27FC236}">
                    <a16:creationId xmlns:a16="http://schemas.microsoft.com/office/drawing/2014/main" id="{1D2636A0-266E-B368-7B79-6ECF8D6463D5}"/>
                  </a:ext>
                </a:extLst>
              </p:cNvPr>
              <p:cNvSpPr/>
              <p:nvPr/>
            </p:nvSpPr>
            <p:spPr>
              <a:xfrm>
                <a:off x="1257882" y="1665367"/>
                <a:ext cx="90688" cy="90646"/>
              </a:xfrm>
              <a:prstGeom prst="ellipse">
                <a:avLst/>
              </a:prstGeom>
              <a:solidFill>
                <a:srgbClr val="5400AD"/>
              </a:solidFill>
              <a:ln>
                <a:solidFill>
                  <a:srgbClr val="C9AE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2" name="Oval 31">
                <a:extLst>
                  <a:ext uri="{FF2B5EF4-FFF2-40B4-BE49-F238E27FC236}">
                    <a16:creationId xmlns:a16="http://schemas.microsoft.com/office/drawing/2014/main" id="{01338E79-B9BB-C0A2-C350-8EEE498A4F9A}"/>
                  </a:ext>
                </a:extLst>
              </p:cNvPr>
              <p:cNvSpPr/>
              <p:nvPr/>
            </p:nvSpPr>
            <p:spPr>
              <a:xfrm>
                <a:off x="1275752" y="1684512"/>
                <a:ext cx="56165" cy="5616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46" name="TextBox 45">
              <a:extLst>
                <a:ext uri="{FF2B5EF4-FFF2-40B4-BE49-F238E27FC236}">
                  <a16:creationId xmlns:a16="http://schemas.microsoft.com/office/drawing/2014/main" id="{BFB814D8-92BC-6663-62AD-B54E5FE4401B}"/>
                </a:ext>
              </a:extLst>
            </p:cNvPr>
            <p:cNvSpPr txBox="1"/>
            <p:nvPr/>
          </p:nvSpPr>
          <p:spPr>
            <a:xfrm>
              <a:off x="714811" y="1575435"/>
              <a:ext cx="3508003" cy="1095621"/>
            </a:xfrm>
            <a:prstGeom prst="rect">
              <a:avLst/>
            </a:prstGeom>
            <a:noFill/>
          </p:spPr>
          <p:txBody>
            <a:bodyPr wrap="square" rtlCol="0">
              <a:spAutoFit/>
            </a:bodyPr>
            <a:lstStyle/>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Identify</a:t>
              </a:r>
              <a:r>
                <a:rPr lang="en-US" sz="550" noProof="1">
                  <a:solidFill>
                    <a:schemeClr val="bg2">
                      <a:lumMod val="25000"/>
                    </a:schemeClr>
                  </a:solidFill>
                  <a:latin typeface="Space Grotesk" pitchFamily="2" charset="0"/>
                  <a:cs typeface="Space Grotesk" pitchFamily="2" charset="0"/>
                </a:rPr>
                <a:t> where AI can be applied within your own workflows — analysis, document processing, reporting.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Distinguish</a:t>
              </a:r>
              <a:r>
                <a:rPr lang="en-US" sz="550" noProof="1">
                  <a:solidFill>
                    <a:schemeClr val="bg2">
                      <a:lumMod val="25000"/>
                    </a:schemeClr>
                  </a:solidFill>
                  <a:latin typeface="Space Grotesk" pitchFamily="2" charset="0"/>
                  <a:cs typeface="Space Grotesk" pitchFamily="2" charset="0"/>
                </a:rPr>
                <a:t> between automation, decision support and augmentation, and pick the right approach for each task.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Apply</a:t>
              </a:r>
              <a:r>
                <a:rPr lang="en-US" sz="550" noProof="1">
                  <a:solidFill>
                    <a:schemeClr val="bg2">
                      <a:lumMod val="25000"/>
                    </a:schemeClr>
                  </a:solidFill>
                  <a:latin typeface="Space Grotesk" pitchFamily="2" charset="0"/>
                  <a:cs typeface="Space Grotesk" pitchFamily="2" charset="0"/>
                </a:rPr>
                <a:t> AI tools to analyse data, generate outputs and support decisions in realistic scenarios.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Critically</a:t>
              </a:r>
              <a:r>
                <a:rPr lang="en-US" sz="550" noProof="1">
                  <a:solidFill>
                    <a:schemeClr val="bg2">
                      <a:lumMod val="25000"/>
                    </a:schemeClr>
                  </a:solidFill>
                  <a:latin typeface="Space Grotesk" pitchFamily="2" charset="0"/>
                  <a:cs typeface="Space Grotesk" pitchFamily="2" charset="0"/>
                </a:rPr>
                <a:t> </a:t>
              </a:r>
              <a:r>
                <a:rPr lang="en-US" sz="550" b="1" noProof="1">
                  <a:solidFill>
                    <a:schemeClr val="bg2">
                      <a:lumMod val="25000"/>
                    </a:schemeClr>
                  </a:solidFill>
                  <a:latin typeface="Space Grotesk" pitchFamily="2" charset="0"/>
                  <a:cs typeface="Space Grotesk" pitchFamily="2" charset="0"/>
                </a:rPr>
                <a:t>evaluate</a:t>
              </a:r>
              <a:r>
                <a:rPr lang="en-US" sz="550" noProof="1">
                  <a:solidFill>
                    <a:schemeClr val="bg2">
                      <a:lumMod val="25000"/>
                    </a:schemeClr>
                  </a:solidFill>
                  <a:latin typeface="Space Grotesk" pitchFamily="2" charset="0"/>
                  <a:cs typeface="Space Grotesk" pitchFamily="2" charset="0"/>
                </a:rPr>
                <a:t> AI outputs — spotting errors, assumptions and risks before acting on them. </a:t>
              </a:r>
            </a:p>
            <a:p>
              <a:pPr marL="136922" indent="-136922">
                <a:lnSpc>
                  <a:spcPct val="150000"/>
                </a:lnSpc>
                <a:buClr>
                  <a:srgbClr val="5400AD"/>
                </a:buClr>
                <a:buFont typeface="Wingdings" panose="05000000000000000000" pitchFamily="2" charset="2"/>
                <a:buChar char="§"/>
              </a:pPr>
              <a:r>
                <a:rPr lang="en-US" sz="550" b="1" noProof="1">
                  <a:solidFill>
                    <a:schemeClr val="bg2">
                      <a:lumMod val="25000"/>
                    </a:schemeClr>
                  </a:solidFill>
                  <a:latin typeface="Space Grotesk" pitchFamily="2" charset="0"/>
                  <a:cs typeface="Space Grotesk" pitchFamily="2" charset="0"/>
                </a:rPr>
                <a:t>Design</a:t>
              </a:r>
              <a:r>
                <a:rPr lang="en-US" sz="550" noProof="1">
                  <a:solidFill>
                    <a:schemeClr val="bg2">
                      <a:lumMod val="25000"/>
                    </a:schemeClr>
                  </a:solidFill>
                  <a:latin typeface="Space Grotesk" pitchFamily="2" charset="0"/>
                  <a:cs typeface="Space Grotesk" pitchFamily="2" charset="0"/>
                </a:rPr>
                <a:t> a practical AI use case for your own work, including value, risks and required human oversight.</a:t>
              </a:r>
            </a:p>
          </p:txBody>
        </p:sp>
      </p:grpSp>
      <p:grpSp>
        <p:nvGrpSpPr>
          <p:cNvPr id="6" name="Group 5">
            <a:extLst>
              <a:ext uri="{FF2B5EF4-FFF2-40B4-BE49-F238E27FC236}">
                <a16:creationId xmlns:a16="http://schemas.microsoft.com/office/drawing/2014/main" id="{6DB1592C-6785-B435-0999-A1DE3DA8F127}"/>
              </a:ext>
            </a:extLst>
          </p:cNvPr>
          <p:cNvGrpSpPr/>
          <p:nvPr/>
        </p:nvGrpSpPr>
        <p:grpSpPr>
          <a:xfrm>
            <a:off x="4834942" y="1024411"/>
            <a:ext cx="3619350" cy="2053630"/>
            <a:chOff x="4294942" y="1110811"/>
            <a:chExt cx="3619350" cy="2053630"/>
          </a:xfrm>
        </p:grpSpPr>
        <p:grpSp>
          <p:nvGrpSpPr>
            <p:cNvPr id="5" name="Group 4">
              <a:extLst>
                <a:ext uri="{FF2B5EF4-FFF2-40B4-BE49-F238E27FC236}">
                  <a16:creationId xmlns:a16="http://schemas.microsoft.com/office/drawing/2014/main" id="{4DC29FCE-9CBD-DC08-5B39-02120ACF115B}"/>
                </a:ext>
              </a:extLst>
            </p:cNvPr>
            <p:cNvGrpSpPr/>
            <p:nvPr/>
          </p:nvGrpSpPr>
          <p:grpSpPr>
            <a:xfrm>
              <a:off x="4294942" y="1110811"/>
              <a:ext cx="3619350" cy="1742009"/>
              <a:chOff x="4294942" y="1110811"/>
              <a:chExt cx="3619350" cy="1742009"/>
            </a:xfrm>
          </p:grpSpPr>
          <p:sp>
            <p:nvSpPr>
              <p:cNvPr id="21" name="Rectangle: Rounded Corners 20">
                <a:extLst>
                  <a:ext uri="{FF2B5EF4-FFF2-40B4-BE49-F238E27FC236}">
                    <a16:creationId xmlns:a16="http://schemas.microsoft.com/office/drawing/2014/main" id="{377EEA4A-9883-E126-A5D7-276D4A22252F}"/>
                  </a:ext>
                </a:extLst>
              </p:cNvPr>
              <p:cNvSpPr/>
              <p:nvPr/>
            </p:nvSpPr>
            <p:spPr>
              <a:xfrm>
                <a:off x="4294942" y="1110811"/>
                <a:ext cx="3591000" cy="1728000"/>
              </a:xfrm>
              <a:prstGeom prst="roundRect">
                <a:avLst>
                  <a:gd name="adj" fmla="val 4551"/>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 name="Rectangle: Rounded Corners 6">
                <a:extLst>
                  <a:ext uri="{FF2B5EF4-FFF2-40B4-BE49-F238E27FC236}">
                    <a16:creationId xmlns:a16="http://schemas.microsoft.com/office/drawing/2014/main" id="{1D5D0EC0-C7F0-FBC7-7CDB-77B2B5176685}"/>
                  </a:ext>
                </a:extLst>
              </p:cNvPr>
              <p:cNvSpPr/>
              <p:nvPr/>
            </p:nvSpPr>
            <p:spPr>
              <a:xfrm>
                <a:off x="4323292" y="1124820"/>
                <a:ext cx="3591000" cy="1728000"/>
              </a:xfrm>
              <a:prstGeom prst="roundRect">
                <a:avLst>
                  <a:gd name="adj" fmla="val 5525"/>
                </a:avLst>
              </a:prstGeom>
              <a:solidFill>
                <a:srgbClr val="FEF8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4" name="Oval 13">
                <a:extLst>
                  <a:ext uri="{FF2B5EF4-FFF2-40B4-BE49-F238E27FC236}">
                    <a16:creationId xmlns:a16="http://schemas.microsoft.com/office/drawing/2014/main" id="{4CD5FA55-F450-5FC2-E6F9-CF4B8DE03696}"/>
                  </a:ext>
                </a:extLst>
              </p:cNvPr>
              <p:cNvSpPr/>
              <p:nvPr/>
            </p:nvSpPr>
            <p:spPr>
              <a:xfrm>
                <a:off x="4505325" y="1213076"/>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8" name="TextBox 17">
                <a:extLst>
                  <a:ext uri="{FF2B5EF4-FFF2-40B4-BE49-F238E27FC236}">
                    <a16:creationId xmlns:a16="http://schemas.microsoft.com/office/drawing/2014/main" id="{412C9BFF-F6AE-588C-D628-FB7C46B65861}"/>
                  </a:ext>
                </a:extLst>
              </p:cNvPr>
              <p:cNvSpPr txBox="1"/>
              <p:nvPr/>
            </p:nvSpPr>
            <p:spPr>
              <a:xfrm>
                <a:off x="4951866" y="1207927"/>
                <a:ext cx="1595245" cy="307777"/>
              </a:xfrm>
              <a:prstGeom prst="rect">
                <a:avLst/>
              </a:prstGeom>
              <a:noFill/>
            </p:spPr>
            <p:txBody>
              <a:bodyPr wrap="none" rtlCol="0">
                <a:spAutoFit/>
              </a:bodyPr>
              <a:lstStyle/>
              <a:p>
                <a:r>
                  <a:rPr lang="en-US" sz="1400" b="1">
                    <a:solidFill>
                      <a:srgbClr val="B16E2F"/>
                    </a:solidFill>
                    <a:latin typeface="Space Grotesk SemiBold" pitchFamily="2" charset="0"/>
                    <a:cs typeface="Space Grotesk SemiBold" pitchFamily="2" charset="0"/>
                  </a:rPr>
                  <a:t>Learning outcomes</a:t>
                </a:r>
                <a:endParaRPr lang="en-GB" sz="1400" b="1">
                  <a:solidFill>
                    <a:srgbClr val="B16E2F"/>
                  </a:solidFill>
                  <a:latin typeface="Space Grotesk SemiBold" pitchFamily="2" charset="0"/>
                  <a:cs typeface="Space Grotesk SemiBold" pitchFamily="2" charset="0"/>
                </a:endParaRPr>
              </a:p>
            </p:txBody>
          </p:sp>
          <p:pic>
            <p:nvPicPr>
              <p:cNvPr id="45" name="Graphic 44" descr="Medal outline">
                <a:extLst>
                  <a:ext uri="{FF2B5EF4-FFF2-40B4-BE49-F238E27FC236}">
                    <a16:creationId xmlns:a16="http://schemas.microsoft.com/office/drawing/2014/main" id="{0F77EFD9-6057-2FC8-0736-99182D83B6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4384" y="1276607"/>
                <a:ext cx="218517" cy="218517"/>
              </a:xfrm>
              <a:prstGeom prst="rect">
                <a:avLst/>
              </a:prstGeom>
            </p:spPr>
          </p:pic>
        </p:grpSp>
        <p:sp>
          <p:nvSpPr>
            <p:cNvPr id="47" name="TextBox 46">
              <a:extLst>
                <a:ext uri="{FF2B5EF4-FFF2-40B4-BE49-F238E27FC236}">
                  <a16:creationId xmlns:a16="http://schemas.microsoft.com/office/drawing/2014/main" id="{C3CE847E-3977-1943-A0A9-B911377F32C3}"/>
                </a:ext>
              </a:extLst>
            </p:cNvPr>
            <p:cNvSpPr txBox="1"/>
            <p:nvPr/>
          </p:nvSpPr>
          <p:spPr>
            <a:xfrm>
              <a:off x="4401684" y="1568235"/>
              <a:ext cx="3374316" cy="1596206"/>
            </a:xfrm>
            <a:prstGeom prst="rect">
              <a:avLst/>
            </a:prstGeom>
            <a:noFill/>
          </p:spPr>
          <p:txBody>
            <a:bodyPr wrap="square" rtlCol="0">
              <a:spAutoFit/>
            </a:bodyPr>
            <a:lstStyle/>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Enable participants </a:t>
              </a:r>
              <a:r>
                <a:rPr lang="en-US" sz="800" noProof="1">
                  <a:solidFill>
                    <a:schemeClr val="bg2">
                      <a:lumMod val="25000"/>
                    </a:schemeClr>
                  </a:solidFill>
                </a:rPr>
                <a:t>to apply AI in their daily work — improving efficiency, insight and output quality. </a:t>
              </a:r>
            </a:p>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Build the ability </a:t>
              </a:r>
              <a:r>
                <a:rPr lang="en-US" sz="800" noProof="1">
                  <a:solidFill>
                    <a:schemeClr val="bg2">
                      <a:lumMod val="25000"/>
                    </a:schemeClr>
                  </a:solidFill>
                </a:rPr>
                <a:t>to use AI responsibly and critically, understanding both its strengths and its limits. </a:t>
              </a:r>
            </a:p>
            <a:p>
              <a:pPr marL="136922" indent="-136922">
                <a:lnSpc>
                  <a:spcPct val="150000"/>
                </a:lnSpc>
                <a:buClr>
                  <a:srgbClr val="F79421"/>
                </a:buClr>
                <a:buFont typeface="Wingdings" panose="05000000000000000000" pitchFamily="2" charset="2"/>
                <a:buChar char="§"/>
              </a:pPr>
              <a:r>
                <a:rPr lang="en-US" sz="800" b="1" noProof="1">
                  <a:solidFill>
                    <a:schemeClr val="bg2">
                      <a:lumMod val="25000"/>
                    </a:schemeClr>
                  </a:solidFill>
                </a:rPr>
                <a:t>Translate AI into real value </a:t>
              </a:r>
              <a:r>
                <a:rPr lang="en-US" sz="800" noProof="1">
                  <a:solidFill>
                    <a:schemeClr val="bg2">
                      <a:lumMod val="25000"/>
                    </a:schemeClr>
                  </a:solidFill>
                </a:rPr>
                <a:t>by identifying and designing practical use cases.</a:t>
              </a:r>
            </a:p>
            <a:p>
              <a:pPr marL="136922" indent="-136922">
                <a:lnSpc>
                  <a:spcPct val="150000"/>
                </a:lnSpc>
                <a:buClr>
                  <a:srgbClr val="F79421"/>
                </a:buClr>
                <a:buFont typeface="Wingdings" panose="05000000000000000000" pitchFamily="2" charset="2"/>
                <a:buChar char="§"/>
              </a:pPr>
              <a:endParaRPr lang="en-US" sz="800" noProof="1">
                <a:solidFill>
                  <a:schemeClr val="bg2">
                    <a:lumMod val="25000"/>
                  </a:schemeClr>
                </a:solidFill>
              </a:endParaRPr>
            </a:p>
            <a:p>
              <a:pPr marL="136922" indent="-136922">
                <a:lnSpc>
                  <a:spcPct val="150000"/>
                </a:lnSpc>
                <a:buClr>
                  <a:srgbClr val="F79421"/>
                </a:buClr>
                <a:buFont typeface="Wingdings" panose="05000000000000000000" pitchFamily="2" charset="2"/>
                <a:buChar char="§"/>
              </a:pPr>
              <a:endParaRPr lang="en-US" sz="800" noProof="1">
                <a:solidFill>
                  <a:schemeClr val="bg2">
                    <a:lumMod val="25000"/>
                  </a:schemeClr>
                </a:solidFill>
              </a:endParaRPr>
            </a:p>
          </p:txBody>
        </p:sp>
      </p:grpSp>
      <p:sp>
        <p:nvSpPr>
          <p:cNvPr id="49" name="TextBox 48">
            <a:extLst>
              <a:ext uri="{FF2B5EF4-FFF2-40B4-BE49-F238E27FC236}">
                <a16:creationId xmlns:a16="http://schemas.microsoft.com/office/drawing/2014/main" id="{9D37F1A1-6065-01B9-63ED-85AF2BE833D9}"/>
              </a:ext>
            </a:extLst>
          </p:cNvPr>
          <p:cNvSpPr txBox="1"/>
          <p:nvPr/>
        </p:nvSpPr>
        <p:spPr>
          <a:xfrm>
            <a:off x="714812" y="3469057"/>
            <a:ext cx="3398706" cy="346249"/>
          </a:xfrm>
          <a:prstGeom prst="rect">
            <a:avLst/>
          </a:prstGeom>
          <a:noFill/>
        </p:spPr>
        <p:txBody>
          <a:bodyPr wrap="square" rtlCol="0">
            <a:spAutoFit/>
          </a:bodyPr>
          <a:lstStyle/>
          <a:p>
            <a:pPr>
              <a:buClr>
                <a:srgbClr val="D31972"/>
              </a:buClr>
            </a:pPr>
            <a:r>
              <a:rPr lang="en-US" sz="825" noProof="1"/>
              <a:t>Professionals who want to understand how AI can support their work — </a:t>
            </a:r>
            <a:r>
              <a:rPr lang="en-US" sz="825" b="1" noProof="1"/>
              <a:t>no technical or programming knowledge required</a:t>
            </a:r>
            <a:r>
              <a:rPr lang="en-US" sz="825" noProof="1"/>
              <a:t>.</a:t>
            </a:r>
            <a:endParaRPr lang="en-US" sz="825" noProof="1">
              <a:solidFill>
                <a:schemeClr val="bg2">
                  <a:lumMod val="25000"/>
                </a:schemeClr>
              </a:solidFill>
            </a:endParaRPr>
          </a:p>
        </p:txBody>
      </p:sp>
      <p:grpSp>
        <p:nvGrpSpPr>
          <p:cNvPr id="4" name="Group 3">
            <a:extLst>
              <a:ext uri="{FF2B5EF4-FFF2-40B4-BE49-F238E27FC236}">
                <a16:creationId xmlns:a16="http://schemas.microsoft.com/office/drawing/2014/main" id="{7985E187-C96B-B22C-EFB1-61FB0565A675}"/>
              </a:ext>
            </a:extLst>
          </p:cNvPr>
          <p:cNvGrpSpPr/>
          <p:nvPr/>
        </p:nvGrpSpPr>
        <p:grpSpPr>
          <a:xfrm>
            <a:off x="4835325" y="2906482"/>
            <a:ext cx="3618967" cy="1753801"/>
            <a:chOff x="4295325" y="2913682"/>
            <a:chExt cx="3618967" cy="1753801"/>
          </a:xfrm>
        </p:grpSpPr>
        <p:sp>
          <p:nvSpPr>
            <p:cNvPr id="61" name="Rectangle: Rounded Corners 60">
              <a:extLst>
                <a:ext uri="{FF2B5EF4-FFF2-40B4-BE49-F238E27FC236}">
                  <a16:creationId xmlns:a16="http://schemas.microsoft.com/office/drawing/2014/main" id="{7762F1F0-DC58-511E-B60E-4BBA119DC29E}"/>
                </a:ext>
              </a:extLst>
            </p:cNvPr>
            <p:cNvSpPr/>
            <p:nvPr/>
          </p:nvSpPr>
          <p:spPr>
            <a:xfrm>
              <a:off x="4295325" y="2913682"/>
              <a:ext cx="3591000" cy="1728000"/>
            </a:xfrm>
            <a:prstGeom prst="roundRect">
              <a:avLst>
                <a:gd name="adj" fmla="val 4551"/>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1" name="Rectangle: Rounded Corners 10">
              <a:extLst>
                <a:ext uri="{FF2B5EF4-FFF2-40B4-BE49-F238E27FC236}">
                  <a16:creationId xmlns:a16="http://schemas.microsoft.com/office/drawing/2014/main" id="{5B05DCAE-3CF3-8F62-24C5-91D0F845B1A4}"/>
                </a:ext>
              </a:extLst>
            </p:cNvPr>
            <p:cNvSpPr/>
            <p:nvPr/>
          </p:nvSpPr>
          <p:spPr>
            <a:xfrm>
              <a:off x="4323292" y="2939483"/>
              <a:ext cx="3591000" cy="1728000"/>
            </a:xfrm>
            <a:prstGeom prst="roundRect">
              <a:avLst>
                <a:gd name="adj" fmla="val 7474"/>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6" name="Oval 15">
              <a:extLst>
                <a:ext uri="{FF2B5EF4-FFF2-40B4-BE49-F238E27FC236}">
                  <a16:creationId xmlns:a16="http://schemas.microsoft.com/office/drawing/2014/main" id="{18488691-7BE7-9266-F304-32CB35FBEF46}"/>
                </a:ext>
              </a:extLst>
            </p:cNvPr>
            <p:cNvSpPr/>
            <p:nvPr/>
          </p:nvSpPr>
          <p:spPr>
            <a:xfrm>
              <a:off x="4505325" y="3026914"/>
              <a:ext cx="342900" cy="342900"/>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TextBox 19">
              <a:extLst>
                <a:ext uri="{FF2B5EF4-FFF2-40B4-BE49-F238E27FC236}">
                  <a16:creationId xmlns:a16="http://schemas.microsoft.com/office/drawing/2014/main" id="{4204294C-0EBC-BCAD-936B-84C6CCB53758}"/>
                </a:ext>
              </a:extLst>
            </p:cNvPr>
            <p:cNvSpPr txBox="1"/>
            <p:nvPr/>
          </p:nvSpPr>
          <p:spPr>
            <a:xfrm>
              <a:off x="4951867" y="3021765"/>
              <a:ext cx="1235788" cy="307777"/>
            </a:xfrm>
            <a:prstGeom prst="rect">
              <a:avLst/>
            </a:prstGeom>
            <a:noFill/>
          </p:spPr>
          <p:txBody>
            <a:bodyPr wrap="none" rtlCol="0">
              <a:spAutoFit/>
            </a:bodyPr>
            <a:lstStyle/>
            <a:p>
              <a:r>
                <a:rPr lang="en-US" sz="1400" b="1">
                  <a:solidFill>
                    <a:schemeClr val="tx1">
                      <a:lumMod val="95000"/>
                      <a:lumOff val="5000"/>
                    </a:schemeClr>
                  </a:solidFill>
                  <a:latin typeface="Space Grotesk SemiBold" pitchFamily="2" charset="0"/>
                  <a:cs typeface="Space Grotesk SemiBold" pitchFamily="2" charset="0"/>
                </a:rPr>
                <a:t>Good to know</a:t>
              </a:r>
              <a:endParaRPr lang="en-GB" sz="1400" b="1">
                <a:solidFill>
                  <a:schemeClr val="tx1">
                    <a:lumMod val="95000"/>
                    <a:lumOff val="5000"/>
                  </a:schemeClr>
                </a:solidFill>
                <a:latin typeface="Space Grotesk SemiBold" pitchFamily="2" charset="0"/>
                <a:cs typeface="Space Grotesk SemiBold" pitchFamily="2" charset="0"/>
              </a:endParaRPr>
            </a:p>
          </p:txBody>
        </p:sp>
        <p:pic>
          <p:nvPicPr>
            <p:cNvPr id="43" name="Graphic 42" descr="Information outline">
              <a:extLst>
                <a:ext uri="{FF2B5EF4-FFF2-40B4-BE49-F238E27FC236}">
                  <a16:creationId xmlns:a16="http://schemas.microsoft.com/office/drawing/2014/main" id="{2FB6AC93-326A-F0CE-AAAF-56879A121E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69422" y="3088820"/>
              <a:ext cx="218517" cy="218517"/>
            </a:xfrm>
            <a:prstGeom prst="rect">
              <a:avLst/>
            </a:prstGeom>
          </p:spPr>
        </p:pic>
        <p:sp>
          <p:nvSpPr>
            <p:cNvPr id="50" name="TextBox 49">
              <a:extLst>
                <a:ext uri="{FF2B5EF4-FFF2-40B4-BE49-F238E27FC236}">
                  <a16:creationId xmlns:a16="http://schemas.microsoft.com/office/drawing/2014/main" id="{9C3547E2-DCBE-C25F-73C5-411F26D0278B}"/>
                </a:ext>
              </a:extLst>
            </p:cNvPr>
            <p:cNvSpPr txBox="1"/>
            <p:nvPr/>
          </p:nvSpPr>
          <p:spPr>
            <a:xfrm>
              <a:off x="4401684" y="3399606"/>
              <a:ext cx="3484258" cy="1215333"/>
            </a:xfrm>
            <a:prstGeom prst="rect">
              <a:avLst/>
            </a:prstGeom>
            <a:noFill/>
          </p:spPr>
          <p:txBody>
            <a:bodyPr wrap="square" rtlCol="0">
              <a:spAutoFit/>
            </a:bodyPr>
            <a:lstStyle/>
            <a:p>
              <a:pPr marL="136922" indent="-136922">
                <a:lnSpc>
                  <a:spcPct val="150000"/>
                </a:lnSpc>
                <a:buFont typeface="Wingdings" panose="05000000000000000000" pitchFamily="2" charset="2"/>
                <a:buChar char="§"/>
              </a:pPr>
              <a:r>
                <a:rPr lang="en-US" sz="825" noProof="1">
                  <a:solidFill>
                    <a:schemeClr val="bg2">
                      <a:lumMod val="25000"/>
                    </a:schemeClr>
                  </a:solidFill>
                </a:rPr>
                <a:t>Practical and hands-on — focused on real use cases, not prompt engineering theory. </a:t>
              </a:r>
            </a:p>
            <a:p>
              <a:pPr marL="136922" indent="-136922">
                <a:lnSpc>
                  <a:spcPct val="150000"/>
                </a:lnSpc>
                <a:buFont typeface="Wingdings" panose="05000000000000000000" pitchFamily="2" charset="2"/>
                <a:buChar char="§"/>
              </a:pPr>
              <a:r>
                <a:rPr lang="en-US" sz="825" noProof="1">
                  <a:solidFill>
                    <a:schemeClr val="bg2">
                      <a:lumMod val="25000"/>
                    </a:schemeClr>
                  </a:solidFill>
                </a:rPr>
                <a:t>A mix </a:t>
              </a:r>
              <a:r>
                <a:rPr lang="en-US" sz="825" b="1" noProof="1">
                  <a:solidFill>
                    <a:schemeClr val="bg2">
                      <a:lumMod val="25000"/>
                    </a:schemeClr>
                  </a:solidFill>
                </a:rPr>
                <a:t>of concepts, demonstrations and exercises </a:t>
              </a:r>
              <a:r>
                <a:rPr lang="en-US" sz="825" noProof="1">
                  <a:solidFill>
                    <a:schemeClr val="bg2">
                      <a:lumMod val="25000"/>
                    </a:schemeClr>
                  </a:solidFill>
                </a:rPr>
                <a:t>— so you can apply what you learn immediately. </a:t>
              </a:r>
            </a:p>
            <a:p>
              <a:pPr marL="136922" indent="-136922">
                <a:lnSpc>
                  <a:spcPct val="150000"/>
                </a:lnSpc>
                <a:buFont typeface="Wingdings" panose="05000000000000000000" pitchFamily="2" charset="2"/>
                <a:buChar char="§"/>
              </a:pPr>
              <a:r>
                <a:rPr lang="en-US" sz="825" noProof="1">
                  <a:solidFill>
                    <a:schemeClr val="bg2">
                      <a:lumMod val="25000"/>
                    </a:schemeClr>
                  </a:solidFill>
                </a:rPr>
                <a:t>You leave with a </a:t>
              </a:r>
              <a:r>
                <a:rPr lang="en-US" sz="825" b="1" noProof="1">
                  <a:solidFill>
                    <a:schemeClr val="bg2">
                      <a:lumMod val="25000"/>
                    </a:schemeClr>
                  </a:solidFill>
                </a:rPr>
                <a:t>concrete use case and next step </a:t>
              </a:r>
              <a:r>
                <a:rPr lang="en-US" sz="825" noProof="1">
                  <a:solidFill>
                    <a:schemeClr val="bg2">
                      <a:lumMod val="25000"/>
                    </a:schemeClr>
                  </a:solidFill>
                </a:rPr>
                <a:t>to apply AI in your own work environment.</a:t>
              </a:r>
            </a:p>
          </p:txBody>
        </p:sp>
      </p:grpSp>
      <p:sp>
        <p:nvSpPr>
          <p:cNvPr id="51" name="Rectangle: Rounded Corners 50">
            <a:extLst>
              <a:ext uri="{FF2B5EF4-FFF2-40B4-BE49-F238E27FC236}">
                <a16:creationId xmlns:a16="http://schemas.microsoft.com/office/drawing/2014/main" id="{E8E08F23-C628-3255-F2AE-9B0B83256E4F}"/>
              </a:ext>
            </a:extLst>
          </p:cNvPr>
          <p:cNvSpPr/>
          <p:nvPr/>
        </p:nvSpPr>
        <p:spPr>
          <a:xfrm>
            <a:off x="809625" y="4103645"/>
            <a:ext cx="1584961" cy="232550"/>
          </a:xfrm>
          <a:prstGeom prst="roundRect">
            <a:avLst/>
          </a:prstGeom>
          <a:solidFill>
            <a:srgbClr val="F5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b="1" noProof="1">
                <a:solidFill>
                  <a:srgbClr val="D31972"/>
                </a:solidFill>
                <a:latin typeface="Space Grotesk SemiBold" pitchFamily="2" charset="0"/>
                <a:cs typeface="Space Grotesk SemiBold" pitchFamily="2" charset="0"/>
              </a:rPr>
              <a:t>ALL PROFESSIONALS WELCOME </a:t>
            </a:r>
          </a:p>
        </p:txBody>
      </p:sp>
      <p:sp>
        <p:nvSpPr>
          <p:cNvPr id="2" name="Tekstvak 5" descr="MVX23_Logo_Basislogo_Full_colour_Wit">
            <a:extLst>
              <a:ext uri="{FF2B5EF4-FFF2-40B4-BE49-F238E27FC236}">
                <a16:creationId xmlns:a16="http://schemas.microsoft.com/office/drawing/2014/main" id="{8A85C2D5-C72B-7C1A-B907-8990A3933509}"/>
              </a:ext>
            </a:extLst>
          </p:cNvPr>
          <p:cNvSpPr txBox="1"/>
          <p:nvPr/>
        </p:nvSpPr>
        <p:spPr>
          <a:xfrm>
            <a:off x="635213" y="189587"/>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About this session</a:t>
            </a:r>
          </a:p>
        </p:txBody>
      </p:sp>
    </p:spTree>
    <p:extLst>
      <p:ext uri="{BB962C8B-B14F-4D97-AF65-F5344CB8AC3E}">
        <p14:creationId xmlns:p14="http://schemas.microsoft.com/office/powerpoint/2010/main" val="681268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1B8C-5757-301E-7F84-118434CAE61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029C7D8-2EF6-F349-0DB0-4FFC1C6B26D6}"/>
              </a:ext>
            </a:extLst>
          </p:cNvPr>
          <p:cNvSpPr/>
          <p:nvPr/>
        </p:nvSpPr>
        <p:spPr>
          <a:xfrm>
            <a:off x="628651" y="829620"/>
            <a:ext cx="7938620" cy="3856767"/>
          </a:xfrm>
          <a:prstGeom prst="roundRect">
            <a:avLst>
              <a:gd name="adj" fmla="val 455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 name="Freeform: Shape 5">
            <a:extLst>
              <a:ext uri="{FF2B5EF4-FFF2-40B4-BE49-F238E27FC236}">
                <a16:creationId xmlns:a16="http://schemas.microsoft.com/office/drawing/2014/main" id="{811B2FD6-5EAA-0169-21DE-088094306ACA}"/>
              </a:ext>
            </a:extLst>
          </p:cNvPr>
          <p:cNvSpPr/>
          <p:nvPr/>
        </p:nvSpPr>
        <p:spPr>
          <a:xfrm>
            <a:off x="628648" y="829620"/>
            <a:ext cx="7938620" cy="458571"/>
          </a:xfrm>
          <a:custGeom>
            <a:avLst/>
            <a:gdLst>
              <a:gd name="csX0" fmla="*/ 195254 w 10078048"/>
              <a:gd name="csY0" fmla="*/ 0 h 611428"/>
              <a:gd name="csX1" fmla="*/ 9882795 w 10078048"/>
              <a:gd name="csY1" fmla="*/ 0 h 611428"/>
              <a:gd name="csX2" fmla="*/ 10078048 w 10078048"/>
              <a:gd name="csY2" fmla="*/ 195253 h 611428"/>
              <a:gd name="csX3" fmla="*/ 10078048 w 10078048"/>
              <a:gd name="csY3" fmla="*/ 416175 h 611428"/>
              <a:gd name="csX4" fmla="*/ 10078047 w 10078048"/>
              <a:gd name="csY4" fmla="*/ 416180 h 611428"/>
              <a:gd name="csX5" fmla="*/ 10078047 w 10078048"/>
              <a:gd name="csY5" fmla="*/ 611428 h 611428"/>
              <a:gd name="csX6" fmla="*/ 9882795 w 10078048"/>
              <a:gd name="csY6" fmla="*/ 611428 h 611428"/>
              <a:gd name="csX7" fmla="*/ 195254 w 10078048"/>
              <a:gd name="csY7" fmla="*/ 611428 h 611428"/>
              <a:gd name="csX8" fmla="*/ 0 w 10078048"/>
              <a:gd name="csY8" fmla="*/ 611428 h 611428"/>
              <a:gd name="csX9" fmla="*/ 0 w 10078048"/>
              <a:gd name="csY9" fmla="*/ 231779 h 611428"/>
              <a:gd name="csX10" fmla="*/ 1 w 10078048"/>
              <a:gd name="csY10" fmla="*/ 231779 h 611428"/>
              <a:gd name="csX11" fmla="*/ 1 w 10078048"/>
              <a:gd name="csY11" fmla="*/ 195253 h 611428"/>
              <a:gd name="csX12" fmla="*/ 195254 w 10078048"/>
              <a:gd name="csY12" fmla="*/ 0 h 611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078048" h="611428">
                <a:moveTo>
                  <a:pt x="195254" y="0"/>
                </a:moveTo>
                <a:lnTo>
                  <a:pt x="9882795" y="0"/>
                </a:lnTo>
                <a:cubicBezTo>
                  <a:pt x="9990630" y="0"/>
                  <a:pt x="10078048" y="87418"/>
                  <a:pt x="10078048" y="195253"/>
                </a:cubicBezTo>
                <a:lnTo>
                  <a:pt x="10078048" y="416175"/>
                </a:lnTo>
                <a:lnTo>
                  <a:pt x="10078047" y="416180"/>
                </a:lnTo>
                <a:lnTo>
                  <a:pt x="10078047" y="611428"/>
                </a:lnTo>
                <a:lnTo>
                  <a:pt x="9882795" y="611428"/>
                </a:lnTo>
                <a:lnTo>
                  <a:pt x="195254" y="611428"/>
                </a:lnTo>
                <a:lnTo>
                  <a:pt x="0" y="611428"/>
                </a:lnTo>
                <a:lnTo>
                  <a:pt x="0" y="231779"/>
                </a:lnTo>
                <a:lnTo>
                  <a:pt x="1" y="231779"/>
                </a:lnTo>
                <a:lnTo>
                  <a:pt x="1" y="195253"/>
                </a:lnTo>
                <a:cubicBezTo>
                  <a:pt x="1" y="87418"/>
                  <a:pt x="87419" y="0"/>
                  <a:pt x="195254" y="0"/>
                </a:cubicBezTo>
                <a:close/>
              </a:path>
            </a:pathLst>
          </a:cu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noProof="1">
              <a:solidFill>
                <a:prstClr val="white"/>
              </a:solidFill>
              <a:latin typeface="Calibri" panose="020F0502020204030204"/>
            </a:endParaRPr>
          </a:p>
        </p:txBody>
      </p:sp>
      <p:graphicFrame>
        <p:nvGraphicFramePr>
          <p:cNvPr id="8" name="Table 7">
            <a:extLst>
              <a:ext uri="{FF2B5EF4-FFF2-40B4-BE49-F238E27FC236}">
                <a16:creationId xmlns:a16="http://schemas.microsoft.com/office/drawing/2014/main" id="{E3EAC60B-DD98-B803-ADAB-3A9F0578E2BE}"/>
              </a:ext>
            </a:extLst>
          </p:cNvPr>
          <p:cNvGraphicFramePr>
            <a:graphicFrameLocks noGrp="1"/>
          </p:cNvGraphicFramePr>
          <p:nvPr>
            <p:extLst>
              <p:ext uri="{D42A27DB-BD31-4B8C-83A1-F6EECF244321}">
                <p14:modId xmlns:p14="http://schemas.microsoft.com/office/powerpoint/2010/main" val="1634123966"/>
              </p:ext>
            </p:extLst>
          </p:nvPr>
        </p:nvGraphicFramePr>
        <p:xfrm>
          <a:off x="755187" y="934598"/>
          <a:ext cx="7760164" cy="3776554"/>
        </p:xfrm>
        <a:graphic>
          <a:graphicData uri="http://schemas.openxmlformats.org/drawingml/2006/table">
            <a:tbl>
              <a:tblPr firstRow="1" bandRow="1">
                <a:tableStyleId>{2D5ABB26-0587-4C30-8999-92F81FD0307C}</a:tableStyleId>
              </a:tblPr>
              <a:tblGrid>
                <a:gridCol w="872388">
                  <a:extLst>
                    <a:ext uri="{9D8B030D-6E8A-4147-A177-3AD203B41FA5}">
                      <a16:colId xmlns:a16="http://schemas.microsoft.com/office/drawing/2014/main" val="1484404569"/>
                    </a:ext>
                  </a:extLst>
                </a:gridCol>
                <a:gridCol w="2084546">
                  <a:extLst>
                    <a:ext uri="{9D8B030D-6E8A-4147-A177-3AD203B41FA5}">
                      <a16:colId xmlns:a16="http://schemas.microsoft.com/office/drawing/2014/main" val="2624468348"/>
                    </a:ext>
                  </a:extLst>
                </a:gridCol>
                <a:gridCol w="833360">
                  <a:extLst>
                    <a:ext uri="{9D8B030D-6E8A-4147-A177-3AD203B41FA5}">
                      <a16:colId xmlns:a16="http://schemas.microsoft.com/office/drawing/2014/main" val="2849748514"/>
                    </a:ext>
                  </a:extLst>
                </a:gridCol>
                <a:gridCol w="3969870">
                  <a:extLst>
                    <a:ext uri="{9D8B030D-6E8A-4147-A177-3AD203B41FA5}">
                      <a16:colId xmlns:a16="http://schemas.microsoft.com/office/drawing/2014/main" val="2570824861"/>
                    </a:ext>
                  </a:extLst>
                </a:gridCol>
              </a:tblGrid>
              <a:tr h="334219">
                <a:tc>
                  <a:txBody>
                    <a:bodyPr/>
                    <a:lstStyle/>
                    <a:p>
                      <a:r>
                        <a:rPr lang="en-US" sz="1000" b="1" noProof="1">
                          <a:solidFill>
                            <a:schemeClr val="bg1"/>
                          </a:solidFill>
                          <a:latin typeface="Space Grotesk" pitchFamily="2" charset="0"/>
                          <a:cs typeface="Space Grotesk" pitchFamily="2" charset="0"/>
                        </a:rPr>
                        <a:t>TIME</a:t>
                      </a:r>
                    </a:p>
                  </a:txBody>
                  <a:tcPr marL="68580" marR="68580" marT="34290" marB="34290"/>
                </a:tc>
                <a:tc>
                  <a:txBody>
                    <a:bodyPr/>
                    <a:lstStyle/>
                    <a:p>
                      <a:r>
                        <a:rPr lang="en-US" sz="1000" b="1" noProof="1">
                          <a:solidFill>
                            <a:schemeClr val="bg1"/>
                          </a:solidFill>
                          <a:latin typeface="Space Grotesk" pitchFamily="2" charset="0"/>
                          <a:cs typeface="Space Grotesk" pitchFamily="2" charset="0"/>
                        </a:rPr>
                        <a:t>MODULE</a:t>
                      </a:r>
                    </a:p>
                  </a:txBody>
                  <a:tcPr marL="68580" marR="68580" marT="34290" marB="34290"/>
                </a:tc>
                <a:tc gridSpan="2">
                  <a:txBody>
                    <a:bodyPr/>
                    <a:lstStyle/>
                    <a:p>
                      <a:r>
                        <a:rPr lang="en-US" sz="1000" b="1" noProof="1">
                          <a:solidFill>
                            <a:schemeClr val="bg1"/>
                          </a:solidFill>
                          <a:latin typeface="Space Grotesk" pitchFamily="2" charset="0"/>
                          <a:cs typeface="Space Grotesk" pitchFamily="2" charset="0"/>
                        </a:rPr>
                        <a:t>ACTIVITIES – NOTES &amp; INSTRUCTIONS</a:t>
                      </a:r>
                    </a:p>
                  </a:txBody>
                  <a:tcPr marL="68580" marR="68580" marT="34290" marB="34290"/>
                </a:tc>
                <a:tc hMerge="1">
                  <a:txBody>
                    <a:bodyPr/>
                    <a:lstStyle/>
                    <a:p>
                      <a:endParaRPr lang="en-GB"/>
                    </a:p>
                  </a:txBody>
                  <a:tcPr/>
                </a:tc>
                <a:extLst>
                  <a:ext uri="{0D108BD9-81ED-4DB2-BD59-A6C34878D82A}">
                    <a16:rowId xmlns:a16="http://schemas.microsoft.com/office/drawing/2014/main" val="2530454398"/>
                  </a:ext>
                </a:extLst>
              </a:tr>
              <a:tr h="297180">
                <a:tc rowSpan="2">
                  <a:txBody>
                    <a:bodyPr/>
                    <a:lstStyle/>
                    <a:p>
                      <a:pPr algn="l"/>
                      <a:r>
                        <a:rPr lang="en-US" sz="1800" b="1" noProof="1">
                          <a:solidFill>
                            <a:srgbClr val="5400AD"/>
                          </a:solidFill>
                          <a:latin typeface="Space Grotesk" pitchFamily="2" charset="0"/>
                          <a:cs typeface="Space Grotesk" pitchFamily="2" charset="0"/>
                        </a:rPr>
                        <a:t>10</a:t>
                      </a:r>
                      <a:r>
                        <a:rPr lang="en-US" sz="1000" noProof="1">
                          <a:latin typeface="Space Grotesk" pitchFamily="2" charset="0"/>
                          <a:cs typeface="Space Grotesk" pitchFamily="2" charset="0"/>
                        </a:rPr>
                        <a:t> </a:t>
                      </a:r>
                    </a:p>
                    <a:p>
                      <a:pPr algn="l"/>
                      <a:r>
                        <a:rPr lang="en-US" sz="1200" noProof="1">
                          <a:latin typeface="Space Grotesk" pitchFamily="2" charset="0"/>
                          <a:cs typeface="Space Grotesk" pitchFamily="2" charset="0"/>
                        </a:rPr>
                        <a:t>MINUTES</a:t>
                      </a:r>
                      <a:endParaRPr lang="en-US" sz="1000" noProof="1">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rowSpan="2">
                  <a:txBody>
                    <a:bodyPr/>
                    <a:lstStyle/>
                    <a:p>
                      <a:r>
                        <a:rPr lang="en-US" sz="1100" b="1" noProof="1">
                          <a:solidFill>
                            <a:srgbClr val="5400AD"/>
                          </a:solidFill>
                          <a:latin typeface="Space Grotesk" pitchFamily="2" charset="0"/>
                          <a:cs typeface="Space Grotesk" pitchFamily="2" charset="0"/>
                        </a:rPr>
                        <a:t>Understand</a:t>
                      </a:r>
                    </a:p>
                    <a:p>
                      <a:r>
                        <a:rPr lang="en-US" sz="1100" b="0" noProof="1">
                          <a:solidFill>
                            <a:schemeClr val="tx1"/>
                          </a:solidFill>
                          <a:latin typeface="Space Grotesk" pitchFamily="2" charset="0"/>
                          <a:cs typeface="Space Grotesk" pitchFamily="2" charset="0"/>
                        </a:rPr>
                        <a:t>History &amp; How AI works</a:t>
                      </a:r>
                    </a:p>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solidFill>
                            <a:schemeClr val="tx1"/>
                          </a:solidFill>
                          <a:latin typeface="Space Grotesk" pitchFamily="2" charset="0"/>
                          <a:cs typeface="Space Grotesk" pitchFamily="2" charset="0"/>
                        </a:rPr>
                        <a:t>Goal:</a:t>
                      </a:r>
                      <a:r>
                        <a:rPr lang="en-US" sz="800" b="0" noProof="1">
                          <a:solidFill>
                            <a:schemeClr val="tx1"/>
                          </a:solidFill>
                          <a:latin typeface="Space Grotesk" pitchFamily="2" charset="0"/>
                          <a:cs typeface="Space Grotesk" pitchFamily="2" charset="0"/>
                        </a:rPr>
                        <a:t> Build a foundational understanding of how AI works, its limitations, and why it is now widely applicable.</a:t>
                      </a:r>
                      <a:endParaRPr lang="en-US" sz="1100" b="0" noProof="1">
                        <a:solidFill>
                          <a:schemeClr val="tx1"/>
                        </a:solidFill>
                        <a:latin typeface="Space Grotesk" pitchFamily="2" charset="0"/>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Introduce the evolution of AI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three AI waves, key breakthroughs, and why accessibility (not capability) changed everything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054535145"/>
                  </a:ext>
                </a:extLst>
              </a:tr>
              <a:tr h="59436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Explain how AI actually works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input → pattern matching → predicted output. Emphasise what AI does not do (no reasoning, no real understanding)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826639183"/>
                  </a:ext>
                </a:extLst>
              </a:tr>
              <a:tr h="29718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1">
                          <a:ln>
                            <a:noFill/>
                          </a:ln>
                          <a:solidFill>
                            <a:srgbClr val="D31972"/>
                          </a:solidFill>
                          <a:effectLst/>
                          <a:uLnTx/>
                          <a:uFillTx/>
                          <a:latin typeface="Space Grotesk" pitchFamily="2" charset="0"/>
                          <a:cs typeface="Space Grotesk" pitchFamily="2" charset="0"/>
                        </a:rPr>
                        <a:t>10</a:t>
                      </a:r>
                      <a:r>
                        <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1">
                          <a:ln>
                            <a:noFill/>
                          </a:ln>
                          <a:solidFill>
                            <a:prstClr val="black"/>
                          </a:solidFill>
                          <a:effectLst/>
                          <a:uLnTx/>
                          <a:uFillTx/>
                          <a:latin typeface="Space Grotesk" pitchFamily="2" charset="0"/>
                          <a:cs typeface="Space Grotesk" pitchFamily="2" charset="0"/>
                        </a:rPr>
                        <a:t>MINUTES</a:t>
                      </a:r>
                      <a:endPar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1">
                          <a:ln>
                            <a:noFill/>
                          </a:ln>
                          <a:solidFill>
                            <a:srgbClr val="D31972"/>
                          </a:solidFill>
                          <a:effectLst/>
                          <a:uLnTx/>
                          <a:uFillTx/>
                          <a:latin typeface="Space Grotesk" pitchFamily="2" charset="0"/>
                          <a:ea typeface="+mn-ea"/>
                          <a:cs typeface="Space Grotesk" pitchFamily="2" charset="0"/>
                        </a:rPr>
                        <a:t>Reflect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Privacy &amp; Ethics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Goal:</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 Develop awareness of risks, responsibilities and ethical considerations when using AI.</a:t>
                      </a:r>
                      <a:endPar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How AI tools handle data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enterprise vs public tools, data storage, residency, model training</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023346971"/>
                  </a:ext>
                </a:extLst>
              </a:tr>
              <a:tr h="46863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Ethics discussion with real cases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2–3 scenarios (bias, wrong decisions, positive outcomes). "Is this ethical?" — then reveal and debrief</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81886782"/>
                  </a:ext>
                </a:extLst>
              </a:tr>
              <a:tr h="222885">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1">
                          <a:ln>
                            <a:noFill/>
                          </a:ln>
                          <a:solidFill>
                            <a:schemeClr val="accent4">
                              <a:lumMod val="75000"/>
                            </a:schemeClr>
                          </a:solidFill>
                          <a:effectLst/>
                          <a:uLnTx/>
                          <a:uFillTx/>
                          <a:latin typeface="Space Grotesk" pitchFamily="2" charset="0"/>
                          <a:cs typeface="Space Grotesk" pitchFamily="2" charset="0"/>
                        </a:rPr>
                        <a:t>60</a:t>
                      </a:r>
                      <a:r>
                        <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1">
                          <a:ln>
                            <a:noFill/>
                          </a:ln>
                          <a:solidFill>
                            <a:prstClr val="black"/>
                          </a:solidFill>
                          <a:effectLst/>
                          <a:uLnTx/>
                          <a:uFillTx/>
                          <a:latin typeface="Space Grotesk" pitchFamily="2" charset="0"/>
                          <a:cs typeface="Space Grotesk" pitchFamily="2" charset="0"/>
                        </a:rPr>
                        <a:t>MINUTES</a:t>
                      </a:r>
                      <a:endParaRPr kumimoji="0" lang="en-US" sz="1400" b="0" u="none" strike="noStrike" kern="1200" cap="none" spc="0" normalizeH="0" baseline="0" noProof="1">
                        <a:ln>
                          <a:noFill/>
                        </a:ln>
                        <a:solidFill>
                          <a:prstClr val="black"/>
                        </a:solidFill>
                        <a:effectLst/>
                        <a:uLnTx/>
                        <a:uFillTx/>
                        <a:latin typeface="Space Grotesk" pitchFamily="2" charset="0"/>
                        <a:cs typeface="Space Grotesk" pitchFamily="2" charset="0"/>
                      </a:endParaRPr>
                    </a:p>
                  </a:txBody>
                  <a:tcPr marL="68580" marR="68580" marT="34290" marB="34290"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1">
                          <a:ln>
                            <a:noFill/>
                          </a:ln>
                          <a:solidFill>
                            <a:schemeClr val="accent4">
                              <a:lumMod val="75000"/>
                            </a:schemeClr>
                          </a:solidFill>
                          <a:effectLst/>
                          <a:uLnTx/>
                          <a:uFillTx/>
                          <a:latin typeface="Space Grotesk" pitchFamily="2" charset="0"/>
                          <a:ea typeface="+mn-ea"/>
                          <a:cs typeface="Space Grotesk" pitchFamily="2" charset="0"/>
                        </a:rPr>
                        <a:t>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Hands-on AI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Goal:</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 Experience how AI supports work through automation, decision support and augmentation.</a:t>
                      </a:r>
                      <a:endParaRPr kumimoji="0" lang="en-US" sz="11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Introduce the three roles of AI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automation, decision support, augmentation</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843730401"/>
                  </a:ext>
                </a:extLst>
              </a:tr>
              <a:tr h="29718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Exercise 1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Automation: extract structured data from documents/invoices. Discuss where similar tasks exist in participants' work</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949734191"/>
                  </a:ext>
                </a:extLst>
              </a:tr>
              <a:tr h="297180">
                <a:tc vMerge="1">
                  <a:txBody>
                    <a:bodyPr/>
                    <a:lstStyle/>
                    <a:p>
                      <a:endParaRPr lang="en-GB"/>
                    </a:p>
                  </a:txBody>
                  <a:tcP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vMerge="1">
                  <a:txBody>
                    <a:bodyPr/>
                    <a:lstStyle/>
                    <a:p>
                      <a:endParaRPr lang="en-GB">
                        <a:latin typeface="Space Grotesk" pitchFamily="2" charset="0"/>
                        <a:cs typeface="Space Grotesk" pitchFamily="2"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r>
                        <a:rPr kumimoji="0" lang="en-US" sz="800" b="1"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Exercise 2 — </a:t>
                      </a:r>
                      <a:r>
                        <a:rPr kumimoji="0" lang="en-US" sz="800" b="0" i="0" u="none" strike="noStrike" kern="1200" cap="none" spc="0" normalizeH="0" baseline="0" noProof="1">
                          <a:ln>
                            <a:noFill/>
                          </a:ln>
                          <a:solidFill>
                            <a:prstClr val="black"/>
                          </a:solidFill>
                          <a:effectLst/>
                          <a:uLnTx/>
                          <a:uFillTx/>
                          <a:latin typeface="Space Grotesk" pitchFamily="2" charset="0"/>
                          <a:ea typeface="+mn-ea"/>
                          <a:cs typeface="Space Grotesk" pitchFamily="2" charset="0"/>
                        </a:rPr>
                        <a:t>Decision support: analyse a dataset (anomaly detection). Let AI surface patterns and discuss relevance</a:t>
                      </a:r>
                      <a:endParaRPr lang="en-US" sz="800" b="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3351773590"/>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Exercise 3 — </a:t>
                      </a:r>
                      <a:r>
                        <a:rPr lang="en-US" sz="800" noProof="1">
                          <a:latin typeface="Space Grotesk" pitchFamily="2" charset="0"/>
                          <a:cs typeface="Space Grotesk" pitchFamily="2" charset="0"/>
                        </a:rPr>
                        <a:t>Augmentation: generate structured output (presentation or summary). Evaluate accuracy and quality</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975682322"/>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Work on your own case — </a:t>
                      </a:r>
                      <a:r>
                        <a:rPr lang="en-US" sz="800" noProof="1">
                          <a:latin typeface="Space Grotesk" pitchFamily="2" charset="0"/>
                          <a:cs typeface="Space Grotesk" pitchFamily="2" charset="0"/>
                        </a:rPr>
                        <a:t>participants apply one AI role to a task from their own work</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2937605766"/>
                  </a:ext>
                </a:extLst>
              </a:tr>
              <a:tr h="2971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a:ln>
                          <a:noFill/>
                        </a:ln>
                        <a:solidFill>
                          <a:prstClr val="black"/>
                        </a:solidFill>
                        <a:effectLst/>
                        <a:uLnTx/>
                        <a:uFillTx/>
                        <a:latin typeface="Space Grotesk" pitchFamily="2" charset="0"/>
                        <a:cs typeface="Space Grotesk" pitchFamily="2" charset="0"/>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pace Grotesk" pitchFamily="2" charset="0"/>
                        <a:ea typeface="+mn-ea"/>
                        <a:cs typeface="Space Grotesk" pitchFamily="2"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1000" noProof="1">
                        <a:latin typeface="Space Grotesk" pitchFamily="2" charset="0"/>
                        <a:cs typeface="Space Grotesk" pitchFamily="2" charset="0"/>
                      </a:endParaRPr>
                    </a:p>
                  </a:txBody>
                  <a:tcPr marL="68580" marR="68580" marT="34290" marB="3429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noProof="1">
                          <a:latin typeface="Space Grotesk" pitchFamily="2" charset="0"/>
                          <a:cs typeface="Space Grotesk" pitchFamily="2" charset="0"/>
                        </a:rPr>
                        <a:t>Recap the three roles — </a:t>
                      </a:r>
                      <a:r>
                        <a:rPr lang="en-US" sz="800" noProof="1">
                          <a:latin typeface="Space Grotesk" pitchFamily="2" charset="0"/>
                          <a:cs typeface="Space Grotesk" pitchFamily="2" charset="0"/>
                        </a:rPr>
                        <a:t>differences, overlaps, and how they combine in real workflows</a:t>
                      </a:r>
                    </a:p>
                  </a:txBody>
                  <a:tcPr marL="68580" marR="68580" marT="34290" marB="34290">
                    <a:lnL w="12700" cap="flat" cmpd="sng" algn="ctr">
                      <a:solidFill>
                        <a:schemeClr val="bg1">
                          <a:lumMod val="8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3795283860"/>
                  </a:ext>
                </a:extLst>
              </a:tr>
            </a:tbl>
          </a:graphicData>
        </a:graphic>
      </p:graphicFrame>
      <p:sp>
        <p:nvSpPr>
          <p:cNvPr id="9" name="Rectangle: Rounded Corners 8">
            <a:extLst>
              <a:ext uri="{FF2B5EF4-FFF2-40B4-BE49-F238E27FC236}">
                <a16:creationId xmlns:a16="http://schemas.microsoft.com/office/drawing/2014/main" id="{0A044EFF-1797-DADE-635E-0030EC082C15}"/>
              </a:ext>
            </a:extLst>
          </p:cNvPr>
          <p:cNvSpPr/>
          <p:nvPr/>
        </p:nvSpPr>
        <p:spPr>
          <a:xfrm>
            <a:off x="3805244" y="1297840"/>
            <a:ext cx="602673" cy="259415"/>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5400AD"/>
                </a:solidFill>
                <a:latin typeface="Space Grotesk" pitchFamily="2" charset="0"/>
                <a:cs typeface="Space Grotesk" pitchFamily="2" charset="0"/>
              </a:rPr>
              <a:t>+/- 5 min</a:t>
            </a:r>
          </a:p>
        </p:txBody>
      </p:sp>
      <p:sp>
        <p:nvSpPr>
          <p:cNvPr id="12" name="Rectangle: Rounded Corners 11">
            <a:extLst>
              <a:ext uri="{FF2B5EF4-FFF2-40B4-BE49-F238E27FC236}">
                <a16:creationId xmlns:a16="http://schemas.microsoft.com/office/drawing/2014/main" id="{95667984-6DD9-7937-9644-C4D0E7FD0ED6}"/>
              </a:ext>
            </a:extLst>
          </p:cNvPr>
          <p:cNvSpPr/>
          <p:nvPr/>
        </p:nvSpPr>
        <p:spPr>
          <a:xfrm>
            <a:off x="3805244" y="1741885"/>
            <a:ext cx="602673" cy="259415"/>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5400AD"/>
                </a:solidFill>
                <a:latin typeface="Space Grotesk" pitchFamily="2" charset="0"/>
                <a:cs typeface="Space Grotesk" pitchFamily="2" charset="0"/>
              </a:rPr>
              <a:t>+/- 5 min</a:t>
            </a:r>
          </a:p>
        </p:txBody>
      </p:sp>
      <p:sp>
        <p:nvSpPr>
          <p:cNvPr id="22" name="Rectangle: Rounded Corners 21">
            <a:extLst>
              <a:ext uri="{FF2B5EF4-FFF2-40B4-BE49-F238E27FC236}">
                <a16:creationId xmlns:a16="http://schemas.microsoft.com/office/drawing/2014/main" id="{89787AB8-7FE7-500F-A595-C7AB9F370833}"/>
              </a:ext>
            </a:extLst>
          </p:cNvPr>
          <p:cNvSpPr/>
          <p:nvPr/>
        </p:nvSpPr>
        <p:spPr>
          <a:xfrm>
            <a:off x="3805244" y="2180417"/>
            <a:ext cx="602673" cy="259415"/>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+/- 5 min</a:t>
            </a:r>
          </a:p>
        </p:txBody>
      </p:sp>
      <p:sp>
        <p:nvSpPr>
          <p:cNvPr id="23" name="Rectangle: Rounded Corners 22">
            <a:extLst>
              <a:ext uri="{FF2B5EF4-FFF2-40B4-BE49-F238E27FC236}">
                <a16:creationId xmlns:a16="http://schemas.microsoft.com/office/drawing/2014/main" id="{37ED0F27-02E1-CC6A-0ABD-CFDB6817FFFE}"/>
              </a:ext>
            </a:extLst>
          </p:cNvPr>
          <p:cNvSpPr/>
          <p:nvPr/>
        </p:nvSpPr>
        <p:spPr>
          <a:xfrm>
            <a:off x="3805244" y="2594305"/>
            <a:ext cx="602673" cy="259415"/>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+/- 5 min</a:t>
            </a:r>
          </a:p>
        </p:txBody>
      </p:sp>
      <p:sp>
        <p:nvSpPr>
          <p:cNvPr id="25" name="Rectangle: Rounded Corners 24">
            <a:extLst>
              <a:ext uri="{FF2B5EF4-FFF2-40B4-BE49-F238E27FC236}">
                <a16:creationId xmlns:a16="http://schemas.microsoft.com/office/drawing/2014/main" id="{A16EFC79-8C59-CE2C-3765-F0477CEC23AA}"/>
              </a:ext>
            </a:extLst>
          </p:cNvPr>
          <p:cNvSpPr/>
          <p:nvPr/>
        </p:nvSpPr>
        <p:spPr>
          <a:xfrm>
            <a:off x="3805244" y="2952939"/>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+/- 5 min</a:t>
            </a:r>
          </a:p>
        </p:txBody>
      </p:sp>
      <p:sp>
        <p:nvSpPr>
          <p:cNvPr id="26" name="Rectangle: Rounded Corners 25">
            <a:extLst>
              <a:ext uri="{FF2B5EF4-FFF2-40B4-BE49-F238E27FC236}">
                <a16:creationId xmlns:a16="http://schemas.microsoft.com/office/drawing/2014/main" id="{72C7CB6B-D146-D7C1-D670-47AFEACAA1E6}"/>
              </a:ext>
            </a:extLst>
          </p:cNvPr>
          <p:cNvSpPr/>
          <p:nvPr/>
        </p:nvSpPr>
        <p:spPr>
          <a:xfrm>
            <a:off x="3805244" y="3250488"/>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+/- 15 min</a:t>
            </a:r>
          </a:p>
        </p:txBody>
      </p:sp>
      <p:sp>
        <p:nvSpPr>
          <p:cNvPr id="27" name="Rectangle: Rounded Corners 26">
            <a:extLst>
              <a:ext uri="{FF2B5EF4-FFF2-40B4-BE49-F238E27FC236}">
                <a16:creationId xmlns:a16="http://schemas.microsoft.com/office/drawing/2014/main" id="{602E2CCF-D81F-FA8E-6D03-0298EE1DDB8B}"/>
              </a:ext>
            </a:extLst>
          </p:cNvPr>
          <p:cNvSpPr/>
          <p:nvPr/>
        </p:nvSpPr>
        <p:spPr>
          <a:xfrm>
            <a:off x="3805244" y="3545467"/>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31" name="Rectangle 30">
            <a:extLst>
              <a:ext uri="{FF2B5EF4-FFF2-40B4-BE49-F238E27FC236}">
                <a16:creationId xmlns:a16="http://schemas.microsoft.com/office/drawing/2014/main" id="{BEF111BB-0AA1-23E2-9AE3-78FD5730355F}"/>
              </a:ext>
            </a:extLst>
          </p:cNvPr>
          <p:cNvSpPr/>
          <p:nvPr/>
        </p:nvSpPr>
        <p:spPr>
          <a:xfrm>
            <a:off x="624841" y="1413211"/>
            <a:ext cx="34289" cy="716999"/>
          </a:xfrm>
          <a:prstGeom prst="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4" name="Rectangle 33">
            <a:extLst>
              <a:ext uri="{FF2B5EF4-FFF2-40B4-BE49-F238E27FC236}">
                <a16:creationId xmlns:a16="http://schemas.microsoft.com/office/drawing/2014/main" id="{75CA0B78-4A47-CC54-1DE5-18AB2276D546}"/>
              </a:ext>
            </a:extLst>
          </p:cNvPr>
          <p:cNvSpPr/>
          <p:nvPr/>
        </p:nvSpPr>
        <p:spPr>
          <a:xfrm>
            <a:off x="624841" y="2210684"/>
            <a:ext cx="34289" cy="716999"/>
          </a:xfrm>
          <a:prstGeom prst="rect">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5" name="Rectangle 34">
            <a:extLst>
              <a:ext uri="{FF2B5EF4-FFF2-40B4-BE49-F238E27FC236}">
                <a16:creationId xmlns:a16="http://schemas.microsoft.com/office/drawing/2014/main" id="{D7C7BA4D-589C-2709-4EB5-9DE54A7A0DBF}"/>
              </a:ext>
            </a:extLst>
          </p:cNvPr>
          <p:cNvSpPr/>
          <p:nvPr/>
        </p:nvSpPr>
        <p:spPr>
          <a:xfrm>
            <a:off x="624841" y="3480802"/>
            <a:ext cx="34289" cy="71699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 name="Rectangle: Rounded Corners 26">
            <a:extLst>
              <a:ext uri="{FF2B5EF4-FFF2-40B4-BE49-F238E27FC236}">
                <a16:creationId xmlns:a16="http://schemas.microsoft.com/office/drawing/2014/main" id="{D796FD0D-98F4-DEAE-0900-7D55AF03D4F1}"/>
              </a:ext>
            </a:extLst>
          </p:cNvPr>
          <p:cNvSpPr/>
          <p:nvPr/>
        </p:nvSpPr>
        <p:spPr>
          <a:xfrm>
            <a:off x="3805244" y="3839302"/>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4" name="Rectangle: Rounded Corners 26">
            <a:extLst>
              <a:ext uri="{FF2B5EF4-FFF2-40B4-BE49-F238E27FC236}">
                <a16:creationId xmlns:a16="http://schemas.microsoft.com/office/drawing/2014/main" id="{C76EC43D-EB6C-CD4D-41E0-0BC1027EDCF4}"/>
              </a:ext>
            </a:extLst>
          </p:cNvPr>
          <p:cNvSpPr/>
          <p:nvPr/>
        </p:nvSpPr>
        <p:spPr>
          <a:xfrm>
            <a:off x="3805244" y="4133137"/>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+/- 10 min</a:t>
            </a:r>
          </a:p>
        </p:txBody>
      </p:sp>
      <p:sp>
        <p:nvSpPr>
          <p:cNvPr id="5" name="Rectangle: Rounded Corners 24">
            <a:extLst>
              <a:ext uri="{FF2B5EF4-FFF2-40B4-BE49-F238E27FC236}">
                <a16:creationId xmlns:a16="http://schemas.microsoft.com/office/drawing/2014/main" id="{BE6823A9-3EE3-0220-37AE-0844BE8C77E7}"/>
              </a:ext>
            </a:extLst>
          </p:cNvPr>
          <p:cNvSpPr/>
          <p:nvPr/>
        </p:nvSpPr>
        <p:spPr>
          <a:xfrm>
            <a:off x="3805244" y="4426972"/>
            <a:ext cx="602673" cy="259415"/>
          </a:xfrm>
          <a:prstGeom prst="roundRect">
            <a:avLst>
              <a:gd name="adj" fmla="val 42749"/>
            </a:avLst>
          </a:prstGeom>
          <a:solidFill>
            <a:srgbClr val="FBF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FFC000">
                    <a:lumMod val="75000"/>
                  </a:srgbClr>
                </a:solidFill>
                <a:latin typeface="Space Grotesk" pitchFamily="2" charset="0"/>
                <a:cs typeface="Space Grotesk" pitchFamily="2" charset="0"/>
              </a:rPr>
              <a:t>+/- 5 min</a:t>
            </a:r>
          </a:p>
        </p:txBody>
      </p:sp>
      <p:sp>
        <p:nvSpPr>
          <p:cNvPr id="7" name="TextBox 6">
            <a:extLst>
              <a:ext uri="{FF2B5EF4-FFF2-40B4-BE49-F238E27FC236}">
                <a16:creationId xmlns:a16="http://schemas.microsoft.com/office/drawing/2014/main" id="{792F160B-0A78-B321-2786-7BF930EF29C4}"/>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Script</a:t>
            </a:r>
          </a:p>
        </p:txBody>
      </p:sp>
    </p:spTree>
    <p:extLst>
      <p:ext uri="{BB962C8B-B14F-4D97-AF65-F5344CB8AC3E}">
        <p14:creationId xmlns:p14="http://schemas.microsoft.com/office/powerpoint/2010/main" val="3505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012E0-677E-125E-715C-4CBF0E5EDC95}"/>
            </a:ext>
          </a:extLst>
        </p:cNvPr>
        <p:cNvGrpSpPr/>
        <p:nvPr/>
      </p:nvGrpSpPr>
      <p:grpSpPr>
        <a:xfrm>
          <a:off x="0" y="0"/>
          <a:ext cx="0" cy="0"/>
          <a:chOff x="0" y="0"/>
          <a:chExt cx="0" cy="0"/>
        </a:xfrm>
      </p:grpSpPr>
      <p:pic>
        <p:nvPicPr>
          <p:cNvPr id="16" name="Afbeelding 15" descr="MVX23_Logo_Basislogo_Full_colour_Wit">
            <a:extLst>
              <a:ext uri="{FF2B5EF4-FFF2-40B4-BE49-F238E27FC236}">
                <a16:creationId xmlns:a16="http://schemas.microsoft.com/office/drawing/2014/main" id="{F817FA8C-68C0-2558-E837-F81F9B81BA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3810" y="-610401"/>
            <a:ext cx="2386515" cy="2388725"/>
          </a:xfrm>
          <a:prstGeom prst="rect">
            <a:avLst/>
          </a:prstGeom>
        </p:spPr>
      </p:pic>
      <p:sp>
        <p:nvSpPr>
          <p:cNvPr id="6" name="Tekstvak 5" descr="MVX23_Logo_Basislogo_Full_colour_Wit">
            <a:extLst>
              <a:ext uri="{FF2B5EF4-FFF2-40B4-BE49-F238E27FC236}">
                <a16:creationId xmlns:a16="http://schemas.microsoft.com/office/drawing/2014/main" id="{797D7010-E733-F877-8564-2091E2911032}"/>
              </a:ext>
            </a:extLst>
          </p:cNvPr>
          <p:cNvSpPr txBox="1"/>
          <p:nvPr/>
        </p:nvSpPr>
        <p:spPr>
          <a:xfrm>
            <a:off x="380465" y="1662908"/>
            <a:ext cx="8702236" cy="692497"/>
          </a:xfrm>
          <a:prstGeom prst="rect">
            <a:avLst/>
          </a:prstGeom>
          <a:noFill/>
        </p:spPr>
        <p:txBody>
          <a:bodyPr wrap="square" lIns="68580" tIns="34290" rIns="68580" bIns="34290" rtlCol="0" anchor="t">
            <a:spAutoFit/>
          </a:bodyPr>
          <a:lstStyle/>
          <a:p>
            <a:pPr>
              <a:defRPr/>
            </a:pPr>
            <a:r>
              <a:rPr lang="en-US" sz="4050" b="1">
                <a:solidFill>
                  <a:prstClr val="white"/>
                </a:solidFill>
                <a:latin typeface="Space Grotesk"/>
                <a:cs typeface="Space Grotesk" pitchFamily="2" charset="0"/>
              </a:rPr>
              <a:t>Training Title Proper Case</a:t>
            </a:r>
          </a:p>
        </p:txBody>
      </p:sp>
      <p:grpSp>
        <p:nvGrpSpPr>
          <p:cNvPr id="23" name="Groep 22">
            <a:extLst>
              <a:ext uri="{FF2B5EF4-FFF2-40B4-BE49-F238E27FC236}">
                <a16:creationId xmlns:a16="http://schemas.microsoft.com/office/drawing/2014/main" id="{DCE386F4-382B-D95D-08C8-E7161701F6E1}"/>
              </a:ext>
            </a:extLst>
          </p:cNvPr>
          <p:cNvGrpSpPr/>
          <p:nvPr/>
        </p:nvGrpSpPr>
        <p:grpSpPr>
          <a:xfrm>
            <a:off x="1606962" y="4494463"/>
            <a:ext cx="640393" cy="136882"/>
            <a:chOff x="2970265" y="5870332"/>
            <a:chExt cx="853856" cy="182509"/>
          </a:xfrm>
        </p:grpSpPr>
        <p:pic>
          <p:nvPicPr>
            <p:cNvPr id="18" name="Afbeelding 17" descr="Afbeelding met cirkel, Graphics, tekenfilm&#10;&#10;Automatisch gegenereerde beschrijving">
              <a:extLst>
                <a:ext uri="{FF2B5EF4-FFF2-40B4-BE49-F238E27FC236}">
                  <a16:creationId xmlns:a16="http://schemas.microsoft.com/office/drawing/2014/main" id="{01168E32-7D53-7259-F028-F9B9AB4DF36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05851" y="5870332"/>
              <a:ext cx="182509" cy="182509"/>
            </a:xfrm>
            <a:prstGeom prst="rect">
              <a:avLst/>
            </a:prstGeom>
          </p:spPr>
        </p:pic>
        <p:pic>
          <p:nvPicPr>
            <p:cNvPr id="20" name="Afbeelding 19" descr="Afbeelding met Graphics, ontwerp&#10;&#10;Automatisch gegenereerde beschrijving">
              <a:hlinkClick r:id="rId5"/>
              <a:extLst>
                <a:ext uri="{FF2B5EF4-FFF2-40B4-BE49-F238E27FC236}">
                  <a16:creationId xmlns:a16="http://schemas.microsoft.com/office/drawing/2014/main" id="{4751411A-6C35-D8F5-0FCC-BC39783F219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41437" y="5870332"/>
              <a:ext cx="182684" cy="182509"/>
            </a:xfrm>
            <a:prstGeom prst="rect">
              <a:avLst/>
            </a:prstGeom>
          </p:spPr>
        </p:pic>
        <p:pic>
          <p:nvPicPr>
            <p:cNvPr id="22" name="Afbeelding 21" descr="Afbeelding met symbool&#10;&#10;Automatisch gegenereerde beschrijving">
              <a:extLst>
                <a:ext uri="{FF2B5EF4-FFF2-40B4-BE49-F238E27FC236}">
                  <a16:creationId xmlns:a16="http://schemas.microsoft.com/office/drawing/2014/main" id="{84A48A74-48E1-3DE8-C29D-AE425E6BCDD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70265" y="5870332"/>
              <a:ext cx="182509" cy="182509"/>
            </a:xfrm>
            <a:prstGeom prst="rect">
              <a:avLst/>
            </a:prstGeom>
          </p:spPr>
        </p:pic>
      </p:grpSp>
      <p:grpSp>
        <p:nvGrpSpPr>
          <p:cNvPr id="27" name="Groep 26">
            <a:extLst>
              <a:ext uri="{FF2B5EF4-FFF2-40B4-BE49-F238E27FC236}">
                <a16:creationId xmlns:a16="http://schemas.microsoft.com/office/drawing/2014/main" id="{2EB4EE25-2656-FFDF-69A1-25ADCF05D02F}"/>
              </a:ext>
            </a:extLst>
          </p:cNvPr>
          <p:cNvGrpSpPr/>
          <p:nvPr/>
        </p:nvGrpSpPr>
        <p:grpSpPr>
          <a:xfrm>
            <a:off x="360319" y="4420999"/>
            <a:ext cx="1189805" cy="280401"/>
            <a:chOff x="1613450" y="5094513"/>
            <a:chExt cx="1586406" cy="373868"/>
          </a:xfrm>
        </p:grpSpPr>
        <p:pic>
          <p:nvPicPr>
            <p:cNvPr id="26" name="Graphic 25">
              <a:extLst>
                <a:ext uri="{FF2B5EF4-FFF2-40B4-BE49-F238E27FC236}">
                  <a16:creationId xmlns:a16="http://schemas.microsoft.com/office/drawing/2014/main" id="{BE58B725-6964-8A90-15F1-B87E9F9B99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13450" y="5094513"/>
              <a:ext cx="1586406" cy="363577"/>
            </a:xfrm>
            <a:prstGeom prst="rect">
              <a:avLst/>
            </a:prstGeom>
          </p:spPr>
        </p:pic>
        <p:sp>
          <p:nvSpPr>
            <p:cNvPr id="24" name="Tekstvak 23" descr="MVX23_Logo_Basislogo_Full_colour_Wit">
              <a:hlinkClick r:id="rId9"/>
              <a:extLst>
                <a:ext uri="{FF2B5EF4-FFF2-40B4-BE49-F238E27FC236}">
                  <a16:creationId xmlns:a16="http://schemas.microsoft.com/office/drawing/2014/main" id="{D87F675C-4DAC-F6FF-B7F7-6AA82C3E88D7}"/>
                </a:ext>
              </a:extLst>
            </p:cNvPr>
            <p:cNvSpPr txBox="1"/>
            <p:nvPr/>
          </p:nvSpPr>
          <p:spPr>
            <a:xfrm>
              <a:off x="1813507" y="5099049"/>
              <a:ext cx="1208967" cy="369332"/>
            </a:xfrm>
            <a:prstGeom prst="rect">
              <a:avLst/>
            </a:prstGeom>
            <a:noFill/>
          </p:spPr>
          <p:txBody>
            <a:bodyPr wrap="square" rtlCol="0">
              <a:spAutoFit/>
            </a:bodyPr>
            <a:lstStyle/>
            <a:p>
              <a:pPr>
                <a:defRPr/>
              </a:pPr>
              <a:r>
                <a:rPr lang="en-US" sz="1200" b="1">
                  <a:solidFill>
                    <a:prstClr val="white"/>
                  </a:solidFill>
                  <a:latin typeface="Space Grotesk" pitchFamily="2" charset="0"/>
                  <a:cs typeface="Space Grotesk" pitchFamily="2" charset="0"/>
                </a:rPr>
                <a:t>maverx.nl</a:t>
              </a:r>
            </a:p>
          </p:txBody>
        </p:sp>
      </p:grpSp>
      <p:sp>
        <p:nvSpPr>
          <p:cNvPr id="3" name="Tekstvak 5" descr="MVX23_Logo_Basislogo_Full_colour_Wit">
            <a:extLst>
              <a:ext uri="{FF2B5EF4-FFF2-40B4-BE49-F238E27FC236}">
                <a16:creationId xmlns:a16="http://schemas.microsoft.com/office/drawing/2014/main" id="{EE5E76DF-3F81-32C1-D623-B2F7C9BFC70D}"/>
              </a:ext>
            </a:extLst>
          </p:cNvPr>
          <p:cNvSpPr txBox="1"/>
          <p:nvPr/>
        </p:nvSpPr>
        <p:spPr>
          <a:xfrm>
            <a:off x="867453" y="2211016"/>
            <a:ext cx="4695147" cy="507831"/>
          </a:xfrm>
          <a:prstGeom prst="rect">
            <a:avLst/>
          </a:prstGeom>
          <a:noFill/>
        </p:spPr>
        <p:txBody>
          <a:bodyPr wrap="square" lIns="68580" tIns="34290" rIns="68580" bIns="34290" rtlCol="0" anchor="t">
            <a:spAutoFit/>
          </a:bodyPr>
          <a:lstStyle/>
          <a:p>
            <a:pPr>
              <a:defRPr/>
            </a:pPr>
            <a:r>
              <a:rPr lang="en-US" sz="2850">
                <a:solidFill>
                  <a:prstClr val="white"/>
                </a:solidFill>
                <a:latin typeface="Space Grotesk"/>
                <a:cs typeface="Space Grotesk" pitchFamily="2" charset="0"/>
              </a:rPr>
              <a:t>subtitle in lower case</a:t>
            </a:r>
          </a:p>
        </p:txBody>
      </p:sp>
    </p:spTree>
    <p:extLst>
      <p:ext uri="{BB962C8B-B14F-4D97-AF65-F5344CB8AC3E}">
        <p14:creationId xmlns:p14="http://schemas.microsoft.com/office/powerpoint/2010/main" val="2158933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D7CC-79C0-63BD-DE8C-7FFA89451C4A}"/>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F7180C9B-5F7E-8C5D-FEF3-886AC118DD46}"/>
              </a:ext>
            </a:extLst>
          </p:cNvPr>
          <p:cNvGrpSpPr/>
          <p:nvPr/>
        </p:nvGrpSpPr>
        <p:grpSpPr>
          <a:xfrm>
            <a:off x="622794" y="2855011"/>
            <a:ext cx="1487927" cy="1840619"/>
            <a:chOff x="326250" y="3429000"/>
            <a:chExt cx="2640573" cy="2969533"/>
          </a:xfrm>
        </p:grpSpPr>
        <p:grpSp>
          <p:nvGrpSpPr>
            <p:cNvPr id="7" name="Group 6">
              <a:extLst>
                <a:ext uri="{FF2B5EF4-FFF2-40B4-BE49-F238E27FC236}">
                  <a16:creationId xmlns:a16="http://schemas.microsoft.com/office/drawing/2014/main" id="{15FEC87A-FE4F-323D-8FD7-3B67F1C932DC}"/>
                </a:ext>
              </a:extLst>
            </p:cNvPr>
            <p:cNvGrpSpPr/>
            <p:nvPr/>
          </p:nvGrpSpPr>
          <p:grpSpPr>
            <a:xfrm>
              <a:off x="326250" y="3429000"/>
              <a:ext cx="2640573" cy="2969533"/>
              <a:chOff x="846950" y="3429000"/>
              <a:chExt cx="2640573" cy="2969533"/>
            </a:xfrm>
          </p:grpSpPr>
          <p:sp>
            <p:nvSpPr>
              <p:cNvPr id="4" name="Rectangle: Rounded Corners 3">
                <a:extLst>
                  <a:ext uri="{FF2B5EF4-FFF2-40B4-BE49-F238E27FC236}">
                    <a16:creationId xmlns:a16="http://schemas.microsoft.com/office/drawing/2014/main" id="{E8890716-928B-3BF7-74A8-8532D56E1C5C}"/>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5" name="Rectangle: Rounded Corners 4">
                <a:extLst>
                  <a:ext uri="{FF2B5EF4-FFF2-40B4-BE49-F238E27FC236}">
                    <a16:creationId xmlns:a16="http://schemas.microsoft.com/office/drawing/2014/main" id="{5A50BEBD-EAFD-FE8A-8A5D-C419902AFE21}"/>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20" name="TextBox 19">
              <a:extLst>
                <a:ext uri="{FF2B5EF4-FFF2-40B4-BE49-F238E27FC236}">
                  <a16:creationId xmlns:a16="http://schemas.microsoft.com/office/drawing/2014/main" id="{210C484A-7976-8A63-2892-28F26C7325B1}"/>
                </a:ext>
              </a:extLst>
            </p:cNvPr>
            <p:cNvSpPr txBox="1"/>
            <p:nvPr/>
          </p:nvSpPr>
          <p:spPr>
            <a:xfrm>
              <a:off x="655937" y="3606801"/>
              <a:ext cx="1930400" cy="2731005"/>
            </a:xfrm>
            <a:prstGeom prst="rect">
              <a:avLst/>
            </a:prstGeom>
            <a:noFill/>
          </p:spPr>
          <p:txBody>
            <a:bodyPr wrap="square" rtlCol="0">
              <a:spAutoFit/>
            </a:bodyPr>
            <a:lstStyle/>
            <a:p>
              <a:r>
                <a:rPr lang="en-US" sz="1400" b="1">
                  <a:solidFill>
                    <a:srgbClr val="5400AD"/>
                  </a:solidFill>
                  <a:latin typeface="Space Grotesk" pitchFamily="2" charset="0"/>
                  <a:cs typeface="Space Grotesk" pitchFamily="2" charset="0"/>
                </a:rPr>
                <a:t>Welcome</a:t>
              </a:r>
            </a:p>
            <a:p>
              <a:pPr algn="ctr"/>
              <a:endParaRPr lang="en-US" sz="800" b="1">
                <a:solidFill>
                  <a:srgbClr val="5400AD"/>
                </a:solidFill>
                <a:latin typeface="Space Grotesk" pitchFamily="2" charset="0"/>
                <a:cs typeface="Space Grotesk" pitchFamily="2" charset="0"/>
              </a:endParaRP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Recap three spheres, why Purpose prevents optimizing wrong things</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grpSp>
        <p:nvGrpSpPr>
          <p:cNvPr id="36" name="Group 35">
            <a:extLst>
              <a:ext uri="{FF2B5EF4-FFF2-40B4-BE49-F238E27FC236}">
                <a16:creationId xmlns:a16="http://schemas.microsoft.com/office/drawing/2014/main" id="{751A9E91-0385-C60B-C8C2-56196A42556C}"/>
              </a:ext>
            </a:extLst>
          </p:cNvPr>
          <p:cNvGrpSpPr/>
          <p:nvPr/>
        </p:nvGrpSpPr>
        <p:grpSpPr>
          <a:xfrm>
            <a:off x="2223952" y="2855011"/>
            <a:ext cx="1601156" cy="1840618"/>
            <a:chOff x="3298050" y="3429000"/>
            <a:chExt cx="2841517" cy="2969533"/>
          </a:xfrm>
        </p:grpSpPr>
        <p:grpSp>
          <p:nvGrpSpPr>
            <p:cNvPr id="10" name="Group 9">
              <a:extLst>
                <a:ext uri="{FF2B5EF4-FFF2-40B4-BE49-F238E27FC236}">
                  <a16:creationId xmlns:a16="http://schemas.microsoft.com/office/drawing/2014/main" id="{4D9A95F7-40CD-67FA-D00D-8C9C3E3E1999}"/>
                </a:ext>
              </a:extLst>
            </p:cNvPr>
            <p:cNvGrpSpPr/>
            <p:nvPr/>
          </p:nvGrpSpPr>
          <p:grpSpPr>
            <a:xfrm>
              <a:off x="3298050" y="3429000"/>
              <a:ext cx="2640573" cy="2969533"/>
              <a:chOff x="846950" y="3429000"/>
              <a:chExt cx="2640573" cy="2969533"/>
            </a:xfrm>
          </p:grpSpPr>
          <p:sp>
            <p:nvSpPr>
              <p:cNvPr id="11" name="Rectangle: Rounded Corners 10">
                <a:extLst>
                  <a:ext uri="{FF2B5EF4-FFF2-40B4-BE49-F238E27FC236}">
                    <a16:creationId xmlns:a16="http://schemas.microsoft.com/office/drawing/2014/main" id="{15C24CFC-95F8-CC5C-75B2-61453C387BD4}"/>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3" name="Rectangle: Rounded Corners 12">
                <a:extLst>
                  <a:ext uri="{FF2B5EF4-FFF2-40B4-BE49-F238E27FC236}">
                    <a16:creationId xmlns:a16="http://schemas.microsoft.com/office/drawing/2014/main" id="{A72DCD54-672C-D223-233F-A3CF4045C1B3}"/>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29" name="TextBox 28">
              <a:extLst>
                <a:ext uri="{FF2B5EF4-FFF2-40B4-BE49-F238E27FC236}">
                  <a16:creationId xmlns:a16="http://schemas.microsoft.com/office/drawing/2014/main" id="{FFC7B101-FE27-DD1A-A0C5-63B729F8A590}"/>
                </a:ext>
              </a:extLst>
            </p:cNvPr>
            <p:cNvSpPr txBox="1"/>
            <p:nvPr/>
          </p:nvSpPr>
          <p:spPr>
            <a:xfrm>
              <a:off x="3627737" y="3606801"/>
              <a:ext cx="2511830" cy="2631697"/>
            </a:xfrm>
            <a:prstGeom prst="rect">
              <a:avLst/>
            </a:prstGeom>
            <a:noFill/>
          </p:spPr>
          <p:txBody>
            <a:bodyPr wrap="square" rtlCol="0">
              <a:spAutoFit/>
            </a:bodyPr>
            <a:lstStyle/>
            <a:p>
              <a:r>
                <a:rPr lang="en-US" sz="1400" b="1">
                  <a:solidFill>
                    <a:srgbClr val="D3116E"/>
                  </a:solidFill>
                  <a:latin typeface="Space Grotesk" pitchFamily="2" charset="0"/>
                  <a:cs typeface="Space Grotesk" pitchFamily="2" charset="0"/>
                </a:rPr>
                <a:t>Customer Value</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77"/>
                  <a:cs typeface="Space Grotesk" pitchFamily="2" charset="77"/>
                </a:rPr>
                <a:t>Moments of Truth, Customer Arena, Value vs. Waste — validate customer impact</a:t>
              </a:r>
              <a:endParaRPr lang="en-US" sz="1000" b="1" noProof="1">
                <a:solidFill>
                  <a:srgbClr val="5400AD"/>
                </a:solidFill>
                <a:latin typeface="Space Grotesk" pitchFamily="2" charset="77"/>
                <a:cs typeface="Space Grotesk" pitchFamily="2" charset="77"/>
              </a:endParaRPr>
            </a:p>
            <a:p>
              <a:endParaRPr lang="en-GB" sz="1400" b="1">
                <a:solidFill>
                  <a:srgbClr val="5400AD"/>
                </a:solidFill>
                <a:latin typeface="Space Grotesk" pitchFamily="2" charset="0"/>
                <a:cs typeface="Space Grotesk" pitchFamily="2" charset="0"/>
              </a:endParaRPr>
            </a:p>
          </p:txBody>
        </p:sp>
      </p:grpSp>
      <p:grpSp>
        <p:nvGrpSpPr>
          <p:cNvPr id="37" name="Group 36">
            <a:extLst>
              <a:ext uri="{FF2B5EF4-FFF2-40B4-BE49-F238E27FC236}">
                <a16:creationId xmlns:a16="http://schemas.microsoft.com/office/drawing/2014/main" id="{F1F41737-4C81-4141-73C9-CD31BD4535BA}"/>
              </a:ext>
            </a:extLst>
          </p:cNvPr>
          <p:cNvGrpSpPr/>
          <p:nvPr/>
        </p:nvGrpSpPr>
        <p:grpSpPr>
          <a:xfrm>
            <a:off x="3825109" y="2845387"/>
            <a:ext cx="1487927" cy="2049200"/>
            <a:chOff x="6295250" y="3429000"/>
            <a:chExt cx="2640573" cy="3306043"/>
          </a:xfrm>
        </p:grpSpPr>
        <p:grpSp>
          <p:nvGrpSpPr>
            <p:cNvPr id="14" name="Group 13">
              <a:extLst>
                <a:ext uri="{FF2B5EF4-FFF2-40B4-BE49-F238E27FC236}">
                  <a16:creationId xmlns:a16="http://schemas.microsoft.com/office/drawing/2014/main" id="{3F57B506-05B6-C8A7-8C32-BF0702DDA7E8}"/>
                </a:ext>
              </a:extLst>
            </p:cNvPr>
            <p:cNvGrpSpPr/>
            <p:nvPr/>
          </p:nvGrpSpPr>
          <p:grpSpPr>
            <a:xfrm>
              <a:off x="6295250" y="3429000"/>
              <a:ext cx="2640573" cy="2969533"/>
              <a:chOff x="846950" y="3429000"/>
              <a:chExt cx="2640573" cy="2969533"/>
            </a:xfrm>
          </p:grpSpPr>
          <p:sp>
            <p:nvSpPr>
              <p:cNvPr id="15" name="Rectangle: Rounded Corners 14">
                <a:extLst>
                  <a:ext uri="{FF2B5EF4-FFF2-40B4-BE49-F238E27FC236}">
                    <a16:creationId xmlns:a16="http://schemas.microsoft.com/office/drawing/2014/main" id="{FA1BCBDF-7FE6-77C0-775A-76589BC01953}"/>
                  </a:ext>
                </a:extLst>
              </p:cNvPr>
              <p:cNvSpPr/>
              <p:nvPr/>
            </p:nvSpPr>
            <p:spPr>
              <a:xfrm>
                <a:off x="846950" y="3431396"/>
                <a:ext cx="2589773" cy="293907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6" name="Rectangle: Rounded Corners 15">
                <a:extLst>
                  <a:ext uri="{FF2B5EF4-FFF2-40B4-BE49-F238E27FC236}">
                    <a16:creationId xmlns:a16="http://schemas.microsoft.com/office/drawing/2014/main" id="{01FEA07A-1A57-C134-B898-A07F182793F1}"/>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30" name="TextBox 29">
              <a:extLst>
                <a:ext uri="{FF2B5EF4-FFF2-40B4-BE49-F238E27FC236}">
                  <a16:creationId xmlns:a16="http://schemas.microsoft.com/office/drawing/2014/main" id="{30FB2698-BFE7-E263-1582-8E48F5812860}"/>
                </a:ext>
              </a:extLst>
            </p:cNvPr>
            <p:cNvSpPr txBox="1"/>
            <p:nvPr/>
          </p:nvSpPr>
          <p:spPr>
            <a:xfrm>
              <a:off x="6675737" y="3606801"/>
              <a:ext cx="1930400" cy="3128242"/>
            </a:xfrm>
            <a:prstGeom prst="rect">
              <a:avLst/>
            </a:prstGeom>
            <a:noFill/>
          </p:spPr>
          <p:txBody>
            <a:bodyPr wrap="square" rtlCol="0">
              <a:spAutoFit/>
            </a:bodyPr>
            <a:lstStyle/>
            <a:p>
              <a:r>
                <a:rPr lang="en-US" sz="1400" b="1">
                  <a:solidFill>
                    <a:srgbClr val="00B0F0"/>
                  </a:solidFill>
                  <a:latin typeface="Space Grotesk" pitchFamily="2" charset="0"/>
                  <a:cs typeface="Space Grotesk" pitchFamily="2" charset="0"/>
                </a:rPr>
                <a:t>Strategy</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Hoshin cascade, X-matrix, KPI trees — connect your project to organizational strategy</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grpSp>
        <p:nvGrpSpPr>
          <p:cNvPr id="38" name="Group 37">
            <a:extLst>
              <a:ext uri="{FF2B5EF4-FFF2-40B4-BE49-F238E27FC236}">
                <a16:creationId xmlns:a16="http://schemas.microsoft.com/office/drawing/2014/main" id="{D153F7DC-C7E2-A8A6-A8A1-62B133E7F020}"/>
              </a:ext>
            </a:extLst>
          </p:cNvPr>
          <p:cNvGrpSpPr/>
          <p:nvPr/>
        </p:nvGrpSpPr>
        <p:grpSpPr>
          <a:xfrm>
            <a:off x="5426266" y="2855012"/>
            <a:ext cx="1487927" cy="1840618"/>
            <a:chOff x="9368650" y="3429000"/>
            <a:chExt cx="2640573" cy="2969533"/>
          </a:xfrm>
        </p:grpSpPr>
        <p:grpSp>
          <p:nvGrpSpPr>
            <p:cNvPr id="17" name="Group 16">
              <a:extLst>
                <a:ext uri="{FF2B5EF4-FFF2-40B4-BE49-F238E27FC236}">
                  <a16:creationId xmlns:a16="http://schemas.microsoft.com/office/drawing/2014/main" id="{9B206804-226B-D66C-4ABE-15185ED70E1C}"/>
                </a:ext>
              </a:extLst>
            </p:cNvPr>
            <p:cNvGrpSpPr/>
            <p:nvPr/>
          </p:nvGrpSpPr>
          <p:grpSpPr>
            <a:xfrm>
              <a:off x="9368650" y="3429000"/>
              <a:ext cx="2640573" cy="2969533"/>
              <a:chOff x="846950" y="3429000"/>
              <a:chExt cx="2640573" cy="2969533"/>
            </a:xfrm>
          </p:grpSpPr>
          <p:sp>
            <p:nvSpPr>
              <p:cNvPr id="18" name="Rectangle: Rounded Corners 17">
                <a:extLst>
                  <a:ext uri="{FF2B5EF4-FFF2-40B4-BE49-F238E27FC236}">
                    <a16:creationId xmlns:a16="http://schemas.microsoft.com/office/drawing/2014/main" id="{4B75D27A-2520-1739-B001-4F48F1FB9C07}"/>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19" name="Rectangle: Rounded Corners 18">
                <a:extLst>
                  <a:ext uri="{FF2B5EF4-FFF2-40B4-BE49-F238E27FC236}">
                    <a16:creationId xmlns:a16="http://schemas.microsoft.com/office/drawing/2014/main" id="{3169A4EB-F910-1943-96B3-F17AFB58BE4A}"/>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32" name="TextBox 31">
              <a:extLst>
                <a:ext uri="{FF2B5EF4-FFF2-40B4-BE49-F238E27FC236}">
                  <a16:creationId xmlns:a16="http://schemas.microsoft.com/office/drawing/2014/main" id="{1B35621E-FF93-EF3E-818D-28EB6A8FCFC6}"/>
                </a:ext>
              </a:extLst>
            </p:cNvPr>
            <p:cNvSpPr txBox="1"/>
            <p:nvPr/>
          </p:nvSpPr>
          <p:spPr>
            <a:xfrm>
              <a:off x="9749135" y="3606801"/>
              <a:ext cx="2182145" cy="2780661"/>
            </a:xfrm>
            <a:prstGeom prst="rect">
              <a:avLst/>
            </a:prstGeom>
            <a:noFill/>
          </p:spPr>
          <p:txBody>
            <a:bodyPr wrap="square" rtlCol="0">
              <a:spAutoFit/>
            </a:bodyPr>
            <a:lstStyle/>
            <a:p>
              <a:r>
                <a:rPr lang="en-US" sz="1400" b="1">
                  <a:solidFill>
                    <a:srgbClr val="F79421"/>
                  </a:solidFill>
                  <a:latin typeface="Space Grotesk" pitchFamily="2" charset="0"/>
                  <a:cs typeface="Space Grotesk" pitchFamily="2" charset="0"/>
                </a:rPr>
                <a:t>Hands-on</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Diagnose Project Beacon with Purpose lens, then upgrade your A3 Ambition + KPIs quadrants</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sp>
        <p:nvSpPr>
          <p:cNvPr id="39" name="Oval 38">
            <a:extLst>
              <a:ext uri="{FF2B5EF4-FFF2-40B4-BE49-F238E27FC236}">
                <a16:creationId xmlns:a16="http://schemas.microsoft.com/office/drawing/2014/main" id="{A96D7730-9EFF-9133-0314-C79094D4B1AD}"/>
              </a:ext>
            </a:extLst>
          </p:cNvPr>
          <p:cNvSpPr/>
          <p:nvPr/>
        </p:nvSpPr>
        <p:spPr>
          <a:xfrm>
            <a:off x="969788" y="1457405"/>
            <a:ext cx="765313" cy="71561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Space Grotesk" pitchFamily="2" charset="0"/>
                <a:cs typeface="Space Grotesk" pitchFamily="2" charset="0"/>
              </a:rPr>
              <a:t>1</a:t>
            </a:r>
            <a:endParaRPr lang="en-GB" sz="2000">
              <a:latin typeface="Space Grotesk" pitchFamily="2" charset="0"/>
              <a:cs typeface="Space Grotesk" pitchFamily="2" charset="0"/>
            </a:endParaRPr>
          </a:p>
        </p:txBody>
      </p:sp>
      <p:sp>
        <p:nvSpPr>
          <p:cNvPr id="40" name="Oval 39">
            <a:extLst>
              <a:ext uri="{FF2B5EF4-FFF2-40B4-BE49-F238E27FC236}">
                <a16:creationId xmlns:a16="http://schemas.microsoft.com/office/drawing/2014/main" id="{C0714755-ED2D-084E-F730-29062E276CB1}"/>
              </a:ext>
            </a:extLst>
          </p:cNvPr>
          <p:cNvSpPr/>
          <p:nvPr/>
        </p:nvSpPr>
        <p:spPr>
          <a:xfrm>
            <a:off x="2562834" y="1457405"/>
            <a:ext cx="765313" cy="71561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2</a:t>
            </a:r>
            <a:endParaRPr lang="en-GB" sz="1000"/>
          </a:p>
        </p:txBody>
      </p:sp>
      <p:sp>
        <p:nvSpPr>
          <p:cNvPr id="42" name="Oval 41">
            <a:extLst>
              <a:ext uri="{FF2B5EF4-FFF2-40B4-BE49-F238E27FC236}">
                <a16:creationId xmlns:a16="http://schemas.microsoft.com/office/drawing/2014/main" id="{AE3749E6-B212-E771-6A32-D3D5FB8A5C40}"/>
              </a:ext>
            </a:extLst>
          </p:cNvPr>
          <p:cNvSpPr/>
          <p:nvPr/>
        </p:nvSpPr>
        <p:spPr>
          <a:xfrm>
            <a:off x="5762374" y="1448724"/>
            <a:ext cx="765313" cy="71561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4</a:t>
            </a:r>
            <a:endParaRPr lang="en-GB" sz="1000"/>
          </a:p>
        </p:txBody>
      </p:sp>
      <p:grpSp>
        <p:nvGrpSpPr>
          <p:cNvPr id="43" name="Group 42">
            <a:extLst>
              <a:ext uri="{FF2B5EF4-FFF2-40B4-BE49-F238E27FC236}">
                <a16:creationId xmlns:a16="http://schemas.microsoft.com/office/drawing/2014/main" id="{A5C102EA-C645-0FB6-1254-AC8DCCAEED97}"/>
              </a:ext>
            </a:extLst>
          </p:cNvPr>
          <p:cNvGrpSpPr/>
          <p:nvPr/>
        </p:nvGrpSpPr>
        <p:grpSpPr>
          <a:xfrm>
            <a:off x="7027423" y="2855014"/>
            <a:ext cx="1487927" cy="2049200"/>
            <a:chOff x="9368650" y="3429000"/>
            <a:chExt cx="2640573" cy="3306043"/>
          </a:xfrm>
        </p:grpSpPr>
        <p:grpSp>
          <p:nvGrpSpPr>
            <p:cNvPr id="44" name="Group 43">
              <a:extLst>
                <a:ext uri="{FF2B5EF4-FFF2-40B4-BE49-F238E27FC236}">
                  <a16:creationId xmlns:a16="http://schemas.microsoft.com/office/drawing/2014/main" id="{16BDA512-E71B-17FA-758E-E958B1E1D263}"/>
                </a:ext>
              </a:extLst>
            </p:cNvPr>
            <p:cNvGrpSpPr/>
            <p:nvPr/>
          </p:nvGrpSpPr>
          <p:grpSpPr>
            <a:xfrm>
              <a:off x="9368650" y="3429000"/>
              <a:ext cx="2640573" cy="2969533"/>
              <a:chOff x="846950" y="3429000"/>
              <a:chExt cx="2640573" cy="2969533"/>
            </a:xfrm>
          </p:grpSpPr>
          <p:sp>
            <p:nvSpPr>
              <p:cNvPr id="46" name="Rectangle: Rounded Corners 45">
                <a:extLst>
                  <a:ext uri="{FF2B5EF4-FFF2-40B4-BE49-F238E27FC236}">
                    <a16:creationId xmlns:a16="http://schemas.microsoft.com/office/drawing/2014/main" id="{658BFB99-4768-94D1-BC67-8EA2DD44D943}"/>
                  </a:ext>
                </a:extLst>
              </p:cNvPr>
              <p:cNvSpPr/>
              <p:nvPr/>
            </p:nvSpPr>
            <p:spPr>
              <a:xfrm>
                <a:off x="846950" y="3431396"/>
                <a:ext cx="2589773" cy="293907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sp>
            <p:nvSpPr>
              <p:cNvPr id="47" name="Rectangle: Rounded Corners 46">
                <a:extLst>
                  <a:ext uri="{FF2B5EF4-FFF2-40B4-BE49-F238E27FC236}">
                    <a16:creationId xmlns:a16="http://schemas.microsoft.com/office/drawing/2014/main" id="{4A1F8693-8FE3-AF1E-8AD9-EC29719D63F5}"/>
                  </a:ext>
                </a:extLst>
              </p:cNvPr>
              <p:cNvSpPr/>
              <p:nvPr/>
            </p:nvSpPr>
            <p:spPr>
              <a:xfrm>
                <a:off x="897750" y="3429000"/>
                <a:ext cx="2589773"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a:p>
            </p:txBody>
          </p:sp>
        </p:grpSp>
        <p:sp>
          <p:nvSpPr>
            <p:cNvPr id="45" name="TextBox 44">
              <a:extLst>
                <a:ext uri="{FF2B5EF4-FFF2-40B4-BE49-F238E27FC236}">
                  <a16:creationId xmlns:a16="http://schemas.microsoft.com/office/drawing/2014/main" id="{AC047E62-D023-CB9E-89E6-D1479E343BBF}"/>
                </a:ext>
              </a:extLst>
            </p:cNvPr>
            <p:cNvSpPr txBox="1"/>
            <p:nvPr/>
          </p:nvSpPr>
          <p:spPr>
            <a:xfrm>
              <a:off x="9749137" y="3606801"/>
              <a:ext cx="1930400" cy="3128242"/>
            </a:xfrm>
            <a:prstGeom prst="rect">
              <a:avLst/>
            </a:prstGeom>
            <a:noFill/>
          </p:spPr>
          <p:txBody>
            <a:bodyPr wrap="square" rtlCol="0">
              <a:spAutoFit/>
            </a:bodyPr>
            <a:lstStyle/>
            <a:p>
              <a:r>
                <a:rPr lang="en-US" sz="1400" b="1">
                  <a:latin typeface="Space Grotesk" pitchFamily="2" charset="0"/>
                  <a:cs typeface="Space Grotesk" pitchFamily="2" charset="0"/>
                </a:rPr>
                <a:t>Commit</a:t>
              </a:r>
            </a:p>
            <a:p>
              <a:pPr algn="ctr"/>
              <a:endParaRPr lang="en-US" sz="800" b="1">
                <a:solidFill>
                  <a:srgbClr val="5400AD"/>
                </a:solidFill>
                <a:latin typeface="Space Grotesk" pitchFamily="2" charset="0"/>
                <a:cs typeface="Space Grotesk" pitchFamily="2" charset="0"/>
              </a:endParaRPr>
            </a:p>
            <a:p>
              <a:pPr>
                <a:defRPr/>
              </a:pPr>
              <a:r>
                <a:rPr lang="en-US" sz="1000" noProof="1">
                  <a:solidFill>
                    <a:prstClr val="black"/>
                  </a:solidFill>
                  <a:latin typeface="Space Grotesk" pitchFamily="2" charset="0"/>
                  <a:cs typeface="Space Grotesk" pitchFamily="2" charset="0"/>
                </a:rPr>
                <a:t>Reflect on gaps discovered, define what to ask your sponsor, prep for Session 3 Catchball</a:t>
              </a:r>
              <a:endParaRPr lang="en-US" sz="1000" b="1" noProof="1">
                <a:solidFill>
                  <a:srgbClr val="5400AD"/>
                </a:solidFill>
                <a:latin typeface="Space Grotesk" pitchFamily="2" charset="0"/>
                <a:cs typeface="Space Grotesk" pitchFamily="2" charset="0"/>
              </a:endParaRPr>
            </a:p>
            <a:p>
              <a:endParaRPr lang="en-GB" sz="1400" b="1">
                <a:solidFill>
                  <a:srgbClr val="5400AD"/>
                </a:solidFill>
                <a:latin typeface="Space Grotesk" pitchFamily="2" charset="0"/>
                <a:cs typeface="Space Grotesk" pitchFamily="2" charset="0"/>
              </a:endParaRPr>
            </a:p>
          </p:txBody>
        </p:sp>
      </p:grpSp>
      <p:sp>
        <p:nvSpPr>
          <p:cNvPr id="48" name="Oval 47">
            <a:extLst>
              <a:ext uri="{FF2B5EF4-FFF2-40B4-BE49-F238E27FC236}">
                <a16:creationId xmlns:a16="http://schemas.microsoft.com/office/drawing/2014/main" id="{79526B64-289E-1870-4F21-0379C412C370}"/>
              </a:ext>
            </a:extLst>
          </p:cNvPr>
          <p:cNvSpPr/>
          <p:nvPr/>
        </p:nvSpPr>
        <p:spPr>
          <a:xfrm>
            <a:off x="7391248" y="1448724"/>
            <a:ext cx="765313" cy="715617"/>
          </a:xfrm>
          <a:prstGeom prst="ellipse">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5</a:t>
            </a:r>
            <a:endParaRPr lang="en-GB" sz="1000"/>
          </a:p>
        </p:txBody>
      </p:sp>
      <p:sp>
        <p:nvSpPr>
          <p:cNvPr id="49" name="TextBox 48">
            <a:extLst>
              <a:ext uri="{FF2B5EF4-FFF2-40B4-BE49-F238E27FC236}">
                <a16:creationId xmlns:a16="http://schemas.microsoft.com/office/drawing/2014/main" id="{DD8F5069-EB3A-1190-8F97-E7528D03CD40}"/>
              </a:ext>
            </a:extLst>
          </p:cNvPr>
          <p:cNvSpPr txBox="1"/>
          <p:nvPr/>
        </p:nvSpPr>
        <p:spPr>
          <a:xfrm>
            <a:off x="540865" y="2219950"/>
            <a:ext cx="1642032" cy="430887"/>
          </a:xfrm>
          <a:prstGeom prst="rect">
            <a:avLst/>
          </a:prstGeom>
          <a:noFill/>
        </p:spPr>
        <p:txBody>
          <a:bodyPr wrap="square" rtlCol="0">
            <a:spAutoFit/>
          </a:bodyPr>
          <a:lstStyle/>
          <a:p>
            <a:pPr algn="ctr"/>
            <a:r>
              <a:rPr lang="en-US" sz="1200" b="1">
                <a:latin typeface="Space Grotesk" pitchFamily="2" charset="0"/>
                <a:cs typeface="Space Grotesk" pitchFamily="2" charset="0"/>
              </a:rPr>
              <a:t>Welcome</a:t>
            </a:r>
          </a:p>
          <a:p>
            <a:pPr algn="ctr"/>
            <a:r>
              <a:rPr lang="en-GB" sz="1000">
                <a:latin typeface="Space Grotesk" pitchFamily="2" charset="0"/>
                <a:cs typeface="Space Grotesk" pitchFamily="2" charset="0"/>
              </a:rPr>
              <a:t>Purpose Fundamentals</a:t>
            </a:r>
          </a:p>
        </p:txBody>
      </p:sp>
      <p:sp>
        <p:nvSpPr>
          <p:cNvPr id="50" name="TextBox 49">
            <a:extLst>
              <a:ext uri="{FF2B5EF4-FFF2-40B4-BE49-F238E27FC236}">
                <a16:creationId xmlns:a16="http://schemas.microsoft.com/office/drawing/2014/main" id="{A01AEC7C-BDF5-693C-CB52-E627544A3DBB}"/>
              </a:ext>
            </a:extLst>
          </p:cNvPr>
          <p:cNvSpPr txBox="1"/>
          <p:nvPr/>
        </p:nvSpPr>
        <p:spPr>
          <a:xfrm>
            <a:off x="2292486" y="2219950"/>
            <a:ext cx="1340432" cy="446276"/>
          </a:xfrm>
          <a:prstGeom prst="rect">
            <a:avLst/>
          </a:prstGeom>
          <a:noFill/>
        </p:spPr>
        <p:txBody>
          <a:bodyPr wrap="square" rtlCol="0">
            <a:spAutoFit/>
          </a:bodyPr>
          <a:lstStyle/>
          <a:p>
            <a:pPr algn="ctr"/>
            <a:r>
              <a:rPr lang="en-US" sz="1200" b="1">
                <a:latin typeface="Space Grotesk" pitchFamily="2" charset="0"/>
                <a:cs typeface="Space Grotesk" pitchFamily="2" charset="0"/>
              </a:rPr>
              <a:t>Customer Value</a:t>
            </a:r>
          </a:p>
          <a:p>
            <a:pPr algn="ctr"/>
            <a:r>
              <a:rPr lang="en-GB" sz="1100">
                <a:latin typeface="Space Grotesk" pitchFamily="2" charset="0"/>
                <a:cs typeface="Space Grotesk" pitchFamily="2" charset="0"/>
              </a:rPr>
              <a:t>Three lenses</a:t>
            </a:r>
          </a:p>
        </p:txBody>
      </p:sp>
      <p:sp>
        <p:nvSpPr>
          <p:cNvPr id="51" name="TextBox 50">
            <a:extLst>
              <a:ext uri="{FF2B5EF4-FFF2-40B4-BE49-F238E27FC236}">
                <a16:creationId xmlns:a16="http://schemas.microsoft.com/office/drawing/2014/main" id="{8317A267-DBBC-266A-F7A6-423220CA3230}"/>
              </a:ext>
            </a:extLst>
          </p:cNvPr>
          <p:cNvSpPr txBox="1"/>
          <p:nvPr/>
        </p:nvSpPr>
        <p:spPr>
          <a:xfrm>
            <a:off x="3863674" y="2211269"/>
            <a:ext cx="1550424" cy="446276"/>
          </a:xfrm>
          <a:prstGeom prst="rect">
            <a:avLst/>
          </a:prstGeom>
          <a:noFill/>
        </p:spPr>
        <p:txBody>
          <a:bodyPr wrap="square" rtlCol="0">
            <a:spAutoFit/>
          </a:bodyPr>
          <a:lstStyle/>
          <a:p>
            <a:pPr algn="ctr"/>
            <a:r>
              <a:rPr lang="en-US" sz="1200" b="1">
                <a:latin typeface="Space Grotesk" pitchFamily="2" charset="0"/>
                <a:cs typeface="Space Grotesk" pitchFamily="2" charset="0"/>
              </a:rPr>
              <a:t>Strategy</a:t>
            </a:r>
          </a:p>
          <a:p>
            <a:pPr algn="ctr"/>
            <a:r>
              <a:rPr lang="en-GB" sz="1100">
                <a:latin typeface="Space Grotesk" pitchFamily="2" charset="0"/>
                <a:cs typeface="Space Grotesk" pitchFamily="2" charset="0"/>
              </a:rPr>
              <a:t>Strategic alignment</a:t>
            </a:r>
          </a:p>
        </p:txBody>
      </p:sp>
      <p:sp>
        <p:nvSpPr>
          <p:cNvPr id="53" name="TextBox 52">
            <a:extLst>
              <a:ext uri="{FF2B5EF4-FFF2-40B4-BE49-F238E27FC236}">
                <a16:creationId xmlns:a16="http://schemas.microsoft.com/office/drawing/2014/main" id="{D60482D7-7A9A-CEB9-9A24-9BD38DD82856}"/>
              </a:ext>
            </a:extLst>
          </p:cNvPr>
          <p:cNvSpPr txBox="1"/>
          <p:nvPr/>
        </p:nvSpPr>
        <p:spPr>
          <a:xfrm>
            <a:off x="5567619" y="2211269"/>
            <a:ext cx="1231427" cy="446276"/>
          </a:xfrm>
          <a:prstGeom prst="rect">
            <a:avLst/>
          </a:prstGeom>
          <a:noFill/>
        </p:spPr>
        <p:txBody>
          <a:bodyPr wrap="square" rtlCol="0">
            <a:spAutoFit/>
          </a:bodyPr>
          <a:lstStyle/>
          <a:p>
            <a:pPr algn="ctr"/>
            <a:r>
              <a:rPr lang="en-US" sz="1200" b="1">
                <a:latin typeface="Space Grotesk" pitchFamily="2" charset="0"/>
                <a:cs typeface="Space Grotesk" pitchFamily="2" charset="0"/>
              </a:rPr>
              <a:t>Hands-on</a:t>
            </a:r>
          </a:p>
          <a:p>
            <a:pPr algn="ctr"/>
            <a:r>
              <a:rPr lang="en-GB" sz="1100">
                <a:latin typeface="Space Grotesk" pitchFamily="2" charset="0"/>
                <a:cs typeface="Space Grotesk" pitchFamily="2" charset="0"/>
              </a:rPr>
              <a:t>Apply the tools</a:t>
            </a:r>
          </a:p>
        </p:txBody>
      </p:sp>
      <p:sp>
        <p:nvSpPr>
          <p:cNvPr id="54" name="TextBox 53">
            <a:extLst>
              <a:ext uri="{FF2B5EF4-FFF2-40B4-BE49-F238E27FC236}">
                <a16:creationId xmlns:a16="http://schemas.microsoft.com/office/drawing/2014/main" id="{CBACFCEA-4FA3-3DC8-9A46-5D7C69F5DF9E}"/>
              </a:ext>
            </a:extLst>
          </p:cNvPr>
          <p:cNvSpPr txBox="1"/>
          <p:nvPr/>
        </p:nvSpPr>
        <p:spPr>
          <a:xfrm>
            <a:off x="7196493" y="2211269"/>
            <a:ext cx="1168910" cy="446276"/>
          </a:xfrm>
          <a:prstGeom prst="rect">
            <a:avLst/>
          </a:prstGeom>
          <a:noFill/>
        </p:spPr>
        <p:txBody>
          <a:bodyPr wrap="square" rtlCol="0">
            <a:spAutoFit/>
          </a:bodyPr>
          <a:lstStyle/>
          <a:p>
            <a:pPr algn="ctr"/>
            <a:r>
              <a:rPr lang="en-US" sz="1200" b="1">
                <a:latin typeface="Space Grotesk" pitchFamily="2" charset="0"/>
                <a:cs typeface="Space Grotesk" pitchFamily="2" charset="0"/>
              </a:rPr>
              <a:t>Commit</a:t>
            </a:r>
          </a:p>
          <a:p>
            <a:pPr algn="ctr"/>
            <a:r>
              <a:rPr lang="en-GB" sz="1100">
                <a:latin typeface="Space Grotesk" pitchFamily="2" charset="0"/>
                <a:cs typeface="Space Grotesk" pitchFamily="2" charset="0"/>
              </a:rPr>
              <a:t>Debrief &amp; Next</a:t>
            </a:r>
          </a:p>
        </p:txBody>
      </p:sp>
      <p:cxnSp>
        <p:nvCxnSpPr>
          <p:cNvPr id="56" name="Straight Arrow Connector 55">
            <a:extLst>
              <a:ext uri="{FF2B5EF4-FFF2-40B4-BE49-F238E27FC236}">
                <a16:creationId xmlns:a16="http://schemas.microsoft.com/office/drawing/2014/main" id="{C2B01F26-8424-6FFA-B185-E997127B0AE5}"/>
              </a:ext>
            </a:extLst>
          </p:cNvPr>
          <p:cNvCxnSpPr/>
          <p:nvPr/>
        </p:nvCxnSpPr>
        <p:spPr>
          <a:xfrm>
            <a:off x="1870304"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BDE1493-7D43-8C71-BFE2-25292414987C}"/>
              </a:ext>
            </a:extLst>
          </p:cNvPr>
          <p:cNvCxnSpPr/>
          <p:nvPr/>
        </p:nvCxnSpPr>
        <p:spPr>
          <a:xfrm>
            <a:off x="3464015"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FB1D245-4D8A-9DF9-E111-26F8113F3A4B}"/>
              </a:ext>
            </a:extLst>
          </p:cNvPr>
          <p:cNvCxnSpPr/>
          <p:nvPr/>
        </p:nvCxnSpPr>
        <p:spPr>
          <a:xfrm>
            <a:off x="5061576"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4BF4F96-FAC4-910F-460B-B109E8DFBFF0}"/>
              </a:ext>
            </a:extLst>
          </p:cNvPr>
          <p:cNvCxnSpPr/>
          <p:nvPr/>
        </p:nvCxnSpPr>
        <p:spPr>
          <a:xfrm>
            <a:off x="6688020" y="1806533"/>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A61573B-7FE8-3B0D-2AA8-0DCC68FCB134}"/>
              </a:ext>
            </a:extLst>
          </p:cNvPr>
          <p:cNvSpPr/>
          <p:nvPr/>
        </p:nvSpPr>
        <p:spPr>
          <a:xfrm>
            <a:off x="4162604" y="1457405"/>
            <a:ext cx="765313" cy="715617"/>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white"/>
                </a:solidFill>
                <a:latin typeface="Space Grotesk" pitchFamily="2" charset="0"/>
                <a:cs typeface="Space Grotesk" pitchFamily="2" charset="0"/>
              </a:rPr>
              <a:t>2</a:t>
            </a:r>
            <a:endParaRPr lang="en-GB" sz="1000"/>
          </a:p>
        </p:txBody>
      </p:sp>
      <p:sp>
        <p:nvSpPr>
          <p:cNvPr id="3" name="TextBox 2">
            <a:extLst>
              <a:ext uri="{FF2B5EF4-FFF2-40B4-BE49-F238E27FC236}">
                <a16:creationId xmlns:a16="http://schemas.microsoft.com/office/drawing/2014/main" id="{E4E9FE50-BF92-3B33-22A8-5148E70AD470}"/>
              </a:ext>
            </a:extLst>
          </p:cNvPr>
          <p:cNvSpPr txBox="1"/>
          <p:nvPr/>
        </p:nvSpPr>
        <p:spPr>
          <a:xfrm>
            <a:off x="649613" y="188610"/>
            <a:ext cx="7146528" cy="600164"/>
          </a:xfrm>
          <a:prstGeom prst="rect">
            <a:avLst/>
          </a:prstGeom>
          <a:noFill/>
        </p:spPr>
        <p:txBody>
          <a:bodyPr wrap="square">
            <a:spAutoFit/>
          </a:bodyPr>
          <a:lstStyle/>
          <a:p>
            <a:pPr>
              <a:defRPr/>
            </a:pPr>
            <a:r>
              <a:rPr lang="en-US" sz="3300" b="1">
                <a:solidFill>
                  <a:srgbClr val="0D006A"/>
                </a:solidFill>
                <a:latin typeface="Space Grotesk" pitchFamily="2" charset="0"/>
                <a:cs typeface="Space Grotesk" pitchFamily="2" charset="0"/>
              </a:rPr>
              <a:t>Timetable [Learner – High level]</a:t>
            </a:r>
          </a:p>
        </p:txBody>
      </p:sp>
    </p:spTree>
    <p:extLst>
      <p:ext uri="{BB962C8B-B14F-4D97-AF65-F5344CB8AC3E}">
        <p14:creationId xmlns:p14="http://schemas.microsoft.com/office/powerpoint/2010/main" val="278868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222;p55">
            <a:extLst>
              <a:ext uri="{FF2B5EF4-FFF2-40B4-BE49-F238E27FC236}">
                <a16:creationId xmlns:a16="http://schemas.microsoft.com/office/drawing/2014/main" id="{724E198C-632A-9000-11AD-94B48C966FDA}"/>
              </a:ext>
            </a:extLst>
          </p:cNvPr>
          <p:cNvPicPr preferRelativeResize="0">
            <a:picLocks/>
          </p:cNvPicPr>
          <p:nvPr/>
        </p:nvPicPr>
        <p:blipFill rotWithShape="1">
          <a:blip r:embed="rId3" cstate="screen">
            <a:alphaModFix/>
            <a:extLst>
              <a:ext uri="{28A0092B-C50C-407E-A947-70E740481C1C}">
                <a14:useLocalDpi xmlns:a14="http://schemas.microsoft.com/office/drawing/2010/main"/>
              </a:ext>
            </a:extLst>
          </a:blip>
          <a:srcRect/>
          <a:stretch>
            <a:fillRect/>
          </a:stretch>
        </p:blipFill>
        <p:spPr>
          <a:xfrm>
            <a:off x="0" y="0"/>
            <a:ext cx="3890310"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B54EE7F-744A-0A0E-A663-680C25A061FA}"/>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noProof="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D98DA597-ED86-D956-5243-9C1A25BEA17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rot="11025409">
            <a:off x="4408985" y="930188"/>
            <a:ext cx="3734561" cy="798700"/>
          </a:xfrm>
          <a:prstGeom prst="teardrop">
            <a:avLst/>
          </a:prstGeom>
          <a:noFill/>
          <a:ln>
            <a:noFill/>
          </a:ln>
        </p:spPr>
      </p:pic>
      <p:sp>
        <p:nvSpPr>
          <p:cNvPr id="4" name="Tekstvak 7" descr="MVX23_Logo_Basislogo_Full_colour_Wit">
            <a:extLst>
              <a:ext uri="{FF2B5EF4-FFF2-40B4-BE49-F238E27FC236}">
                <a16:creationId xmlns:a16="http://schemas.microsoft.com/office/drawing/2014/main" id="{2324D817-15F1-45A0-E92E-BFF978C5546E}"/>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prstClr val="white"/>
                </a:solidFill>
                <a:latin typeface="DM Sans"/>
                <a:ea typeface="Calibri" panose="020F0502020204030204"/>
                <a:cs typeface="Calibri" panose="020F0502020204030204"/>
              </a:rPr>
              <a:t>Purpose</a:t>
            </a:r>
          </a:p>
          <a:p>
            <a:pPr marL="202406">
              <a:lnSpc>
                <a:spcPct val="150000"/>
              </a:lnSpc>
              <a:defRPr/>
            </a:pPr>
            <a:r>
              <a:rPr lang="en-US" sz="1050" noProof="1">
                <a:solidFill>
                  <a:prstClr val="white"/>
                </a:solidFill>
                <a:latin typeface="DM Sans"/>
                <a:ea typeface="Calibri" panose="020F0502020204030204"/>
                <a:cs typeface="Calibri" panose="020F0502020204030204"/>
              </a:rPr>
              <a:t>Why doing the right things matters </a:t>
            </a:r>
          </a:p>
          <a:p>
            <a:pPr>
              <a:lnSpc>
                <a:spcPct val="150000"/>
              </a:lnSpc>
              <a:defRPr/>
            </a:pPr>
            <a:r>
              <a:rPr lang="en-US" sz="2100" noProof="1">
                <a:solidFill>
                  <a:srgbClr val="0D006A"/>
                </a:solidFill>
                <a:latin typeface="DM Sans"/>
                <a:ea typeface="Calibri" panose="020F0502020204030204"/>
                <a:cs typeface="Calibri" panose="020F0502020204030204"/>
              </a:rPr>
              <a:t>Customer Value Deep Dive</a:t>
            </a:r>
          </a:p>
          <a:p>
            <a:pPr marL="202406">
              <a:lnSpc>
                <a:spcPct val="150000"/>
              </a:lnSpc>
              <a:defRPr/>
            </a:pPr>
            <a:r>
              <a:rPr lang="en-US" sz="1050" noProof="1">
                <a:solidFill>
                  <a:srgbClr val="0D006A"/>
                </a:solidFill>
                <a:latin typeface="DM Sans"/>
                <a:ea typeface="Calibri" panose="020F0502020204030204"/>
                <a:cs typeface="Calibri" panose="020F0502020204030204"/>
              </a:rPr>
              <a:t>Moments of Truth, Customer Arena, Value vs. Waste</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Strategic Alignment</a:t>
            </a:r>
          </a:p>
          <a:p>
            <a:pPr marL="202406">
              <a:lnSpc>
                <a:spcPct val="150000"/>
              </a:lnSpc>
              <a:defRPr/>
            </a:pPr>
            <a:r>
              <a:rPr lang="en-US" sz="1050" noProof="1">
                <a:solidFill>
                  <a:srgbClr val="0D006A"/>
                </a:solidFill>
                <a:latin typeface="DM Sans"/>
                <a:ea typeface="Calibri" panose="020F0502020204030204"/>
                <a:cs typeface="Calibri" panose="020F0502020204030204"/>
              </a:rPr>
              <a:t>Hoshin deployment &amp; KPI trees</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Hands-on practice</a:t>
            </a:r>
          </a:p>
          <a:p>
            <a:pPr marL="202406">
              <a:lnSpc>
                <a:spcPct val="150000"/>
              </a:lnSpc>
              <a:defRPr/>
            </a:pPr>
            <a:r>
              <a:rPr lang="en-US" sz="1050" noProof="1">
                <a:solidFill>
                  <a:srgbClr val="0D006A"/>
                </a:solidFill>
                <a:latin typeface="DM Sans"/>
                <a:ea typeface="Calibri" panose="020F0502020204030204"/>
                <a:cs typeface="Calibri" panose="020F0502020204030204"/>
              </a:rPr>
              <a:t>Upgrade your A3</a:t>
            </a:r>
            <a:endParaRPr lang="en-US" sz="2100" noProof="1">
              <a:solidFill>
                <a:srgbClr val="0D006A"/>
              </a:solidFill>
              <a:latin typeface="DM Sans"/>
              <a:ea typeface="Calibri" panose="020F0502020204030204"/>
              <a:cs typeface="Calibri" panose="020F0502020204030204"/>
            </a:endParaRPr>
          </a:p>
          <a:p>
            <a:pPr>
              <a:lnSpc>
                <a:spcPct val="150000"/>
              </a:lnSpc>
              <a:defRPr/>
            </a:pPr>
            <a:r>
              <a:rPr lang="en-US" sz="2100" noProof="1">
                <a:solidFill>
                  <a:srgbClr val="0D006A"/>
                </a:solidFill>
                <a:latin typeface="DM Sans"/>
                <a:ea typeface="Calibri" panose="020F0502020204030204"/>
                <a:cs typeface="Calibri" panose="020F0502020204030204"/>
              </a:rPr>
              <a:t>Debrief &amp; Next Steps</a:t>
            </a:r>
          </a:p>
          <a:p>
            <a:pPr marL="202406">
              <a:lnSpc>
                <a:spcPct val="150000"/>
              </a:lnSpc>
              <a:defRPr/>
            </a:pPr>
            <a:r>
              <a:rPr lang="en-US" sz="1050" noProof="1">
                <a:solidFill>
                  <a:srgbClr val="0D006A"/>
                </a:solidFill>
                <a:latin typeface="DM Sans"/>
                <a:ea typeface="Calibri" panose="020F0502020204030204"/>
                <a:cs typeface="Calibri" panose="020F0502020204030204"/>
              </a:rPr>
              <a:t>Insights and filling gaps</a:t>
            </a:r>
            <a:endParaRPr lang="en-US" sz="2100" noProof="1">
              <a:solidFill>
                <a:srgbClr val="0D006A"/>
              </a:solidFill>
              <a:latin typeface="DM Sans"/>
              <a:ea typeface="Calibri" panose="020F0502020204030204"/>
              <a:cs typeface="Calibri" panose="020F0502020204030204"/>
            </a:endParaRPr>
          </a:p>
        </p:txBody>
      </p:sp>
      <p:pic>
        <p:nvPicPr>
          <p:cNvPr id="7" name="Picture 6">
            <a:extLst>
              <a:ext uri="{FF2B5EF4-FFF2-40B4-BE49-F238E27FC236}">
                <a16:creationId xmlns:a16="http://schemas.microsoft.com/office/drawing/2014/main" id="{20336B46-6B60-2832-0859-BBAB83AE646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Tree>
    <p:extLst>
      <p:ext uri="{BB962C8B-B14F-4D97-AF65-F5344CB8AC3E}">
        <p14:creationId xmlns:p14="http://schemas.microsoft.com/office/powerpoint/2010/main" val="678351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745A8-AFB8-587F-DF9C-0DC3DE77FA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0ACBF3-860E-478B-E501-9E61D3895B76}"/>
              </a:ext>
            </a:extLst>
          </p:cNvPr>
          <p:cNvSpPr txBox="1"/>
          <p:nvPr/>
        </p:nvSpPr>
        <p:spPr>
          <a:xfrm>
            <a:off x="289681" y="669039"/>
            <a:ext cx="5308479"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2 – Theory &amp; Topic slides</a:t>
            </a:r>
          </a:p>
        </p:txBody>
      </p:sp>
      <p:sp>
        <p:nvSpPr>
          <p:cNvPr id="6" name="TextBox 5">
            <a:extLst>
              <a:ext uri="{FF2B5EF4-FFF2-40B4-BE49-F238E27FC236}">
                <a16:creationId xmlns:a16="http://schemas.microsoft.com/office/drawing/2014/main" id="{3783DC81-F4D2-281D-55B8-70365A7429A1}"/>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669118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3651-255F-1A09-4BA2-30A46FC78135}"/>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C0BAF559-BF0E-09C7-00FC-680776F36410}"/>
              </a:ext>
            </a:extLst>
          </p:cNvPr>
          <p:cNvSpPr txBox="1"/>
          <p:nvPr/>
        </p:nvSpPr>
        <p:spPr>
          <a:xfrm>
            <a:off x="671084" y="480163"/>
            <a:ext cx="4813865" cy="1592744"/>
          </a:xfrm>
          <a:prstGeom prst="rect">
            <a:avLst/>
          </a:prstGeom>
          <a:noFill/>
        </p:spPr>
        <p:txBody>
          <a:bodyPr wrap="square" lIns="68580" tIns="34290" rIns="68580" bIns="34290" rtlCol="0" anchor="t">
            <a:spAutoFit/>
          </a:bodyPr>
          <a:lstStyle/>
          <a:p>
            <a:pPr>
              <a:defRPr/>
            </a:pPr>
            <a:r>
              <a:rPr lang="en-US" sz="3200" b="1">
                <a:solidFill>
                  <a:srgbClr val="0A0054"/>
                </a:solidFill>
                <a:latin typeface="Space Grotesk" pitchFamily="2" charset="0"/>
                <a:cs typeface="Space Grotesk" pitchFamily="2" charset="0"/>
              </a:rPr>
              <a:t>2. Theory / topic slides </a:t>
            </a:r>
          </a:p>
          <a:p>
            <a:pPr>
              <a:defRPr/>
            </a:pPr>
            <a:endParaRPr lang="en-US" sz="3200" b="1">
              <a:solidFill>
                <a:srgbClr val="0A0054"/>
              </a:solidFill>
              <a:latin typeface="Space Grotesk" pitchFamily="2" charset="0"/>
              <a:cs typeface="Space Grotesk" pitchFamily="2" charset="0"/>
            </a:endParaRPr>
          </a:p>
          <a:p>
            <a:pPr>
              <a:defRPr/>
            </a:pPr>
            <a:endParaRPr lang="en-US" sz="3200" b="1">
              <a:solidFill>
                <a:srgbClr val="0A0054"/>
              </a:solidFill>
              <a:latin typeface="Space Grotesk" pitchFamily="2" charset="0"/>
              <a:cs typeface="Space Grotesk" pitchFamily="2" charset="0"/>
            </a:endParaRPr>
          </a:p>
        </p:txBody>
      </p:sp>
    </p:spTree>
    <p:extLst>
      <p:ext uri="{BB962C8B-B14F-4D97-AF65-F5344CB8AC3E}">
        <p14:creationId xmlns:p14="http://schemas.microsoft.com/office/powerpoint/2010/main" val="3604883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300F-7539-C3AD-6D84-DD04168FBEB3}"/>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2BDEDC29-39AD-0882-ABB7-36F659D86A2C}"/>
              </a:ext>
            </a:extLst>
          </p:cNvPr>
          <p:cNvSpPr txBox="1"/>
          <p:nvPr/>
        </p:nvSpPr>
        <p:spPr>
          <a:xfrm>
            <a:off x="715166" y="233969"/>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Moments of truth (MoT) </a:t>
            </a:r>
          </a:p>
        </p:txBody>
      </p:sp>
      <p:sp>
        <p:nvSpPr>
          <p:cNvPr id="2" name="Oval 38">
            <a:extLst>
              <a:ext uri="{FF2B5EF4-FFF2-40B4-BE49-F238E27FC236}">
                <a16:creationId xmlns:a16="http://schemas.microsoft.com/office/drawing/2014/main" id="{CA42971A-F31F-74D1-0E18-4E8731B90C86}"/>
              </a:ext>
            </a:extLst>
          </p:cNvPr>
          <p:cNvSpPr/>
          <p:nvPr/>
        </p:nvSpPr>
        <p:spPr>
          <a:xfrm>
            <a:off x="934541" y="2507222"/>
            <a:ext cx="765313" cy="71561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latin typeface="Space Grotesk" pitchFamily="2" charset="0"/>
                <a:cs typeface="Space Grotesk" pitchFamily="2" charset="0"/>
              </a:rPr>
              <a:t>1</a:t>
            </a:r>
          </a:p>
        </p:txBody>
      </p:sp>
      <p:sp>
        <p:nvSpPr>
          <p:cNvPr id="3" name="Oval 39">
            <a:extLst>
              <a:ext uri="{FF2B5EF4-FFF2-40B4-BE49-F238E27FC236}">
                <a16:creationId xmlns:a16="http://schemas.microsoft.com/office/drawing/2014/main" id="{4B9146C2-ECE2-9D8B-D708-651380EDD568}"/>
              </a:ext>
            </a:extLst>
          </p:cNvPr>
          <p:cNvSpPr/>
          <p:nvPr/>
        </p:nvSpPr>
        <p:spPr>
          <a:xfrm>
            <a:off x="2527587" y="2507222"/>
            <a:ext cx="765313" cy="71561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2</a:t>
            </a:r>
            <a:endParaRPr lang="en-US" sz="1013" noProof="1"/>
          </a:p>
        </p:txBody>
      </p:sp>
      <p:sp>
        <p:nvSpPr>
          <p:cNvPr id="4" name="Oval 40">
            <a:extLst>
              <a:ext uri="{FF2B5EF4-FFF2-40B4-BE49-F238E27FC236}">
                <a16:creationId xmlns:a16="http://schemas.microsoft.com/office/drawing/2014/main" id="{68E7A335-9E5E-FAA8-63BD-EE5CE2638AC6}"/>
              </a:ext>
            </a:extLst>
          </p:cNvPr>
          <p:cNvSpPr/>
          <p:nvPr/>
        </p:nvSpPr>
        <p:spPr>
          <a:xfrm>
            <a:off x="4125246" y="2498541"/>
            <a:ext cx="765313" cy="715617"/>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3</a:t>
            </a:r>
            <a:endParaRPr lang="en-US" sz="1013" noProof="1"/>
          </a:p>
        </p:txBody>
      </p:sp>
      <p:sp>
        <p:nvSpPr>
          <p:cNvPr id="5" name="Oval 41">
            <a:extLst>
              <a:ext uri="{FF2B5EF4-FFF2-40B4-BE49-F238E27FC236}">
                <a16:creationId xmlns:a16="http://schemas.microsoft.com/office/drawing/2014/main" id="{EF79BDE9-44AF-12CC-EA5E-F89539B3D7D0}"/>
              </a:ext>
            </a:extLst>
          </p:cNvPr>
          <p:cNvSpPr/>
          <p:nvPr/>
        </p:nvSpPr>
        <p:spPr>
          <a:xfrm>
            <a:off x="5727127" y="2498541"/>
            <a:ext cx="765313" cy="71561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4</a:t>
            </a:r>
            <a:endParaRPr lang="en-US" sz="1013" noProof="1"/>
          </a:p>
        </p:txBody>
      </p:sp>
      <p:sp>
        <p:nvSpPr>
          <p:cNvPr id="6" name="Oval 47">
            <a:extLst>
              <a:ext uri="{FF2B5EF4-FFF2-40B4-BE49-F238E27FC236}">
                <a16:creationId xmlns:a16="http://schemas.microsoft.com/office/drawing/2014/main" id="{7927CB1E-3C51-E4DF-049E-99253EE1DC33}"/>
              </a:ext>
            </a:extLst>
          </p:cNvPr>
          <p:cNvSpPr/>
          <p:nvPr/>
        </p:nvSpPr>
        <p:spPr>
          <a:xfrm>
            <a:off x="7356001" y="2498541"/>
            <a:ext cx="765313" cy="71561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solidFill>
                  <a:prstClr val="white"/>
                </a:solidFill>
                <a:latin typeface="Space Grotesk" pitchFamily="2" charset="0"/>
                <a:cs typeface="Space Grotesk" pitchFamily="2" charset="0"/>
              </a:rPr>
              <a:t>5</a:t>
            </a:r>
            <a:endParaRPr lang="en-US" sz="1013" noProof="1"/>
          </a:p>
        </p:txBody>
      </p:sp>
      <p:sp>
        <p:nvSpPr>
          <p:cNvPr id="7" name="TextBox 48">
            <a:extLst>
              <a:ext uri="{FF2B5EF4-FFF2-40B4-BE49-F238E27FC236}">
                <a16:creationId xmlns:a16="http://schemas.microsoft.com/office/drawing/2014/main" id="{C06E4DA8-0E14-227E-9DC6-B8BFCD922232}"/>
              </a:ext>
            </a:extLst>
          </p:cNvPr>
          <p:cNvSpPr txBox="1"/>
          <p:nvPr/>
        </p:nvSpPr>
        <p:spPr>
          <a:xfrm>
            <a:off x="1050138" y="3271500"/>
            <a:ext cx="534121"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Order</a:t>
            </a:r>
          </a:p>
        </p:txBody>
      </p:sp>
      <p:sp>
        <p:nvSpPr>
          <p:cNvPr id="8" name="TextBox 49">
            <a:extLst>
              <a:ext uri="{FF2B5EF4-FFF2-40B4-BE49-F238E27FC236}">
                <a16:creationId xmlns:a16="http://schemas.microsoft.com/office/drawing/2014/main" id="{B4FEE994-EAEC-A92A-CE49-ED71E216BE7C}"/>
              </a:ext>
            </a:extLst>
          </p:cNvPr>
          <p:cNvSpPr txBox="1"/>
          <p:nvPr/>
        </p:nvSpPr>
        <p:spPr>
          <a:xfrm>
            <a:off x="2563032" y="3282754"/>
            <a:ext cx="694422"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Delivery</a:t>
            </a:r>
          </a:p>
        </p:txBody>
      </p:sp>
      <p:sp>
        <p:nvSpPr>
          <p:cNvPr id="9" name="TextBox 50">
            <a:extLst>
              <a:ext uri="{FF2B5EF4-FFF2-40B4-BE49-F238E27FC236}">
                <a16:creationId xmlns:a16="http://schemas.microsoft.com/office/drawing/2014/main" id="{6FE32C1A-79E7-8B58-6C93-CCF83FAF3A90}"/>
              </a:ext>
            </a:extLst>
          </p:cNvPr>
          <p:cNvSpPr txBox="1"/>
          <p:nvPr/>
        </p:nvSpPr>
        <p:spPr>
          <a:xfrm>
            <a:off x="4146264" y="3282754"/>
            <a:ext cx="723276"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First use</a:t>
            </a:r>
          </a:p>
        </p:txBody>
      </p:sp>
      <p:sp>
        <p:nvSpPr>
          <p:cNvPr id="10" name="TextBox 52">
            <a:extLst>
              <a:ext uri="{FF2B5EF4-FFF2-40B4-BE49-F238E27FC236}">
                <a16:creationId xmlns:a16="http://schemas.microsoft.com/office/drawing/2014/main" id="{35743C90-17E8-CAC6-FB44-E3C32A2FA974}"/>
              </a:ext>
            </a:extLst>
          </p:cNvPr>
          <p:cNvSpPr txBox="1"/>
          <p:nvPr/>
        </p:nvSpPr>
        <p:spPr>
          <a:xfrm>
            <a:off x="5627920" y="3282754"/>
            <a:ext cx="963726"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Support Call</a:t>
            </a:r>
          </a:p>
        </p:txBody>
      </p:sp>
      <p:sp>
        <p:nvSpPr>
          <p:cNvPr id="11" name="TextBox 53">
            <a:extLst>
              <a:ext uri="{FF2B5EF4-FFF2-40B4-BE49-F238E27FC236}">
                <a16:creationId xmlns:a16="http://schemas.microsoft.com/office/drawing/2014/main" id="{A5303BC6-08D6-2AEC-86DD-3332555B0712}"/>
              </a:ext>
            </a:extLst>
          </p:cNvPr>
          <p:cNvSpPr txBox="1"/>
          <p:nvPr/>
        </p:nvSpPr>
        <p:spPr>
          <a:xfrm>
            <a:off x="7383432" y="3282754"/>
            <a:ext cx="710451" cy="248209"/>
          </a:xfrm>
          <a:prstGeom prst="rect">
            <a:avLst/>
          </a:prstGeom>
          <a:noFill/>
        </p:spPr>
        <p:txBody>
          <a:bodyPr wrap="none" rtlCol="0">
            <a:spAutoFit/>
          </a:bodyPr>
          <a:lstStyle/>
          <a:p>
            <a:pPr algn="ctr"/>
            <a:r>
              <a:rPr lang="en-US" sz="1013" b="1" noProof="1">
                <a:latin typeface="Space Grotesk" pitchFamily="2" charset="0"/>
                <a:cs typeface="Space Grotesk" pitchFamily="2" charset="0"/>
              </a:rPr>
              <a:t>Renewal</a:t>
            </a:r>
          </a:p>
        </p:txBody>
      </p:sp>
      <p:cxnSp>
        <p:nvCxnSpPr>
          <p:cNvPr id="12" name="Straight Arrow Connector 55">
            <a:extLst>
              <a:ext uri="{FF2B5EF4-FFF2-40B4-BE49-F238E27FC236}">
                <a16:creationId xmlns:a16="http://schemas.microsoft.com/office/drawing/2014/main" id="{D9A4D220-ADE4-29DF-E6BE-9C94CC85C9B9}"/>
              </a:ext>
            </a:extLst>
          </p:cNvPr>
          <p:cNvCxnSpPr/>
          <p:nvPr/>
        </p:nvCxnSpPr>
        <p:spPr>
          <a:xfrm>
            <a:off x="1835057"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59">
            <a:extLst>
              <a:ext uri="{FF2B5EF4-FFF2-40B4-BE49-F238E27FC236}">
                <a16:creationId xmlns:a16="http://schemas.microsoft.com/office/drawing/2014/main" id="{EC6DBD91-FA53-B3F6-62BE-FAF1933CDEFB}"/>
              </a:ext>
            </a:extLst>
          </p:cNvPr>
          <p:cNvCxnSpPr/>
          <p:nvPr/>
        </p:nvCxnSpPr>
        <p:spPr>
          <a:xfrm>
            <a:off x="3428768"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60">
            <a:extLst>
              <a:ext uri="{FF2B5EF4-FFF2-40B4-BE49-F238E27FC236}">
                <a16:creationId xmlns:a16="http://schemas.microsoft.com/office/drawing/2014/main" id="{A906C745-0690-B137-44B9-B595E2BF5CA6}"/>
              </a:ext>
            </a:extLst>
          </p:cNvPr>
          <p:cNvCxnSpPr/>
          <p:nvPr/>
        </p:nvCxnSpPr>
        <p:spPr>
          <a:xfrm>
            <a:off x="5026329"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61">
            <a:extLst>
              <a:ext uri="{FF2B5EF4-FFF2-40B4-BE49-F238E27FC236}">
                <a16:creationId xmlns:a16="http://schemas.microsoft.com/office/drawing/2014/main" id="{204B90CC-6DBB-4F38-5C32-26DBD4026ED1}"/>
              </a:ext>
            </a:extLst>
          </p:cNvPr>
          <p:cNvCxnSpPr/>
          <p:nvPr/>
        </p:nvCxnSpPr>
        <p:spPr>
          <a:xfrm>
            <a:off x="6652773" y="2856350"/>
            <a:ext cx="545121" cy="0"/>
          </a:xfrm>
          <a:prstGeom prst="straightConnector1">
            <a:avLst/>
          </a:prstGeom>
          <a:ln w="38100">
            <a:solidFill>
              <a:srgbClr val="1F053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2">
            <a:extLst>
              <a:ext uri="{FF2B5EF4-FFF2-40B4-BE49-F238E27FC236}">
                <a16:creationId xmlns:a16="http://schemas.microsoft.com/office/drawing/2014/main" id="{EA9B8B27-6BD3-33C1-652F-84F1BDAA819B}"/>
              </a:ext>
            </a:extLst>
          </p:cNvPr>
          <p:cNvSpPr/>
          <p:nvPr/>
        </p:nvSpPr>
        <p:spPr>
          <a:xfrm>
            <a:off x="622482" y="1258363"/>
            <a:ext cx="7498832" cy="1011110"/>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7" name="TextBox 6">
            <a:extLst>
              <a:ext uri="{FF2B5EF4-FFF2-40B4-BE49-F238E27FC236}">
                <a16:creationId xmlns:a16="http://schemas.microsoft.com/office/drawing/2014/main" id="{B5802DA3-781B-42C8-DFA4-EDF43A76750F}"/>
              </a:ext>
            </a:extLst>
          </p:cNvPr>
          <p:cNvSpPr txBox="1"/>
          <p:nvPr/>
        </p:nvSpPr>
        <p:spPr>
          <a:xfrm>
            <a:off x="826485" y="1347241"/>
            <a:ext cx="6754379" cy="767582"/>
          </a:xfrm>
          <a:prstGeom prst="rect">
            <a:avLst/>
          </a:prstGeom>
          <a:noFill/>
        </p:spPr>
        <p:txBody>
          <a:bodyPr wrap="square" rtlCol="0">
            <a:spAutoFit/>
          </a:bodyPr>
          <a:lstStyle/>
          <a:p>
            <a:r>
              <a:rPr lang="en-US" sz="1200" b="1" spc="225" noProof="1">
                <a:solidFill>
                  <a:schemeClr val="bg1">
                    <a:lumMod val="75000"/>
                  </a:schemeClr>
                </a:solidFill>
                <a:latin typeface="Raleway" pitchFamily="2" charset="0"/>
                <a:cs typeface="Space Grotesk" pitchFamily="2" charset="0"/>
              </a:rPr>
              <a:t>DEFINTION</a:t>
            </a:r>
          </a:p>
          <a:p>
            <a:pPr>
              <a:defRPr/>
            </a:pPr>
            <a:endParaRPr lang="en-US" sz="788" noProof="1">
              <a:solidFill>
                <a:schemeClr val="bg1"/>
              </a:solidFill>
              <a:latin typeface="Raleway" pitchFamily="2" charset="0"/>
              <a:cs typeface="Space Grotesk" pitchFamily="2" charset="0"/>
            </a:endParaRPr>
          </a:p>
          <a:p>
            <a:pPr>
              <a:defRPr/>
            </a:pPr>
            <a:r>
              <a:rPr lang="en-US" sz="1200" noProof="1">
                <a:solidFill>
                  <a:schemeClr val="bg1"/>
                </a:solidFill>
                <a:latin typeface="Raleway" pitchFamily="2" charset="0"/>
                <a:cs typeface="Space Grotesk bold" pitchFamily="2" charset="0"/>
              </a:rPr>
              <a:t>A </a:t>
            </a:r>
            <a:r>
              <a:rPr lang="en-US" sz="1200" b="1" noProof="1">
                <a:solidFill>
                  <a:schemeClr val="bg1"/>
                </a:solidFill>
                <a:latin typeface="Raleway" pitchFamily="2" charset="0"/>
                <a:cs typeface="Space Grotesk bold" pitchFamily="2" charset="0"/>
              </a:rPr>
              <a:t>Moment of Truth is </a:t>
            </a:r>
            <a:r>
              <a:rPr lang="en-US" sz="1200" noProof="1">
                <a:solidFill>
                  <a:schemeClr val="bg1"/>
                </a:solidFill>
                <a:latin typeface="Raleway" pitchFamily="2" charset="0"/>
                <a:cs typeface="Space Grotesk bold" pitchFamily="2" charset="0"/>
              </a:rPr>
              <a:t>every </a:t>
            </a:r>
            <a:r>
              <a:rPr lang="en-US" sz="1200" b="1" noProof="1">
                <a:solidFill>
                  <a:schemeClr val="bg1"/>
                </a:solidFill>
                <a:latin typeface="Raleway" pitchFamily="2" charset="0"/>
                <a:cs typeface="Space Grotesk bold" pitchFamily="2" charset="0"/>
              </a:rPr>
              <a:t>touchpoint</a:t>
            </a:r>
            <a:r>
              <a:rPr lang="en-US" sz="1200" noProof="1">
                <a:solidFill>
                  <a:schemeClr val="bg1"/>
                </a:solidFill>
                <a:latin typeface="Raleway" pitchFamily="2" charset="0"/>
                <a:cs typeface="Space Grotesk bold" pitchFamily="2" charset="0"/>
              </a:rPr>
              <a:t> where a customer </a:t>
            </a:r>
            <a:r>
              <a:rPr lang="en-US" sz="1200" b="1" noProof="1">
                <a:solidFill>
                  <a:schemeClr val="bg1"/>
                </a:solidFill>
                <a:latin typeface="Raleway" pitchFamily="2" charset="0"/>
                <a:cs typeface="Space Grotesk bold" pitchFamily="2" charset="0"/>
              </a:rPr>
              <a:t>comes into contact </a:t>
            </a:r>
            <a:r>
              <a:rPr lang="en-US" sz="1200" noProof="1">
                <a:solidFill>
                  <a:schemeClr val="bg1"/>
                </a:solidFill>
                <a:latin typeface="Raleway" pitchFamily="2" charset="0"/>
                <a:cs typeface="Space Grotesk bold" pitchFamily="2" charset="0"/>
              </a:rPr>
              <a:t>with your </a:t>
            </a:r>
            <a:r>
              <a:rPr lang="en-US" sz="1200" b="1" noProof="1">
                <a:solidFill>
                  <a:schemeClr val="bg1"/>
                </a:solidFill>
                <a:latin typeface="Raleway" pitchFamily="2" charset="0"/>
                <a:cs typeface="Space Grotesk bold" pitchFamily="2" charset="0"/>
              </a:rPr>
              <a:t>organization</a:t>
            </a:r>
            <a:r>
              <a:rPr lang="en-US" sz="1200" noProof="1">
                <a:solidFill>
                  <a:schemeClr val="bg1"/>
                </a:solidFill>
                <a:latin typeface="Raleway" pitchFamily="2" charset="0"/>
                <a:cs typeface="Space Grotesk bold" pitchFamily="2" charset="0"/>
              </a:rPr>
              <a:t> – </a:t>
            </a:r>
            <a:r>
              <a:rPr lang="en-US" sz="1200" i="1" noProof="1">
                <a:solidFill>
                  <a:schemeClr val="bg1"/>
                </a:solidFill>
                <a:latin typeface="Raleway" pitchFamily="2" charset="0"/>
                <a:cs typeface="Space Grotesk bold" pitchFamily="2" charset="0"/>
              </a:rPr>
              <a:t>and forms an (positive or negative) opinion</a:t>
            </a:r>
            <a:r>
              <a:rPr lang="en-US" sz="1200" noProof="1">
                <a:solidFill>
                  <a:schemeClr val="bg1"/>
                </a:solidFill>
                <a:latin typeface="Raleway" pitchFamily="2" charset="0"/>
                <a:cs typeface="Space Grotesk bold" pitchFamily="2" charset="0"/>
              </a:rPr>
              <a:t>.</a:t>
            </a:r>
            <a:endParaRPr lang="en-US" sz="900" noProof="1">
              <a:solidFill>
                <a:srgbClr val="F79421"/>
              </a:solidFill>
              <a:latin typeface="Raleway" pitchFamily="2" charset="0"/>
              <a:cs typeface="Space Grotesk bold" pitchFamily="2" charset="0"/>
            </a:endParaRPr>
          </a:p>
        </p:txBody>
      </p:sp>
      <p:sp>
        <p:nvSpPr>
          <p:cNvPr id="18" name="Tekstvak 5" descr="MVX23_Logo_Basislogo_Full_colour_Wit">
            <a:extLst>
              <a:ext uri="{FF2B5EF4-FFF2-40B4-BE49-F238E27FC236}">
                <a16:creationId xmlns:a16="http://schemas.microsoft.com/office/drawing/2014/main" id="{AB235BA6-4331-60B1-82C0-5604C3F045F2}"/>
              </a:ext>
            </a:extLst>
          </p:cNvPr>
          <p:cNvSpPr txBox="1"/>
          <p:nvPr/>
        </p:nvSpPr>
        <p:spPr>
          <a:xfrm>
            <a:off x="914516" y="3741181"/>
            <a:ext cx="7186773" cy="392415"/>
          </a:xfrm>
          <a:prstGeom prst="rect">
            <a:avLst/>
          </a:prstGeom>
          <a:noFill/>
        </p:spPr>
        <p:txBody>
          <a:bodyPr wrap="square" lIns="68580" tIns="34290" rIns="68580" bIns="34290" rtlCol="0" anchor="t">
            <a:spAutoFit/>
          </a:bodyPr>
          <a:lstStyle/>
          <a:p>
            <a:pPr>
              <a:defRPr/>
            </a:pPr>
            <a:r>
              <a:rPr lang="en-US" sz="2100" b="1" noProof="1">
                <a:solidFill>
                  <a:srgbClr val="0D006A"/>
                </a:solidFill>
                <a:latin typeface="Space Grotesk" pitchFamily="2" charset="0"/>
                <a:cs typeface="Space Grotesk" pitchFamily="2" charset="0"/>
              </a:rPr>
              <a:t>Every step is a chance to win (or lose) the customer</a:t>
            </a:r>
          </a:p>
        </p:txBody>
      </p:sp>
      <p:sp>
        <p:nvSpPr>
          <p:cNvPr id="20" name="Tekstvak 19">
            <a:extLst>
              <a:ext uri="{FF2B5EF4-FFF2-40B4-BE49-F238E27FC236}">
                <a16:creationId xmlns:a16="http://schemas.microsoft.com/office/drawing/2014/main" id="{FD4D9800-5232-758A-385B-BE8747DFED8A}"/>
              </a:ext>
            </a:extLst>
          </p:cNvPr>
          <p:cNvSpPr txBox="1"/>
          <p:nvPr/>
        </p:nvSpPr>
        <p:spPr>
          <a:xfrm>
            <a:off x="934540" y="4215531"/>
            <a:ext cx="6842531" cy="404085"/>
          </a:xfrm>
          <a:prstGeom prst="rect">
            <a:avLst/>
          </a:prstGeom>
          <a:noFill/>
        </p:spPr>
        <p:txBody>
          <a:bodyPr wrap="square">
            <a:spAutoFit/>
          </a:bodyPr>
          <a:lstStyle/>
          <a:p>
            <a:r>
              <a:rPr lang="en-US" sz="1013" i="1">
                <a:solidFill>
                  <a:srgbClr val="0D006A"/>
                </a:solidFill>
                <a:latin typeface="Raleway" pitchFamily="2" charset="0"/>
              </a:rPr>
              <a:t>Month-end close is a Moment of Truth for finance. That's when the CFO judges you on forecast accuracy. If your project doesn't touch that moment, does it really matter?</a:t>
            </a:r>
            <a:endParaRPr lang="nl-NL" sz="1013" i="1">
              <a:solidFill>
                <a:srgbClr val="0D006A"/>
              </a:solidFill>
              <a:latin typeface="Raleway" pitchFamily="2" charset="0"/>
            </a:endParaRPr>
          </a:p>
        </p:txBody>
      </p:sp>
    </p:spTree>
    <p:extLst>
      <p:ext uri="{BB962C8B-B14F-4D97-AF65-F5344CB8AC3E}">
        <p14:creationId xmlns:p14="http://schemas.microsoft.com/office/powerpoint/2010/main" val="175793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p:bldP spid="8" grpId="0"/>
      <p:bldP spid="9" grpId="0"/>
      <p:bldP spid="10" grpId="0"/>
      <p:bldP spid="11" grpId="0"/>
      <p:bldP spid="16" grpId="0" animBg="1"/>
      <p:bldP spid="17" grpId="0"/>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A5AE-3B88-1CF8-9CD5-FFA52E5DFCFD}"/>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EC6FD49E-9EC1-A326-65BE-9847161212D8}"/>
              </a:ext>
            </a:extLst>
          </p:cNvPr>
          <p:cNvSpPr txBox="1"/>
          <p:nvPr/>
        </p:nvSpPr>
        <p:spPr>
          <a:xfrm>
            <a:off x="635212" y="185185"/>
            <a:ext cx="8012297"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Hoshin Kanri</a:t>
            </a:r>
          </a:p>
        </p:txBody>
      </p:sp>
      <p:pic>
        <p:nvPicPr>
          <p:cNvPr id="13" name="Graphic 12">
            <a:extLst>
              <a:ext uri="{FF2B5EF4-FFF2-40B4-BE49-F238E27FC236}">
                <a16:creationId xmlns:a16="http://schemas.microsoft.com/office/drawing/2014/main" id="{A6B7E435-8AF7-B6F1-0D27-06DAEF550AD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5481" y="2206120"/>
            <a:ext cx="218517" cy="218517"/>
          </a:xfrm>
          <a:prstGeom prst="rect">
            <a:avLst/>
          </a:prstGeom>
        </p:spPr>
      </p:pic>
      <p:grpSp>
        <p:nvGrpSpPr>
          <p:cNvPr id="30" name="Groep 29">
            <a:extLst>
              <a:ext uri="{FF2B5EF4-FFF2-40B4-BE49-F238E27FC236}">
                <a16:creationId xmlns:a16="http://schemas.microsoft.com/office/drawing/2014/main" id="{881E1194-3F1D-0252-450A-EF5795B5E701}"/>
              </a:ext>
            </a:extLst>
          </p:cNvPr>
          <p:cNvGrpSpPr/>
          <p:nvPr/>
        </p:nvGrpSpPr>
        <p:grpSpPr>
          <a:xfrm>
            <a:off x="3887486" y="992270"/>
            <a:ext cx="3496466" cy="532187"/>
            <a:chOff x="689503" y="2224059"/>
            <a:chExt cx="3476769" cy="2470697"/>
          </a:xfrm>
        </p:grpSpPr>
        <p:grpSp>
          <p:nvGrpSpPr>
            <p:cNvPr id="31" name="Group 5">
              <a:extLst>
                <a:ext uri="{FF2B5EF4-FFF2-40B4-BE49-F238E27FC236}">
                  <a16:creationId xmlns:a16="http://schemas.microsoft.com/office/drawing/2014/main" id="{FEB5769A-5A73-3E55-3004-B7C741D8A67C}"/>
                </a:ext>
              </a:extLst>
            </p:cNvPr>
            <p:cNvGrpSpPr/>
            <p:nvPr/>
          </p:nvGrpSpPr>
          <p:grpSpPr>
            <a:xfrm>
              <a:off x="689503" y="2224059"/>
              <a:ext cx="3476769" cy="2470697"/>
              <a:chOff x="846950" y="3415677"/>
              <a:chExt cx="7576982" cy="1917865"/>
            </a:xfrm>
          </p:grpSpPr>
          <p:sp>
            <p:nvSpPr>
              <p:cNvPr id="35" name="Rectangle: Rounded Corners 8">
                <a:extLst>
                  <a:ext uri="{FF2B5EF4-FFF2-40B4-BE49-F238E27FC236}">
                    <a16:creationId xmlns:a16="http://schemas.microsoft.com/office/drawing/2014/main" id="{0ED3A735-B2FD-3032-5FE3-74ADA3864C15}"/>
                  </a:ext>
                </a:extLst>
              </p:cNvPr>
              <p:cNvSpPr/>
              <p:nvPr/>
            </p:nvSpPr>
            <p:spPr>
              <a:xfrm>
                <a:off x="846950" y="3431399"/>
                <a:ext cx="2589773" cy="1848333"/>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36" name="Rectangle: Rounded Corners 11">
                <a:extLst>
                  <a:ext uri="{FF2B5EF4-FFF2-40B4-BE49-F238E27FC236}">
                    <a16:creationId xmlns:a16="http://schemas.microsoft.com/office/drawing/2014/main" id="{C2330DFF-C695-013C-0523-3D121FAA96DA}"/>
                  </a:ext>
                </a:extLst>
              </p:cNvPr>
              <p:cNvSpPr/>
              <p:nvPr/>
            </p:nvSpPr>
            <p:spPr>
              <a:xfrm>
                <a:off x="897748" y="3415677"/>
                <a:ext cx="7526184" cy="1917865"/>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32" name="TextBox 7">
              <a:extLst>
                <a:ext uri="{FF2B5EF4-FFF2-40B4-BE49-F238E27FC236}">
                  <a16:creationId xmlns:a16="http://schemas.microsoft.com/office/drawing/2014/main" id="{FB8EFDBD-0979-AE8C-A322-FA10CAE60F49}"/>
                </a:ext>
              </a:extLst>
            </p:cNvPr>
            <p:cNvSpPr txBox="1"/>
            <p:nvPr/>
          </p:nvSpPr>
          <p:spPr>
            <a:xfrm>
              <a:off x="971712" y="2260586"/>
              <a:ext cx="2559906" cy="1714637"/>
            </a:xfrm>
            <a:prstGeom prst="rect">
              <a:avLst/>
            </a:prstGeom>
            <a:noFill/>
          </p:spPr>
          <p:txBody>
            <a:bodyPr wrap="square" rtlCol="0">
              <a:spAutoFit/>
            </a:bodyPr>
            <a:lstStyle/>
            <a:p>
              <a:pPr>
                <a:defRPr/>
              </a:pPr>
              <a:r>
                <a:rPr lang="en-US" sz="1800" b="1" noProof="1">
                  <a:solidFill>
                    <a:srgbClr val="5400AD"/>
                  </a:solidFill>
                  <a:latin typeface="Space Grotesk" pitchFamily="2" charset="0"/>
                  <a:cs typeface="Space Grotesk" pitchFamily="2" charset="0"/>
                </a:rPr>
                <a:t>1. Vision (5 Y)</a:t>
              </a:r>
            </a:p>
          </p:txBody>
        </p:sp>
        <p:sp>
          <p:nvSpPr>
            <p:cNvPr id="34" name="Tekstvak 33">
              <a:extLst>
                <a:ext uri="{FF2B5EF4-FFF2-40B4-BE49-F238E27FC236}">
                  <a16:creationId xmlns:a16="http://schemas.microsoft.com/office/drawing/2014/main" id="{D02E0F7B-566F-3E58-0AAB-5648BC921B5D}"/>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rgbClr val="5400AD"/>
                  </a:solidFill>
                  <a:latin typeface="Raleway" panose="020B0003030101060003" pitchFamily="34" charset="0"/>
                </a:rPr>
                <a:t>"Trusted finance partner to the business"</a:t>
              </a:r>
            </a:p>
          </p:txBody>
        </p:sp>
      </p:grpSp>
      <p:sp>
        <p:nvSpPr>
          <p:cNvPr id="3" name="Rectangle: Rounded Corners 2">
            <a:extLst>
              <a:ext uri="{FF2B5EF4-FFF2-40B4-BE49-F238E27FC236}">
                <a16:creationId xmlns:a16="http://schemas.microsoft.com/office/drawing/2014/main" id="{CE221E46-F624-AF37-48B2-CEC7299FF21C}"/>
              </a:ext>
            </a:extLst>
          </p:cNvPr>
          <p:cNvSpPr/>
          <p:nvPr/>
        </p:nvSpPr>
        <p:spPr>
          <a:xfrm>
            <a:off x="622482" y="1258363"/>
            <a:ext cx="2580031" cy="1506062"/>
          </a:xfrm>
          <a:prstGeom prst="roundRect">
            <a:avLst>
              <a:gd name="adj" fmla="val 10847"/>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5" name="TextBox 6">
            <a:extLst>
              <a:ext uri="{FF2B5EF4-FFF2-40B4-BE49-F238E27FC236}">
                <a16:creationId xmlns:a16="http://schemas.microsoft.com/office/drawing/2014/main" id="{08252B3C-84B8-E043-1B2B-6EC8F89C2455}"/>
              </a:ext>
            </a:extLst>
          </p:cNvPr>
          <p:cNvSpPr txBox="1"/>
          <p:nvPr/>
        </p:nvSpPr>
        <p:spPr>
          <a:xfrm>
            <a:off x="760388" y="1330451"/>
            <a:ext cx="2580031" cy="1448538"/>
          </a:xfrm>
          <a:prstGeom prst="rect">
            <a:avLst/>
          </a:prstGeom>
          <a:noFill/>
        </p:spPr>
        <p:txBody>
          <a:bodyPr wrap="square" rtlCol="0">
            <a:spAutoFit/>
          </a:bodyPr>
          <a:lstStyle/>
          <a:p>
            <a:r>
              <a:rPr lang="en-US" sz="1200" b="1" spc="225" noProof="1">
                <a:solidFill>
                  <a:schemeClr val="bg1">
                    <a:lumMod val="75000"/>
                  </a:schemeClr>
                </a:solidFill>
                <a:latin typeface="Raleway" pitchFamily="2" charset="0"/>
                <a:cs typeface="Space Grotesk" pitchFamily="2" charset="0"/>
              </a:rPr>
              <a:t>What is it? </a:t>
            </a:r>
          </a:p>
          <a:p>
            <a:pPr>
              <a:defRPr/>
            </a:pPr>
            <a:endParaRPr lang="en-US" sz="788" noProof="1">
              <a:solidFill>
                <a:schemeClr val="bg1"/>
              </a:solidFill>
              <a:latin typeface="Raleway" pitchFamily="2" charset="0"/>
              <a:cs typeface="Space Grotesk" pitchFamily="2" charset="0"/>
            </a:endParaRPr>
          </a:p>
          <a:p>
            <a:pPr>
              <a:defRPr/>
            </a:pPr>
            <a:r>
              <a:rPr lang="en-US" sz="1200" b="1" noProof="1">
                <a:solidFill>
                  <a:schemeClr val="bg1"/>
                </a:solidFill>
                <a:latin typeface="Raleway" pitchFamily="2" charset="0"/>
                <a:cs typeface="Space Grotesk bold" pitchFamily="2" charset="0"/>
              </a:rPr>
              <a:t>A method to cascade organisational goals down to every level. </a:t>
            </a:r>
            <a:r>
              <a:rPr lang="en-US" sz="1200" noProof="1">
                <a:solidFill>
                  <a:schemeClr val="bg1"/>
                </a:solidFill>
                <a:latin typeface="Raleway" pitchFamily="2" charset="0"/>
                <a:cs typeface="Space Grotesk bold" pitchFamily="2" charset="0"/>
              </a:rPr>
              <a:t>So that daily (operational) work connects to long-term (strategic) direction</a:t>
            </a:r>
          </a:p>
          <a:p>
            <a:pPr>
              <a:defRPr/>
            </a:pPr>
            <a:r>
              <a:rPr lang="en-US" sz="825" noProof="1">
                <a:solidFill>
                  <a:schemeClr val="bg1">
                    <a:lumMod val="85000"/>
                  </a:schemeClr>
                </a:solidFill>
                <a:latin typeface="Raleway" pitchFamily="2" charset="0"/>
                <a:cs typeface="Space Grotesk bold" pitchFamily="2" charset="0"/>
              </a:rPr>
              <a:t>Developed at Toyota. 1960s.</a:t>
            </a:r>
          </a:p>
        </p:txBody>
      </p:sp>
      <p:grpSp>
        <p:nvGrpSpPr>
          <p:cNvPr id="7" name="Group 5">
            <a:extLst>
              <a:ext uri="{FF2B5EF4-FFF2-40B4-BE49-F238E27FC236}">
                <a16:creationId xmlns:a16="http://schemas.microsoft.com/office/drawing/2014/main" id="{D56E2CB5-41FE-264C-5D52-DB7304007714}"/>
              </a:ext>
            </a:extLst>
          </p:cNvPr>
          <p:cNvGrpSpPr/>
          <p:nvPr/>
        </p:nvGrpSpPr>
        <p:grpSpPr>
          <a:xfrm rot="5400000">
            <a:off x="552023" y="2898385"/>
            <a:ext cx="1334036" cy="1193120"/>
            <a:chOff x="846950" y="3409279"/>
            <a:chExt cx="3466210" cy="2969533"/>
          </a:xfrm>
        </p:grpSpPr>
        <p:sp>
          <p:nvSpPr>
            <p:cNvPr id="12" name="Rectangle: Rounded Corners 8">
              <a:extLst>
                <a:ext uri="{FF2B5EF4-FFF2-40B4-BE49-F238E27FC236}">
                  <a16:creationId xmlns:a16="http://schemas.microsoft.com/office/drawing/2014/main" id="{7AAD8B02-51DC-53BD-25DD-31764A101C2B}"/>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sp>
          <p:nvSpPr>
            <p:cNvPr id="15" name="Rectangle: Rounded Corners 11">
              <a:extLst>
                <a:ext uri="{FF2B5EF4-FFF2-40B4-BE49-F238E27FC236}">
                  <a16:creationId xmlns:a16="http://schemas.microsoft.com/office/drawing/2014/main" id="{EF96B5BD-0BCF-9027-E4ED-1EAD045C9995}"/>
                </a:ext>
              </a:extLst>
            </p:cNvPr>
            <p:cNvSpPr/>
            <p:nvPr/>
          </p:nvSpPr>
          <p:spPr>
            <a:xfrm>
              <a:off x="897748" y="3409279"/>
              <a:ext cx="3415412" cy="296953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grpSp>
      <p:grpSp>
        <p:nvGrpSpPr>
          <p:cNvPr id="8" name="Group 37">
            <a:extLst>
              <a:ext uri="{FF2B5EF4-FFF2-40B4-BE49-F238E27FC236}">
                <a16:creationId xmlns:a16="http://schemas.microsoft.com/office/drawing/2014/main" id="{80BEEE6D-4C62-C925-92BF-758B820F9440}"/>
              </a:ext>
            </a:extLst>
          </p:cNvPr>
          <p:cNvGrpSpPr/>
          <p:nvPr/>
        </p:nvGrpSpPr>
        <p:grpSpPr>
          <a:xfrm>
            <a:off x="700927" y="2930530"/>
            <a:ext cx="1305695" cy="862929"/>
            <a:chOff x="369236" y="2275871"/>
            <a:chExt cx="1799924" cy="1150571"/>
          </a:xfrm>
        </p:grpSpPr>
        <p:sp>
          <p:nvSpPr>
            <p:cNvPr id="9" name="TextBox 7">
              <a:extLst>
                <a:ext uri="{FF2B5EF4-FFF2-40B4-BE49-F238E27FC236}">
                  <a16:creationId xmlns:a16="http://schemas.microsoft.com/office/drawing/2014/main" id="{EF87F96F-04D6-73D4-3D3F-AD7A7086EC94}"/>
                </a:ext>
              </a:extLst>
            </p:cNvPr>
            <p:cNvSpPr txBox="1"/>
            <p:nvPr/>
          </p:nvSpPr>
          <p:spPr>
            <a:xfrm>
              <a:off x="369236" y="2880053"/>
              <a:ext cx="1799924" cy="546389"/>
            </a:xfrm>
            <a:prstGeom prst="rect">
              <a:avLst/>
            </a:prstGeom>
            <a:noFill/>
          </p:spPr>
          <p:txBody>
            <a:bodyPr wrap="square" rtlCol="0">
              <a:spAutoFit/>
            </a:bodyPr>
            <a:lstStyle/>
            <a:p>
              <a:r>
                <a:rPr lang="en-US" sz="1013" b="1" noProof="1">
                  <a:latin typeface="Raleway" pitchFamily="2" charset="0"/>
                  <a:cs typeface="Space Grotesk" pitchFamily="2" charset="0"/>
                </a:rPr>
                <a:t>Hoshin</a:t>
              </a:r>
              <a:endParaRPr lang="en-US" sz="825" b="1" noProof="1">
                <a:latin typeface="Raleway" pitchFamily="2" charset="0"/>
                <a:cs typeface="Space Grotesk" pitchFamily="2" charset="0"/>
              </a:endParaRPr>
            </a:p>
            <a:p>
              <a:pPr>
                <a:defRPr/>
              </a:pPr>
              <a:endParaRPr lang="en-US" sz="150" noProof="1">
                <a:solidFill>
                  <a:prstClr val="black"/>
                </a:solidFill>
                <a:latin typeface="Raleway" pitchFamily="2" charset="0"/>
                <a:cs typeface="Space Grotesk" pitchFamily="2" charset="0"/>
              </a:endParaRPr>
            </a:p>
            <a:p>
              <a:pPr>
                <a:defRPr/>
              </a:pPr>
              <a:r>
                <a:rPr lang="en-US" sz="900" noProof="1">
                  <a:solidFill>
                    <a:prstClr val="black"/>
                  </a:solidFill>
                  <a:latin typeface="Raleway" pitchFamily="2" charset="0"/>
                  <a:cs typeface="Space Grotesk" pitchFamily="2" charset="0"/>
                </a:rPr>
                <a:t>Direction + Focus</a:t>
              </a:r>
            </a:p>
          </p:txBody>
        </p:sp>
        <p:sp>
          <p:nvSpPr>
            <p:cNvPr id="10" name="Oval 83">
              <a:extLst>
                <a:ext uri="{FF2B5EF4-FFF2-40B4-BE49-F238E27FC236}">
                  <a16:creationId xmlns:a16="http://schemas.microsoft.com/office/drawing/2014/main" id="{2DC7EADB-2E32-716F-07EC-1F60C1B475D7}"/>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Raleway" pitchFamily="2" charset="0"/>
                <a:cs typeface="Space Grotesk" pitchFamily="2" charset="0"/>
              </a:endParaRPr>
            </a:p>
          </p:txBody>
        </p:sp>
        <p:pic>
          <p:nvPicPr>
            <p:cNvPr id="11" name="Graphic 10">
              <a:extLst>
                <a:ext uri="{FF2B5EF4-FFF2-40B4-BE49-F238E27FC236}">
                  <a16:creationId xmlns:a16="http://schemas.microsoft.com/office/drawing/2014/main" id="{DA8F1EB0-4DB0-2C88-0EE4-2D1900E9CBF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0330" y="2386644"/>
              <a:ext cx="352541" cy="281312"/>
            </a:xfrm>
            <a:prstGeom prst="rect">
              <a:avLst/>
            </a:prstGeom>
          </p:spPr>
        </p:pic>
      </p:grpSp>
      <p:grpSp>
        <p:nvGrpSpPr>
          <p:cNvPr id="17" name="Group 96">
            <a:extLst>
              <a:ext uri="{FF2B5EF4-FFF2-40B4-BE49-F238E27FC236}">
                <a16:creationId xmlns:a16="http://schemas.microsoft.com/office/drawing/2014/main" id="{73F0A6F3-562F-520A-6338-BA1726A15425}"/>
              </a:ext>
            </a:extLst>
          </p:cNvPr>
          <p:cNvGrpSpPr/>
          <p:nvPr/>
        </p:nvGrpSpPr>
        <p:grpSpPr>
          <a:xfrm rot="5400000">
            <a:off x="1931277" y="2892551"/>
            <a:ext cx="1334036" cy="1180882"/>
            <a:chOff x="846950" y="3409278"/>
            <a:chExt cx="3466210" cy="2969533"/>
          </a:xfrm>
        </p:grpSpPr>
        <p:sp>
          <p:nvSpPr>
            <p:cNvPr id="27" name="Rectangle: Rounded Corners 97">
              <a:extLst>
                <a:ext uri="{FF2B5EF4-FFF2-40B4-BE49-F238E27FC236}">
                  <a16:creationId xmlns:a16="http://schemas.microsoft.com/office/drawing/2014/main" id="{09FEC822-A58B-6242-6EB4-50F3F4678FE9}"/>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sp>
          <p:nvSpPr>
            <p:cNvPr id="33" name="Rectangle: Rounded Corners 99">
              <a:extLst>
                <a:ext uri="{FF2B5EF4-FFF2-40B4-BE49-F238E27FC236}">
                  <a16:creationId xmlns:a16="http://schemas.microsoft.com/office/drawing/2014/main" id="{6F378846-B9AB-C69E-9F5D-B6E13DA78385}"/>
                </a:ext>
              </a:extLst>
            </p:cNvPr>
            <p:cNvSpPr/>
            <p:nvPr/>
          </p:nvSpPr>
          <p:spPr>
            <a:xfrm>
              <a:off x="897749" y="3409278"/>
              <a:ext cx="3415411" cy="2969533"/>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latin typeface="Raleway" pitchFamily="2" charset="0"/>
              </a:endParaRPr>
            </a:p>
          </p:txBody>
        </p:sp>
      </p:grpSp>
      <p:grpSp>
        <p:nvGrpSpPr>
          <p:cNvPr id="18" name="Group 102">
            <a:extLst>
              <a:ext uri="{FF2B5EF4-FFF2-40B4-BE49-F238E27FC236}">
                <a16:creationId xmlns:a16="http://schemas.microsoft.com/office/drawing/2014/main" id="{3182AB82-BD34-42B2-5F1D-B270D0C3CB65}"/>
              </a:ext>
            </a:extLst>
          </p:cNvPr>
          <p:cNvGrpSpPr/>
          <p:nvPr/>
        </p:nvGrpSpPr>
        <p:grpSpPr>
          <a:xfrm>
            <a:off x="2086300" y="2918577"/>
            <a:ext cx="1305695" cy="1001429"/>
            <a:chOff x="369236" y="2275871"/>
            <a:chExt cx="1799924" cy="1335238"/>
          </a:xfrm>
        </p:grpSpPr>
        <p:sp>
          <p:nvSpPr>
            <p:cNvPr id="20" name="TextBox 103">
              <a:extLst>
                <a:ext uri="{FF2B5EF4-FFF2-40B4-BE49-F238E27FC236}">
                  <a16:creationId xmlns:a16="http://schemas.microsoft.com/office/drawing/2014/main" id="{4EFF10B7-E864-237F-8F22-A589629CD073}"/>
                </a:ext>
              </a:extLst>
            </p:cNvPr>
            <p:cNvSpPr txBox="1"/>
            <p:nvPr/>
          </p:nvSpPr>
          <p:spPr>
            <a:xfrm>
              <a:off x="369236" y="2880053"/>
              <a:ext cx="1799924" cy="731056"/>
            </a:xfrm>
            <a:prstGeom prst="rect">
              <a:avLst/>
            </a:prstGeom>
            <a:noFill/>
          </p:spPr>
          <p:txBody>
            <a:bodyPr wrap="square" rtlCol="0">
              <a:spAutoFit/>
            </a:bodyPr>
            <a:lstStyle/>
            <a:p>
              <a:r>
                <a:rPr lang="en-US" sz="1013" b="1" noProof="1">
                  <a:latin typeface="Raleway" pitchFamily="2" charset="0"/>
                  <a:cs typeface="Space Grotesk" pitchFamily="2" charset="0"/>
                </a:rPr>
                <a:t>Kanri</a:t>
              </a:r>
              <a:endParaRPr lang="en-US" sz="825" b="1" noProof="1">
                <a:latin typeface="Raleway" pitchFamily="2" charset="0"/>
                <a:cs typeface="Space Grotesk" pitchFamily="2" charset="0"/>
              </a:endParaRPr>
            </a:p>
            <a:p>
              <a:pPr>
                <a:defRPr/>
              </a:pPr>
              <a:endParaRPr lang="en-US" sz="150" noProof="1">
                <a:solidFill>
                  <a:prstClr val="black"/>
                </a:solidFill>
                <a:latin typeface="Raleway" pitchFamily="2" charset="0"/>
                <a:cs typeface="Space Grotesk" pitchFamily="2" charset="0"/>
              </a:endParaRPr>
            </a:p>
            <a:p>
              <a:pPr>
                <a:defRPr/>
              </a:pPr>
              <a:r>
                <a:rPr lang="en-US" sz="900" noProof="1">
                  <a:solidFill>
                    <a:prstClr val="black"/>
                  </a:solidFill>
                  <a:latin typeface="Raleway" pitchFamily="2" charset="0"/>
                  <a:cs typeface="Space Grotesk" pitchFamily="2" charset="0"/>
                </a:rPr>
                <a:t>Management + Control</a:t>
              </a:r>
            </a:p>
          </p:txBody>
        </p:sp>
        <p:sp>
          <p:nvSpPr>
            <p:cNvPr id="21" name="Oval 104">
              <a:extLst>
                <a:ext uri="{FF2B5EF4-FFF2-40B4-BE49-F238E27FC236}">
                  <a16:creationId xmlns:a16="http://schemas.microsoft.com/office/drawing/2014/main" id="{457AA6AB-6A20-20BB-408F-70E584114FAA}"/>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Raleway" pitchFamily="2" charset="0"/>
                <a:cs typeface="Space Grotesk" pitchFamily="2" charset="0"/>
              </a:endParaRPr>
            </a:p>
          </p:txBody>
        </p:sp>
        <p:pic>
          <p:nvPicPr>
            <p:cNvPr id="24" name="Graphic 23">
              <a:extLst>
                <a:ext uri="{FF2B5EF4-FFF2-40B4-BE49-F238E27FC236}">
                  <a16:creationId xmlns:a16="http://schemas.microsoft.com/office/drawing/2014/main" id="{3321A806-E1FE-C18A-49CD-CBE0FF8A33B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60330" y="2386644"/>
              <a:ext cx="352541" cy="281312"/>
            </a:xfrm>
            <a:prstGeom prst="rect">
              <a:avLst/>
            </a:prstGeom>
          </p:spPr>
        </p:pic>
      </p:grpSp>
      <p:grpSp>
        <p:nvGrpSpPr>
          <p:cNvPr id="43" name="Groep 42">
            <a:extLst>
              <a:ext uri="{FF2B5EF4-FFF2-40B4-BE49-F238E27FC236}">
                <a16:creationId xmlns:a16="http://schemas.microsoft.com/office/drawing/2014/main" id="{0CFB5060-B795-A549-23F5-5A3E49923097}"/>
              </a:ext>
            </a:extLst>
          </p:cNvPr>
          <p:cNvGrpSpPr/>
          <p:nvPr/>
        </p:nvGrpSpPr>
        <p:grpSpPr>
          <a:xfrm>
            <a:off x="3887486" y="1815503"/>
            <a:ext cx="3496466" cy="532187"/>
            <a:chOff x="689503" y="2224059"/>
            <a:chExt cx="3476769" cy="2470697"/>
          </a:xfrm>
        </p:grpSpPr>
        <p:grpSp>
          <p:nvGrpSpPr>
            <p:cNvPr id="44" name="Group 5">
              <a:extLst>
                <a:ext uri="{FF2B5EF4-FFF2-40B4-BE49-F238E27FC236}">
                  <a16:creationId xmlns:a16="http://schemas.microsoft.com/office/drawing/2014/main" id="{5E0DD637-5E55-9F18-4850-36644997A3DC}"/>
                </a:ext>
              </a:extLst>
            </p:cNvPr>
            <p:cNvGrpSpPr/>
            <p:nvPr/>
          </p:nvGrpSpPr>
          <p:grpSpPr>
            <a:xfrm>
              <a:off x="689503" y="2224059"/>
              <a:ext cx="3476769" cy="2470697"/>
              <a:chOff x="846950" y="3415677"/>
              <a:chExt cx="7576982" cy="1917865"/>
            </a:xfrm>
          </p:grpSpPr>
          <p:sp>
            <p:nvSpPr>
              <p:cNvPr id="47" name="Rectangle: Rounded Corners 8">
                <a:extLst>
                  <a:ext uri="{FF2B5EF4-FFF2-40B4-BE49-F238E27FC236}">
                    <a16:creationId xmlns:a16="http://schemas.microsoft.com/office/drawing/2014/main" id="{9A0DBFDB-47AA-87F6-1016-F1A991F3FECA}"/>
                  </a:ext>
                </a:extLst>
              </p:cNvPr>
              <p:cNvSpPr/>
              <p:nvPr/>
            </p:nvSpPr>
            <p:spPr>
              <a:xfrm>
                <a:off x="846950" y="3431399"/>
                <a:ext cx="2589773" cy="1848333"/>
              </a:xfrm>
              <a:prstGeom prst="roundRect">
                <a:avLst/>
              </a:prstGeom>
              <a:solidFill>
                <a:srgbClr val="D3116E"/>
              </a:solidFill>
              <a:ln>
                <a:solidFill>
                  <a:srgbClr val="D311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48" name="Rectangle: Rounded Corners 11">
                <a:extLst>
                  <a:ext uri="{FF2B5EF4-FFF2-40B4-BE49-F238E27FC236}">
                    <a16:creationId xmlns:a16="http://schemas.microsoft.com/office/drawing/2014/main" id="{D327C299-1A77-DEBA-5D89-ECEB0A2F73D1}"/>
                  </a:ext>
                </a:extLst>
              </p:cNvPr>
              <p:cNvSpPr/>
              <p:nvPr/>
            </p:nvSpPr>
            <p:spPr>
              <a:xfrm>
                <a:off x="897748" y="3415677"/>
                <a:ext cx="7526184" cy="1917865"/>
              </a:xfrm>
              <a:prstGeom prst="roundRect">
                <a:avLst>
                  <a:gd name="adj" fmla="val 9478"/>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45" name="TextBox 7">
              <a:extLst>
                <a:ext uri="{FF2B5EF4-FFF2-40B4-BE49-F238E27FC236}">
                  <a16:creationId xmlns:a16="http://schemas.microsoft.com/office/drawing/2014/main" id="{66715FE1-3881-1530-AA64-AEF2D7B39D40}"/>
                </a:ext>
              </a:extLst>
            </p:cNvPr>
            <p:cNvSpPr txBox="1"/>
            <p:nvPr/>
          </p:nvSpPr>
          <p:spPr>
            <a:xfrm>
              <a:off x="971712" y="2260586"/>
              <a:ext cx="3169951" cy="1500304"/>
            </a:xfrm>
            <a:prstGeom prst="rect">
              <a:avLst/>
            </a:prstGeom>
            <a:noFill/>
          </p:spPr>
          <p:txBody>
            <a:bodyPr wrap="square" rtlCol="0">
              <a:spAutoFit/>
            </a:bodyPr>
            <a:lstStyle/>
            <a:p>
              <a:pPr>
                <a:defRPr/>
              </a:pPr>
              <a:r>
                <a:rPr lang="en-US" sz="1500" b="1" noProof="1">
                  <a:solidFill>
                    <a:srgbClr val="D3116E"/>
                  </a:solidFill>
                  <a:latin typeface="Space Grotesk" pitchFamily="2" charset="0"/>
                  <a:cs typeface="Space Grotesk" pitchFamily="2" charset="0"/>
                </a:rPr>
                <a:t>2. Breaktrough objectives (3 Y)</a:t>
              </a:r>
            </a:p>
          </p:txBody>
        </p:sp>
        <p:sp>
          <p:nvSpPr>
            <p:cNvPr id="46" name="Tekstvak 45">
              <a:extLst>
                <a:ext uri="{FF2B5EF4-FFF2-40B4-BE49-F238E27FC236}">
                  <a16:creationId xmlns:a16="http://schemas.microsoft.com/office/drawing/2014/main" id="{97519178-396A-E51A-7FFD-E76BEC064852}"/>
                </a:ext>
              </a:extLst>
            </p:cNvPr>
            <p:cNvSpPr txBox="1"/>
            <p:nvPr/>
          </p:nvSpPr>
          <p:spPr>
            <a:xfrm>
              <a:off x="954815" y="3280495"/>
              <a:ext cx="3026721" cy="1209478"/>
            </a:xfrm>
            <a:prstGeom prst="rect">
              <a:avLst/>
            </a:prstGeom>
            <a:noFill/>
          </p:spPr>
          <p:txBody>
            <a:bodyPr wrap="square">
              <a:spAutoFit/>
            </a:bodyPr>
            <a:lstStyle/>
            <a:p>
              <a:pPr>
                <a:lnSpc>
                  <a:spcPct val="150000"/>
                </a:lnSpc>
                <a:defRPr/>
              </a:pPr>
              <a:r>
                <a:rPr lang="en-US" sz="825" b="1" noProof="1">
                  <a:solidFill>
                    <a:srgbClr val="D3116E"/>
                  </a:solidFill>
                  <a:latin typeface="Raleway" panose="020B0003030101060003" pitchFamily="34" charset="0"/>
                </a:rPr>
                <a:t>"Improve financial predictability"</a:t>
              </a:r>
            </a:p>
          </p:txBody>
        </p:sp>
      </p:grpSp>
      <p:grpSp>
        <p:nvGrpSpPr>
          <p:cNvPr id="49" name="Groep 48">
            <a:extLst>
              <a:ext uri="{FF2B5EF4-FFF2-40B4-BE49-F238E27FC236}">
                <a16:creationId xmlns:a16="http://schemas.microsoft.com/office/drawing/2014/main" id="{5F144F3D-C3B1-9784-FE90-376C8BAF0D09}"/>
              </a:ext>
            </a:extLst>
          </p:cNvPr>
          <p:cNvGrpSpPr/>
          <p:nvPr/>
        </p:nvGrpSpPr>
        <p:grpSpPr>
          <a:xfrm>
            <a:off x="3887486" y="2638736"/>
            <a:ext cx="3496466" cy="532187"/>
            <a:chOff x="689503" y="2224059"/>
            <a:chExt cx="3476769" cy="2470697"/>
          </a:xfrm>
        </p:grpSpPr>
        <p:grpSp>
          <p:nvGrpSpPr>
            <p:cNvPr id="50" name="Group 5">
              <a:extLst>
                <a:ext uri="{FF2B5EF4-FFF2-40B4-BE49-F238E27FC236}">
                  <a16:creationId xmlns:a16="http://schemas.microsoft.com/office/drawing/2014/main" id="{2A4C4500-46DE-22CB-A095-E366065A24D2}"/>
                </a:ext>
              </a:extLst>
            </p:cNvPr>
            <p:cNvGrpSpPr/>
            <p:nvPr/>
          </p:nvGrpSpPr>
          <p:grpSpPr>
            <a:xfrm>
              <a:off x="689503" y="2224059"/>
              <a:ext cx="3476769" cy="2470697"/>
              <a:chOff x="846950" y="3415677"/>
              <a:chExt cx="7576982" cy="1917865"/>
            </a:xfrm>
          </p:grpSpPr>
          <p:sp>
            <p:nvSpPr>
              <p:cNvPr id="54" name="Rectangle: Rounded Corners 8">
                <a:extLst>
                  <a:ext uri="{FF2B5EF4-FFF2-40B4-BE49-F238E27FC236}">
                    <a16:creationId xmlns:a16="http://schemas.microsoft.com/office/drawing/2014/main" id="{D2D4BBE4-9666-ABCA-70AD-918A99BF44DB}"/>
                  </a:ext>
                </a:extLst>
              </p:cNvPr>
              <p:cNvSpPr/>
              <p:nvPr/>
            </p:nvSpPr>
            <p:spPr>
              <a:xfrm>
                <a:off x="846950" y="3431399"/>
                <a:ext cx="2589773" cy="1848333"/>
              </a:xfrm>
              <a:prstGeom prst="roundRect">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55" name="Rectangle: Rounded Corners 11">
                <a:extLst>
                  <a:ext uri="{FF2B5EF4-FFF2-40B4-BE49-F238E27FC236}">
                    <a16:creationId xmlns:a16="http://schemas.microsoft.com/office/drawing/2014/main" id="{1C10A252-555F-700B-E2DC-3C473F083E39}"/>
                  </a:ext>
                </a:extLst>
              </p:cNvPr>
              <p:cNvSpPr/>
              <p:nvPr/>
            </p:nvSpPr>
            <p:spPr>
              <a:xfrm>
                <a:off x="897748" y="3415677"/>
                <a:ext cx="7526184" cy="1917865"/>
              </a:xfrm>
              <a:prstGeom prst="roundRect">
                <a:avLst>
                  <a:gd name="adj" fmla="val 9478"/>
                </a:avLst>
              </a:prstGeom>
              <a:solidFill>
                <a:srgbClr val="DBD5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1" name="TextBox 7">
              <a:extLst>
                <a:ext uri="{FF2B5EF4-FFF2-40B4-BE49-F238E27FC236}">
                  <a16:creationId xmlns:a16="http://schemas.microsoft.com/office/drawing/2014/main" id="{D60653AB-0EF8-A333-C6EC-ED9ADD13BF62}"/>
                </a:ext>
              </a:extLst>
            </p:cNvPr>
            <p:cNvSpPr txBox="1"/>
            <p:nvPr/>
          </p:nvSpPr>
          <p:spPr>
            <a:xfrm>
              <a:off x="971712" y="2260586"/>
              <a:ext cx="2559906" cy="1714637"/>
            </a:xfrm>
            <a:prstGeom prst="rect">
              <a:avLst/>
            </a:prstGeom>
            <a:noFill/>
          </p:spPr>
          <p:txBody>
            <a:bodyPr wrap="square" rtlCol="0">
              <a:spAutoFit/>
            </a:bodyPr>
            <a:lstStyle/>
            <a:p>
              <a:pPr>
                <a:defRPr/>
              </a:pPr>
              <a:r>
                <a:rPr lang="en-US" sz="1800" b="1" noProof="1">
                  <a:solidFill>
                    <a:schemeClr val="accent4">
                      <a:lumMod val="75000"/>
                    </a:schemeClr>
                  </a:solidFill>
                  <a:latin typeface="Space Grotesk" pitchFamily="2" charset="0"/>
                  <a:cs typeface="Space Grotesk" pitchFamily="2" charset="0"/>
                </a:rPr>
                <a:t>3. Annual goals</a:t>
              </a:r>
            </a:p>
          </p:txBody>
        </p:sp>
        <p:sp>
          <p:nvSpPr>
            <p:cNvPr id="53" name="Tekstvak 52">
              <a:extLst>
                <a:ext uri="{FF2B5EF4-FFF2-40B4-BE49-F238E27FC236}">
                  <a16:creationId xmlns:a16="http://schemas.microsoft.com/office/drawing/2014/main" id="{6BA3A587-3DCF-244B-C903-2113076980F9}"/>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chemeClr val="accent4">
                      <a:lumMod val="75000"/>
                    </a:schemeClr>
                  </a:solidFill>
                  <a:latin typeface="Raleway" panose="020B0003030101060003" pitchFamily="34" charset="0"/>
                </a:rPr>
                <a:t>"Forecast variance &lt; ±5%"</a:t>
              </a:r>
            </a:p>
          </p:txBody>
        </p:sp>
      </p:grpSp>
      <p:grpSp>
        <p:nvGrpSpPr>
          <p:cNvPr id="56" name="Groep 55">
            <a:extLst>
              <a:ext uri="{FF2B5EF4-FFF2-40B4-BE49-F238E27FC236}">
                <a16:creationId xmlns:a16="http://schemas.microsoft.com/office/drawing/2014/main" id="{6173696E-79FA-1D25-9E46-35A73AE5CA6C}"/>
              </a:ext>
            </a:extLst>
          </p:cNvPr>
          <p:cNvGrpSpPr/>
          <p:nvPr/>
        </p:nvGrpSpPr>
        <p:grpSpPr>
          <a:xfrm>
            <a:off x="3887486" y="3461969"/>
            <a:ext cx="3496466" cy="532187"/>
            <a:chOff x="689503" y="2224059"/>
            <a:chExt cx="3476769" cy="2470697"/>
          </a:xfrm>
        </p:grpSpPr>
        <p:grpSp>
          <p:nvGrpSpPr>
            <p:cNvPr id="57" name="Group 5">
              <a:extLst>
                <a:ext uri="{FF2B5EF4-FFF2-40B4-BE49-F238E27FC236}">
                  <a16:creationId xmlns:a16="http://schemas.microsoft.com/office/drawing/2014/main" id="{62ACC5CA-5A4F-417F-F24C-E2D55654893F}"/>
                </a:ext>
              </a:extLst>
            </p:cNvPr>
            <p:cNvGrpSpPr/>
            <p:nvPr/>
          </p:nvGrpSpPr>
          <p:grpSpPr>
            <a:xfrm>
              <a:off x="689503" y="2224059"/>
              <a:ext cx="3476769" cy="2470697"/>
              <a:chOff x="846950" y="3415677"/>
              <a:chExt cx="7576982" cy="1917865"/>
            </a:xfrm>
          </p:grpSpPr>
          <p:sp>
            <p:nvSpPr>
              <p:cNvPr id="60" name="Rectangle: Rounded Corners 8">
                <a:extLst>
                  <a:ext uri="{FF2B5EF4-FFF2-40B4-BE49-F238E27FC236}">
                    <a16:creationId xmlns:a16="http://schemas.microsoft.com/office/drawing/2014/main" id="{9B466508-6A0F-0A69-1C0F-85A0D34F7CAB}"/>
                  </a:ext>
                </a:extLst>
              </p:cNvPr>
              <p:cNvSpPr/>
              <p:nvPr/>
            </p:nvSpPr>
            <p:spPr>
              <a:xfrm>
                <a:off x="846950" y="3431399"/>
                <a:ext cx="2589773" cy="1848333"/>
              </a:xfrm>
              <a:prstGeom prst="roundRect">
                <a:avLst/>
              </a:prstGeom>
              <a:solidFill>
                <a:srgbClr val="F79421"/>
              </a:solidFill>
              <a:ln>
                <a:solidFill>
                  <a:srgbClr val="F794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srgbClr val="F79421"/>
                  </a:solidFill>
                  <a:latin typeface="Calibri" panose="020F0502020204030204"/>
                </a:endParaRPr>
              </a:p>
            </p:txBody>
          </p:sp>
          <p:sp>
            <p:nvSpPr>
              <p:cNvPr id="61" name="Rectangle: Rounded Corners 11">
                <a:extLst>
                  <a:ext uri="{FF2B5EF4-FFF2-40B4-BE49-F238E27FC236}">
                    <a16:creationId xmlns:a16="http://schemas.microsoft.com/office/drawing/2014/main" id="{61262002-E6D5-DCA7-CA58-E103B5389462}"/>
                  </a:ext>
                </a:extLst>
              </p:cNvPr>
              <p:cNvSpPr/>
              <p:nvPr/>
            </p:nvSpPr>
            <p:spPr>
              <a:xfrm>
                <a:off x="897748" y="3415677"/>
                <a:ext cx="7526184" cy="1917865"/>
              </a:xfrm>
              <a:prstGeom prst="roundRect">
                <a:avLst>
                  <a:gd name="adj" fmla="val 9478"/>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8" name="TextBox 7">
              <a:extLst>
                <a:ext uri="{FF2B5EF4-FFF2-40B4-BE49-F238E27FC236}">
                  <a16:creationId xmlns:a16="http://schemas.microsoft.com/office/drawing/2014/main" id="{BD6E4D6B-CBF9-A02A-DF5A-43154D2B8C14}"/>
                </a:ext>
              </a:extLst>
            </p:cNvPr>
            <p:cNvSpPr txBox="1"/>
            <p:nvPr/>
          </p:nvSpPr>
          <p:spPr>
            <a:xfrm>
              <a:off x="971712" y="2260586"/>
              <a:ext cx="3009824" cy="1714637"/>
            </a:xfrm>
            <a:prstGeom prst="rect">
              <a:avLst/>
            </a:prstGeom>
            <a:noFill/>
          </p:spPr>
          <p:txBody>
            <a:bodyPr wrap="square" rtlCol="0">
              <a:spAutoFit/>
            </a:bodyPr>
            <a:lstStyle/>
            <a:p>
              <a:pPr>
                <a:defRPr/>
              </a:pPr>
              <a:r>
                <a:rPr lang="en-US" sz="1800" b="1" noProof="1">
                  <a:solidFill>
                    <a:srgbClr val="F79421"/>
                  </a:solidFill>
                  <a:latin typeface="Space Grotesk" pitchFamily="2" charset="0"/>
                  <a:cs typeface="Space Grotesk" pitchFamily="2" charset="0"/>
                </a:rPr>
                <a:t>4. Quarterly Target</a:t>
              </a:r>
            </a:p>
          </p:txBody>
        </p:sp>
        <p:sp>
          <p:nvSpPr>
            <p:cNvPr id="59" name="Tekstvak 58">
              <a:extLst>
                <a:ext uri="{FF2B5EF4-FFF2-40B4-BE49-F238E27FC236}">
                  <a16:creationId xmlns:a16="http://schemas.microsoft.com/office/drawing/2014/main" id="{6DB89767-1BE4-4985-C656-02FDD46F1606}"/>
                </a:ext>
              </a:extLst>
            </p:cNvPr>
            <p:cNvSpPr txBox="1"/>
            <p:nvPr/>
          </p:nvSpPr>
          <p:spPr>
            <a:xfrm>
              <a:off x="954815" y="3280496"/>
              <a:ext cx="3026721" cy="1209478"/>
            </a:xfrm>
            <a:prstGeom prst="rect">
              <a:avLst/>
            </a:prstGeom>
            <a:noFill/>
          </p:spPr>
          <p:txBody>
            <a:bodyPr wrap="square">
              <a:spAutoFit/>
            </a:bodyPr>
            <a:lstStyle/>
            <a:p>
              <a:pPr>
                <a:lnSpc>
                  <a:spcPct val="150000"/>
                </a:lnSpc>
                <a:defRPr/>
              </a:pPr>
              <a:r>
                <a:rPr lang="en-US" sz="825" b="1" noProof="1">
                  <a:solidFill>
                    <a:srgbClr val="F79421"/>
                  </a:solidFill>
                  <a:latin typeface="Raleway" panose="020B0003030101060003" pitchFamily="34" charset="0"/>
                </a:rPr>
                <a:t>Q1: "Reduce late data submissions by 50%"</a:t>
              </a:r>
            </a:p>
          </p:txBody>
        </p:sp>
      </p:grpSp>
      <p:grpSp>
        <p:nvGrpSpPr>
          <p:cNvPr id="62" name="Groep 61">
            <a:extLst>
              <a:ext uri="{FF2B5EF4-FFF2-40B4-BE49-F238E27FC236}">
                <a16:creationId xmlns:a16="http://schemas.microsoft.com/office/drawing/2014/main" id="{819EB754-6FB7-4924-60B0-BB2DDF407C5A}"/>
              </a:ext>
            </a:extLst>
          </p:cNvPr>
          <p:cNvGrpSpPr/>
          <p:nvPr/>
        </p:nvGrpSpPr>
        <p:grpSpPr>
          <a:xfrm>
            <a:off x="3881044" y="4285203"/>
            <a:ext cx="3496466" cy="512892"/>
            <a:chOff x="689503" y="2224059"/>
            <a:chExt cx="3476769" cy="2470697"/>
          </a:xfrm>
        </p:grpSpPr>
        <p:grpSp>
          <p:nvGrpSpPr>
            <p:cNvPr id="63" name="Group 5">
              <a:extLst>
                <a:ext uri="{FF2B5EF4-FFF2-40B4-BE49-F238E27FC236}">
                  <a16:creationId xmlns:a16="http://schemas.microsoft.com/office/drawing/2014/main" id="{9549F8AE-D672-5B7C-BAAB-F692D7A6B109}"/>
                </a:ext>
              </a:extLst>
            </p:cNvPr>
            <p:cNvGrpSpPr/>
            <p:nvPr/>
          </p:nvGrpSpPr>
          <p:grpSpPr>
            <a:xfrm>
              <a:off x="689503" y="2224059"/>
              <a:ext cx="3476769" cy="2470697"/>
              <a:chOff x="846950" y="3415677"/>
              <a:chExt cx="7576982" cy="1917865"/>
            </a:xfrm>
          </p:grpSpPr>
          <p:sp>
            <p:nvSpPr>
              <p:cNvPr id="66" name="Rectangle: Rounded Corners 8">
                <a:extLst>
                  <a:ext uri="{FF2B5EF4-FFF2-40B4-BE49-F238E27FC236}">
                    <a16:creationId xmlns:a16="http://schemas.microsoft.com/office/drawing/2014/main" id="{7B372557-84E0-2F58-4CB3-7F6EC443D853}"/>
                  </a:ext>
                </a:extLst>
              </p:cNvPr>
              <p:cNvSpPr/>
              <p:nvPr/>
            </p:nvSpPr>
            <p:spPr>
              <a:xfrm>
                <a:off x="846950" y="3431399"/>
                <a:ext cx="2589773" cy="1848333"/>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67" name="Rectangle: Rounded Corners 11">
                <a:extLst>
                  <a:ext uri="{FF2B5EF4-FFF2-40B4-BE49-F238E27FC236}">
                    <a16:creationId xmlns:a16="http://schemas.microsoft.com/office/drawing/2014/main" id="{470FFF38-3D8D-F326-B6CB-1B6E497685E4}"/>
                  </a:ext>
                </a:extLst>
              </p:cNvPr>
              <p:cNvSpPr/>
              <p:nvPr/>
            </p:nvSpPr>
            <p:spPr>
              <a:xfrm>
                <a:off x="897748" y="3415677"/>
                <a:ext cx="7526184" cy="1917865"/>
              </a:xfrm>
              <a:prstGeom prst="roundRect">
                <a:avLst>
                  <a:gd name="adj" fmla="val 9478"/>
                </a:avLst>
              </a:prstGeom>
              <a:solidFill>
                <a:srgbClr val="C7C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64" name="TextBox 7">
              <a:extLst>
                <a:ext uri="{FF2B5EF4-FFF2-40B4-BE49-F238E27FC236}">
                  <a16:creationId xmlns:a16="http://schemas.microsoft.com/office/drawing/2014/main" id="{BCE62EBB-DBED-3709-1EFB-A4E04398873F}"/>
                </a:ext>
              </a:extLst>
            </p:cNvPr>
            <p:cNvSpPr txBox="1"/>
            <p:nvPr/>
          </p:nvSpPr>
          <p:spPr>
            <a:xfrm>
              <a:off x="971712" y="2260588"/>
              <a:ext cx="2559906" cy="1779142"/>
            </a:xfrm>
            <a:prstGeom prst="rect">
              <a:avLst/>
            </a:prstGeom>
            <a:noFill/>
          </p:spPr>
          <p:txBody>
            <a:bodyPr wrap="square" rtlCol="0">
              <a:spAutoFit/>
            </a:bodyPr>
            <a:lstStyle/>
            <a:p>
              <a:pPr>
                <a:defRPr/>
              </a:pPr>
              <a:r>
                <a:rPr lang="en-US" sz="1800" b="1" noProof="1">
                  <a:latin typeface="Space Grotesk" pitchFamily="2" charset="0"/>
                  <a:cs typeface="Space Grotesk" pitchFamily="2" charset="0"/>
                </a:rPr>
                <a:t>5. Your Project</a:t>
              </a:r>
            </a:p>
          </p:txBody>
        </p:sp>
        <p:sp>
          <p:nvSpPr>
            <p:cNvPr id="65" name="Tekstvak 64">
              <a:extLst>
                <a:ext uri="{FF2B5EF4-FFF2-40B4-BE49-F238E27FC236}">
                  <a16:creationId xmlns:a16="http://schemas.microsoft.com/office/drawing/2014/main" id="{421BC780-BE9F-8EE2-5311-B3C86750C6B2}"/>
                </a:ext>
              </a:extLst>
            </p:cNvPr>
            <p:cNvSpPr txBox="1"/>
            <p:nvPr/>
          </p:nvSpPr>
          <p:spPr>
            <a:xfrm>
              <a:off x="954815" y="3280497"/>
              <a:ext cx="3026721" cy="1254979"/>
            </a:xfrm>
            <a:prstGeom prst="rect">
              <a:avLst/>
            </a:prstGeom>
            <a:noFill/>
          </p:spPr>
          <p:txBody>
            <a:bodyPr wrap="square">
              <a:spAutoFit/>
            </a:bodyPr>
            <a:lstStyle/>
            <a:p>
              <a:pPr>
                <a:lnSpc>
                  <a:spcPct val="150000"/>
                </a:lnSpc>
                <a:defRPr/>
              </a:pPr>
              <a:r>
                <a:rPr lang="en-US" sz="825" b="1" noProof="1">
                  <a:latin typeface="Raleway" panose="020B0003030101060003" pitchFamily="34" charset="0"/>
                </a:rPr>
                <a:t>"Implement Sales Ops data SLA"</a:t>
              </a:r>
            </a:p>
          </p:txBody>
        </p:sp>
      </p:grpSp>
      <p:cxnSp>
        <p:nvCxnSpPr>
          <p:cNvPr id="68" name="Straight Arrow Connector 55">
            <a:extLst>
              <a:ext uri="{FF2B5EF4-FFF2-40B4-BE49-F238E27FC236}">
                <a16:creationId xmlns:a16="http://schemas.microsoft.com/office/drawing/2014/main" id="{7EE0FF23-072D-2234-186B-F59EF161C45B}"/>
              </a:ext>
            </a:extLst>
          </p:cNvPr>
          <p:cNvCxnSpPr>
            <a:cxnSpLocks/>
          </p:cNvCxnSpPr>
          <p:nvPr/>
        </p:nvCxnSpPr>
        <p:spPr>
          <a:xfrm>
            <a:off x="5609167" y="1524457"/>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0" name="Straight Arrow Connector 55">
            <a:extLst>
              <a:ext uri="{FF2B5EF4-FFF2-40B4-BE49-F238E27FC236}">
                <a16:creationId xmlns:a16="http://schemas.microsoft.com/office/drawing/2014/main" id="{A73E29D6-BE52-41C7-369C-97F426F47E2B}"/>
              </a:ext>
            </a:extLst>
          </p:cNvPr>
          <p:cNvCxnSpPr>
            <a:cxnSpLocks/>
          </p:cNvCxnSpPr>
          <p:nvPr/>
        </p:nvCxnSpPr>
        <p:spPr>
          <a:xfrm>
            <a:off x="5609167" y="2347690"/>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1" name="Straight Arrow Connector 55">
            <a:extLst>
              <a:ext uri="{FF2B5EF4-FFF2-40B4-BE49-F238E27FC236}">
                <a16:creationId xmlns:a16="http://schemas.microsoft.com/office/drawing/2014/main" id="{50C46A82-6D01-2383-5B66-E45F93878493}"/>
              </a:ext>
            </a:extLst>
          </p:cNvPr>
          <p:cNvCxnSpPr>
            <a:cxnSpLocks/>
          </p:cNvCxnSpPr>
          <p:nvPr/>
        </p:nvCxnSpPr>
        <p:spPr>
          <a:xfrm>
            <a:off x="5609167" y="3170923"/>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2" name="Straight Arrow Connector 55">
            <a:extLst>
              <a:ext uri="{FF2B5EF4-FFF2-40B4-BE49-F238E27FC236}">
                <a16:creationId xmlns:a16="http://schemas.microsoft.com/office/drawing/2014/main" id="{243E2520-4F9B-B926-ECE9-2780C09A62BF}"/>
              </a:ext>
            </a:extLst>
          </p:cNvPr>
          <p:cNvCxnSpPr>
            <a:cxnSpLocks/>
          </p:cNvCxnSpPr>
          <p:nvPr/>
        </p:nvCxnSpPr>
        <p:spPr>
          <a:xfrm>
            <a:off x="5596148" y="3994156"/>
            <a:ext cx="0" cy="21343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 name="Rechte verbindingslijn met pijl 1">
            <a:extLst>
              <a:ext uri="{FF2B5EF4-FFF2-40B4-BE49-F238E27FC236}">
                <a16:creationId xmlns:a16="http://schemas.microsoft.com/office/drawing/2014/main" id="{28BD1EDA-9F5C-82A6-694B-F762D62CA59A}"/>
              </a:ext>
            </a:extLst>
          </p:cNvPr>
          <p:cNvCxnSpPr>
            <a:cxnSpLocks/>
          </p:cNvCxnSpPr>
          <p:nvPr/>
        </p:nvCxnSpPr>
        <p:spPr>
          <a:xfrm flipH="1" flipV="1">
            <a:off x="7515423" y="1001444"/>
            <a:ext cx="7097" cy="3809172"/>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4" name="Tekstvak 13">
            <a:extLst>
              <a:ext uri="{FF2B5EF4-FFF2-40B4-BE49-F238E27FC236}">
                <a16:creationId xmlns:a16="http://schemas.microsoft.com/office/drawing/2014/main" id="{43D7D05D-9742-5D21-EB5C-F688C4B7C84C}"/>
              </a:ext>
            </a:extLst>
          </p:cNvPr>
          <p:cNvSpPr txBox="1"/>
          <p:nvPr/>
        </p:nvSpPr>
        <p:spPr>
          <a:xfrm>
            <a:off x="7678739" y="2520044"/>
            <a:ext cx="1316679" cy="559961"/>
          </a:xfrm>
          <a:prstGeom prst="rect">
            <a:avLst/>
          </a:prstGeom>
          <a:noFill/>
        </p:spPr>
        <p:txBody>
          <a:bodyPr wrap="square">
            <a:spAutoFit/>
          </a:bodyPr>
          <a:lstStyle/>
          <a:p>
            <a:r>
              <a:rPr lang="en-US" sz="1013" b="1">
                <a:solidFill>
                  <a:srgbClr val="0D006A"/>
                </a:solidFill>
                <a:latin typeface="Raleway" pitchFamily="2" charset="0"/>
              </a:rPr>
              <a:t>Can you draw this arrow for your project??</a:t>
            </a:r>
            <a:endParaRPr lang="nl-NL" sz="1013">
              <a:solidFill>
                <a:srgbClr val="0D006A"/>
              </a:solidFill>
              <a:latin typeface="Raleway" pitchFamily="2" charset="0"/>
            </a:endParaRPr>
          </a:p>
        </p:txBody>
      </p:sp>
      <p:sp>
        <p:nvSpPr>
          <p:cNvPr id="4" name="Tekstvak 3">
            <a:extLst>
              <a:ext uri="{FF2B5EF4-FFF2-40B4-BE49-F238E27FC236}">
                <a16:creationId xmlns:a16="http://schemas.microsoft.com/office/drawing/2014/main" id="{535C7ED3-8811-84C3-5C2C-331F3A8AE14C}"/>
              </a:ext>
            </a:extLst>
          </p:cNvPr>
          <p:cNvSpPr txBox="1"/>
          <p:nvPr/>
        </p:nvSpPr>
        <p:spPr>
          <a:xfrm>
            <a:off x="632361" y="4245016"/>
            <a:ext cx="2556375" cy="248209"/>
          </a:xfrm>
          <a:prstGeom prst="rect">
            <a:avLst/>
          </a:prstGeom>
          <a:noFill/>
        </p:spPr>
        <p:txBody>
          <a:bodyPr wrap="square">
            <a:spAutoFit/>
          </a:bodyPr>
          <a:lstStyle/>
          <a:p>
            <a:pPr algn="ctr"/>
            <a:r>
              <a:rPr lang="en-US" sz="1013" b="1">
                <a:solidFill>
                  <a:srgbClr val="0D006A"/>
                </a:solidFill>
                <a:latin typeface="Raleway" pitchFamily="2" charset="0"/>
              </a:rPr>
              <a:t>‘Managing our direction’</a:t>
            </a:r>
            <a:endParaRPr lang="nl-NL" sz="1013">
              <a:solidFill>
                <a:srgbClr val="0D006A"/>
              </a:solidFill>
              <a:latin typeface="Raleway" pitchFamily="2" charset="0"/>
            </a:endParaRPr>
          </a:p>
        </p:txBody>
      </p:sp>
    </p:spTree>
    <p:extLst>
      <p:ext uri="{BB962C8B-B14F-4D97-AF65-F5344CB8AC3E}">
        <p14:creationId xmlns:p14="http://schemas.microsoft.com/office/powerpoint/2010/main" val="377999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par>
                                <p:cTn id="36" presetID="10" presetClass="entr" presetSubtype="0" fill="hold" nodeType="withEffect">
                                  <p:stCondLst>
                                    <p:cond delay="0"/>
                                  </p:stCondLst>
                                  <p:childTnLst>
                                    <p:set>
                                      <p:cBhvr>
                                        <p:cTn id="37" dur="1" fill="hold">
                                          <p:stCondLst>
                                            <p:cond delay="0"/>
                                          </p:stCondLst>
                                        </p:cTn>
                                        <p:tgtEl>
                                          <p:spTgt spid="68"/>
                                        </p:tgtEl>
                                        <p:attrNameLst>
                                          <p:attrName>style.visibility</p:attrName>
                                        </p:attrNameLst>
                                      </p:cBhvr>
                                      <p:to>
                                        <p:strVal val="visible"/>
                                      </p:to>
                                    </p:set>
                                    <p:animEffect transition="in" filter="fade">
                                      <p:cBhvr>
                                        <p:cTn id="38" dur="500"/>
                                        <p:tgtEl>
                                          <p:spTgt spid="6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fade">
                                      <p:cBhvr>
                                        <p:cTn id="46" dur="500"/>
                                        <p:tgtEl>
                                          <p:spTgt spid="7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par>
                                <p:cTn id="52" presetID="10" presetClass="entr" presetSubtype="0" fill="hold" nodeType="with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fade">
                                      <p:cBhvr>
                                        <p:cTn id="54" dur="500"/>
                                        <p:tgtEl>
                                          <p:spTgt spid="7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500"/>
                                        <p:tgtEl>
                                          <p:spTgt spid="56"/>
                                        </p:tgtEl>
                                      </p:cBhvr>
                                    </p:animEffect>
                                  </p:childTnLst>
                                </p:cTn>
                              </p:par>
                              <p:par>
                                <p:cTn id="60" presetID="10" presetClass="entr" presetSubtype="0" fill="hold" nodeType="with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500"/>
                                        <p:tgtEl>
                                          <p:spTgt spid="7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p:tgtEl>
                                          <p:spTgt spid="14"/>
                                        </p:tgtEl>
                                      </p:cBhvr>
                                    </p:animEffect>
                                  </p:childTnLst>
                                </p:cTn>
                              </p:par>
                              <p:par>
                                <p:cTn id="73" presetID="10" presetClass="entr" presetSubtype="0" fill="hold" nodeType="with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14"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epicts a graph with an upward trend, indicating a significant increase in a particular subject or phenomenon, possibly related to technological advancements or a specific industry, over the years from the 1950s through the 2020s.&#10;&#10;AI-generated content may be incorrect.">
            <a:extLst>
              <a:ext uri="{FF2B5EF4-FFF2-40B4-BE49-F238E27FC236}">
                <a16:creationId xmlns:a16="http://schemas.microsoft.com/office/drawing/2014/main" id="{420E66D6-4B62-F514-CC2B-438C747B308A}"/>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Tree>
    <p:extLst>
      <p:ext uri="{BB962C8B-B14F-4D97-AF65-F5344CB8AC3E}">
        <p14:creationId xmlns:p14="http://schemas.microsoft.com/office/powerpoint/2010/main" val="635816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3D90-AF1D-55D3-6714-757169492466}"/>
            </a:ext>
          </a:extLst>
        </p:cNvPr>
        <p:cNvGrpSpPr/>
        <p:nvPr/>
      </p:nvGrpSpPr>
      <p:grpSpPr>
        <a:xfrm>
          <a:off x="0" y="0"/>
          <a:ext cx="0" cy="0"/>
          <a:chOff x="0" y="0"/>
          <a:chExt cx="0" cy="0"/>
        </a:xfrm>
      </p:grpSpPr>
      <p:sp>
        <p:nvSpPr>
          <p:cNvPr id="32" name="Rectangle: Rounded Corners 10">
            <a:extLst>
              <a:ext uri="{FF2B5EF4-FFF2-40B4-BE49-F238E27FC236}">
                <a16:creationId xmlns:a16="http://schemas.microsoft.com/office/drawing/2014/main" id="{29EB2000-AA5B-1601-246E-FF57CDC5FDEB}"/>
              </a:ext>
            </a:extLst>
          </p:cNvPr>
          <p:cNvSpPr/>
          <p:nvPr/>
        </p:nvSpPr>
        <p:spPr>
          <a:xfrm>
            <a:off x="4624282" y="189417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1" name="Rectangle: Rounded Corners 10">
            <a:extLst>
              <a:ext uri="{FF2B5EF4-FFF2-40B4-BE49-F238E27FC236}">
                <a16:creationId xmlns:a16="http://schemas.microsoft.com/office/drawing/2014/main" id="{94ECF329-D4EE-0155-8FBA-C63F4373F960}"/>
              </a:ext>
            </a:extLst>
          </p:cNvPr>
          <p:cNvSpPr/>
          <p:nvPr/>
        </p:nvSpPr>
        <p:spPr>
          <a:xfrm>
            <a:off x="635213" y="1903135"/>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nvGrpSpPr>
          <p:cNvPr id="25" name="Group 5">
            <a:extLst>
              <a:ext uri="{FF2B5EF4-FFF2-40B4-BE49-F238E27FC236}">
                <a16:creationId xmlns:a16="http://schemas.microsoft.com/office/drawing/2014/main" id="{A2CE0FFD-2200-8513-D4E2-F96F31BAFD2B}"/>
              </a:ext>
            </a:extLst>
          </p:cNvPr>
          <p:cNvGrpSpPr/>
          <p:nvPr/>
        </p:nvGrpSpPr>
        <p:grpSpPr>
          <a:xfrm>
            <a:off x="635213" y="1667843"/>
            <a:ext cx="3890010" cy="487841"/>
            <a:chOff x="848360" y="1513840"/>
            <a:chExt cx="5186680" cy="396240"/>
          </a:xfrm>
          <a:solidFill>
            <a:srgbClr val="5400AD"/>
          </a:solidFill>
        </p:grpSpPr>
        <p:sp>
          <p:nvSpPr>
            <p:cNvPr id="26" name="Rectangle 3">
              <a:extLst>
                <a:ext uri="{FF2B5EF4-FFF2-40B4-BE49-F238E27FC236}">
                  <a16:creationId xmlns:a16="http://schemas.microsoft.com/office/drawing/2014/main" id="{6E4D9F27-B9FA-3BEC-1602-6EFE766672D9}"/>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7" name="Rectangle: Rounded Corners 4">
              <a:extLst>
                <a:ext uri="{FF2B5EF4-FFF2-40B4-BE49-F238E27FC236}">
                  <a16:creationId xmlns:a16="http://schemas.microsoft.com/office/drawing/2014/main" id="{EFFB3C96-2279-9C73-9FA3-676E0A2D8AB8}"/>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28" name="Group 17">
            <a:extLst>
              <a:ext uri="{FF2B5EF4-FFF2-40B4-BE49-F238E27FC236}">
                <a16:creationId xmlns:a16="http://schemas.microsoft.com/office/drawing/2014/main" id="{0969A9CD-514F-9DB0-6EF6-A4147C62B6C2}"/>
              </a:ext>
            </a:extLst>
          </p:cNvPr>
          <p:cNvGrpSpPr/>
          <p:nvPr/>
        </p:nvGrpSpPr>
        <p:grpSpPr>
          <a:xfrm>
            <a:off x="4616663" y="1667843"/>
            <a:ext cx="3890010" cy="487841"/>
            <a:chOff x="848360" y="1513840"/>
            <a:chExt cx="5186680" cy="396240"/>
          </a:xfrm>
          <a:solidFill>
            <a:srgbClr val="D3116E"/>
          </a:solidFill>
        </p:grpSpPr>
        <p:sp>
          <p:nvSpPr>
            <p:cNvPr id="29" name="Rectangle 18">
              <a:extLst>
                <a:ext uri="{FF2B5EF4-FFF2-40B4-BE49-F238E27FC236}">
                  <a16:creationId xmlns:a16="http://schemas.microsoft.com/office/drawing/2014/main" id="{0C8E11C7-A7F5-0D88-6107-7FF52D29257A}"/>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30" name="Rectangle: Rounded Corners 19">
              <a:extLst>
                <a:ext uri="{FF2B5EF4-FFF2-40B4-BE49-F238E27FC236}">
                  <a16:creationId xmlns:a16="http://schemas.microsoft.com/office/drawing/2014/main" id="{DB6BFD5E-F499-4FDA-5540-E15B8B9F1993}"/>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2" name="Tekstvak 5" descr="MVX23_Logo_Basislogo_Full_colour_Wit">
            <a:extLst>
              <a:ext uri="{FF2B5EF4-FFF2-40B4-BE49-F238E27FC236}">
                <a16:creationId xmlns:a16="http://schemas.microsoft.com/office/drawing/2014/main" id="{D6F24AAE-C7AD-E055-B873-89AF99C96B67}"/>
              </a:ext>
            </a:extLst>
          </p:cNvPr>
          <p:cNvSpPr txBox="1"/>
          <p:nvPr/>
        </p:nvSpPr>
        <p:spPr>
          <a:xfrm>
            <a:off x="623524" y="483504"/>
            <a:ext cx="755891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What happens to the data we send?</a:t>
            </a:r>
          </a:p>
        </p:txBody>
      </p:sp>
      <p:grpSp>
        <p:nvGrpSpPr>
          <p:cNvPr id="21" name="Groep 20">
            <a:extLst>
              <a:ext uri="{FF2B5EF4-FFF2-40B4-BE49-F238E27FC236}">
                <a16:creationId xmlns:a16="http://schemas.microsoft.com/office/drawing/2014/main" id="{C0AD40BC-0A26-760D-0E0B-EC76F9803153}"/>
              </a:ext>
            </a:extLst>
          </p:cNvPr>
          <p:cNvGrpSpPr/>
          <p:nvPr/>
        </p:nvGrpSpPr>
        <p:grpSpPr>
          <a:xfrm>
            <a:off x="5348443" y="3635785"/>
            <a:ext cx="3205724" cy="1187758"/>
            <a:chOff x="829975" y="1677817"/>
            <a:chExt cx="5266025" cy="1751183"/>
          </a:xfrm>
        </p:grpSpPr>
        <p:sp>
          <p:nvSpPr>
            <p:cNvPr id="3" name="Rectangle: Rounded Corners 2">
              <a:extLst>
                <a:ext uri="{FF2B5EF4-FFF2-40B4-BE49-F238E27FC236}">
                  <a16:creationId xmlns:a16="http://schemas.microsoft.com/office/drawing/2014/main" id="{28E15BD8-3FAC-BD03-6CDB-71D9F0D71D98}"/>
                </a:ext>
              </a:extLst>
            </p:cNvPr>
            <p:cNvSpPr/>
            <p:nvPr/>
          </p:nvSpPr>
          <p:spPr>
            <a:xfrm>
              <a:off x="829975" y="1677817"/>
              <a:ext cx="5266025" cy="1751183"/>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 name="TextBox 6">
              <a:extLst>
                <a:ext uri="{FF2B5EF4-FFF2-40B4-BE49-F238E27FC236}">
                  <a16:creationId xmlns:a16="http://schemas.microsoft.com/office/drawing/2014/main" id="{EAB21861-9EF2-301D-EA76-2B997B04D09F}"/>
                </a:ext>
              </a:extLst>
            </p:cNvPr>
            <p:cNvSpPr txBox="1"/>
            <p:nvPr/>
          </p:nvSpPr>
          <p:spPr>
            <a:xfrm>
              <a:off x="1101981" y="1866479"/>
              <a:ext cx="4743234" cy="1335891"/>
            </a:xfrm>
            <a:prstGeom prst="rect">
              <a:avLst/>
            </a:prstGeom>
            <a:noFill/>
          </p:spPr>
          <p:txBody>
            <a:bodyPr wrap="square" rtlCol="0">
              <a:spAutoFit/>
            </a:bodyPr>
            <a:lstStyle/>
            <a:p>
              <a:pPr>
                <a:defRPr/>
              </a:pPr>
              <a:r>
                <a:rPr lang="en-US" sz="1200" b="1" spc="225" noProof="1">
                  <a:solidFill>
                    <a:prstClr val="white">
                      <a:lumMod val="75000"/>
                    </a:prstClr>
                  </a:solidFill>
                  <a:latin typeface="Space Grotesk" pitchFamily="2" charset="0"/>
                  <a:cs typeface="Space Grotesk" pitchFamily="2" charset="0"/>
                </a:rPr>
                <a:t>KEY TAKEAWAY</a:t>
              </a:r>
            </a:p>
            <a:p>
              <a:pPr>
                <a:defRPr/>
              </a:pPr>
              <a:endParaRPr lang="en-US" sz="788" noProof="1">
                <a:solidFill>
                  <a:prstClr val="white"/>
                </a:solidFill>
                <a:latin typeface="Space Grotesk" pitchFamily="2" charset="0"/>
                <a:cs typeface="Space Grotesk" pitchFamily="2" charset="0"/>
              </a:endParaRPr>
            </a:p>
            <a:p>
              <a:pPr>
                <a:defRPr/>
              </a:pPr>
              <a:r>
                <a:rPr lang="en-US" sz="1200" noProof="1">
                  <a:solidFill>
                    <a:prstClr val="white"/>
                  </a:solidFill>
                  <a:latin typeface="Space Grotesk bold" pitchFamily="2" charset="0"/>
                  <a:cs typeface="Space Grotesk bold" pitchFamily="2" charset="0"/>
                </a:rPr>
                <a:t>The risk is not just what AI </a:t>
              </a:r>
              <a:r>
                <a:rPr lang="en-US" sz="1200" noProof="1">
                  <a:solidFill>
                    <a:srgbClr val="F79421"/>
                  </a:solidFill>
                  <a:latin typeface="Space Grotesk bold" pitchFamily="2" charset="0"/>
                  <a:cs typeface="Space Grotesk bold" pitchFamily="2" charset="0"/>
                </a:rPr>
                <a:t>produces </a:t>
              </a:r>
              <a:r>
                <a:rPr lang="en-US" sz="1200" noProof="1">
                  <a:solidFill>
                    <a:prstClr val="white"/>
                  </a:solidFill>
                  <a:latin typeface="Space Grotesk bold" pitchFamily="2" charset="0"/>
                  <a:cs typeface="Space Grotesk bold" pitchFamily="2" charset="0"/>
                </a:rPr>
                <a:t>– it is what you </a:t>
              </a:r>
              <a:r>
                <a:rPr lang="en-US" sz="1200" noProof="1">
                  <a:solidFill>
                    <a:srgbClr val="F79421"/>
                  </a:solidFill>
                  <a:latin typeface="Space Grotesk bold" pitchFamily="2" charset="0"/>
                  <a:cs typeface="Space Grotesk bold" pitchFamily="2" charset="0"/>
                </a:rPr>
                <a:t>feed into it.</a:t>
              </a:r>
            </a:p>
            <a:p>
              <a:pPr>
                <a:defRPr/>
              </a:pPr>
              <a:endParaRPr lang="en-US" sz="900" noProof="1">
                <a:solidFill>
                  <a:srgbClr val="F79421"/>
                </a:solidFill>
                <a:latin typeface="Space Grotesk bold" pitchFamily="2" charset="0"/>
                <a:cs typeface="Space Grotesk bold" pitchFamily="2" charset="0"/>
              </a:endParaRPr>
            </a:p>
          </p:txBody>
        </p:sp>
      </p:grpSp>
      <p:grpSp>
        <p:nvGrpSpPr>
          <p:cNvPr id="24" name="Groep 23">
            <a:extLst>
              <a:ext uri="{FF2B5EF4-FFF2-40B4-BE49-F238E27FC236}">
                <a16:creationId xmlns:a16="http://schemas.microsoft.com/office/drawing/2014/main" id="{771A219E-F259-A706-2F61-868D90B60C44}"/>
              </a:ext>
            </a:extLst>
          </p:cNvPr>
          <p:cNvGrpSpPr/>
          <p:nvPr/>
        </p:nvGrpSpPr>
        <p:grpSpPr>
          <a:xfrm>
            <a:off x="589834" y="3626937"/>
            <a:ext cx="4630571" cy="1187758"/>
            <a:chOff x="779129" y="4461163"/>
            <a:chExt cx="6030776" cy="1583677"/>
          </a:xfrm>
        </p:grpSpPr>
        <p:grpSp>
          <p:nvGrpSpPr>
            <p:cNvPr id="5" name="Group 9">
              <a:extLst>
                <a:ext uri="{FF2B5EF4-FFF2-40B4-BE49-F238E27FC236}">
                  <a16:creationId xmlns:a16="http://schemas.microsoft.com/office/drawing/2014/main" id="{06DF4ECF-2345-4A2D-AEFE-18E2F83290C8}"/>
                </a:ext>
              </a:extLst>
            </p:cNvPr>
            <p:cNvGrpSpPr/>
            <p:nvPr/>
          </p:nvGrpSpPr>
          <p:grpSpPr>
            <a:xfrm>
              <a:off x="779129" y="4461163"/>
              <a:ext cx="6030776" cy="1583677"/>
              <a:chOff x="845757" y="3384273"/>
              <a:chExt cx="3404217" cy="1398196"/>
            </a:xfrm>
          </p:grpSpPr>
          <p:grpSp>
            <p:nvGrpSpPr>
              <p:cNvPr id="8" name="Group 10">
                <a:extLst>
                  <a:ext uri="{FF2B5EF4-FFF2-40B4-BE49-F238E27FC236}">
                    <a16:creationId xmlns:a16="http://schemas.microsoft.com/office/drawing/2014/main" id="{4C177197-A15A-AA4E-9E8D-759DA2A347B6}"/>
                  </a:ext>
                </a:extLst>
              </p:cNvPr>
              <p:cNvGrpSpPr/>
              <p:nvPr/>
            </p:nvGrpSpPr>
            <p:grpSpPr>
              <a:xfrm>
                <a:off x="845757" y="3384273"/>
                <a:ext cx="3404217" cy="1398196"/>
                <a:chOff x="862945" y="3409277"/>
                <a:chExt cx="3450215" cy="2969533"/>
              </a:xfrm>
            </p:grpSpPr>
            <p:sp>
              <p:nvSpPr>
                <p:cNvPr id="10" name="Rectangle: Rounded Corners 13">
                  <a:extLst>
                    <a:ext uri="{FF2B5EF4-FFF2-40B4-BE49-F238E27FC236}">
                      <a16:creationId xmlns:a16="http://schemas.microsoft.com/office/drawing/2014/main" id="{8E1BEC9F-B9B2-9CED-E172-0752565A83FA}"/>
                    </a:ext>
                  </a:extLst>
                </p:cNvPr>
                <p:cNvSpPr/>
                <p:nvPr/>
              </p:nvSpPr>
              <p:spPr>
                <a:xfrm>
                  <a:off x="862945" y="3431396"/>
                  <a:ext cx="2354339" cy="293907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1" name="Rectangle: Rounded Corners 14">
                  <a:extLst>
                    <a:ext uri="{FF2B5EF4-FFF2-40B4-BE49-F238E27FC236}">
                      <a16:creationId xmlns:a16="http://schemas.microsoft.com/office/drawing/2014/main" id="{4A44BBDB-F27C-8A0D-6113-E9B2962C0040}"/>
                    </a:ext>
                  </a:extLst>
                </p:cNvPr>
                <p:cNvSpPr/>
                <p:nvPr/>
              </p:nvSpPr>
              <p:spPr>
                <a:xfrm>
                  <a:off x="897749" y="3409277"/>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9" name="TextBox 12">
                <a:extLst>
                  <a:ext uri="{FF2B5EF4-FFF2-40B4-BE49-F238E27FC236}">
                    <a16:creationId xmlns:a16="http://schemas.microsoft.com/office/drawing/2014/main" id="{41B8D1F3-3404-72DF-CEDC-2E9EBFF8EFB7}"/>
                  </a:ext>
                </a:extLst>
              </p:cNvPr>
              <p:cNvSpPr txBox="1"/>
              <p:nvPr/>
            </p:nvSpPr>
            <p:spPr>
              <a:xfrm>
                <a:off x="997851" y="3472268"/>
                <a:ext cx="3169036" cy="597805"/>
              </a:xfrm>
              <a:prstGeom prst="rect">
                <a:avLst/>
              </a:prstGeom>
              <a:noFill/>
            </p:spPr>
            <p:txBody>
              <a:bodyPr wrap="square" rtlCol="0">
                <a:spAutoFit/>
              </a:bodyPr>
              <a:lstStyle/>
              <a:p>
                <a:pPr>
                  <a:defRPr/>
                </a:pPr>
                <a:r>
                  <a:rPr lang="en-US" b="1" noProof="1">
                    <a:solidFill>
                      <a:srgbClr val="F79421"/>
                    </a:solidFill>
                    <a:latin typeface="Space Grotesk bold" pitchFamily="2" charset="0"/>
                    <a:cs typeface="Space Grotesk bold" pitchFamily="2" charset="0"/>
                  </a:rPr>
                  <a:t>Practical decision rule </a:t>
                </a:r>
              </a:p>
              <a:p>
                <a:pPr>
                  <a:defRPr/>
                </a:pPr>
                <a:r>
                  <a:rPr lang="en-US" sz="1200" b="1" noProof="1">
                    <a:solidFill>
                      <a:prstClr val="black"/>
                    </a:solidFill>
                    <a:latin typeface="Space Grotesk" pitchFamily="2" charset="0"/>
                    <a:cs typeface="Space Grotesk" pitchFamily="2" charset="0"/>
                  </a:rPr>
                  <a:t>Before using any AI tool, ask three questions</a:t>
                </a:r>
                <a:endParaRPr lang="en-US" sz="825" b="1" noProof="1">
                  <a:solidFill>
                    <a:prstClr val="black"/>
                  </a:solidFill>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p:txBody>
          </p:sp>
        </p:grpSp>
        <p:sp>
          <p:nvSpPr>
            <p:cNvPr id="12" name="Rectangle: Rounded Corners 15">
              <a:extLst>
                <a:ext uri="{FF2B5EF4-FFF2-40B4-BE49-F238E27FC236}">
                  <a16:creationId xmlns:a16="http://schemas.microsoft.com/office/drawing/2014/main" id="{E4378E57-4BAE-FB8A-E611-731B8FDB88F6}"/>
                </a:ext>
              </a:extLst>
            </p:cNvPr>
            <p:cNvSpPr/>
            <p:nvPr/>
          </p:nvSpPr>
          <p:spPr>
            <a:xfrm>
              <a:off x="1098527" y="5282145"/>
              <a:ext cx="1793621" cy="652268"/>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3" name="Rectangle: Rounded Corners 18">
              <a:extLst>
                <a:ext uri="{FF2B5EF4-FFF2-40B4-BE49-F238E27FC236}">
                  <a16:creationId xmlns:a16="http://schemas.microsoft.com/office/drawing/2014/main" id="{9367FE4E-05C3-E511-EBCB-AC024B17DAD9}"/>
                </a:ext>
              </a:extLst>
            </p:cNvPr>
            <p:cNvSpPr/>
            <p:nvPr/>
          </p:nvSpPr>
          <p:spPr>
            <a:xfrm>
              <a:off x="2985112" y="5282145"/>
              <a:ext cx="1793621" cy="679992"/>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4" name="Rectangle: Rounded Corners 19">
              <a:extLst>
                <a:ext uri="{FF2B5EF4-FFF2-40B4-BE49-F238E27FC236}">
                  <a16:creationId xmlns:a16="http://schemas.microsoft.com/office/drawing/2014/main" id="{FE1DC423-564E-9C27-0C31-CF2FDADDF065}"/>
                </a:ext>
              </a:extLst>
            </p:cNvPr>
            <p:cNvSpPr/>
            <p:nvPr/>
          </p:nvSpPr>
          <p:spPr>
            <a:xfrm>
              <a:off x="4869091" y="5282145"/>
              <a:ext cx="1793621" cy="679992"/>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5" name="Oval 20">
              <a:extLst>
                <a:ext uri="{FF2B5EF4-FFF2-40B4-BE49-F238E27FC236}">
                  <a16:creationId xmlns:a16="http://schemas.microsoft.com/office/drawing/2014/main" id="{E8CC0B63-BB36-46D0-D776-6719A770E874}"/>
                </a:ext>
              </a:extLst>
            </p:cNvPr>
            <p:cNvSpPr/>
            <p:nvPr/>
          </p:nvSpPr>
          <p:spPr>
            <a:xfrm>
              <a:off x="1241845" y="5433807"/>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1</a:t>
              </a:r>
            </a:p>
          </p:txBody>
        </p:sp>
        <p:sp>
          <p:nvSpPr>
            <p:cNvPr id="16" name="Oval 21">
              <a:extLst>
                <a:ext uri="{FF2B5EF4-FFF2-40B4-BE49-F238E27FC236}">
                  <a16:creationId xmlns:a16="http://schemas.microsoft.com/office/drawing/2014/main" id="{4EFECCB7-E453-7E44-E4E2-5CE31E367149}"/>
                </a:ext>
              </a:extLst>
            </p:cNvPr>
            <p:cNvSpPr/>
            <p:nvPr/>
          </p:nvSpPr>
          <p:spPr>
            <a:xfrm>
              <a:off x="3101694" y="5447669"/>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2</a:t>
              </a:r>
            </a:p>
          </p:txBody>
        </p:sp>
        <p:sp>
          <p:nvSpPr>
            <p:cNvPr id="17" name="Oval 22">
              <a:extLst>
                <a:ext uri="{FF2B5EF4-FFF2-40B4-BE49-F238E27FC236}">
                  <a16:creationId xmlns:a16="http://schemas.microsoft.com/office/drawing/2014/main" id="{D616D975-51E2-C391-62CD-2A5D8BD37C0E}"/>
                </a:ext>
              </a:extLst>
            </p:cNvPr>
            <p:cNvSpPr/>
            <p:nvPr/>
          </p:nvSpPr>
          <p:spPr>
            <a:xfrm>
              <a:off x="4986403" y="5447669"/>
              <a:ext cx="380520" cy="367868"/>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500" b="1" noProof="1">
                  <a:solidFill>
                    <a:prstClr val="white"/>
                  </a:solidFill>
                  <a:latin typeface="Space Grotesk" pitchFamily="2" charset="0"/>
                  <a:cs typeface="Space Grotesk" pitchFamily="2" charset="0"/>
                </a:rPr>
                <a:t>3</a:t>
              </a:r>
            </a:p>
          </p:txBody>
        </p:sp>
        <p:sp>
          <p:nvSpPr>
            <p:cNvPr id="18" name="TextBox 23">
              <a:extLst>
                <a:ext uri="{FF2B5EF4-FFF2-40B4-BE49-F238E27FC236}">
                  <a16:creationId xmlns:a16="http://schemas.microsoft.com/office/drawing/2014/main" id="{A80AF297-70B4-FCF8-7A94-5ABFDADD79B6}"/>
                </a:ext>
              </a:extLst>
            </p:cNvPr>
            <p:cNvSpPr txBox="1"/>
            <p:nvPr/>
          </p:nvSpPr>
          <p:spPr>
            <a:xfrm>
              <a:off x="1649638" y="5393825"/>
              <a:ext cx="1229696" cy="461665"/>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Where is my data stored?</a:t>
              </a:r>
            </a:p>
          </p:txBody>
        </p:sp>
        <p:sp>
          <p:nvSpPr>
            <p:cNvPr id="19" name="TextBox 24">
              <a:extLst>
                <a:ext uri="{FF2B5EF4-FFF2-40B4-BE49-F238E27FC236}">
                  <a16:creationId xmlns:a16="http://schemas.microsoft.com/office/drawing/2014/main" id="{D53CBB08-058D-D787-D115-DA42BF793BEF}"/>
                </a:ext>
              </a:extLst>
            </p:cNvPr>
            <p:cNvSpPr txBox="1"/>
            <p:nvPr/>
          </p:nvSpPr>
          <p:spPr>
            <a:xfrm>
              <a:off x="3515261" y="5407687"/>
              <a:ext cx="1324307" cy="461665"/>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Is it used to train the model?</a:t>
              </a:r>
            </a:p>
          </p:txBody>
        </p:sp>
        <p:sp>
          <p:nvSpPr>
            <p:cNvPr id="20" name="TextBox 25">
              <a:extLst>
                <a:ext uri="{FF2B5EF4-FFF2-40B4-BE49-F238E27FC236}">
                  <a16:creationId xmlns:a16="http://schemas.microsoft.com/office/drawing/2014/main" id="{E0259198-4C33-2EAE-FE02-1C73F9348094}"/>
                </a:ext>
              </a:extLst>
            </p:cNvPr>
            <p:cNvSpPr txBox="1"/>
            <p:nvPr/>
          </p:nvSpPr>
          <p:spPr>
            <a:xfrm>
              <a:off x="5366923" y="5361975"/>
              <a:ext cx="1410905" cy="630941"/>
            </a:xfrm>
            <a:prstGeom prst="rect">
              <a:avLst/>
            </a:prstGeom>
            <a:noFill/>
          </p:spPr>
          <p:txBody>
            <a:bodyPr wrap="square" rtlCol="0">
              <a:spAutoFit/>
            </a:bodyPr>
            <a:lstStyle/>
            <a:p>
              <a:pPr>
                <a:defRPr/>
              </a:pPr>
              <a:r>
                <a:rPr lang="en-US" sz="825" noProof="1">
                  <a:solidFill>
                    <a:prstClr val="black"/>
                  </a:solidFill>
                  <a:latin typeface="Space Grotesk" pitchFamily="2" charset="0"/>
                  <a:cs typeface="Space Grotesk" pitchFamily="2" charset="0"/>
                </a:rPr>
                <a:t>Is this tool approved by my organization?</a:t>
              </a:r>
            </a:p>
          </p:txBody>
        </p:sp>
      </p:grpSp>
      <p:graphicFrame>
        <p:nvGraphicFramePr>
          <p:cNvPr id="22" name="Table 9">
            <a:extLst>
              <a:ext uri="{FF2B5EF4-FFF2-40B4-BE49-F238E27FC236}">
                <a16:creationId xmlns:a16="http://schemas.microsoft.com/office/drawing/2014/main" id="{D6FC8DE2-617B-22CA-1F1B-E41116DCAD74}"/>
              </a:ext>
            </a:extLst>
          </p:cNvPr>
          <p:cNvGraphicFramePr>
            <a:graphicFrameLocks noGrp="1"/>
          </p:cNvGraphicFramePr>
          <p:nvPr/>
        </p:nvGraphicFramePr>
        <p:xfrm>
          <a:off x="702103" y="1782534"/>
          <a:ext cx="3741518" cy="1751733"/>
        </p:xfrm>
        <a:graphic>
          <a:graphicData uri="http://schemas.openxmlformats.org/drawingml/2006/table">
            <a:tbl>
              <a:tblPr firstRow="1" bandRow="1">
                <a:tableStyleId>{2D5ABB26-0587-4C30-8999-92F81FD0307C}</a:tableStyleId>
              </a:tblPr>
              <a:tblGrid>
                <a:gridCol w="1223988">
                  <a:extLst>
                    <a:ext uri="{9D8B030D-6E8A-4147-A177-3AD203B41FA5}">
                      <a16:colId xmlns:a16="http://schemas.microsoft.com/office/drawing/2014/main" val="1484404569"/>
                    </a:ext>
                  </a:extLst>
                </a:gridCol>
                <a:gridCol w="2517530">
                  <a:extLst>
                    <a:ext uri="{9D8B030D-6E8A-4147-A177-3AD203B41FA5}">
                      <a16:colId xmlns:a16="http://schemas.microsoft.com/office/drawing/2014/main" val="2624468348"/>
                    </a:ext>
                  </a:extLst>
                </a:gridCol>
              </a:tblGrid>
              <a:tr h="416686">
                <a:tc gridSpan="2">
                  <a:txBody>
                    <a:bodyPr/>
                    <a:lstStyle/>
                    <a:p>
                      <a:pPr algn="ctr"/>
                      <a:r>
                        <a:rPr lang="en-US" sz="1000" b="1" noProof="1">
                          <a:solidFill>
                            <a:schemeClr val="bg1"/>
                          </a:solidFill>
                          <a:latin typeface="Space Grotesk" pitchFamily="2" charset="0"/>
                          <a:cs typeface="Space Grotesk" pitchFamily="2" charset="0"/>
                        </a:rPr>
                        <a:t>Enterprise AI tools</a:t>
                      </a:r>
                    </a:p>
                  </a:txBody>
                  <a:tcPr marL="68580" marR="68580" marT="34290" marB="34290">
                    <a:lnB>
                      <a:noFill/>
                    </a:lnB>
                  </a:tcPr>
                </a:tc>
                <a:tc hMerge="1">
                  <a:txBody>
                    <a:bodyPr/>
                    <a:lstStyle/>
                    <a:p>
                      <a:endParaRPr/>
                    </a:p>
                  </a:txBody>
                  <a:tcPr>
                    <a:lnB>
                      <a:noFill/>
                    </a:lnB>
                  </a:tcPr>
                </a:tc>
                <a:extLst>
                  <a:ext uri="{0D108BD9-81ED-4DB2-BD59-A6C34878D82A}">
                    <a16:rowId xmlns:a16="http://schemas.microsoft.com/office/drawing/2014/main" val="2530454398"/>
                  </a:ext>
                </a:extLst>
              </a:tr>
              <a:tr h="342900">
                <a:tc>
                  <a:txBody>
                    <a:bodyPr/>
                    <a:lstStyle/>
                    <a:p>
                      <a:pPr algn="l"/>
                      <a:r>
                        <a:rPr lang="en-US" sz="900" b="0" kern="1200" noProof="1">
                          <a:solidFill>
                            <a:schemeClr val="tx1"/>
                          </a:solidFill>
                          <a:latin typeface="Space Grotesk" pitchFamily="2" charset="0"/>
                          <a:ea typeface="+mn-ea"/>
                          <a:cs typeface="Space Grotesk" pitchFamily="2" charset="0"/>
                        </a:rPr>
                        <a:t>Examples</a:t>
                      </a: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Copilot for M365 · Azure OpenAI · Claude for Enterprise</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Training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Typically not used to train the model</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334697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Location</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Processed in your tenant · defined region (EU/US)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373040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Governance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Contracts, audit trails, compliance controls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497470779"/>
                  </a:ext>
                </a:extLst>
              </a:tr>
            </a:tbl>
          </a:graphicData>
        </a:graphic>
      </p:graphicFrame>
      <p:graphicFrame>
        <p:nvGraphicFramePr>
          <p:cNvPr id="23" name="Table 20">
            <a:extLst>
              <a:ext uri="{FF2B5EF4-FFF2-40B4-BE49-F238E27FC236}">
                <a16:creationId xmlns:a16="http://schemas.microsoft.com/office/drawing/2014/main" id="{FFE8F7D0-D08D-FA39-2A88-63E5901A1921}"/>
              </a:ext>
            </a:extLst>
          </p:cNvPr>
          <p:cNvGraphicFramePr>
            <a:graphicFrameLocks noGrp="1"/>
          </p:cNvGraphicFramePr>
          <p:nvPr/>
        </p:nvGraphicFramePr>
        <p:xfrm>
          <a:off x="4683553" y="1782534"/>
          <a:ext cx="3741518" cy="1751733"/>
        </p:xfrm>
        <a:graphic>
          <a:graphicData uri="http://schemas.openxmlformats.org/drawingml/2006/table">
            <a:tbl>
              <a:tblPr firstRow="1" bandRow="1">
                <a:tableStyleId>{2D5ABB26-0587-4C30-8999-92F81FD0307C}</a:tableStyleId>
              </a:tblPr>
              <a:tblGrid>
                <a:gridCol w="1223988">
                  <a:extLst>
                    <a:ext uri="{9D8B030D-6E8A-4147-A177-3AD203B41FA5}">
                      <a16:colId xmlns:a16="http://schemas.microsoft.com/office/drawing/2014/main" val="1484404569"/>
                    </a:ext>
                  </a:extLst>
                </a:gridCol>
                <a:gridCol w="2517530">
                  <a:extLst>
                    <a:ext uri="{9D8B030D-6E8A-4147-A177-3AD203B41FA5}">
                      <a16:colId xmlns:a16="http://schemas.microsoft.com/office/drawing/2014/main" val="2624468348"/>
                    </a:ext>
                  </a:extLst>
                </a:gridCol>
              </a:tblGrid>
              <a:tr h="416686">
                <a:tc gridSpan="2">
                  <a:txBody>
                    <a:bodyPr/>
                    <a:lstStyle/>
                    <a:p>
                      <a:pPr algn="ctr"/>
                      <a:r>
                        <a:rPr lang="en-US" sz="1000" b="1" noProof="1">
                          <a:solidFill>
                            <a:schemeClr val="bg1"/>
                          </a:solidFill>
                          <a:latin typeface="Space Grotesk" pitchFamily="2" charset="0"/>
                          <a:cs typeface="Space Grotesk" pitchFamily="2" charset="0"/>
                        </a:rPr>
                        <a:t>Public AI tools</a:t>
                      </a:r>
                    </a:p>
                  </a:txBody>
                  <a:tcPr marL="68580" marR="68580" marT="34290" marB="34290">
                    <a:lnB>
                      <a:noFill/>
                    </a:lnB>
                  </a:tcPr>
                </a:tc>
                <a:tc hMerge="1">
                  <a:txBody>
                    <a:bodyPr/>
                    <a:lstStyle/>
                    <a:p>
                      <a:endParaRPr/>
                    </a:p>
                  </a:txBody>
                  <a:tcPr>
                    <a:lnB>
                      <a:noFill/>
                    </a:lnB>
                  </a:tcPr>
                </a:tc>
                <a:extLst>
                  <a:ext uri="{0D108BD9-81ED-4DB2-BD59-A6C34878D82A}">
                    <a16:rowId xmlns:a16="http://schemas.microsoft.com/office/drawing/2014/main" val="2530454398"/>
                  </a:ext>
                </a:extLst>
              </a:tr>
              <a:tr h="342900">
                <a:tc>
                  <a:txBody>
                    <a:bodyPr/>
                    <a:lstStyle/>
                    <a:p>
                      <a:pPr algn="l"/>
                      <a:r>
                        <a:rPr lang="en-US" sz="900" b="0" kern="1200" noProof="1">
                          <a:solidFill>
                            <a:schemeClr val="tx1"/>
                          </a:solidFill>
                          <a:latin typeface="Space Grotesk" pitchFamily="2" charset="0"/>
                          <a:ea typeface="+mn-ea"/>
                          <a:cs typeface="Space Grotesk" pitchFamily="2" charset="0"/>
                        </a:rPr>
                        <a:t>Examples</a:t>
                      </a: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b="0" kern="1200" noProof="1">
                          <a:solidFill>
                            <a:schemeClr val="tx1"/>
                          </a:solidFill>
                          <a:latin typeface="Space Grotesk" pitchFamily="2" charset="0"/>
                          <a:ea typeface="+mn-ea"/>
                          <a:cs typeface="Space Grotesk" pitchFamily="2" charset="0"/>
                        </a:rPr>
                        <a:t>Free ChatGPT · Claude.ai personal · many SaaS AI features</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4535145"/>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Training</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May be used for training – depends on settings </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3346971"/>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Location</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Often unclear · may leave the EU (GDPR risk)</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Governance </a:t>
                      </a: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1">
                          <a:solidFill>
                            <a:schemeClr val="tx1"/>
                          </a:solidFill>
                          <a:latin typeface="Space Grotesk" pitchFamily="2" charset="0"/>
                          <a:ea typeface="+mn-ea"/>
                          <a:cs typeface="Space Grotesk" pitchFamily="2" charset="0"/>
                        </a:rPr>
                        <a:t>✗ No contractual guarantees for your data</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497470779"/>
                  </a:ext>
                </a:extLst>
              </a:tr>
            </a:tbl>
          </a:graphicData>
        </a:graphic>
      </p:graphicFrame>
      <p:grpSp>
        <p:nvGrpSpPr>
          <p:cNvPr id="46" name="Groep 45">
            <a:extLst>
              <a:ext uri="{FF2B5EF4-FFF2-40B4-BE49-F238E27FC236}">
                <a16:creationId xmlns:a16="http://schemas.microsoft.com/office/drawing/2014/main" id="{FCC3C3F6-64EF-4624-D94E-684A6A0B4796}"/>
              </a:ext>
            </a:extLst>
          </p:cNvPr>
          <p:cNvGrpSpPr/>
          <p:nvPr/>
        </p:nvGrpSpPr>
        <p:grpSpPr>
          <a:xfrm>
            <a:off x="589835" y="1144639"/>
            <a:ext cx="2604780" cy="456650"/>
            <a:chOff x="818979" y="1517389"/>
            <a:chExt cx="3343211" cy="608866"/>
          </a:xfrm>
        </p:grpSpPr>
        <p:grpSp>
          <p:nvGrpSpPr>
            <p:cNvPr id="34" name="Group 5">
              <a:extLst>
                <a:ext uri="{FF2B5EF4-FFF2-40B4-BE49-F238E27FC236}">
                  <a16:creationId xmlns:a16="http://schemas.microsoft.com/office/drawing/2014/main" id="{E862DE0E-4F32-452E-C656-D807D87053CE}"/>
                </a:ext>
              </a:extLst>
            </p:cNvPr>
            <p:cNvGrpSpPr/>
            <p:nvPr/>
          </p:nvGrpSpPr>
          <p:grpSpPr>
            <a:xfrm rot="5400000">
              <a:off x="2186152" y="150216"/>
              <a:ext cx="608866" cy="3343211"/>
              <a:chOff x="846968" y="2519349"/>
              <a:chExt cx="3466190" cy="3888754"/>
            </a:xfrm>
          </p:grpSpPr>
          <p:sp>
            <p:nvSpPr>
              <p:cNvPr id="39" name="Rectangle: Rounded Corners 8">
                <a:extLst>
                  <a:ext uri="{FF2B5EF4-FFF2-40B4-BE49-F238E27FC236}">
                    <a16:creationId xmlns:a16="http://schemas.microsoft.com/office/drawing/2014/main" id="{2D75EEA0-4F5A-4E36-74B0-B06199C2F9B1}"/>
                  </a:ext>
                </a:extLst>
              </p:cNvPr>
              <p:cNvSpPr/>
              <p:nvPr/>
            </p:nvSpPr>
            <p:spPr>
              <a:xfrm>
                <a:off x="846968" y="2519351"/>
                <a:ext cx="2589772" cy="3888752"/>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0" name="Rectangle: Rounded Corners 11">
                <a:extLst>
                  <a:ext uri="{FF2B5EF4-FFF2-40B4-BE49-F238E27FC236}">
                    <a16:creationId xmlns:a16="http://schemas.microsoft.com/office/drawing/2014/main" id="{CC80F603-7F5D-F77F-383A-5F9F6C8D023B}"/>
                  </a:ext>
                </a:extLst>
              </p:cNvPr>
              <p:cNvSpPr/>
              <p:nvPr/>
            </p:nvSpPr>
            <p:spPr>
              <a:xfrm>
                <a:off x="890624" y="2519349"/>
                <a:ext cx="3422534" cy="38887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35" name="Group 37">
              <a:extLst>
                <a:ext uri="{FF2B5EF4-FFF2-40B4-BE49-F238E27FC236}">
                  <a16:creationId xmlns:a16="http://schemas.microsoft.com/office/drawing/2014/main" id="{6D2DBAF7-2BA0-091F-69C3-C3F1963C9BA0}"/>
                </a:ext>
              </a:extLst>
            </p:cNvPr>
            <p:cNvGrpSpPr/>
            <p:nvPr/>
          </p:nvGrpSpPr>
          <p:grpSpPr>
            <a:xfrm>
              <a:off x="913732" y="1567195"/>
              <a:ext cx="2964028" cy="524382"/>
              <a:chOff x="405947" y="2318704"/>
              <a:chExt cx="2376730" cy="418084"/>
            </a:xfrm>
          </p:grpSpPr>
          <p:sp>
            <p:nvSpPr>
              <p:cNvPr id="36" name="TextBox 7">
                <a:extLst>
                  <a:ext uri="{FF2B5EF4-FFF2-40B4-BE49-F238E27FC236}">
                    <a16:creationId xmlns:a16="http://schemas.microsoft.com/office/drawing/2014/main" id="{E15B1FDD-7622-DC7C-7375-AA24D1A28E8B}"/>
                  </a:ext>
                </a:extLst>
              </p:cNvPr>
              <p:cNvSpPr txBox="1"/>
              <p:nvPr/>
            </p:nvSpPr>
            <p:spPr>
              <a:xfrm>
                <a:off x="839918" y="2356439"/>
                <a:ext cx="1942759"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Processed temporarily</a:t>
                </a:r>
              </a:p>
              <a:p>
                <a:pPr>
                  <a:defRPr/>
                </a:pPr>
                <a:r>
                  <a:rPr lang="en-US" sz="825" noProof="1">
                    <a:solidFill>
                      <a:prstClr val="black"/>
                    </a:solidFill>
                    <a:latin typeface="Space Grotesk" pitchFamily="2" charset="0"/>
                    <a:cs typeface="Space Grotesk" pitchFamily="2" charset="0"/>
                  </a:rPr>
                  <a:t>Used to answer, then discarded</a:t>
                </a:r>
              </a:p>
            </p:txBody>
          </p:sp>
          <p:sp>
            <p:nvSpPr>
              <p:cNvPr id="37" name="Oval 83">
                <a:extLst>
                  <a:ext uri="{FF2B5EF4-FFF2-40B4-BE49-F238E27FC236}">
                    <a16:creationId xmlns:a16="http://schemas.microsoft.com/office/drawing/2014/main" id="{97D7E677-BF4B-9D11-2DF2-3F4384948552}"/>
                  </a:ext>
                </a:extLst>
              </p:cNvPr>
              <p:cNvSpPr/>
              <p:nvPr/>
            </p:nvSpPr>
            <p:spPr>
              <a:xfrm>
                <a:off x="405947" y="2318704"/>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pic>
            <p:nvPicPr>
              <p:cNvPr id="38" name="Graphic 8">
                <a:extLst>
                  <a:ext uri="{FF2B5EF4-FFF2-40B4-BE49-F238E27FC236}">
                    <a16:creationId xmlns:a16="http://schemas.microsoft.com/office/drawing/2014/main" id="{FC4BCD93-2768-B518-053E-2EC65B537D7B}"/>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89910" y="2372713"/>
                <a:ext cx="266045" cy="264529"/>
              </a:xfrm>
              <a:prstGeom prst="rect">
                <a:avLst/>
              </a:prstGeom>
            </p:spPr>
          </p:pic>
        </p:grpSp>
      </p:grpSp>
      <p:grpSp>
        <p:nvGrpSpPr>
          <p:cNvPr id="47" name="Groep 46">
            <a:extLst>
              <a:ext uri="{FF2B5EF4-FFF2-40B4-BE49-F238E27FC236}">
                <a16:creationId xmlns:a16="http://schemas.microsoft.com/office/drawing/2014/main" id="{A276B767-C14A-EC50-1CC7-7D3C619FF26E}"/>
              </a:ext>
            </a:extLst>
          </p:cNvPr>
          <p:cNvGrpSpPr/>
          <p:nvPr/>
        </p:nvGrpSpPr>
        <p:grpSpPr>
          <a:xfrm>
            <a:off x="3328301" y="1129331"/>
            <a:ext cx="2507407" cy="457591"/>
            <a:chOff x="844701" y="1517386"/>
            <a:chExt cx="3933190" cy="610120"/>
          </a:xfrm>
        </p:grpSpPr>
        <p:grpSp>
          <p:nvGrpSpPr>
            <p:cNvPr id="48" name="Group 5">
              <a:extLst>
                <a:ext uri="{FF2B5EF4-FFF2-40B4-BE49-F238E27FC236}">
                  <a16:creationId xmlns:a16="http://schemas.microsoft.com/office/drawing/2014/main" id="{CBD9ADBC-119E-3595-5EE5-5CCF7532A1BC}"/>
                </a:ext>
              </a:extLst>
            </p:cNvPr>
            <p:cNvGrpSpPr/>
            <p:nvPr/>
          </p:nvGrpSpPr>
          <p:grpSpPr>
            <a:xfrm rot="5400000">
              <a:off x="2506236" y="-144149"/>
              <a:ext cx="610120" cy="3933190"/>
              <a:chOff x="846959" y="1803176"/>
              <a:chExt cx="3473326" cy="4575005"/>
            </a:xfrm>
          </p:grpSpPr>
          <p:sp>
            <p:nvSpPr>
              <p:cNvPr id="53" name="Rectangle: Rounded Corners 8">
                <a:extLst>
                  <a:ext uri="{FF2B5EF4-FFF2-40B4-BE49-F238E27FC236}">
                    <a16:creationId xmlns:a16="http://schemas.microsoft.com/office/drawing/2014/main" id="{35DE97A1-680F-FDDD-F9F7-40C6BE6F8B7D}"/>
                  </a:ext>
                </a:extLst>
              </p:cNvPr>
              <p:cNvSpPr/>
              <p:nvPr/>
            </p:nvSpPr>
            <p:spPr>
              <a:xfrm>
                <a:off x="846959" y="1803176"/>
                <a:ext cx="2589778" cy="4567289"/>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54" name="Rectangle: Rounded Corners 11">
                <a:extLst>
                  <a:ext uri="{FF2B5EF4-FFF2-40B4-BE49-F238E27FC236}">
                    <a16:creationId xmlns:a16="http://schemas.microsoft.com/office/drawing/2014/main" id="{4DBBA1D0-3917-1917-985E-CE8C02773958}"/>
                  </a:ext>
                </a:extLst>
              </p:cNvPr>
              <p:cNvSpPr/>
              <p:nvPr/>
            </p:nvSpPr>
            <p:spPr>
              <a:xfrm>
                <a:off x="897745" y="1803179"/>
                <a:ext cx="3422540" cy="457500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49" name="Group 37">
              <a:extLst>
                <a:ext uri="{FF2B5EF4-FFF2-40B4-BE49-F238E27FC236}">
                  <a16:creationId xmlns:a16="http://schemas.microsoft.com/office/drawing/2014/main" id="{D3436D13-81C6-D41F-B5C1-D175CFF54721}"/>
                </a:ext>
              </a:extLst>
            </p:cNvPr>
            <p:cNvGrpSpPr/>
            <p:nvPr/>
          </p:nvGrpSpPr>
          <p:grpSpPr>
            <a:xfrm>
              <a:off x="913732" y="1567198"/>
              <a:ext cx="3280238" cy="509793"/>
              <a:chOff x="405947" y="2318704"/>
              <a:chExt cx="2630286" cy="406452"/>
            </a:xfrm>
          </p:grpSpPr>
          <p:sp>
            <p:nvSpPr>
              <p:cNvPr id="50" name="TextBox 7">
                <a:extLst>
                  <a:ext uri="{FF2B5EF4-FFF2-40B4-BE49-F238E27FC236}">
                    <a16:creationId xmlns:a16="http://schemas.microsoft.com/office/drawing/2014/main" id="{A9B45ABD-85F1-E308-3BFA-E6E960BF0912}"/>
                  </a:ext>
                </a:extLst>
              </p:cNvPr>
              <p:cNvSpPr txBox="1"/>
              <p:nvPr/>
            </p:nvSpPr>
            <p:spPr>
              <a:xfrm>
                <a:off x="839918" y="2342143"/>
                <a:ext cx="2196315"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Stored</a:t>
                </a:r>
              </a:p>
              <a:p>
                <a:pPr>
                  <a:defRPr/>
                </a:pPr>
                <a:r>
                  <a:rPr lang="en-US" sz="825" noProof="1">
                    <a:solidFill>
                      <a:prstClr val="black"/>
                    </a:solidFill>
                    <a:latin typeface="Space Grotesk" pitchFamily="2" charset="0"/>
                    <a:cs typeface="Space Grotesk" pitchFamily="2" charset="0"/>
                  </a:rPr>
                  <a:t>Kept in logs or servers</a:t>
                </a:r>
              </a:p>
            </p:txBody>
          </p:sp>
          <p:sp>
            <p:nvSpPr>
              <p:cNvPr id="51" name="Oval 83">
                <a:extLst>
                  <a:ext uri="{FF2B5EF4-FFF2-40B4-BE49-F238E27FC236}">
                    <a16:creationId xmlns:a16="http://schemas.microsoft.com/office/drawing/2014/main" id="{841A91AA-5587-95BD-14A0-075AEA6DD379}"/>
                  </a:ext>
                </a:extLst>
              </p:cNvPr>
              <p:cNvSpPr/>
              <p:nvPr/>
            </p:nvSpPr>
            <p:spPr>
              <a:xfrm>
                <a:off x="405947" y="2318704"/>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grpSp>
      </p:grpSp>
      <p:grpSp>
        <p:nvGrpSpPr>
          <p:cNvPr id="55" name="Groep 54">
            <a:extLst>
              <a:ext uri="{FF2B5EF4-FFF2-40B4-BE49-F238E27FC236}">
                <a16:creationId xmlns:a16="http://schemas.microsoft.com/office/drawing/2014/main" id="{7B8E7CF9-E0E5-E2B3-A998-DDF5FDA71038}"/>
              </a:ext>
            </a:extLst>
          </p:cNvPr>
          <p:cNvGrpSpPr/>
          <p:nvPr/>
        </p:nvGrpSpPr>
        <p:grpSpPr>
          <a:xfrm>
            <a:off x="5969394" y="1119900"/>
            <a:ext cx="2507406" cy="459816"/>
            <a:chOff x="348523" y="1517385"/>
            <a:chExt cx="3940444" cy="613088"/>
          </a:xfrm>
        </p:grpSpPr>
        <p:grpSp>
          <p:nvGrpSpPr>
            <p:cNvPr id="56" name="Group 5">
              <a:extLst>
                <a:ext uri="{FF2B5EF4-FFF2-40B4-BE49-F238E27FC236}">
                  <a16:creationId xmlns:a16="http://schemas.microsoft.com/office/drawing/2014/main" id="{D1872DF4-3869-A3B9-3191-C6558B87C72D}"/>
                </a:ext>
              </a:extLst>
            </p:cNvPr>
            <p:cNvGrpSpPr/>
            <p:nvPr/>
          </p:nvGrpSpPr>
          <p:grpSpPr>
            <a:xfrm rot="5400000">
              <a:off x="2012201" y="-146293"/>
              <a:ext cx="613088" cy="3940444"/>
              <a:chOff x="846944" y="2371883"/>
              <a:chExt cx="3490207" cy="4583443"/>
            </a:xfrm>
          </p:grpSpPr>
          <p:sp>
            <p:nvSpPr>
              <p:cNvPr id="61" name="Rectangle: Rounded Corners 8">
                <a:extLst>
                  <a:ext uri="{FF2B5EF4-FFF2-40B4-BE49-F238E27FC236}">
                    <a16:creationId xmlns:a16="http://schemas.microsoft.com/office/drawing/2014/main" id="{6DCB9A2E-9649-F222-4284-9749ECDF25FE}"/>
                  </a:ext>
                </a:extLst>
              </p:cNvPr>
              <p:cNvSpPr/>
              <p:nvPr/>
            </p:nvSpPr>
            <p:spPr>
              <a:xfrm>
                <a:off x="846944" y="2371883"/>
                <a:ext cx="2589772" cy="4583443"/>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2" name="Rectangle: Rounded Corners 11">
                <a:extLst>
                  <a:ext uri="{FF2B5EF4-FFF2-40B4-BE49-F238E27FC236}">
                    <a16:creationId xmlns:a16="http://schemas.microsoft.com/office/drawing/2014/main" id="{2EFAA1B4-A326-43A4-7D4D-7AAFBE452F24}"/>
                  </a:ext>
                </a:extLst>
              </p:cNvPr>
              <p:cNvSpPr/>
              <p:nvPr/>
            </p:nvSpPr>
            <p:spPr>
              <a:xfrm>
                <a:off x="921739" y="2371884"/>
                <a:ext cx="3415412" cy="458344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grpSp>
          <p:nvGrpSpPr>
            <p:cNvPr id="57" name="Group 37">
              <a:extLst>
                <a:ext uri="{FF2B5EF4-FFF2-40B4-BE49-F238E27FC236}">
                  <a16:creationId xmlns:a16="http://schemas.microsoft.com/office/drawing/2014/main" id="{375DAD42-2A43-1DC3-1FD9-125A78875326}"/>
                </a:ext>
              </a:extLst>
            </p:cNvPr>
            <p:cNvGrpSpPr/>
            <p:nvPr/>
          </p:nvGrpSpPr>
          <p:grpSpPr>
            <a:xfrm>
              <a:off x="411716" y="1550900"/>
              <a:ext cx="3734133" cy="526333"/>
              <a:chOff x="3402" y="2305709"/>
              <a:chExt cx="2994244" cy="419639"/>
            </a:xfrm>
          </p:grpSpPr>
          <p:sp>
            <p:nvSpPr>
              <p:cNvPr id="58" name="TextBox 7">
                <a:extLst>
                  <a:ext uri="{FF2B5EF4-FFF2-40B4-BE49-F238E27FC236}">
                    <a16:creationId xmlns:a16="http://schemas.microsoft.com/office/drawing/2014/main" id="{A3F95C63-0B9C-CC8A-C480-123D5452C914}"/>
                  </a:ext>
                </a:extLst>
              </p:cNvPr>
              <p:cNvSpPr txBox="1"/>
              <p:nvPr/>
            </p:nvSpPr>
            <p:spPr>
              <a:xfrm>
                <a:off x="437373" y="2344999"/>
                <a:ext cx="2560273" cy="380349"/>
              </a:xfrm>
              <a:prstGeom prst="rect">
                <a:avLst/>
              </a:prstGeom>
              <a:noFill/>
            </p:spPr>
            <p:txBody>
              <a:bodyPr wrap="square" rtlCol="0">
                <a:spAutoFit/>
              </a:bodyPr>
              <a:lstStyle/>
              <a:p>
                <a:pPr>
                  <a:defRPr/>
                </a:pPr>
                <a:r>
                  <a:rPr lang="en-US" sz="900" b="1" noProof="1">
                    <a:solidFill>
                      <a:prstClr val="black"/>
                    </a:solidFill>
                    <a:latin typeface="Space Grotesk" pitchFamily="2" charset="0"/>
                    <a:cs typeface="Space Grotesk" pitchFamily="2" charset="0"/>
                  </a:rPr>
                  <a:t>Used to train model</a:t>
                </a:r>
              </a:p>
              <a:p>
                <a:pPr>
                  <a:defRPr/>
                </a:pPr>
                <a:r>
                  <a:rPr lang="en-US" sz="825" noProof="1">
                    <a:solidFill>
                      <a:prstClr val="black"/>
                    </a:solidFill>
                    <a:latin typeface="Space Grotesk" pitchFamily="2" charset="0"/>
                    <a:cs typeface="Space Grotesk" pitchFamily="2" charset="0"/>
                  </a:rPr>
                  <a:t>Becomes part of future outputs </a:t>
                </a:r>
              </a:p>
            </p:txBody>
          </p:sp>
          <p:sp>
            <p:nvSpPr>
              <p:cNvPr id="59" name="Oval 83">
                <a:extLst>
                  <a:ext uri="{FF2B5EF4-FFF2-40B4-BE49-F238E27FC236}">
                    <a16:creationId xmlns:a16="http://schemas.microsoft.com/office/drawing/2014/main" id="{B42EBC70-A9C2-1FDF-566D-F582DD9241C5}"/>
                  </a:ext>
                </a:extLst>
              </p:cNvPr>
              <p:cNvSpPr/>
              <p:nvPr/>
            </p:nvSpPr>
            <p:spPr>
              <a:xfrm>
                <a:off x="3402" y="2305709"/>
                <a:ext cx="433971" cy="406452"/>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500" b="1" noProof="1">
                  <a:solidFill>
                    <a:prstClr val="white"/>
                  </a:solidFill>
                  <a:latin typeface="Space Grotesk" pitchFamily="2" charset="0"/>
                  <a:cs typeface="Space Grotesk" pitchFamily="2" charset="0"/>
                </a:endParaRPr>
              </a:p>
            </p:txBody>
          </p:sp>
        </p:grpSp>
      </p:grpSp>
      <p:pic>
        <p:nvPicPr>
          <p:cNvPr id="63" name="Graphic 8">
            <a:extLst>
              <a:ext uri="{FF2B5EF4-FFF2-40B4-BE49-F238E27FC236}">
                <a16:creationId xmlns:a16="http://schemas.microsoft.com/office/drawing/2014/main" id="{02625ECF-DE9F-68E5-9F49-F2C5E7E170E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406916" y="1221677"/>
            <a:ext cx="248840" cy="248840"/>
          </a:xfrm>
          <a:prstGeom prst="rect">
            <a:avLst/>
          </a:prstGeom>
        </p:spPr>
      </p:pic>
      <p:pic>
        <p:nvPicPr>
          <p:cNvPr id="64" name="Graphic 8">
            <a:extLst>
              <a:ext uri="{FF2B5EF4-FFF2-40B4-BE49-F238E27FC236}">
                <a16:creationId xmlns:a16="http://schemas.microsoft.com/office/drawing/2014/main" id="{80D5023F-13D7-C1BF-5893-2E3E07229E2E}"/>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057378" y="1207193"/>
            <a:ext cx="248840" cy="248840"/>
          </a:xfrm>
          <a:prstGeom prst="rect">
            <a:avLst/>
          </a:prstGeom>
        </p:spPr>
      </p:pic>
    </p:spTree>
    <p:extLst>
      <p:ext uri="{BB962C8B-B14F-4D97-AF65-F5344CB8AC3E}">
        <p14:creationId xmlns:p14="http://schemas.microsoft.com/office/powerpoint/2010/main" val="77352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2C97-A489-A6A5-5186-95864587867B}"/>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B75E715-5B99-A6DF-22AB-DF59839CBE95}"/>
              </a:ext>
            </a:extLst>
          </p:cNvPr>
          <p:cNvSpPr txBox="1"/>
          <p:nvPr/>
        </p:nvSpPr>
        <p:spPr>
          <a:xfrm>
            <a:off x="635213" y="470003"/>
            <a:ext cx="7203742"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Where AI goes wrong (and why)</a:t>
            </a:r>
          </a:p>
        </p:txBody>
      </p:sp>
      <p:grpSp>
        <p:nvGrpSpPr>
          <p:cNvPr id="3" name="Group 131">
            <a:extLst>
              <a:ext uri="{FF2B5EF4-FFF2-40B4-BE49-F238E27FC236}">
                <a16:creationId xmlns:a16="http://schemas.microsoft.com/office/drawing/2014/main" id="{FF06C9BB-9444-1F28-5CB9-0DB6FEF5B772}"/>
              </a:ext>
            </a:extLst>
          </p:cNvPr>
          <p:cNvGrpSpPr/>
          <p:nvPr/>
        </p:nvGrpSpPr>
        <p:grpSpPr>
          <a:xfrm>
            <a:off x="633121" y="1138038"/>
            <a:ext cx="1914709" cy="1673215"/>
            <a:chOff x="399996" y="1803394"/>
            <a:chExt cx="2047100" cy="1778714"/>
          </a:xfrm>
        </p:grpSpPr>
        <p:grpSp>
          <p:nvGrpSpPr>
            <p:cNvPr id="5" name="Group 5">
              <a:extLst>
                <a:ext uri="{FF2B5EF4-FFF2-40B4-BE49-F238E27FC236}">
                  <a16:creationId xmlns:a16="http://schemas.microsoft.com/office/drawing/2014/main" id="{57183324-E715-BD33-E607-AF25D9A47278}"/>
                </a:ext>
              </a:extLst>
            </p:cNvPr>
            <p:cNvGrpSpPr/>
            <p:nvPr/>
          </p:nvGrpSpPr>
          <p:grpSpPr>
            <a:xfrm rot="5400000">
              <a:off x="534189" y="1669201"/>
              <a:ext cx="1778714" cy="2047100"/>
              <a:chOff x="846950" y="3409279"/>
              <a:chExt cx="3466210" cy="2969533"/>
            </a:xfrm>
          </p:grpSpPr>
          <p:sp>
            <p:nvSpPr>
              <p:cNvPr id="10" name="Rectangle: Rounded Corners 8">
                <a:extLst>
                  <a:ext uri="{FF2B5EF4-FFF2-40B4-BE49-F238E27FC236}">
                    <a16:creationId xmlns:a16="http://schemas.microsoft.com/office/drawing/2014/main" id="{EC592E25-3707-49BD-57E8-0F375ECCEDEE}"/>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1" name="Rectangle: Rounded Corners 11">
                <a:extLst>
                  <a:ext uri="{FF2B5EF4-FFF2-40B4-BE49-F238E27FC236}">
                    <a16:creationId xmlns:a16="http://schemas.microsoft.com/office/drawing/2014/main" id="{7E9A9CCF-75CE-B8C7-9D29-036600682CFD}"/>
                  </a:ext>
                </a:extLst>
              </p:cNvPr>
              <p:cNvSpPr/>
              <p:nvPr/>
            </p:nvSpPr>
            <p:spPr>
              <a:xfrm>
                <a:off x="897748" y="3409279"/>
                <a:ext cx="3415412"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6" name="Group 37">
              <a:extLst>
                <a:ext uri="{FF2B5EF4-FFF2-40B4-BE49-F238E27FC236}">
                  <a16:creationId xmlns:a16="http://schemas.microsoft.com/office/drawing/2014/main" id="{1EBD4CD7-8F30-423E-E325-ECE19F4622BC}"/>
                </a:ext>
              </a:extLst>
            </p:cNvPr>
            <p:cNvGrpSpPr/>
            <p:nvPr/>
          </p:nvGrpSpPr>
          <p:grpSpPr>
            <a:xfrm>
              <a:off x="508136" y="1940197"/>
              <a:ext cx="1887237" cy="1542855"/>
              <a:chOff x="369236" y="2275871"/>
              <a:chExt cx="1887237" cy="1542855"/>
            </a:xfrm>
          </p:grpSpPr>
          <p:sp>
            <p:nvSpPr>
              <p:cNvPr id="7" name="TextBox 7">
                <a:extLst>
                  <a:ext uri="{FF2B5EF4-FFF2-40B4-BE49-F238E27FC236}">
                    <a16:creationId xmlns:a16="http://schemas.microsoft.com/office/drawing/2014/main" id="{A27EF9B0-49D9-2D3C-E925-813C33DE8390}"/>
                  </a:ext>
                </a:extLst>
              </p:cNvPr>
              <p:cNvSpPr txBox="1"/>
              <p:nvPr/>
            </p:nvSpPr>
            <p:spPr>
              <a:xfrm>
                <a:off x="369236" y="2880053"/>
                <a:ext cx="1887237" cy="938673"/>
              </a:xfrm>
              <a:prstGeom prst="rect">
                <a:avLst/>
              </a:prstGeom>
              <a:noFill/>
            </p:spPr>
            <p:txBody>
              <a:bodyPr wrap="square" rtlCol="0">
                <a:spAutoFit/>
              </a:bodyPr>
              <a:lstStyle/>
              <a:p>
                <a:r>
                  <a:rPr lang="en-US" sz="1013" b="1" noProof="1">
                    <a:latin typeface="Space Grotesk" pitchFamily="2" charset="0"/>
                    <a:cs typeface="Space Grotesk" pitchFamily="2" charset="0"/>
                  </a:rPr>
                  <a:t>Hallucination</a:t>
                </a:r>
              </a:p>
              <a:p>
                <a:endParaRPr lang="en-US" sz="825" b="1" noProof="1">
                  <a:latin typeface="Space Grotesk" pitchFamily="2" charset="0"/>
                  <a:cs typeface="Space Grotesk" pitchFamily="2" charset="0"/>
                </a:endParaRPr>
              </a:p>
              <a:p>
                <a:r>
                  <a:rPr lang="en-US" sz="825" noProof="1">
                    <a:latin typeface="Space Grotesk" pitchFamily="2" charset="0"/>
                    <a:cs typeface="Space Grotesk" pitchFamily="2" charset="0"/>
                  </a:rPr>
                  <a:t>AI invents facts, quotes and references that sound completely authoritative —but don't actually exist.</a:t>
                </a:r>
                <a:endParaRPr lang="en-US" sz="150" noProof="1">
                  <a:solidFill>
                    <a:prstClr val="black"/>
                  </a:solidFill>
                  <a:latin typeface="Space Grotesk" pitchFamily="2" charset="0"/>
                  <a:cs typeface="Space Grotesk" pitchFamily="2" charset="0"/>
                </a:endParaRPr>
              </a:p>
            </p:txBody>
          </p:sp>
          <p:sp>
            <p:nvSpPr>
              <p:cNvPr id="8" name="Oval 83">
                <a:extLst>
                  <a:ext uri="{FF2B5EF4-FFF2-40B4-BE49-F238E27FC236}">
                    <a16:creationId xmlns:a16="http://schemas.microsoft.com/office/drawing/2014/main" id="{CD4E6B25-8D68-0BB6-AFD2-6D8023788343}"/>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9" name="Graphic 8">
                <a:extLst>
                  <a:ext uri="{FF2B5EF4-FFF2-40B4-BE49-F238E27FC236}">
                    <a16:creationId xmlns:a16="http://schemas.microsoft.com/office/drawing/2014/main" id="{9C1E660B-1476-ED21-9781-7D74E377EB8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60330" y="2352034"/>
                <a:ext cx="352541" cy="350532"/>
              </a:xfrm>
              <a:prstGeom prst="rect">
                <a:avLst/>
              </a:prstGeom>
            </p:spPr>
          </p:pic>
        </p:grpSp>
      </p:grpSp>
      <p:grpSp>
        <p:nvGrpSpPr>
          <p:cNvPr id="12" name="Group 132">
            <a:extLst>
              <a:ext uri="{FF2B5EF4-FFF2-40B4-BE49-F238E27FC236}">
                <a16:creationId xmlns:a16="http://schemas.microsoft.com/office/drawing/2014/main" id="{37369788-1199-16EE-1719-5A5B9D90DAD3}"/>
              </a:ext>
            </a:extLst>
          </p:cNvPr>
          <p:cNvGrpSpPr/>
          <p:nvPr/>
        </p:nvGrpSpPr>
        <p:grpSpPr>
          <a:xfrm>
            <a:off x="2713327" y="1138218"/>
            <a:ext cx="1895067" cy="1648694"/>
            <a:chOff x="2610761" y="1803393"/>
            <a:chExt cx="2047100" cy="1778714"/>
          </a:xfrm>
        </p:grpSpPr>
        <p:grpSp>
          <p:nvGrpSpPr>
            <p:cNvPr id="13" name="Group 96">
              <a:extLst>
                <a:ext uri="{FF2B5EF4-FFF2-40B4-BE49-F238E27FC236}">
                  <a16:creationId xmlns:a16="http://schemas.microsoft.com/office/drawing/2014/main" id="{083C1547-3CD4-45F4-CEF0-7E789416F341}"/>
                </a:ext>
              </a:extLst>
            </p:cNvPr>
            <p:cNvGrpSpPr/>
            <p:nvPr/>
          </p:nvGrpSpPr>
          <p:grpSpPr>
            <a:xfrm rot="5400000">
              <a:off x="2744954" y="1669200"/>
              <a:ext cx="1778714" cy="2047100"/>
              <a:chOff x="846950" y="3409278"/>
              <a:chExt cx="3466210" cy="2969533"/>
            </a:xfrm>
          </p:grpSpPr>
          <p:sp>
            <p:nvSpPr>
              <p:cNvPr id="18" name="Rectangle: Rounded Corners 97">
                <a:extLst>
                  <a:ext uri="{FF2B5EF4-FFF2-40B4-BE49-F238E27FC236}">
                    <a16:creationId xmlns:a16="http://schemas.microsoft.com/office/drawing/2014/main" id="{D3F69741-0DFC-2F43-5654-5D13A0B17BD3}"/>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9" name="Rectangle: Rounded Corners 99">
                <a:extLst>
                  <a:ext uri="{FF2B5EF4-FFF2-40B4-BE49-F238E27FC236}">
                    <a16:creationId xmlns:a16="http://schemas.microsoft.com/office/drawing/2014/main" id="{B8434936-5A3E-58E3-2977-96508559DE88}"/>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14" name="Group 102">
              <a:extLst>
                <a:ext uri="{FF2B5EF4-FFF2-40B4-BE49-F238E27FC236}">
                  <a16:creationId xmlns:a16="http://schemas.microsoft.com/office/drawing/2014/main" id="{80899599-DE4C-8A2C-12DF-B12A3DD67EB6}"/>
                </a:ext>
              </a:extLst>
            </p:cNvPr>
            <p:cNvGrpSpPr/>
            <p:nvPr/>
          </p:nvGrpSpPr>
          <p:grpSpPr>
            <a:xfrm>
              <a:off x="2718900" y="1940197"/>
              <a:ext cx="1923713" cy="1581720"/>
              <a:chOff x="369235" y="2275871"/>
              <a:chExt cx="1923713" cy="1581720"/>
            </a:xfrm>
          </p:grpSpPr>
          <p:sp>
            <p:nvSpPr>
              <p:cNvPr id="15" name="TextBox 103">
                <a:extLst>
                  <a:ext uri="{FF2B5EF4-FFF2-40B4-BE49-F238E27FC236}">
                    <a16:creationId xmlns:a16="http://schemas.microsoft.com/office/drawing/2014/main" id="{91E69F3F-709D-C6A4-B8F1-358C856FE002}"/>
                  </a:ext>
                </a:extLst>
              </p:cNvPr>
              <p:cNvSpPr txBox="1"/>
              <p:nvPr/>
            </p:nvSpPr>
            <p:spPr>
              <a:xfrm>
                <a:off x="369235" y="2880053"/>
                <a:ext cx="1923713" cy="977538"/>
              </a:xfrm>
              <a:prstGeom prst="rect">
                <a:avLst/>
              </a:prstGeom>
              <a:noFill/>
            </p:spPr>
            <p:txBody>
              <a:bodyPr wrap="square" rtlCol="0">
                <a:spAutoFit/>
              </a:bodyPr>
              <a:lstStyle/>
              <a:p>
                <a:r>
                  <a:rPr lang="en-US" sz="1013" b="1" noProof="1">
                    <a:latin typeface="Space Grotesk" pitchFamily="2" charset="0"/>
                    <a:cs typeface="Space Grotesk" pitchFamily="2" charset="0"/>
                  </a:rPr>
                  <a:t>Arithemic errors</a:t>
                </a:r>
              </a:p>
              <a:p>
                <a:endParaRPr lang="en-US" sz="825" b="1" noProof="1">
                  <a:latin typeface="Space Grotesk" pitchFamily="2" charset="0"/>
                  <a:cs typeface="Space Grotesk" pitchFamily="2" charset="0"/>
                </a:endParaRPr>
              </a:p>
              <a:p>
                <a:r>
                  <a:rPr lang="en-US" sz="825" noProof="1">
                    <a:latin typeface="Space Grotesk" pitchFamily="2" charset="77"/>
                    <a:cs typeface="Space Grotesk" pitchFamily="2" charset="77"/>
                  </a:rPr>
                  <a:t>AI is a language model, not a calculator. It predicts what a number should look like — it doesn’t compute it</a:t>
                </a:r>
                <a:endParaRPr lang="en-US" sz="825" b="1" noProof="1">
                  <a:latin typeface="Space Grotesk" pitchFamily="2" charset="77"/>
                  <a:cs typeface="Space Grotesk" pitchFamily="2" charset="77"/>
                </a:endParaRPr>
              </a:p>
              <a:p>
                <a:pPr>
                  <a:defRPr/>
                </a:pPr>
                <a:endParaRPr lang="en-US" sz="150" noProof="1">
                  <a:solidFill>
                    <a:prstClr val="black"/>
                  </a:solidFill>
                  <a:latin typeface="Space Grotesk" pitchFamily="2" charset="0"/>
                  <a:cs typeface="Space Grotesk" pitchFamily="2" charset="0"/>
                </a:endParaRPr>
              </a:p>
            </p:txBody>
          </p:sp>
          <p:sp>
            <p:nvSpPr>
              <p:cNvPr id="16" name="Oval 104">
                <a:extLst>
                  <a:ext uri="{FF2B5EF4-FFF2-40B4-BE49-F238E27FC236}">
                    <a16:creationId xmlns:a16="http://schemas.microsoft.com/office/drawing/2014/main" id="{DBFC52B6-44E1-0284-372C-C1C3E3D5AB90}"/>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17" name="Graphic 16">
                <a:extLst>
                  <a:ext uri="{FF2B5EF4-FFF2-40B4-BE49-F238E27FC236}">
                    <a16:creationId xmlns:a16="http://schemas.microsoft.com/office/drawing/2014/main" id="{F1031AD6-0E46-D8BB-2717-3C7599CE1A4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60330" y="2351253"/>
                <a:ext cx="352541" cy="352096"/>
              </a:xfrm>
              <a:prstGeom prst="rect">
                <a:avLst/>
              </a:prstGeom>
            </p:spPr>
          </p:pic>
        </p:grpSp>
      </p:grpSp>
      <p:grpSp>
        <p:nvGrpSpPr>
          <p:cNvPr id="20" name="Group 133">
            <a:extLst>
              <a:ext uri="{FF2B5EF4-FFF2-40B4-BE49-F238E27FC236}">
                <a16:creationId xmlns:a16="http://schemas.microsoft.com/office/drawing/2014/main" id="{1BFF7C8A-0CB9-A152-0783-42FAD0630693}"/>
              </a:ext>
            </a:extLst>
          </p:cNvPr>
          <p:cNvGrpSpPr/>
          <p:nvPr/>
        </p:nvGrpSpPr>
        <p:grpSpPr>
          <a:xfrm>
            <a:off x="4773891" y="1138396"/>
            <a:ext cx="1895068" cy="1624531"/>
            <a:chOff x="4798376" y="1803393"/>
            <a:chExt cx="2047100" cy="1778714"/>
          </a:xfrm>
        </p:grpSpPr>
        <p:grpSp>
          <p:nvGrpSpPr>
            <p:cNvPr id="21" name="Group 106">
              <a:extLst>
                <a:ext uri="{FF2B5EF4-FFF2-40B4-BE49-F238E27FC236}">
                  <a16:creationId xmlns:a16="http://schemas.microsoft.com/office/drawing/2014/main" id="{9E4ADDB1-5E7C-8728-612C-503F58959793}"/>
                </a:ext>
              </a:extLst>
            </p:cNvPr>
            <p:cNvGrpSpPr/>
            <p:nvPr/>
          </p:nvGrpSpPr>
          <p:grpSpPr>
            <a:xfrm rot="5400000">
              <a:off x="4932569" y="1669200"/>
              <a:ext cx="1778714" cy="2047100"/>
              <a:chOff x="846950" y="3409278"/>
              <a:chExt cx="3466210" cy="2969533"/>
            </a:xfrm>
          </p:grpSpPr>
          <p:sp>
            <p:nvSpPr>
              <p:cNvPr id="26" name="Rectangle: Rounded Corners 107">
                <a:extLst>
                  <a:ext uri="{FF2B5EF4-FFF2-40B4-BE49-F238E27FC236}">
                    <a16:creationId xmlns:a16="http://schemas.microsoft.com/office/drawing/2014/main" id="{0B050DBD-78C3-9273-A7FB-907438CF9C4C}"/>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7" name="Rectangle: Rounded Corners 109">
                <a:extLst>
                  <a:ext uri="{FF2B5EF4-FFF2-40B4-BE49-F238E27FC236}">
                    <a16:creationId xmlns:a16="http://schemas.microsoft.com/office/drawing/2014/main" id="{043BA57F-B39E-FC67-5836-19DC687AF265}"/>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22" name="Group 113">
              <a:extLst>
                <a:ext uri="{FF2B5EF4-FFF2-40B4-BE49-F238E27FC236}">
                  <a16:creationId xmlns:a16="http://schemas.microsoft.com/office/drawing/2014/main" id="{373FC31E-35CD-6AC0-FDA6-9442943D01B6}"/>
                </a:ext>
              </a:extLst>
            </p:cNvPr>
            <p:cNvGrpSpPr/>
            <p:nvPr/>
          </p:nvGrpSpPr>
          <p:grpSpPr>
            <a:xfrm>
              <a:off x="4906516" y="1940197"/>
              <a:ext cx="1799924" cy="1596259"/>
              <a:chOff x="369236" y="2275871"/>
              <a:chExt cx="1799924" cy="1596259"/>
            </a:xfrm>
          </p:grpSpPr>
          <p:sp>
            <p:nvSpPr>
              <p:cNvPr id="23" name="TextBox 114">
                <a:extLst>
                  <a:ext uri="{FF2B5EF4-FFF2-40B4-BE49-F238E27FC236}">
                    <a16:creationId xmlns:a16="http://schemas.microsoft.com/office/drawing/2014/main" id="{DAAAEA2E-9FB1-D361-732F-94673D4452D3}"/>
                  </a:ext>
                </a:extLst>
              </p:cNvPr>
              <p:cNvSpPr txBox="1"/>
              <p:nvPr/>
            </p:nvSpPr>
            <p:spPr>
              <a:xfrm>
                <a:off x="369236" y="2880053"/>
                <a:ext cx="1799924" cy="992077"/>
              </a:xfrm>
              <a:prstGeom prst="rect">
                <a:avLst/>
              </a:prstGeom>
              <a:noFill/>
            </p:spPr>
            <p:txBody>
              <a:bodyPr wrap="square" rtlCol="0">
                <a:spAutoFit/>
              </a:bodyPr>
              <a:lstStyle/>
              <a:p>
                <a:r>
                  <a:rPr lang="en-US" sz="1013" b="1" noProof="1">
                    <a:latin typeface="Space Grotesk" pitchFamily="2" charset="0"/>
                    <a:cs typeface="Space Grotesk" pitchFamily="2" charset="0"/>
                  </a:rPr>
                  <a:t>Stale knowledge</a:t>
                </a:r>
              </a:p>
              <a:p>
                <a:r>
                  <a:rPr lang="en-US" sz="825" noProof="1">
                    <a:latin typeface="Space Grotesk" pitchFamily="2" charset="77"/>
                    <a:cs typeface="Space Grotesk" pitchFamily="2" charset="77"/>
                  </a:rPr>
                  <a:t>Every model has a cutoffdate. It doesn't know about recent events, updates, or anythingafter it was trained.</a:t>
                </a:r>
                <a:r>
                  <a:rPr lang="en-US" sz="825" b="1" noProof="1">
                    <a:latin typeface="Space Grotesk" pitchFamily="2" charset="77"/>
                    <a:cs typeface="Space Grotesk" pitchFamily="2" charset="77"/>
                  </a:rPr>
                  <a:t> </a:t>
                </a:r>
              </a:p>
              <a:p>
                <a:pPr>
                  <a:defRPr/>
                </a:pPr>
                <a:endParaRPr lang="en-US" sz="150" noProof="1">
                  <a:solidFill>
                    <a:prstClr val="black"/>
                  </a:solidFill>
                  <a:latin typeface="Space Grotesk" pitchFamily="2" charset="0"/>
                  <a:cs typeface="Space Grotesk" pitchFamily="2" charset="0"/>
                </a:endParaRPr>
              </a:p>
            </p:txBody>
          </p:sp>
          <p:sp>
            <p:nvSpPr>
              <p:cNvPr id="24" name="Oval 115">
                <a:extLst>
                  <a:ext uri="{FF2B5EF4-FFF2-40B4-BE49-F238E27FC236}">
                    <a16:creationId xmlns:a16="http://schemas.microsoft.com/office/drawing/2014/main" id="{D39F2A91-5C6C-0E64-8700-5E7BEA64908B}"/>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25" name="Graphic 24">
                <a:extLst>
                  <a:ext uri="{FF2B5EF4-FFF2-40B4-BE49-F238E27FC236}">
                    <a16:creationId xmlns:a16="http://schemas.microsoft.com/office/drawing/2014/main" id="{D9F87B51-8631-D3B7-32BB-346974FA30C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62694" y="2351030"/>
                <a:ext cx="347813" cy="352541"/>
              </a:xfrm>
              <a:prstGeom prst="rect">
                <a:avLst/>
              </a:prstGeom>
            </p:spPr>
          </p:pic>
        </p:grpSp>
      </p:grpSp>
      <p:grpSp>
        <p:nvGrpSpPr>
          <p:cNvPr id="28" name="Group 134">
            <a:extLst>
              <a:ext uri="{FF2B5EF4-FFF2-40B4-BE49-F238E27FC236}">
                <a16:creationId xmlns:a16="http://schemas.microsoft.com/office/drawing/2014/main" id="{B56C2EF2-5034-A8F1-37EB-82E42A766CD6}"/>
              </a:ext>
            </a:extLst>
          </p:cNvPr>
          <p:cNvGrpSpPr/>
          <p:nvPr/>
        </p:nvGrpSpPr>
        <p:grpSpPr>
          <a:xfrm>
            <a:off x="6834457" y="1162670"/>
            <a:ext cx="1895068" cy="1624532"/>
            <a:chOff x="6918200" y="1803393"/>
            <a:chExt cx="2047100" cy="1778714"/>
          </a:xfrm>
        </p:grpSpPr>
        <p:grpSp>
          <p:nvGrpSpPr>
            <p:cNvPr id="29" name="Group 117">
              <a:extLst>
                <a:ext uri="{FF2B5EF4-FFF2-40B4-BE49-F238E27FC236}">
                  <a16:creationId xmlns:a16="http://schemas.microsoft.com/office/drawing/2014/main" id="{0E652DDB-B6A6-C052-7D31-3D2D16EE253D}"/>
                </a:ext>
              </a:extLst>
            </p:cNvPr>
            <p:cNvGrpSpPr/>
            <p:nvPr/>
          </p:nvGrpSpPr>
          <p:grpSpPr>
            <a:xfrm rot="5400000">
              <a:off x="7052393" y="1669200"/>
              <a:ext cx="1778714" cy="2047100"/>
              <a:chOff x="846950" y="3409278"/>
              <a:chExt cx="3466210" cy="2969533"/>
            </a:xfrm>
          </p:grpSpPr>
          <p:sp>
            <p:nvSpPr>
              <p:cNvPr id="34" name="Rectangle: Rounded Corners 118">
                <a:extLst>
                  <a:ext uri="{FF2B5EF4-FFF2-40B4-BE49-F238E27FC236}">
                    <a16:creationId xmlns:a16="http://schemas.microsoft.com/office/drawing/2014/main" id="{00FF9912-A34B-9D79-E7C0-3D579C84ED57}"/>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5" name="Rectangle: Rounded Corners 119">
                <a:extLst>
                  <a:ext uri="{FF2B5EF4-FFF2-40B4-BE49-F238E27FC236}">
                    <a16:creationId xmlns:a16="http://schemas.microsoft.com/office/drawing/2014/main" id="{F3B25CEE-4AD5-3945-A63B-F4254D2E38A5}"/>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30" name="Group 120">
              <a:extLst>
                <a:ext uri="{FF2B5EF4-FFF2-40B4-BE49-F238E27FC236}">
                  <a16:creationId xmlns:a16="http://schemas.microsoft.com/office/drawing/2014/main" id="{62505D47-2869-3325-37DD-FAB5D2981F7C}"/>
                </a:ext>
              </a:extLst>
            </p:cNvPr>
            <p:cNvGrpSpPr/>
            <p:nvPr/>
          </p:nvGrpSpPr>
          <p:grpSpPr>
            <a:xfrm>
              <a:off x="7026340" y="1940197"/>
              <a:ext cx="1799924" cy="1457252"/>
              <a:chOff x="369236" y="2275871"/>
              <a:chExt cx="1799924" cy="1457252"/>
            </a:xfrm>
          </p:grpSpPr>
          <p:sp>
            <p:nvSpPr>
              <p:cNvPr id="31" name="TextBox 121">
                <a:extLst>
                  <a:ext uri="{FF2B5EF4-FFF2-40B4-BE49-F238E27FC236}">
                    <a16:creationId xmlns:a16="http://schemas.microsoft.com/office/drawing/2014/main" id="{158304DE-BB0D-D856-AE27-CB6A2E216C35}"/>
                  </a:ext>
                </a:extLst>
              </p:cNvPr>
              <p:cNvSpPr txBox="1"/>
              <p:nvPr/>
            </p:nvSpPr>
            <p:spPr>
              <a:xfrm>
                <a:off x="369236" y="2880053"/>
                <a:ext cx="1799924" cy="853070"/>
              </a:xfrm>
              <a:prstGeom prst="rect">
                <a:avLst/>
              </a:prstGeom>
              <a:noFill/>
            </p:spPr>
            <p:txBody>
              <a:bodyPr wrap="square" rtlCol="0">
                <a:spAutoFit/>
              </a:bodyPr>
              <a:lstStyle/>
              <a:p>
                <a:r>
                  <a:rPr lang="en-US" sz="1013" b="1" noProof="1">
                    <a:latin typeface="Space Grotesk" pitchFamily="2" charset="0"/>
                    <a:cs typeface="Space Grotesk" pitchFamily="2" charset="0"/>
                  </a:rPr>
                  <a:t>Overconfidence</a:t>
                </a:r>
                <a:endParaRPr lang="en-US" sz="825" b="1" noProof="1">
                  <a:latin typeface="Space Grotesk" pitchFamily="2" charset="0"/>
                  <a:cs typeface="Space Grotesk" pitchFamily="2" charset="0"/>
                </a:endParaRPr>
              </a:p>
              <a:p>
                <a:r>
                  <a:rPr lang="en-US" sz="825" noProof="1">
                    <a:latin typeface="Space Grotesk" pitchFamily="2" charset="0"/>
                    <a:cs typeface="Space Grotesk" pitchFamily="2" charset="0"/>
                  </a:rPr>
                  <a:t>AI will never say "I'm not sure". Every answer is delivered in the same calm, polished,confident tone.</a:t>
                </a:r>
              </a:p>
              <a:p>
                <a:pPr>
                  <a:defRPr/>
                </a:pPr>
                <a:endParaRPr lang="en-US" sz="150" noProof="1">
                  <a:solidFill>
                    <a:prstClr val="black"/>
                  </a:solidFill>
                  <a:latin typeface="Space Grotesk" pitchFamily="2" charset="0"/>
                  <a:cs typeface="Space Grotesk" pitchFamily="2" charset="0"/>
                </a:endParaRPr>
              </a:p>
            </p:txBody>
          </p:sp>
          <p:sp>
            <p:nvSpPr>
              <p:cNvPr id="32" name="Oval 122">
                <a:extLst>
                  <a:ext uri="{FF2B5EF4-FFF2-40B4-BE49-F238E27FC236}">
                    <a16:creationId xmlns:a16="http://schemas.microsoft.com/office/drawing/2014/main" id="{7FE583EB-58A4-C4FD-6C43-3EA0778C8392}"/>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33" name="Graphic 32">
                <a:extLst>
                  <a:ext uri="{FF2B5EF4-FFF2-40B4-BE49-F238E27FC236}">
                    <a16:creationId xmlns:a16="http://schemas.microsoft.com/office/drawing/2014/main" id="{503FC1DB-928D-4324-920F-3846B560F11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562694" y="2351030"/>
                <a:ext cx="347813" cy="352541"/>
              </a:xfrm>
              <a:prstGeom prst="rect">
                <a:avLst/>
              </a:prstGeom>
            </p:spPr>
          </p:pic>
        </p:grpSp>
      </p:grpSp>
      <p:grpSp>
        <p:nvGrpSpPr>
          <p:cNvPr id="37" name="Group 141">
            <a:extLst>
              <a:ext uri="{FF2B5EF4-FFF2-40B4-BE49-F238E27FC236}">
                <a16:creationId xmlns:a16="http://schemas.microsoft.com/office/drawing/2014/main" id="{439DD135-BE2E-9363-7C8C-33BBAF3B881F}"/>
              </a:ext>
            </a:extLst>
          </p:cNvPr>
          <p:cNvGrpSpPr/>
          <p:nvPr/>
        </p:nvGrpSpPr>
        <p:grpSpPr>
          <a:xfrm>
            <a:off x="628843" y="2889557"/>
            <a:ext cx="8086567" cy="842316"/>
            <a:chOff x="829975" y="5812599"/>
            <a:chExt cx="10527518" cy="658522"/>
          </a:xfrm>
        </p:grpSpPr>
        <p:sp>
          <p:nvSpPr>
            <p:cNvPr id="38" name="Rectangle: Rounded Corners 137">
              <a:extLst>
                <a:ext uri="{FF2B5EF4-FFF2-40B4-BE49-F238E27FC236}">
                  <a16:creationId xmlns:a16="http://schemas.microsoft.com/office/drawing/2014/main" id="{A1FA9184-5618-60E0-1BFB-9C5670CD0582}"/>
                </a:ext>
              </a:extLst>
            </p:cNvPr>
            <p:cNvSpPr/>
            <p:nvPr/>
          </p:nvSpPr>
          <p:spPr>
            <a:xfrm>
              <a:off x="829975" y="5812599"/>
              <a:ext cx="10527518" cy="658522"/>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9" name="TextBox 140">
              <a:extLst>
                <a:ext uri="{FF2B5EF4-FFF2-40B4-BE49-F238E27FC236}">
                  <a16:creationId xmlns:a16="http://schemas.microsoft.com/office/drawing/2014/main" id="{9BB79B4B-CD80-51E5-C297-1B3F479B530B}"/>
                </a:ext>
              </a:extLst>
            </p:cNvPr>
            <p:cNvSpPr txBox="1"/>
            <p:nvPr/>
          </p:nvSpPr>
          <p:spPr>
            <a:xfrm>
              <a:off x="967222" y="5910528"/>
              <a:ext cx="9567063" cy="451161"/>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A Real Example - </a:t>
              </a:r>
              <a:r>
                <a:rPr lang="en-US" sz="1050" b="1" noProof="1">
                  <a:solidFill>
                    <a:schemeClr val="bg1"/>
                  </a:solidFill>
                  <a:latin typeface="Space Grotesk" pitchFamily="2" charset="0"/>
                  <a:cs typeface="Space Grotesk" pitchFamily="2" charset="0"/>
                </a:rPr>
                <a:t>An AI-generated explanation of a complex topic — cites an expert, refers to a study from a named institution, and walks through the logic step by step. All of it sounds </a:t>
              </a:r>
              <a:r>
                <a:rPr lang="en-US" sz="1050" b="1" noProof="1">
                  <a:solidFill>
                    <a:srgbClr val="F79421"/>
                  </a:solidFill>
                  <a:latin typeface="Space Grotesk" pitchFamily="2" charset="0"/>
                  <a:cs typeface="Space Grotesk" pitchFamily="2" charset="0"/>
                </a:rPr>
                <a:t>credible, coherent, and board-ready</a:t>
              </a:r>
              <a:r>
                <a:rPr lang="en-US" sz="1050" b="1" noProof="1">
                  <a:solidFill>
                    <a:schemeClr val="bg1"/>
                  </a:solidFill>
                  <a:latin typeface="Space Grotesk" pitchFamily="2" charset="0"/>
                  <a:cs typeface="Space Grotesk" pitchFamily="2" charset="0"/>
                </a:rPr>
                <a:t>. None of the sources actually exist</a:t>
              </a:r>
              <a:endParaRPr lang="en-US" sz="1050" noProof="1">
                <a:solidFill>
                  <a:schemeClr val="bg1"/>
                </a:solidFill>
                <a:latin typeface="Space Grotesk" pitchFamily="2" charset="0"/>
                <a:cs typeface="Space Grotesk" pitchFamily="2" charset="0"/>
              </a:endParaRPr>
            </a:p>
          </p:txBody>
        </p:sp>
      </p:grpSp>
      <p:sp>
        <p:nvSpPr>
          <p:cNvPr id="40" name="Rectangle: Rounded Corners 2">
            <a:extLst>
              <a:ext uri="{FF2B5EF4-FFF2-40B4-BE49-F238E27FC236}">
                <a16:creationId xmlns:a16="http://schemas.microsoft.com/office/drawing/2014/main" id="{A1D0106A-B195-FDC2-1693-507661EF32F1}"/>
              </a:ext>
            </a:extLst>
          </p:cNvPr>
          <p:cNvSpPr/>
          <p:nvPr/>
        </p:nvSpPr>
        <p:spPr>
          <a:xfrm>
            <a:off x="4779215" y="3857135"/>
            <a:ext cx="3936194" cy="1052796"/>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1" name="TextBox 6">
            <a:extLst>
              <a:ext uri="{FF2B5EF4-FFF2-40B4-BE49-F238E27FC236}">
                <a16:creationId xmlns:a16="http://schemas.microsoft.com/office/drawing/2014/main" id="{D6265D0C-8B8C-2BE0-8926-A654E1782303}"/>
              </a:ext>
            </a:extLst>
          </p:cNvPr>
          <p:cNvSpPr txBox="1"/>
          <p:nvPr/>
        </p:nvSpPr>
        <p:spPr>
          <a:xfrm>
            <a:off x="4873999" y="3909455"/>
            <a:ext cx="3726815" cy="1050288"/>
          </a:xfrm>
          <a:prstGeom prst="rect">
            <a:avLst/>
          </a:prstGeom>
          <a:noFill/>
        </p:spPr>
        <p:txBody>
          <a:bodyPr wrap="square" rtlCol="0">
            <a:spAutoFit/>
          </a:bodyPr>
          <a:lstStyle/>
          <a:p>
            <a:r>
              <a:rPr lang="en-US" sz="1200" b="1" spc="225" noProof="1">
                <a:solidFill>
                  <a:schemeClr val="bg1">
                    <a:lumMod val="75000"/>
                  </a:schemeClr>
                </a:solidFill>
                <a:latin typeface="Space Grotesk" pitchFamily="2" charset="0"/>
                <a:cs typeface="Space Grotesk" pitchFamily="2" charset="0"/>
              </a:rPr>
              <a:t>KEY TAKEAWAY</a:t>
            </a:r>
          </a:p>
          <a:p>
            <a:endParaRPr lang="en-US" sz="525" noProof="1">
              <a:solidFill>
                <a:schemeClr val="bg1"/>
              </a:solidFill>
              <a:latin typeface="Space Grotesk" pitchFamily="2" charset="0"/>
              <a:cs typeface="Space Grotesk" pitchFamily="2" charset="0"/>
            </a:endParaRPr>
          </a:p>
          <a:p>
            <a:pPr>
              <a:defRPr/>
            </a:pPr>
            <a:r>
              <a:rPr lang="en-US" sz="1200" b="1" noProof="1">
                <a:solidFill>
                  <a:schemeClr val="bg1"/>
                </a:solidFill>
                <a:latin typeface="Space Grotesk" pitchFamily="2" charset="77"/>
                <a:cs typeface="Space Grotesk" pitchFamily="2" charset="77"/>
              </a:rPr>
              <a:t>Confidence ≠ correctness. </a:t>
            </a:r>
          </a:p>
          <a:p>
            <a:pPr>
              <a:defRPr/>
            </a:pPr>
            <a:r>
              <a:rPr lang="en-US" sz="1200" b="1" noProof="1">
                <a:solidFill>
                  <a:schemeClr val="bg1"/>
                </a:solidFill>
                <a:latin typeface="Space Grotesk" pitchFamily="2" charset="77"/>
                <a:cs typeface="Space Grotesk" pitchFamily="2" charset="77"/>
              </a:rPr>
              <a:t>Always validate.</a:t>
            </a:r>
          </a:p>
          <a:p>
            <a:pPr>
              <a:defRPr/>
            </a:pPr>
            <a:r>
              <a:rPr lang="en-US" sz="1050" noProof="1">
                <a:solidFill>
                  <a:schemeClr val="bg1"/>
                </a:solidFill>
                <a:latin typeface="Space Grotesk" pitchFamily="2" charset="77"/>
                <a:cs typeface="Space Grotesk" pitchFamily="2" charset="77"/>
              </a:rPr>
              <a:t>The more polished the output, the easier it is to trust uncritically</a:t>
            </a:r>
            <a:endParaRPr lang="en-US" sz="1050" noProof="1">
              <a:solidFill>
                <a:srgbClr val="F79421"/>
              </a:solidFill>
              <a:latin typeface="Space Grotesk" pitchFamily="2" charset="77"/>
              <a:cs typeface="Space Grotesk" pitchFamily="2" charset="77"/>
            </a:endParaRPr>
          </a:p>
        </p:txBody>
      </p:sp>
      <p:grpSp>
        <p:nvGrpSpPr>
          <p:cNvPr id="4" name="Group 144">
            <a:extLst>
              <a:ext uri="{FF2B5EF4-FFF2-40B4-BE49-F238E27FC236}">
                <a16:creationId xmlns:a16="http://schemas.microsoft.com/office/drawing/2014/main" id="{7BD1FCCF-E456-4D17-9B46-BC2B7380BEDD}"/>
              </a:ext>
            </a:extLst>
          </p:cNvPr>
          <p:cNvGrpSpPr/>
          <p:nvPr/>
        </p:nvGrpSpPr>
        <p:grpSpPr>
          <a:xfrm>
            <a:off x="628842" y="3920066"/>
            <a:ext cx="4035779" cy="988935"/>
            <a:chOff x="829975" y="3384273"/>
            <a:chExt cx="3420000" cy="1398196"/>
          </a:xfrm>
        </p:grpSpPr>
        <p:grpSp>
          <p:nvGrpSpPr>
            <p:cNvPr id="36" name="Group 55">
              <a:extLst>
                <a:ext uri="{FF2B5EF4-FFF2-40B4-BE49-F238E27FC236}">
                  <a16:creationId xmlns:a16="http://schemas.microsoft.com/office/drawing/2014/main" id="{B12DEA7B-CFEB-5B6B-6FE0-B02145BE4CCB}"/>
                </a:ext>
              </a:extLst>
            </p:cNvPr>
            <p:cNvGrpSpPr/>
            <p:nvPr/>
          </p:nvGrpSpPr>
          <p:grpSpPr>
            <a:xfrm>
              <a:off x="829975" y="3384273"/>
              <a:ext cx="3420000" cy="1398196"/>
              <a:chOff x="846950" y="3409278"/>
              <a:chExt cx="3466210" cy="2969533"/>
            </a:xfrm>
          </p:grpSpPr>
          <p:sp>
            <p:nvSpPr>
              <p:cNvPr id="43" name="Rectangle: Rounded Corners 56">
                <a:extLst>
                  <a:ext uri="{FF2B5EF4-FFF2-40B4-BE49-F238E27FC236}">
                    <a16:creationId xmlns:a16="http://schemas.microsoft.com/office/drawing/2014/main" id="{7676D0C5-19DC-F54A-9E3B-07DD2C563F32}"/>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4" name="Rectangle: Rounded Corners 57">
                <a:extLst>
                  <a:ext uri="{FF2B5EF4-FFF2-40B4-BE49-F238E27FC236}">
                    <a16:creationId xmlns:a16="http://schemas.microsoft.com/office/drawing/2014/main" id="{078D9CE4-4922-0484-0236-7E35EB845CA1}"/>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42" name="TextBox 88">
              <a:extLst>
                <a:ext uri="{FF2B5EF4-FFF2-40B4-BE49-F238E27FC236}">
                  <a16:creationId xmlns:a16="http://schemas.microsoft.com/office/drawing/2014/main" id="{6219B822-CC81-1BB9-5E3B-0E50BC810DDD}"/>
                </a:ext>
              </a:extLst>
            </p:cNvPr>
            <p:cNvSpPr txBox="1"/>
            <p:nvPr/>
          </p:nvSpPr>
          <p:spPr>
            <a:xfrm>
              <a:off x="880453" y="3472268"/>
              <a:ext cx="3291034" cy="1117875"/>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ASK THE ROOM – THEN PAUSE </a:t>
              </a:r>
            </a:p>
            <a:p>
              <a:r>
                <a:rPr lang="en-US" sz="900" b="1" noProof="1">
                  <a:latin typeface="Space Grotesk" pitchFamily="2" charset="0"/>
                  <a:cs typeface="Space Grotesk" pitchFamily="2" charset="0"/>
                </a:rPr>
                <a:t>Would you have caught this if it came from a colleague?</a:t>
              </a:r>
            </a:p>
            <a:p>
              <a:pPr>
                <a:defRPr/>
              </a:pPr>
              <a:endParaRPr lang="en-US" sz="150" noProof="1">
                <a:solidFill>
                  <a:prstClr val="black"/>
                </a:solidFill>
                <a:latin typeface="Space Grotesk" pitchFamily="2" charset="0"/>
                <a:cs typeface="Space Grotesk" pitchFamily="2" charset="0"/>
              </a:endParaRPr>
            </a:p>
            <a:p>
              <a:pPr>
                <a:defRPr/>
              </a:pPr>
              <a:r>
                <a:rPr lang="en-US" sz="825" noProof="1">
                  <a:solidFill>
                    <a:prstClr val="black"/>
                  </a:solidFill>
                  <a:latin typeface="Space Grotesk" pitchFamily="2" charset="0"/>
                  <a:cs typeface="Space Grotesk" pitchFamily="2" charset="0"/>
                </a:rPr>
                <a:t>The honest answer: probably not. A trusted colleague writing confidently gets trusted — and AI sounds exactly that confident, even when it’s wrong.</a:t>
              </a:r>
            </a:p>
          </p:txBody>
        </p:sp>
      </p:grpSp>
    </p:spTree>
    <p:extLst>
      <p:ext uri="{BB962C8B-B14F-4D97-AF65-F5344CB8AC3E}">
        <p14:creationId xmlns:p14="http://schemas.microsoft.com/office/powerpoint/2010/main" val="874268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AD94-0011-14AD-AACB-398ED713284A}"/>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ECFC40F-D7DE-0CC9-36E4-44EF6D55E4FC}"/>
              </a:ext>
            </a:extLst>
          </p:cNvPr>
          <p:cNvSpPr txBox="1"/>
          <p:nvPr/>
        </p:nvSpPr>
        <p:spPr>
          <a:xfrm>
            <a:off x="635213" y="470003"/>
            <a:ext cx="8054481"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Compliance patterns</a:t>
            </a:r>
          </a:p>
        </p:txBody>
      </p:sp>
      <p:sp>
        <p:nvSpPr>
          <p:cNvPr id="5" name="Rectangle 4">
            <a:extLst>
              <a:ext uri="{FF2B5EF4-FFF2-40B4-BE49-F238E27FC236}">
                <a16:creationId xmlns:a16="http://schemas.microsoft.com/office/drawing/2014/main" id="{4E0C6974-5405-5D8D-06E9-F222A59A3B0E}"/>
              </a:ext>
            </a:extLst>
          </p:cNvPr>
          <p:cNvSpPr/>
          <p:nvPr/>
        </p:nvSpPr>
        <p:spPr>
          <a:xfrm>
            <a:off x="601980" y="989481"/>
            <a:ext cx="6858000" cy="373380"/>
          </a:xfrm>
          <a:prstGeom prst="rect">
            <a:avLst/>
          </a:prstGeom>
          <a:solidFill>
            <a:srgbClr val="D6E1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nvGrpSpPr>
          <p:cNvPr id="8" name="Group 144">
            <a:extLst>
              <a:ext uri="{FF2B5EF4-FFF2-40B4-BE49-F238E27FC236}">
                <a16:creationId xmlns:a16="http://schemas.microsoft.com/office/drawing/2014/main" id="{B18F5A16-9903-5016-11C0-F50AC5B081A0}"/>
              </a:ext>
            </a:extLst>
          </p:cNvPr>
          <p:cNvGrpSpPr/>
          <p:nvPr/>
        </p:nvGrpSpPr>
        <p:grpSpPr>
          <a:xfrm>
            <a:off x="628378" y="2697861"/>
            <a:ext cx="8229320" cy="712707"/>
            <a:chOff x="829975" y="3384273"/>
            <a:chExt cx="3556425" cy="1398196"/>
          </a:xfrm>
        </p:grpSpPr>
        <p:grpSp>
          <p:nvGrpSpPr>
            <p:cNvPr id="9" name="Group 55">
              <a:extLst>
                <a:ext uri="{FF2B5EF4-FFF2-40B4-BE49-F238E27FC236}">
                  <a16:creationId xmlns:a16="http://schemas.microsoft.com/office/drawing/2014/main" id="{C9CEAC7A-0420-81C0-B664-B1E5AE67C9BE}"/>
                </a:ext>
              </a:extLst>
            </p:cNvPr>
            <p:cNvGrpSpPr/>
            <p:nvPr/>
          </p:nvGrpSpPr>
          <p:grpSpPr>
            <a:xfrm>
              <a:off x="829975" y="3384273"/>
              <a:ext cx="3420000" cy="1398196"/>
              <a:chOff x="846950" y="3409278"/>
              <a:chExt cx="3466210" cy="2969533"/>
            </a:xfrm>
          </p:grpSpPr>
          <p:sp>
            <p:nvSpPr>
              <p:cNvPr id="11" name="Rectangle: Rounded Corners 56">
                <a:extLst>
                  <a:ext uri="{FF2B5EF4-FFF2-40B4-BE49-F238E27FC236}">
                    <a16:creationId xmlns:a16="http://schemas.microsoft.com/office/drawing/2014/main" id="{81E42F14-1B6C-0160-AA08-FFFAE4AA1C5E}"/>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57">
                <a:extLst>
                  <a:ext uri="{FF2B5EF4-FFF2-40B4-BE49-F238E27FC236}">
                    <a16:creationId xmlns:a16="http://schemas.microsoft.com/office/drawing/2014/main" id="{188444E1-91B9-0EEC-6D2C-B35A2DEADA67}"/>
                  </a:ext>
                </a:extLst>
              </p:cNvPr>
              <p:cNvSpPr/>
              <p:nvPr/>
            </p:nvSpPr>
            <p:spPr>
              <a:xfrm>
                <a:off x="863754" y="3409278"/>
                <a:ext cx="3449406"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0" name="TextBox 88">
              <a:extLst>
                <a:ext uri="{FF2B5EF4-FFF2-40B4-BE49-F238E27FC236}">
                  <a16:creationId xmlns:a16="http://schemas.microsoft.com/office/drawing/2014/main" id="{85FEC34C-2685-1D53-465A-6D3C24009A6F}"/>
                </a:ext>
              </a:extLst>
            </p:cNvPr>
            <p:cNvSpPr txBox="1"/>
            <p:nvPr/>
          </p:nvSpPr>
          <p:spPr>
            <a:xfrm>
              <a:off x="1099965" y="3494666"/>
              <a:ext cx="3286435" cy="1120929"/>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Operational Data </a:t>
              </a:r>
            </a:p>
            <a:p>
              <a:r>
                <a:rPr lang="en-US" sz="1200" b="1" noProof="1">
                  <a:latin typeface="Space Grotesk" pitchFamily="2" charset="0"/>
                  <a:cs typeface="Space Grotesk" pitchFamily="2" charset="0"/>
                </a:rPr>
                <a:t>Often safe — with approved enterprise tools</a:t>
              </a: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Generic workflows, public-domain templates, non-confidential reference. Low sensitivity when used in approved tools.</a:t>
              </a:r>
              <a:endParaRPr lang="en-US" sz="900" noProof="1">
                <a:solidFill>
                  <a:prstClr val="black"/>
                </a:solidFill>
                <a:latin typeface="Space Grotesk" pitchFamily="2" charset="77"/>
                <a:cs typeface="Space Grotesk" pitchFamily="2" charset="77"/>
              </a:endParaRPr>
            </a:p>
          </p:txBody>
        </p:sp>
      </p:grpSp>
      <p:grpSp>
        <p:nvGrpSpPr>
          <p:cNvPr id="19" name="Groep 18">
            <a:extLst>
              <a:ext uri="{FF2B5EF4-FFF2-40B4-BE49-F238E27FC236}">
                <a16:creationId xmlns:a16="http://schemas.microsoft.com/office/drawing/2014/main" id="{77A609C3-4919-B8C8-C735-727553BBED35}"/>
              </a:ext>
            </a:extLst>
          </p:cNvPr>
          <p:cNvGrpSpPr/>
          <p:nvPr/>
        </p:nvGrpSpPr>
        <p:grpSpPr>
          <a:xfrm>
            <a:off x="635212" y="1928471"/>
            <a:ext cx="7880410" cy="705396"/>
            <a:chOff x="4350750" y="3384273"/>
            <a:chExt cx="3420000" cy="1398196"/>
          </a:xfrm>
        </p:grpSpPr>
        <p:grpSp>
          <p:nvGrpSpPr>
            <p:cNvPr id="3" name="Group 64">
              <a:extLst>
                <a:ext uri="{FF2B5EF4-FFF2-40B4-BE49-F238E27FC236}">
                  <a16:creationId xmlns:a16="http://schemas.microsoft.com/office/drawing/2014/main" id="{B2EC75A6-561F-0E8C-26C9-67E7D7FC2BCC}"/>
                </a:ext>
              </a:extLst>
            </p:cNvPr>
            <p:cNvGrpSpPr/>
            <p:nvPr/>
          </p:nvGrpSpPr>
          <p:grpSpPr>
            <a:xfrm>
              <a:off x="4350750" y="3384273"/>
              <a:ext cx="3420000" cy="1398196"/>
              <a:chOff x="846950" y="3409278"/>
              <a:chExt cx="3466210" cy="2969533"/>
            </a:xfrm>
          </p:grpSpPr>
          <p:sp>
            <p:nvSpPr>
              <p:cNvPr id="6" name="Rectangle: Rounded Corners 65">
                <a:extLst>
                  <a:ext uri="{FF2B5EF4-FFF2-40B4-BE49-F238E27FC236}">
                    <a16:creationId xmlns:a16="http://schemas.microsoft.com/office/drawing/2014/main" id="{C13F06F7-F610-E2A1-B66B-FE3568881A38}"/>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 name="Rectangle: Rounded Corners 66">
                <a:extLst>
                  <a:ext uri="{FF2B5EF4-FFF2-40B4-BE49-F238E27FC236}">
                    <a16:creationId xmlns:a16="http://schemas.microsoft.com/office/drawing/2014/main" id="{CB90493E-7986-F80B-0B3F-41A7CF77C908}"/>
                  </a:ext>
                </a:extLst>
              </p:cNvPr>
              <p:cNvSpPr/>
              <p:nvPr/>
            </p:nvSpPr>
            <p:spPr>
              <a:xfrm>
                <a:off x="860819" y="3409278"/>
                <a:ext cx="345234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3" name="TextBox 89">
              <a:extLst>
                <a:ext uri="{FF2B5EF4-FFF2-40B4-BE49-F238E27FC236}">
                  <a16:creationId xmlns:a16="http://schemas.microsoft.com/office/drawing/2014/main" id="{FF1D9B55-F079-F399-BD9B-4B18C2D7DAFF}"/>
                </a:ext>
              </a:extLst>
            </p:cNvPr>
            <p:cNvSpPr txBox="1"/>
            <p:nvPr/>
          </p:nvSpPr>
          <p:spPr>
            <a:xfrm>
              <a:off x="4618912" y="3530500"/>
              <a:ext cx="3119761" cy="1178301"/>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Internal sensitive data  </a:t>
              </a:r>
            </a:p>
            <a:p>
              <a:r>
                <a:rPr lang="en-US" sz="1200" b="1" noProof="1">
                  <a:latin typeface="Space Grotesk" pitchFamily="2" charset="0"/>
                  <a:cs typeface="Space Grotesk" pitchFamily="2" charset="0"/>
                </a:rPr>
                <a:t>Context-dependent – judgement required</a:t>
              </a:r>
              <a:endParaRPr lang="en-US" sz="825" b="1" noProof="1">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Board materials, unreleased results, audit documents, internal memos. Depends on the tool, the content and the purpose.</a:t>
              </a:r>
              <a:endParaRPr lang="en-US" sz="900" noProof="1">
                <a:solidFill>
                  <a:prstClr val="black"/>
                </a:solidFill>
                <a:latin typeface="Space Grotesk" pitchFamily="2" charset="77"/>
                <a:cs typeface="Space Grotesk" pitchFamily="2" charset="77"/>
              </a:endParaRPr>
            </a:p>
          </p:txBody>
        </p:sp>
      </p:grpSp>
      <p:grpSp>
        <p:nvGrpSpPr>
          <p:cNvPr id="14" name="Group 136">
            <a:extLst>
              <a:ext uri="{FF2B5EF4-FFF2-40B4-BE49-F238E27FC236}">
                <a16:creationId xmlns:a16="http://schemas.microsoft.com/office/drawing/2014/main" id="{01F11E0C-EC03-B9C7-5C0B-877FE6404FE2}"/>
              </a:ext>
            </a:extLst>
          </p:cNvPr>
          <p:cNvGrpSpPr/>
          <p:nvPr/>
        </p:nvGrpSpPr>
        <p:grpSpPr>
          <a:xfrm>
            <a:off x="660073" y="1151771"/>
            <a:ext cx="7881947" cy="712707"/>
            <a:chOff x="7937492" y="3850192"/>
            <a:chExt cx="3420000" cy="1398196"/>
          </a:xfrm>
        </p:grpSpPr>
        <p:grpSp>
          <p:nvGrpSpPr>
            <p:cNvPr id="15" name="Group 67">
              <a:extLst>
                <a:ext uri="{FF2B5EF4-FFF2-40B4-BE49-F238E27FC236}">
                  <a16:creationId xmlns:a16="http://schemas.microsoft.com/office/drawing/2014/main" id="{7F6DEB18-CE4C-BE3E-0977-B7FD87AFF167}"/>
                </a:ext>
              </a:extLst>
            </p:cNvPr>
            <p:cNvGrpSpPr/>
            <p:nvPr/>
          </p:nvGrpSpPr>
          <p:grpSpPr>
            <a:xfrm>
              <a:off x="7937492" y="3850192"/>
              <a:ext cx="3420000" cy="1398196"/>
              <a:chOff x="846950" y="3409278"/>
              <a:chExt cx="3466210" cy="2969533"/>
            </a:xfrm>
          </p:grpSpPr>
          <p:sp>
            <p:nvSpPr>
              <p:cNvPr id="17" name="Rectangle: Rounded Corners 68">
                <a:extLst>
                  <a:ext uri="{FF2B5EF4-FFF2-40B4-BE49-F238E27FC236}">
                    <a16:creationId xmlns:a16="http://schemas.microsoft.com/office/drawing/2014/main" id="{B8150AA2-5FD6-F0D2-AF4F-610C44D0646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8" name="Rectangle: Rounded Corners 70">
                <a:extLst>
                  <a:ext uri="{FF2B5EF4-FFF2-40B4-BE49-F238E27FC236}">
                    <a16:creationId xmlns:a16="http://schemas.microsoft.com/office/drawing/2014/main" id="{FC3DABF8-7F63-0A3B-FE0E-344B8B01760F}"/>
                  </a:ext>
                </a:extLst>
              </p:cNvPr>
              <p:cNvSpPr/>
              <p:nvPr/>
            </p:nvSpPr>
            <p:spPr>
              <a:xfrm>
                <a:off x="861493" y="3409278"/>
                <a:ext cx="3451667"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16" name="TextBox 90">
              <a:extLst>
                <a:ext uri="{FF2B5EF4-FFF2-40B4-BE49-F238E27FC236}">
                  <a16:creationId xmlns:a16="http://schemas.microsoft.com/office/drawing/2014/main" id="{D8EBEBEA-B386-9892-2736-422CAE36E817}"/>
                </a:ext>
              </a:extLst>
            </p:cNvPr>
            <p:cNvSpPr txBox="1"/>
            <p:nvPr/>
          </p:nvSpPr>
          <p:spPr>
            <a:xfrm>
              <a:off x="8194815" y="3955422"/>
              <a:ext cx="2987668" cy="1166214"/>
            </a:xfrm>
            <a:prstGeom prst="rect">
              <a:avLst/>
            </a:prstGeom>
            <a:noFill/>
          </p:spPr>
          <p:txBody>
            <a:bodyPr wrap="square" rtlCol="0">
              <a:spAutoFit/>
            </a:bodyPr>
            <a:lstStyle/>
            <a:p>
              <a:r>
                <a:rPr lang="en-US" sz="1013" b="1" noProof="1">
                  <a:solidFill>
                    <a:srgbClr val="D3116E"/>
                  </a:solidFill>
                  <a:latin typeface="Space Grotesk" pitchFamily="2" charset="0"/>
                  <a:cs typeface="Space Grotesk" pitchFamily="2" charset="0"/>
                </a:rPr>
                <a:t>Personal Data</a:t>
              </a:r>
            </a:p>
            <a:p>
              <a:r>
                <a:rPr lang="en-US" sz="1200" b="1" noProof="1">
                  <a:latin typeface="Space Grotesk" pitchFamily="2" charset="0"/>
                  <a:cs typeface="Space Grotesk" pitchFamily="2" charset="0"/>
                </a:rPr>
                <a:t>High Risk – Default to off-limits </a:t>
              </a:r>
              <a:endParaRPr lang="en-US" sz="825" b="1" noProof="1">
                <a:latin typeface="Space Grotesk" pitchFamily="2" charset="0"/>
                <a:cs typeface="Space Grotesk" pitchFamily="2" charset="0"/>
              </a:endParaRPr>
            </a:p>
            <a:p>
              <a:pPr>
                <a:defRPr/>
              </a:pPr>
              <a:endParaRPr lang="en-US" sz="150" noProof="1">
                <a:solidFill>
                  <a:prstClr val="black"/>
                </a:solidFill>
                <a:latin typeface="Space Grotesk" pitchFamily="2" charset="0"/>
                <a:cs typeface="Space Grotesk" pitchFamily="2" charset="0"/>
              </a:endParaRPr>
            </a:p>
            <a:p>
              <a:pPr>
                <a:defRPr/>
              </a:pPr>
              <a:r>
                <a:rPr lang="en-US" sz="900" noProof="1">
                  <a:latin typeface="Space Grotesk" pitchFamily="2" charset="77"/>
                  <a:cs typeface="Space Grotesk" pitchFamily="2" charset="77"/>
                </a:rPr>
                <a:t>Names, salaries, client details, employee records. Covered by GDPR — involve specific legal protections.</a:t>
              </a:r>
              <a:endParaRPr lang="en-US" sz="900" noProof="1">
                <a:solidFill>
                  <a:prstClr val="black"/>
                </a:solidFill>
                <a:latin typeface="Space Grotesk" pitchFamily="2" charset="77"/>
                <a:cs typeface="Space Grotesk" pitchFamily="2" charset="77"/>
              </a:endParaRPr>
            </a:p>
          </p:txBody>
        </p:sp>
      </p:grpSp>
      <p:sp>
        <p:nvSpPr>
          <p:cNvPr id="21" name="Rectangle: Rounded Corners 21">
            <a:extLst>
              <a:ext uri="{FF2B5EF4-FFF2-40B4-BE49-F238E27FC236}">
                <a16:creationId xmlns:a16="http://schemas.microsoft.com/office/drawing/2014/main" id="{E5747BBE-DD36-78FA-C410-B17483B767C1}"/>
              </a:ext>
            </a:extLst>
          </p:cNvPr>
          <p:cNvSpPr/>
          <p:nvPr/>
        </p:nvSpPr>
        <p:spPr>
          <a:xfrm>
            <a:off x="7022206" y="1406227"/>
            <a:ext cx="1346208" cy="291360"/>
          </a:xfrm>
          <a:prstGeom prst="roundRect">
            <a:avLst>
              <a:gd name="adj" fmla="val 42749"/>
            </a:avLst>
          </a:prstGeom>
          <a:solidFill>
            <a:srgbClr val="F6E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675" b="1" noProof="1">
                <a:solidFill>
                  <a:srgbClr val="D31972"/>
                </a:solidFill>
                <a:latin typeface="Space Grotesk" pitchFamily="2" charset="0"/>
                <a:cs typeface="Space Grotesk" pitchFamily="2" charset="0"/>
              </a:rPr>
              <a:t>High-Risk</a:t>
            </a:r>
          </a:p>
        </p:txBody>
      </p:sp>
      <p:sp>
        <p:nvSpPr>
          <p:cNvPr id="22" name="Rectangle: Rounded Corners 8">
            <a:extLst>
              <a:ext uri="{FF2B5EF4-FFF2-40B4-BE49-F238E27FC236}">
                <a16:creationId xmlns:a16="http://schemas.microsoft.com/office/drawing/2014/main" id="{27BBD00C-11D0-D98E-F484-2629F8651A0A}"/>
              </a:ext>
            </a:extLst>
          </p:cNvPr>
          <p:cNvSpPr/>
          <p:nvPr/>
        </p:nvSpPr>
        <p:spPr>
          <a:xfrm>
            <a:off x="7022206" y="2140134"/>
            <a:ext cx="1346207" cy="248736"/>
          </a:xfrm>
          <a:prstGeom prst="roundRect">
            <a:avLst>
              <a:gd name="adj" fmla="val 42749"/>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75" b="1" noProof="1">
                <a:solidFill>
                  <a:srgbClr val="F79421"/>
                </a:solidFill>
                <a:latin typeface="Space Grotesk" pitchFamily="2" charset="0"/>
                <a:cs typeface="Space Grotesk" pitchFamily="2" charset="0"/>
              </a:rPr>
              <a:t>Context – Dependent </a:t>
            </a:r>
          </a:p>
        </p:txBody>
      </p:sp>
      <p:sp>
        <p:nvSpPr>
          <p:cNvPr id="23" name="Rectangle: Rounded Corners 8">
            <a:extLst>
              <a:ext uri="{FF2B5EF4-FFF2-40B4-BE49-F238E27FC236}">
                <a16:creationId xmlns:a16="http://schemas.microsoft.com/office/drawing/2014/main" id="{18FB1988-AA95-2DFE-2D1E-B3F6CA4C7E69}"/>
              </a:ext>
            </a:extLst>
          </p:cNvPr>
          <p:cNvSpPr/>
          <p:nvPr/>
        </p:nvSpPr>
        <p:spPr>
          <a:xfrm>
            <a:off x="7022206" y="2856208"/>
            <a:ext cx="1346207" cy="270169"/>
          </a:xfrm>
          <a:prstGeom prst="roundRect">
            <a:avLst>
              <a:gd name="adj" fmla="val 42749"/>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75" b="1" noProof="1">
                <a:solidFill>
                  <a:srgbClr val="5400AD"/>
                </a:solidFill>
                <a:latin typeface="Space Grotesk" pitchFamily="2" charset="0"/>
                <a:cs typeface="Space Grotesk" pitchFamily="2" charset="0"/>
              </a:rPr>
              <a:t>Often Safe </a:t>
            </a:r>
          </a:p>
        </p:txBody>
      </p:sp>
      <p:grpSp>
        <p:nvGrpSpPr>
          <p:cNvPr id="28" name="Groep 27">
            <a:extLst>
              <a:ext uri="{FF2B5EF4-FFF2-40B4-BE49-F238E27FC236}">
                <a16:creationId xmlns:a16="http://schemas.microsoft.com/office/drawing/2014/main" id="{845AAC29-DA20-B294-6B84-6A5E02CC421C}"/>
              </a:ext>
            </a:extLst>
          </p:cNvPr>
          <p:cNvGrpSpPr/>
          <p:nvPr/>
        </p:nvGrpSpPr>
        <p:grpSpPr>
          <a:xfrm>
            <a:off x="635212" y="4217350"/>
            <a:ext cx="4568160" cy="620846"/>
            <a:chOff x="829975" y="1677816"/>
            <a:chExt cx="5266025" cy="1752216"/>
          </a:xfrm>
        </p:grpSpPr>
        <p:sp>
          <p:nvSpPr>
            <p:cNvPr id="29" name="Rectangle: Rounded Corners 2">
              <a:extLst>
                <a:ext uri="{FF2B5EF4-FFF2-40B4-BE49-F238E27FC236}">
                  <a16:creationId xmlns:a16="http://schemas.microsoft.com/office/drawing/2014/main" id="{0AB18ED0-CFEA-8B92-6D81-234AE087C13B}"/>
                </a:ext>
              </a:extLst>
            </p:cNvPr>
            <p:cNvSpPr/>
            <p:nvPr/>
          </p:nvSpPr>
          <p:spPr>
            <a:xfrm>
              <a:off x="829975" y="1677816"/>
              <a:ext cx="5266025" cy="1751183"/>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0" name="TextBox 6">
              <a:extLst>
                <a:ext uri="{FF2B5EF4-FFF2-40B4-BE49-F238E27FC236}">
                  <a16:creationId xmlns:a16="http://schemas.microsoft.com/office/drawing/2014/main" id="{908E1975-8BDD-F45C-8797-8B68DA79E402}"/>
                </a:ext>
              </a:extLst>
            </p:cNvPr>
            <p:cNvSpPr txBox="1"/>
            <p:nvPr/>
          </p:nvSpPr>
          <p:spPr>
            <a:xfrm>
              <a:off x="1101980" y="1866481"/>
              <a:ext cx="4743236" cy="1563551"/>
            </a:xfrm>
            <a:prstGeom prst="rect">
              <a:avLst/>
            </a:prstGeom>
            <a:noFill/>
          </p:spPr>
          <p:txBody>
            <a:bodyPr wrap="square" rtlCol="0">
              <a:spAutoFit/>
            </a:bodyPr>
            <a:lstStyle/>
            <a:p>
              <a:r>
                <a:rPr lang="en-US" sz="1200" b="1" spc="225" noProof="1">
                  <a:solidFill>
                    <a:schemeClr val="bg1">
                      <a:lumMod val="75000"/>
                    </a:schemeClr>
                  </a:solidFill>
                  <a:latin typeface="Space Grotesk" pitchFamily="2" charset="0"/>
                  <a:cs typeface="Space Grotesk" pitchFamily="2" charset="0"/>
                </a:rPr>
                <a:t>Decision Heuristic</a:t>
              </a:r>
              <a:endParaRPr lang="en-US" sz="788" noProof="1">
                <a:solidFill>
                  <a:schemeClr val="bg1"/>
                </a:solidFill>
                <a:latin typeface="Space Grotesk" pitchFamily="2" charset="0"/>
                <a:cs typeface="Space Grotesk" pitchFamily="2" charset="0"/>
              </a:endParaRPr>
            </a:p>
            <a:p>
              <a:pPr>
                <a:defRPr/>
              </a:pPr>
              <a:r>
                <a:rPr lang="en-US" sz="900" noProof="1">
                  <a:solidFill>
                    <a:schemeClr val="bg1"/>
                  </a:solidFill>
                  <a:latin typeface="Space Grotesk bold" pitchFamily="2" charset="0"/>
                  <a:cs typeface="Space Grotesk bold" pitchFamily="2" charset="0"/>
                </a:rPr>
                <a:t>When in doubt If you wouldn't email it externally, you probably shouldn't paste it into an AI tool.</a:t>
              </a:r>
              <a:endParaRPr lang="en-US" sz="788" noProof="1">
                <a:solidFill>
                  <a:srgbClr val="F79421"/>
                </a:solidFill>
                <a:latin typeface="Space Grotesk bold" pitchFamily="2" charset="0"/>
                <a:cs typeface="Space Grotesk bold" pitchFamily="2" charset="0"/>
              </a:endParaRPr>
            </a:p>
          </p:txBody>
        </p:sp>
      </p:grpSp>
      <p:grpSp>
        <p:nvGrpSpPr>
          <p:cNvPr id="31" name="Group 141">
            <a:extLst>
              <a:ext uri="{FF2B5EF4-FFF2-40B4-BE49-F238E27FC236}">
                <a16:creationId xmlns:a16="http://schemas.microsoft.com/office/drawing/2014/main" id="{565900AF-A865-3F0E-E7E3-741D0CDE15C3}"/>
              </a:ext>
            </a:extLst>
          </p:cNvPr>
          <p:cNvGrpSpPr/>
          <p:nvPr/>
        </p:nvGrpSpPr>
        <p:grpSpPr>
          <a:xfrm>
            <a:off x="5299712" y="4217344"/>
            <a:ext cx="3205724" cy="620480"/>
            <a:chOff x="829975" y="5812599"/>
            <a:chExt cx="10527518" cy="717495"/>
          </a:xfrm>
        </p:grpSpPr>
        <p:sp>
          <p:nvSpPr>
            <p:cNvPr id="32" name="Rectangle: Rounded Corners 137">
              <a:extLst>
                <a:ext uri="{FF2B5EF4-FFF2-40B4-BE49-F238E27FC236}">
                  <a16:creationId xmlns:a16="http://schemas.microsoft.com/office/drawing/2014/main" id="{5FB73399-5A2A-20BE-6CA3-B895C5D39FF3}"/>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3" name="TextBox 140">
              <a:extLst>
                <a:ext uri="{FF2B5EF4-FFF2-40B4-BE49-F238E27FC236}">
                  <a16:creationId xmlns:a16="http://schemas.microsoft.com/office/drawing/2014/main" id="{A6098CD9-80EE-BDA0-1B4B-158E9C2183D8}"/>
                </a:ext>
              </a:extLst>
            </p:cNvPr>
            <p:cNvSpPr txBox="1"/>
            <p:nvPr/>
          </p:nvSpPr>
          <p:spPr>
            <a:xfrm>
              <a:off x="1026557" y="5965971"/>
              <a:ext cx="9567064" cy="480463"/>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KEY TAKEAWAY</a:t>
              </a:r>
              <a:r>
                <a:rPr lang="en-US" sz="1050" b="1" noProof="1">
                  <a:solidFill>
                    <a:schemeClr val="bg1"/>
                  </a:solidFill>
                  <a:latin typeface="Space Grotesk" pitchFamily="2" charset="0"/>
                  <a:cs typeface="Space Grotesk" pitchFamily="2" charset="0"/>
                </a:rPr>
                <a:t>- </a:t>
              </a:r>
              <a:r>
                <a:rPr lang="en-US" sz="1050" b="1" noProof="1">
                  <a:solidFill>
                    <a:schemeClr val="bg1"/>
                  </a:solidFill>
                  <a:latin typeface="Space Grotesk" pitchFamily="2" charset="77"/>
                  <a:cs typeface="Space Grotesk" pitchFamily="2" charset="77"/>
                </a:rPr>
                <a:t>Think before you paste</a:t>
              </a:r>
              <a:r>
                <a:rPr lang="en-US" sz="1050" noProof="1">
                  <a:solidFill>
                    <a:schemeClr val="bg1"/>
                  </a:solidFill>
                  <a:latin typeface="Space Grotesk" pitchFamily="2" charset="77"/>
                  <a:cs typeface="Space Grotesk" pitchFamily="2" charset="77"/>
                </a:rPr>
                <a:t> — and understand your tools.</a:t>
              </a:r>
            </a:p>
          </p:txBody>
        </p:sp>
      </p:grpSp>
      <p:grpSp>
        <p:nvGrpSpPr>
          <p:cNvPr id="34" name="Group 69">
            <a:extLst>
              <a:ext uri="{FF2B5EF4-FFF2-40B4-BE49-F238E27FC236}">
                <a16:creationId xmlns:a16="http://schemas.microsoft.com/office/drawing/2014/main" id="{3CE9233A-B49E-7796-5900-F46F75315E20}"/>
              </a:ext>
            </a:extLst>
          </p:cNvPr>
          <p:cNvGrpSpPr/>
          <p:nvPr/>
        </p:nvGrpSpPr>
        <p:grpSpPr>
          <a:xfrm>
            <a:off x="613767" y="3486930"/>
            <a:ext cx="7901855" cy="620482"/>
            <a:chOff x="846950" y="3429003"/>
            <a:chExt cx="7576982" cy="2734703"/>
          </a:xfrm>
        </p:grpSpPr>
        <p:sp>
          <p:nvSpPr>
            <p:cNvPr id="35" name="Rectangle: Rounded Corners 71">
              <a:extLst>
                <a:ext uri="{FF2B5EF4-FFF2-40B4-BE49-F238E27FC236}">
                  <a16:creationId xmlns:a16="http://schemas.microsoft.com/office/drawing/2014/main" id="{C7888FC0-B1CF-F107-45FF-56D5F861BD08}"/>
                </a:ext>
              </a:extLst>
            </p:cNvPr>
            <p:cNvSpPr/>
            <p:nvPr/>
          </p:nvSpPr>
          <p:spPr>
            <a:xfrm>
              <a:off x="846950" y="3431400"/>
              <a:ext cx="2589773" cy="2732306"/>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6" name="Rectangle: Rounded Corners 72">
              <a:extLst>
                <a:ext uri="{FF2B5EF4-FFF2-40B4-BE49-F238E27FC236}">
                  <a16:creationId xmlns:a16="http://schemas.microsoft.com/office/drawing/2014/main" id="{85CA6D5F-53C9-06F6-5019-1347422BB042}"/>
                </a:ext>
              </a:extLst>
            </p:cNvPr>
            <p:cNvSpPr/>
            <p:nvPr/>
          </p:nvSpPr>
          <p:spPr>
            <a:xfrm>
              <a:off x="897749" y="3429003"/>
              <a:ext cx="7526183" cy="2734698"/>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37" name="Oval 86">
            <a:extLst>
              <a:ext uri="{FF2B5EF4-FFF2-40B4-BE49-F238E27FC236}">
                <a16:creationId xmlns:a16="http://schemas.microsoft.com/office/drawing/2014/main" id="{4F6AA709-214B-7DE1-E6E8-A80DAD85B473}"/>
              </a:ext>
            </a:extLst>
          </p:cNvPr>
          <p:cNvSpPr/>
          <p:nvPr/>
        </p:nvSpPr>
        <p:spPr>
          <a:xfrm>
            <a:off x="744356" y="3596522"/>
            <a:ext cx="392726" cy="40394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38" name="TextBox 110">
            <a:extLst>
              <a:ext uri="{FF2B5EF4-FFF2-40B4-BE49-F238E27FC236}">
                <a16:creationId xmlns:a16="http://schemas.microsoft.com/office/drawing/2014/main" id="{DDBD82B2-B1F8-0B7E-A63D-567A4AF6980B}"/>
              </a:ext>
            </a:extLst>
          </p:cNvPr>
          <p:cNvSpPr txBox="1"/>
          <p:nvPr/>
        </p:nvSpPr>
        <p:spPr>
          <a:xfrm>
            <a:off x="1253116" y="3547427"/>
            <a:ext cx="6533306" cy="652166"/>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But Watch out</a:t>
            </a:r>
            <a:endParaRPr lang="en-US" sz="825" b="1" noProof="1">
              <a:solidFill>
                <a:srgbClr val="F79421"/>
              </a:solidFill>
              <a:latin typeface="Space Grotesk" pitchFamily="2" charset="0"/>
              <a:cs typeface="Space Grotesk" pitchFamily="2" charset="0"/>
            </a:endParaRPr>
          </a:p>
          <a:p>
            <a:r>
              <a:rPr lang="en-US" sz="1050" b="1" noProof="1">
                <a:latin typeface="Space Grotesk" pitchFamily="2" charset="0"/>
                <a:cs typeface="Space Grotesk" pitchFamily="2" charset="0"/>
              </a:rPr>
              <a:t>Even operational data </a:t>
            </a:r>
            <a:r>
              <a:rPr lang="en-US" sz="1050" noProof="1">
                <a:latin typeface="Space Grotesk" pitchFamily="2" charset="0"/>
                <a:cs typeface="Space Grotesk" pitchFamily="2" charset="0"/>
              </a:rPr>
              <a:t>can become sensitive if it reveals </a:t>
            </a:r>
            <a:r>
              <a:rPr lang="en-US" sz="1050" b="1" noProof="1">
                <a:latin typeface="Space Grotesk" pitchFamily="2" charset="0"/>
                <a:cs typeface="Space Grotesk" pitchFamily="2" charset="0"/>
              </a:rPr>
              <a:t>strategy, performance or future direction </a:t>
            </a:r>
          </a:p>
          <a:p>
            <a:pPr>
              <a:defRPr/>
            </a:pPr>
            <a:endParaRPr lang="en-US" sz="525" noProof="1">
              <a:solidFill>
                <a:prstClr val="black"/>
              </a:solidFill>
              <a:latin typeface="Space Grotesk" pitchFamily="2" charset="0"/>
              <a:cs typeface="Space Grotesk" pitchFamily="2" charset="0"/>
            </a:endParaRPr>
          </a:p>
        </p:txBody>
      </p:sp>
      <p:sp>
        <p:nvSpPr>
          <p:cNvPr id="39" name="Oval 86">
            <a:extLst>
              <a:ext uri="{FF2B5EF4-FFF2-40B4-BE49-F238E27FC236}">
                <a16:creationId xmlns:a16="http://schemas.microsoft.com/office/drawing/2014/main" id="{DD794663-64C6-6BE9-B11E-607BA6A87009}"/>
              </a:ext>
            </a:extLst>
          </p:cNvPr>
          <p:cNvSpPr/>
          <p:nvPr/>
        </p:nvSpPr>
        <p:spPr>
          <a:xfrm>
            <a:off x="744356" y="2852240"/>
            <a:ext cx="392726" cy="403947"/>
          </a:xfrm>
          <a:prstGeom prst="ellipse">
            <a:avLst/>
          </a:prstGeom>
          <a:solidFill>
            <a:srgbClr val="F1E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40" name="Oval 86">
            <a:extLst>
              <a:ext uri="{FF2B5EF4-FFF2-40B4-BE49-F238E27FC236}">
                <a16:creationId xmlns:a16="http://schemas.microsoft.com/office/drawing/2014/main" id="{6AAB76E7-88A8-DC85-AFEB-CEBC418450EC}"/>
              </a:ext>
            </a:extLst>
          </p:cNvPr>
          <p:cNvSpPr/>
          <p:nvPr/>
        </p:nvSpPr>
        <p:spPr>
          <a:xfrm>
            <a:off x="744356" y="2083571"/>
            <a:ext cx="392726" cy="403947"/>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sp>
        <p:nvSpPr>
          <p:cNvPr id="41" name="Oval 86">
            <a:extLst>
              <a:ext uri="{FF2B5EF4-FFF2-40B4-BE49-F238E27FC236}">
                <a16:creationId xmlns:a16="http://schemas.microsoft.com/office/drawing/2014/main" id="{5B7162C9-92BA-7623-A104-17E2251D9E34}"/>
              </a:ext>
            </a:extLst>
          </p:cNvPr>
          <p:cNvSpPr/>
          <p:nvPr/>
        </p:nvSpPr>
        <p:spPr>
          <a:xfrm>
            <a:off x="744356" y="1315634"/>
            <a:ext cx="392726" cy="403947"/>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noProof="1"/>
          </a:p>
        </p:txBody>
      </p:sp>
      <p:pic>
        <p:nvPicPr>
          <p:cNvPr id="42" name="Graphic 41" descr="User outline">
            <a:extLst>
              <a:ext uri="{FF2B5EF4-FFF2-40B4-BE49-F238E27FC236}">
                <a16:creationId xmlns:a16="http://schemas.microsoft.com/office/drawing/2014/main" id="{894556D3-8477-336F-A36C-ADC1E2A899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849" y="1377574"/>
            <a:ext cx="255739" cy="264406"/>
          </a:xfrm>
          <a:prstGeom prst="rect">
            <a:avLst/>
          </a:prstGeom>
        </p:spPr>
      </p:pic>
      <p:pic>
        <p:nvPicPr>
          <p:cNvPr id="43" name="Graphic 42">
            <a:extLst>
              <a:ext uri="{FF2B5EF4-FFF2-40B4-BE49-F238E27FC236}">
                <a16:creationId xmlns:a16="http://schemas.microsoft.com/office/drawing/2014/main" id="{E0BE3C36-8E66-C6BB-9A6A-A0396BC2EA6A}"/>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12849" y="2148723"/>
            <a:ext cx="255739" cy="255739"/>
          </a:xfrm>
          <a:prstGeom prst="rect">
            <a:avLst/>
          </a:prstGeom>
        </p:spPr>
      </p:pic>
      <p:pic>
        <p:nvPicPr>
          <p:cNvPr id="44" name="Graphic 42">
            <a:extLst>
              <a:ext uri="{FF2B5EF4-FFF2-40B4-BE49-F238E27FC236}">
                <a16:creationId xmlns:a16="http://schemas.microsoft.com/office/drawing/2014/main" id="{C8B137CA-E4D7-02F0-2D68-910A61FE45A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983" y="2932020"/>
            <a:ext cx="255739" cy="255739"/>
          </a:xfrm>
          <a:prstGeom prst="rect">
            <a:avLst/>
          </a:prstGeom>
        </p:spPr>
      </p:pic>
      <p:pic>
        <p:nvPicPr>
          <p:cNvPr id="45" name="Graphic 42">
            <a:extLst>
              <a:ext uri="{FF2B5EF4-FFF2-40B4-BE49-F238E27FC236}">
                <a16:creationId xmlns:a16="http://schemas.microsoft.com/office/drawing/2014/main" id="{9629BDD3-AE42-238A-EE0B-1AFDB021A79A}"/>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982" y="3670626"/>
            <a:ext cx="255739" cy="255739"/>
          </a:xfrm>
          <a:prstGeom prst="rect">
            <a:avLst/>
          </a:prstGeom>
        </p:spPr>
      </p:pic>
    </p:spTree>
    <p:extLst>
      <p:ext uri="{BB962C8B-B14F-4D97-AF65-F5344CB8AC3E}">
        <p14:creationId xmlns:p14="http://schemas.microsoft.com/office/powerpoint/2010/main" val="236400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8CDD7-386D-10D2-6B4D-64ADD5544E2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E549B39-CFA0-B177-AAAC-2E61E0E53761}"/>
              </a:ext>
            </a:extLst>
          </p:cNvPr>
          <p:cNvCxnSpPr/>
          <p:nvPr/>
        </p:nvCxnSpPr>
        <p:spPr>
          <a:xfrm>
            <a:off x="0" y="0"/>
            <a:ext cx="685800" cy="0"/>
          </a:xfrm>
          <a:prstGeom prst="line">
            <a:avLst/>
          </a:prstGeom>
          <a:ln w="0" cap="flat" cmpd="sng" algn="ctr">
            <a:solidFill>
              <a:srgbClr val="FBFFFF"/>
            </a:solidFill>
            <a:prstDash val="solid"/>
            <a:miter lim="800000"/>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ekstvak 5" descr="MVX23_Logo_Basislogo_Full_colour_Wit">
            <a:extLst>
              <a:ext uri="{FF2B5EF4-FFF2-40B4-BE49-F238E27FC236}">
                <a16:creationId xmlns:a16="http://schemas.microsoft.com/office/drawing/2014/main" id="{81D01F79-0BE8-6027-E3A6-2DB05BA040F2}"/>
              </a:ext>
            </a:extLst>
          </p:cNvPr>
          <p:cNvSpPr txBox="1"/>
          <p:nvPr/>
        </p:nvSpPr>
        <p:spPr>
          <a:xfrm>
            <a:off x="639244" y="467727"/>
            <a:ext cx="6640835" cy="577081"/>
          </a:xfrm>
          <a:prstGeom prst="rect">
            <a:avLst/>
          </a:prstGeom>
          <a:noFill/>
        </p:spPr>
        <p:txBody>
          <a:bodyPr wrap="square" lIns="68580" tIns="34290" rIns="68580" bIns="34290" rtlCol="0" anchor="t">
            <a:spAutoFit/>
          </a:bodyPr>
          <a:lstStyle/>
          <a:p>
            <a:r>
              <a:rPr lang="en-US" sz="3300" b="1" noProof="1">
                <a:solidFill>
                  <a:srgbClr val="0D006A"/>
                </a:solidFill>
                <a:latin typeface="Space Grotesk" pitchFamily="2" charset="0"/>
                <a:cs typeface="Space Grotesk" pitchFamily="2" charset="0"/>
              </a:rPr>
              <a:t>AI automating routine tasks</a:t>
            </a:r>
          </a:p>
        </p:txBody>
      </p:sp>
      <p:sp>
        <p:nvSpPr>
          <p:cNvPr id="3" name="Tekstvak 7" descr="MVX23_Logo_Basislogo_Full_colour_Wit">
            <a:extLst>
              <a:ext uri="{FF2B5EF4-FFF2-40B4-BE49-F238E27FC236}">
                <a16:creationId xmlns:a16="http://schemas.microsoft.com/office/drawing/2014/main" id="{D5F84F33-D64D-9171-F07B-9A259BC3B626}"/>
              </a:ext>
            </a:extLst>
          </p:cNvPr>
          <p:cNvSpPr txBox="1"/>
          <p:nvPr/>
        </p:nvSpPr>
        <p:spPr>
          <a:xfrm>
            <a:off x="637698" y="1007125"/>
            <a:ext cx="7867059" cy="278987"/>
          </a:xfrm>
          <a:prstGeom prst="rect">
            <a:avLst/>
          </a:prstGeom>
          <a:noFill/>
        </p:spPr>
        <p:txBody>
          <a:bodyPr wrap="square" lIns="68580" tIns="34290" rIns="68580" bIns="34290" rtlCol="0" anchor="t">
            <a:spAutoFit/>
          </a:bodyPr>
          <a:lstStyle/>
          <a:p>
            <a:pPr>
              <a:lnSpc>
                <a:spcPct val="150000"/>
              </a:lnSpc>
            </a:pPr>
            <a:r>
              <a:rPr lang="en-US" sz="1013" noProof="1">
                <a:solidFill>
                  <a:srgbClr val="0D006A"/>
                </a:solidFill>
                <a:ea typeface="+mn-lt"/>
                <a:cs typeface="+mn-lt"/>
              </a:rPr>
              <a:t>AI is automating many of the </a:t>
            </a:r>
            <a:r>
              <a:rPr lang="en-US" sz="1013" b="1" noProof="1">
                <a:solidFill>
                  <a:srgbClr val="F79421"/>
                </a:solidFill>
                <a:ea typeface="+mn-lt"/>
                <a:cs typeface="+mn-lt"/>
              </a:rPr>
              <a:t>repetitive administrative tasks </a:t>
            </a:r>
            <a:r>
              <a:rPr lang="en-US" sz="1013" noProof="1">
                <a:solidFill>
                  <a:srgbClr val="0D006A"/>
                </a:solidFill>
                <a:ea typeface="+mn-lt"/>
                <a:cs typeface="+mn-lt"/>
              </a:rPr>
              <a:t>that used to take up </a:t>
            </a:r>
            <a:r>
              <a:rPr lang="en-US" sz="1013" b="1" noProof="1">
                <a:solidFill>
                  <a:srgbClr val="F79421"/>
                </a:solidFill>
                <a:ea typeface="+mn-lt"/>
                <a:cs typeface="+mn-lt"/>
              </a:rPr>
              <a:t>significant time for professionals</a:t>
            </a:r>
            <a:r>
              <a:rPr lang="en-US" sz="1013" noProof="1">
                <a:solidFill>
                  <a:srgbClr val="0D006A"/>
                </a:solidFill>
                <a:ea typeface="+mn-lt"/>
                <a:cs typeface="+mn-lt"/>
              </a:rPr>
              <a:t>, like:</a:t>
            </a:r>
          </a:p>
        </p:txBody>
      </p:sp>
      <p:grpSp>
        <p:nvGrpSpPr>
          <p:cNvPr id="4" name="Groep 3">
            <a:extLst>
              <a:ext uri="{FF2B5EF4-FFF2-40B4-BE49-F238E27FC236}">
                <a16:creationId xmlns:a16="http://schemas.microsoft.com/office/drawing/2014/main" id="{E6A82431-DA61-3668-E79C-6F3D8F4D8808}"/>
              </a:ext>
            </a:extLst>
          </p:cNvPr>
          <p:cNvGrpSpPr/>
          <p:nvPr/>
        </p:nvGrpSpPr>
        <p:grpSpPr>
          <a:xfrm>
            <a:off x="637699" y="1752850"/>
            <a:ext cx="2507409" cy="1520706"/>
            <a:chOff x="818977" y="1517389"/>
            <a:chExt cx="3343211" cy="2027608"/>
          </a:xfrm>
        </p:grpSpPr>
        <p:grpSp>
          <p:nvGrpSpPr>
            <p:cNvPr id="6" name="Group 5">
              <a:extLst>
                <a:ext uri="{FF2B5EF4-FFF2-40B4-BE49-F238E27FC236}">
                  <a16:creationId xmlns:a16="http://schemas.microsoft.com/office/drawing/2014/main" id="{9E62315B-61E1-A0C2-2363-E27D134433DD}"/>
                </a:ext>
              </a:extLst>
            </p:cNvPr>
            <p:cNvGrpSpPr/>
            <p:nvPr/>
          </p:nvGrpSpPr>
          <p:grpSpPr>
            <a:xfrm rot="5400000">
              <a:off x="1476779" y="859587"/>
              <a:ext cx="2027608" cy="3343211"/>
              <a:chOff x="846968" y="2519351"/>
              <a:chExt cx="11542885" cy="3888754"/>
            </a:xfrm>
          </p:grpSpPr>
          <p:sp>
            <p:nvSpPr>
              <p:cNvPr id="11" name="Rectangle: Rounded Corners 8">
                <a:extLst>
                  <a:ext uri="{FF2B5EF4-FFF2-40B4-BE49-F238E27FC236}">
                    <a16:creationId xmlns:a16="http://schemas.microsoft.com/office/drawing/2014/main" id="{DEAF94B3-9620-ED23-B541-C4EC87BC9191}"/>
                  </a:ext>
                </a:extLst>
              </p:cNvPr>
              <p:cNvSpPr/>
              <p:nvPr/>
            </p:nvSpPr>
            <p:spPr>
              <a:xfrm>
                <a:off x="846968" y="2519351"/>
                <a:ext cx="2589772" cy="388875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11">
                <a:extLst>
                  <a:ext uri="{FF2B5EF4-FFF2-40B4-BE49-F238E27FC236}">
                    <a16:creationId xmlns:a16="http://schemas.microsoft.com/office/drawing/2014/main" id="{32AFD5BC-1B49-2DA3-45AF-D16A1EF2A32B}"/>
                  </a:ext>
                </a:extLst>
              </p:cNvPr>
              <p:cNvSpPr/>
              <p:nvPr/>
            </p:nvSpPr>
            <p:spPr>
              <a:xfrm>
                <a:off x="890618" y="2519353"/>
                <a:ext cx="11499235" cy="38887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 name="Group 37">
              <a:extLst>
                <a:ext uri="{FF2B5EF4-FFF2-40B4-BE49-F238E27FC236}">
                  <a16:creationId xmlns:a16="http://schemas.microsoft.com/office/drawing/2014/main" id="{D2E5A9DF-DE6A-426B-58D5-864BAA9C4E70}"/>
                </a:ext>
              </a:extLst>
            </p:cNvPr>
            <p:cNvGrpSpPr/>
            <p:nvPr/>
          </p:nvGrpSpPr>
          <p:grpSpPr>
            <a:xfrm>
              <a:off x="913732" y="1567193"/>
              <a:ext cx="2964028" cy="1032217"/>
              <a:chOff x="405947" y="2318702"/>
              <a:chExt cx="2376730" cy="822975"/>
            </a:xfrm>
          </p:grpSpPr>
          <p:sp>
            <p:nvSpPr>
              <p:cNvPr id="8" name="TextBox 7">
                <a:extLst>
                  <a:ext uri="{FF2B5EF4-FFF2-40B4-BE49-F238E27FC236}">
                    <a16:creationId xmlns:a16="http://schemas.microsoft.com/office/drawing/2014/main" id="{70474F58-FA74-5AB9-14D8-931B40696EF3}"/>
                  </a:ext>
                </a:extLst>
              </p:cNvPr>
              <p:cNvSpPr txBox="1"/>
              <p:nvPr/>
            </p:nvSpPr>
            <p:spPr>
              <a:xfrm>
                <a:off x="839918" y="2356439"/>
                <a:ext cx="1942759" cy="785238"/>
              </a:xfrm>
              <a:prstGeom prst="rect">
                <a:avLst/>
              </a:prstGeom>
              <a:noFill/>
            </p:spPr>
            <p:txBody>
              <a:bodyPr wrap="square" rtlCol="0">
                <a:spAutoFit/>
              </a:bodyPr>
              <a:lstStyle/>
              <a:p>
                <a:r>
                  <a:rPr lang="en-US" sz="900" b="1" noProof="1">
                    <a:latin typeface="Space Grotesk" pitchFamily="2" charset="0"/>
                    <a:cs typeface="Space Grotesk" pitchFamily="2" charset="0"/>
                  </a:rPr>
                  <a:t>Customer support triage</a:t>
                </a:r>
              </a:p>
              <a:p>
                <a:r>
                  <a:rPr lang="nl-NL" sz="825">
                    <a:latin typeface="Space Grotesk" pitchFamily="2" charset="77"/>
                    <a:cs typeface="Space Grotesk" pitchFamily="2" charset="77"/>
                  </a:rPr>
                  <a:t>Reads </a:t>
                </a:r>
                <a:r>
                  <a:rPr lang="nl-NL" sz="825" err="1">
                    <a:latin typeface="Space Grotesk" pitchFamily="2" charset="77"/>
                    <a:cs typeface="Space Grotesk" pitchFamily="2" charset="77"/>
                  </a:rPr>
                  <a:t>incoming</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requests</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identifies</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intent</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and</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urgency</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and</a:t>
                </a:r>
                <a:r>
                  <a:rPr lang="nl-NL" sz="825">
                    <a:latin typeface="Space Grotesk" pitchFamily="2" charset="77"/>
                    <a:cs typeface="Space Grotesk" pitchFamily="2" charset="77"/>
                  </a:rPr>
                  <a:t> routes tickets </a:t>
                </a:r>
                <a:r>
                  <a:rPr lang="nl-NL" sz="825" err="1">
                    <a:latin typeface="Space Grotesk" pitchFamily="2" charset="77"/>
                    <a:cs typeface="Space Grotesk" pitchFamily="2" charset="77"/>
                  </a:rPr>
                  <a:t>to</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the</a:t>
                </a:r>
                <a:r>
                  <a:rPr lang="nl-NL" sz="825">
                    <a:latin typeface="Space Grotesk" pitchFamily="2" charset="77"/>
                    <a:cs typeface="Space Grotesk" pitchFamily="2" charset="77"/>
                  </a:rPr>
                  <a:t> right team </a:t>
                </a:r>
                <a:r>
                  <a:rPr lang="nl-NL" sz="825" err="1">
                    <a:latin typeface="Space Grotesk" pitchFamily="2" charset="77"/>
                    <a:cs typeface="Space Grotesk" pitchFamily="2" charset="77"/>
                  </a:rPr>
                  <a:t>automatically</a:t>
                </a:r>
                <a:r>
                  <a:rPr lang="nl-NL" sz="825">
                    <a:latin typeface="Space Grotesk" pitchFamily="2" charset="77"/>
                    <a:cs typeface="Space Grotesk" pitchFamily="2" charset="77"/>
                  </a:rPr>
                  <a:t>.</a:t>
                </a:r>
              </a:p>
            </p:txBody>
          </p:sp>
          <p:sp>
            <p:nvSpPr>
              <p:cNvPr id="9" name="Oval 83">
                <a:extLst>
                  <a:ext uri="{FF2B5EF4-FFF2-40B4-BE49-F238E27FC236}">
                    <a16:creationId xmlns:a16="http://schemas.microsoft.com/office/drawing/2014/main" id="{3D12D7BE-DA53-C39B-3B61-E9C9F4C1EB78}"/>
                  </a:ext>
                </a:extLst>
              </p:cNvPr>
              <p:cNvSpPr/>
              <p:nvPr/>
            </p:nvSpPr>
            <p:spPr>
              <a:xfrm>
                <a:off x="405947" y="2318702"/>
                <a:ext cx="433971"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pic>
            <p:nvPicPr>
              <p:cNvPr id="10" name="Graphic 9">
                <a:extLst>
                  <a:ext uri="{FF2B5EF4-FFF2-40B4-BE49-F238E27FC236}">
                    <a16:creationId xmlns:a16="http://schemas.microsoft.com/office/drawing/2014/main" id="{3973BAD1-1338-1175-EF1F-A3EE0BEC37F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9533" y="2401705"/>
                <a:ext cx="266045" cy="264529"/>
              </a:xfrm>
              <a:prstGeom prst="rect">
                <a:avLst/>
              </a:prstGeom>
            </p:spPr>
          </p:pic>
        </p:grpSp>
      </p:grpSp>
      <p:grpSp>
        <p:nvGrpSpPr>
          <p:cNvPr id="13" name="Groep 12">
            <a:extLst>
              <a:ext uri="{FF2B5EF4-FFF2-40B4-BE49-F238E27FC236}">
                <a16:creationId xmlns:a16="http://schemas.microsoft.com/office/drawing/2014/main" id="{E3F4A743-EBE8-AB7F-D4E5-A201FACE6C76}"/>
              </a:ext>
            </a:extLst>
          </p:cNvPr>
          <p:cNvGrpSpPr/>
          <p:nvPr/>
        </p:nvGrpSpPr>
        <p:grpSpPr>
          <a:xfrm>
            <a:off x="3278793" y="1737539"/>
            <a:ext cx="2507408" cy="1521646"/>
            <a:chOff x="844700" y="1517386"/>
            <a:chExt cx="3933191" cy="2028863"/>
          </a:xfrm>
        </p:grpSpPr>
        <p:grpSp>
          <p:nvGrpSpPr>
            <p:cNvPr id="14" name="Group 5">
              <a:extLst>
                <a:ext uri="{FF2B5EF4-FFF2-40B4-BE49-F238E27FC236}">
                  <a16:creationId xmlns:a16="http://schemas.microsoft.com/office/drawing/2014/main" id="{4D57C0F5-582D-1B43-4360-B40F5DDEA484}"/>
                </a:ext>
              </a:extLst>
            </p:cNvPr>
            <p:cNvGrpSpPr/>
            <p:nvPr/>
          </p:nvGrpSpPr>
          <p:grpSpPr>
            <a:xfrm rot="5400000">
              <a:off x="1796864" y="565222"/>
              <a:ext cx="2028863" cy="3933191"/>
              <a:chOff x="846959" y="1803176"/>
              <a:chExt cx="11550027" cy="4575006"/>
            </a:xfrm>
          </p:grpSpPr>
          <p:sp>
            <p:nvSpPr>
              <p:cNvPr id="20" name="Rectangle: Rounded Corners 8">
                <a:extLst>
                  <a:ext uri="{FF2B5EF4-FFF2-40B4-BE49-F238E27FC236}">
                    <a16:creationId xmlns:a16="http://schemas.microsoft.com/office/drawing/2014/main" id="{57377AE5-07B6-33E0-3488-3FFF0165077F}"/>
                  </a:ext>
                </a:extLst>
              </p:cNvPr>
              <p:cNvSpPr/>
              <p:nvPr/>
            </p:nvSpPr>
            <p:spPr>
              <a:xfrm>
                <a:off x="846959" y="1803176"/>
                <a:ext cx="2589778" cy="4567289"/>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1" name="Rectangle: Rounded Corners 11">
                <a:extLst>
                  <a:ext uri="{FF2B5EF4-FFF2-40B4-BE49-F238E27FC236}">
                    <a16:creationId xmlns:a16="http://schemas.microsoft.com/office/drawing/2014/main" id="{6DDAA335-70D2-E58F-FAD1-C767EFA230F2}"/>
                  </a:ext>
                </a:extLst>
              </p:cNvPr>
              <p:cNvSpPr/>
              <p:nvPr/>
            </p:nvSpPr>
            <p:spPr>
              <a:xfrm>
                <a:off x="897745" y="1803180"/>
                <a:ext cx="11499241" cy="457500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16" name="Group 37">
              <a:extLst>
                <a:ext uri="{FF2B5EF4-FFF2-40B4-BE49-F238E27FC236}">
                  <a16:creationId xmlns:a16="http://schemas.microsoft.com/office/drawing/2014/main" id="{CCCEB2B8-DF10-104C-0826-9CD4B53A80E6}"/>
                </a:ext>
              </a:extLst>
            </p:cNvPr>
            <p:cNvGrpSpPr/>
            <p:nvPr/>
          </p:nvGrpSpPr>
          <p:grpSpPr>
            <a:xfrm>
              <a:off x="964841" y="1597390"/>
              <a:ext cx="3356034" cy="984886"/>
              <a:chOff x="446929" y="2342777"/>
              <a:chExt cx="2691064" cy="785238"/>
            </a:xfrm>
          </p:grpSpPr>
          <p:sp>
            <p:nvSpPr>
              <p:cNvPr id="18" name="TextBox 7">
                <a:extLst>
                  <a:ext uri="{FF2B5EF4-FFF2-40B4-BE49-F238E27FC236}">
                    <a16:creationId xmlns:a16="http://schemas.microsoft.com/office/drawing/2014/main" id="{B285A102-BAF1-4BA2-2BFA-75F852D8708E}"/>
                  </a:ext>
                </a:extLst>
              </p:cNvPr>
              <p:cNvSpPr txBox="1"/>
              <p:nvPr/>
            </p:nvSpPr>
            <p:spPr>
              <a:xfrm>
                <a:off x="941678" y="2342777"/>
                <a:ext cx="2196315" cy="785238"/>
              </a:xfrm>
              <a:prstGeom prst="rect">
                <a:avLst/>
              </a:prstGeom>
              <a:noFill/>
            </p:spPr>
            <p:txBody>
              <a:bodyPr wrap="square" rtlCol="0">
                <a:spAutoFit/>
              </a:bodyPr>
              <a:lstStyle/>
              <a:p>
                <a:r>
                  <a:rPr lang="en-US" sz="900" b="1" noProof="1">
                    <a:latin typeface="Space Grotesk" pitchFamily="2" charset="0"/>
                    <a:cs typeface="Space Grotesk" pitchFamily="2" charset="0"/>
                  </a:rPr>
                  <a:t>Document processing</a:t>
                </a:r>
              </a:p>
              <a:p>
                <a:r>
                  <a:rPr lang="en-US" sz="825" noProof="1">
                    <a:solidFill>
                      <a:prstClr val="black"/>
                    </a:solidFill>
                    <a:latin typeface="Space Grotesk" pitchFamily="2" charset="0"/>
                    <a:cs typeface="Space Grotesk" pitchFamily="2" charset="0"/>
                  </a:rPr>
                  <a:t>Extracts key information from forms, emails, and PDFs — reducing repetitive admin work across operations.</a:t>
                </a:r>
              </a:p>
            </p:txBody>
          </p:sp>
          <p:sp>
            <p:nvSpPr>
              <p:cNvPr id="19" name="Oval 83">
                <a:extLst>
                  <a:ext uri="{FF2B5EF4-FFF2-40B4-BE49-F238E27FC236}">
                    <a16:creationId xmlns:a16="http://schemas.microsoft.com/office/drawing/2014/main" id="{7BC700F2-A5ED-70F8-9E76-4F4016F5A795}"/>
                  </a:ext>
                </a:extLst>
              </p:cNvPr>
              <p:cNvSpPr/>
              <p:nvPr/>
            </p:nvSpPr>
            <p:spPr>
              <a:xfrm>
                <a:off x="446929" y="2372539"/>
                <a:ext cx="509416"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grpSp>
      </p:grpSp>
      <p:grpSp>
        <p:nvGrpSpPr>
          <p:cNvPr id="22" name="Groep 21">
            <a:extLst>
              <a:ext uri="{FF2B5EF4-FFF2-40B4-BE49-F238E27FC236}">
                <a16:creationId xmlns:a16="http://schemas.microsoft.com/office/drawing/2014/main" id="{CCA086DE-64D1-2BB1-AB97-97F06131969D}"/>
              </a:ext>
            </a:extLst>
          </p:cNvPr>
          <p:cNvGrpSpPr/>
          <p:nvPr/>
        </p:nvGrpSpPr>
        <p:grpSpPr>
          <a:xfrm>
            <a:off x="5919889" y="1728110"/>
            <a:ext cx="2520321" cy="1524812"/>
            <a:chOff x="348524" y="1517384"/>
            <a:chExt cx="3960740" cy="2033083"/>
          </a:xfrm>
        </p:grpSpPr>
        <p:grpSp>
          <p:nvGrpSpPr>
            <p:cNvPr id="23" name="Group 5">
              <a:extLst>
                <a:ext uri="{FF2B5EF4-FFF2-40B4-BE49-F238E27FC236}">
                  <a16:creationId xmlns:a16="http://schemas.microsoft.com/office/drawing/2014/main" id="{07B5B8AC-5ECD-1DF0-56EE-46E75FD9D5F2}"/>
                </a:ext>
              </a:extLst>
            </p:cNvPr>
            <p:cNvGrpSpPr/>
            <p:nvPr/>
          </p:nvGrpSpPr>
          <p:grpSpPr>
            <a:xfrm rot="5400000">
              <a:off x="1302204" y="563704"/>
              <a:ext cx="2033083" cy="3940444"/>
              <a:chOff x="846944" y="2371883"/>
              <a:chExt cx="11574002" cy="4583443"/>
            </a:xfrm>
          </p:grpSpPr>
          <p:sp>
            <p:nvSpPr>
              <p:cNvPr id="27" name="Rectangle: Rounded Corners 8">
                <a:extLst>
                  <a:ext uri="{FF2B5EF4-FFF2-40B4-BE49-F238E27FC236}">
                    <a16:creationId xmlns:a16="http://schemas.microsoft.com/office/drawing/2014/main" id="{CAAA8122-3F84-3376-5DC6-4AB0BB70741E}"/>
                  </a:ext>
                </a:extLst>
              </p:cNvPr>
              <p:cNvSpPr/>
              <p:nvPr/>
            </p:nvSpPr>
            <p:spPr>
              <a:xfrm>
                <a:off x="846944" y="2371883"/>
                <a:ext cx="2589772" cy="4583443"/>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28" name="Rectangle: Rounded Corners 11">
                <a:extLst>
                  <a:ext uri="{FF2B5EF4-FFF2-40B4-BE49-F238E27FC236}">
                    <a16:creationId xmlns:a16="http://schemas.microsoft.com/office/drawing/2014/main" id="{557F9FFA-32D5-5E85-016C-4C7AE43D7449}"/>
                  </a:ext>
                </a:extLst>
              </p:cNvPr>
              <p:cNvSpPr/>
              <p:nvPr/>
            </p:nvSpPr>
            <p:spPr>
              <a:xfrm>
                <a:off x="921739" y="2371884"/>
                <a:ext cx="11499207" cy="458344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24" name="Group 37">
              <a:extLst>
                <a:ext uri="{FF2B5EF4-FFF2-40B4-BE49-F238E27FC236}">
                  <a16:creationId xmlns:a16="http://schemas.microsoft.com/office/drawing/2014/main" id="{D89B88DE-010F-21DA-E8C1-EB4F09E39CF7}"/>
                </a:ext>
              </a:extLst>
            </p:cNvPr>
            <p:cNvGrpSpPr/>
            <p:nvPr/>
          </p:nvGrpSpPr>
          <p:grpSpPr>
            <a:xfrm>
              <a:off x="459575" y="1592460"/>
              <a:ext cx="3849689" cy="984885"/>
              <a:chOff x="41778" y="2338844"/>
              <a:chExt cx="3086904" cy="785237"/>
            </a:xfrm>
          </p:grpSpPr>
          <p:sp>
            <p:nvSpPr>
              <p:cNvPr id="25" name="TextBox 7">
                <a:extLst>
                  <a:ext uri="{FF2B5EF4-FFF2-40B4-BE49-F238E27FC236}">
                    <a16:creationId xmlns:a16="http://schemas.microsoft.com/office/drawing/2014/main" id="{260833F7-9F42-01A5-BEC5-B0CD814C3A19}"/>
                  </a:ext>
                </a:extLst>
              </p:cNvPr>
              <p:cNvSpPr txBox="1"/>
              <p:nvPr/>
            </p:nvSpPr>
            <p:spPr>
              <a:xfrm>
                <a:off x="568410" y="2338844"/>
                <a:ext cx="2560272" cy="785237"/>
              </a:xfrm>
              <a:prstGeom prst="rect">
                <a:avLst/>
              </a:prstGeom>
              <a:noFill/>
            </p:spPr>
            <p:txBody>
              <a:bodyPr wrap="square" rtlCol="0">
                <a:spAutoFit/>
              </a:bodyPr>
              <a:lstStyle/>
              <a:p>
                <a:r>
                  <a:rPr lang="en-US" sz="900" b="1" noProof="1">
                    <a:latin typeface="Space Grotesk" pitchFamily="2" charset="0"/>
                    <a:cs typeface="Space Grotesk" pitchFamily="2" charset="0"/>
                  </a:rPr>
                  <a:t>Operational reporting</a:t>
                </a:r>
              </a:p>
              <a:p>
                <a:r>
                  <a:rPr lang="en-US" sz="825" noProof="1">
                    <a:solidFill>
                      <a:prstClr val="black"/>
                    </a:solidFill>
                    <a:latin typeface="Space Grotesk" pitchFamily="2" charset="0"/>
                    <a:cs typeface="Space Grotesk" pitchFamily="2" charset="0"/>
                  </a:rPr>
                  <a:t>Generates first-draft summaries and dashboards from business data — helping teams make decisions faster.</a:t>
                </a:r>
              </a:p>
            </p:txBody>
          </p:sp>
          <p:sp>
            <p:nvSpPr>
              <p:cNvPr id="26" name="Oval 83">
                <a:extLst>
                  <a:ext uri="{FF2B5EF4-FFF2-40B4-BE49-F238E27FC236}">
                    <a16:creationId xmlns:a16="http://schemas.microsoft.com/office/drawing/2014/main" id="{55A67A8A-C5E1-3998-6499-80BBE5FE4A9A}"/>
                  </a:ext>
                </a:extLst>
              </p:cNvPr>
              <p:cNvSpPr/>
              <p:nvPr/>
            </p:nvSpPr>
            <p:spPr>
              <a:xfrm>
                <a:off x="41778" y="2372599"/>
                <a:ext cx="510356" cy="430536"/>
              </a:xfrm>
              <a:prstGeom prst="ellipse">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grpSp>
      </p:grpSp>
      <p:grpSp>
        <p:nvGrpSpPr>
          <p:cNvPr id="36" name="Groep 35">
            <a:extLst>
              <a:ext uri="{FF2B5EF4-FFF2-40B4-BE49-F238E27FC236}">
                <a16:creationId xmlns:a16="http://schemas.microsoft.com/office/drawing/2014/main" id="{020A29B2-511E-BE2E-CE23-CDA03C98B96C}"/>
              </a:ext>
            </a:extLst>
          </p:cNvPr>
          <p:cNvGrpSpPr/>
          <p:nvPr/>
        </p:nvGrpSpPr>
        <p:grpSpPr>
          <a:xfrm>
            <a:off x="708763" y="2598076"/>
            <a:ext cx="2303102" cy="550977"/>
            <a:chOff x="1049256" y="3779700"/>
            <a:chExt cx="2859789" cy="734635"/>
          </a:xfrm>
        </p:grpSpPr>
        <p:sp>
          <p:nvSpPr>
            <p:cNvPr id="30" name="Rectangle: Rounded Corners 15">
              <a:extLst>
                <a:ext uri="{FF2B5EF4-FFF2-40B4-BE49-F238E27FC236}">
                  <a16:creationId xmlns:a16="http://schemas.microsoft.com/office/drawing/2014/main" id="{DF1BE1CE-4D4C-4F36-19A6-F0238DEA9D94}"/>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1" name="Oval 20">
              <a:extLst>
                <a:ext uri="{FF2B5EF4-FFF2-40B4-BE49-F238E27FC236}">
                  <a16:creationId xmlns:a16="http://schemas.microsoft.com/office/drawing/2014/main" id="{3C3FD7B2-4589-CAC9-D825-5DF91F4BAA22}"/>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 60%</a:t>
              </a:r>
            </a:p>
          </p:txBody>
        </p:sp>
        <p:sp>
          <p:nvSpPr>
            <p:cNvPr id="32" name="TextBox 23">
              <a:extLst>
                <a:ext uri="{FF2B5EF4-FFF2-40B4-BE49-F238E27FC236}">
                  <a16:creationId xmlns:a16="http://schemas.microsoft.com/office/drawing/2014/main" id="{75C64DFE-1BB2-A3A2-2ED5-9791410D04F2}"/>
                </a:ext>
              </a:extLst>
            </p:cNvPr>
            <p:cNvSpPr txBox="1"/>
            <p:nvPr/>
          </p:nvSpPr>
          <p:spPr>
            <a:xfrm>
              <a:off x="2032374" y="3970404"/>
              <a:ext cx="1876671" cy="461666"/>
            </a:xfrm>
            <a:prstGeom prst="rect">
              <a:avLst/>
            </a:prstGeom>
            <a:noFill/>
          </p:spPr>
          <p:txBody>
            <a:bodyPr wrap="square" rtlCol="0">
              <a:spAutoFit/>
            </a:bodyPr>
            <a:lstStyle/>
            <a:p>
              <a:r>
                <a:rPr lang="en-US" sz="825" noProof="1">
                  <a:latin typeface="Space Grotesk" pitchFamily="2" charset="0"/>
                  <a:cs typeface="Space Grotesk" pitchFamily="2" charset="0"/>
                </a:rPr>
                <a:t>Less manual sorting and reassignment</a:t>
              </a:r>
            </a:p>
          </p:txBody>
        </p:sp>
      </p:grpSp>
      <p:grpSp>
        <p:nvGrpSpPr>
          <p:cNvPr id="37" name="Groep 36">
            <a:extLst>
              <a:ext uri="{FF2B5EF4-FFF2-40B4-BE49-F238E27FC236}">
                <a16:creationId xmlns:a16="http://schemas.microsoft.com/office/drawing/2014/main" id="{9607D91C-924B-65C0-458F-1AA12412E8E6}"/>
              </a:ext>
            </a:extLst>
          </p:cNvPr>
          <p:cNvGrpSpPr/>
          <p:nvPr/>
        </p:nvGrpSpPr>
        <p:grpSpPr>
          <a:xfrm>
            <a:off x="5990552" y="2573071"/>
            <a:ext cx="2303102" cy="550977"/>
            <a:chOff x="1049256" y="3779700"/>
            <a:chExt cx="2859789" cy="734635"/>
          </a:xfrm>
        </p:grpSpPr>
        <p:sp>
          <p:nvSpPr>
            <p:cNvPr id="38" name="Rectangle: Rounded Corners 15">
              <a:extLst>
                <a:ext uri="{FF2B5EF4-FFF2-40B4-BE49-F238E27FC236}">
                  <a16:creationId xmlns:a16="http://schemas.microsoft.com/office/drawing/2014/main" id="{8339B455-FA1F-A82A-0E7C-E13CA8C7DEF0}"/>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9" name="Oval 20">
              <a:extLst>
                <a:ext uri="{FF2B5EF4-FFF2-40B4-BE49-F238E27FC236}">
                  <a16:creationId xmlns:a16="http://schemas.microsoft.com/office/drawing/2014/main" id="{EBDE7497-3B2A-4A2B-0238-B79C190D8052}"/>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Days &gt;</a:t>
              </a:r>
            </a:p>
            <a:p>
              <a:pPr algn="ctr"/>
              <a:r>
                <a:rPr lang="en-US" sz="975" b="1" noProof="1">
                  <a:solidFill>
                    <a:srgbClr val="F79421"/>
                  </a:solidFill>
                  <a:latin typeface="Space Grotesk" pitchFamily="2" charset="0"/>
                  <a:cs typeface="Space Grotesk" pitchFamily="2" charset="0"/>
                </a:rPr>
                <a:t>Hours</a:t>
              </a:r>
            </a:p>
          </p:txBody>
        </p:sp>
        <p:sp>
          <p:nvSpPr>
            <p:cNvPr id="40" name="TextBox 23">
              <a:extLst>
                <a:ext uri="{FF2B5EF4-FFF2-40B4-BE49-F238E27FC236}">
                  <a16:creationId xmlns:a16="http://schemas.microsoft.com/office/drawing/2014/main" id="{A5839193-DADE-BF63-14B7-7885987E64A6}"/>
                </a:ext>
              </a:extLst>
            </p:cNvPr>
            <p:cNvSpPr txBox="1"/>
            <p:nvPr/>
          </p:nvSpPr>
          <p:spPr>
            <a:xfrm>
              <a:off x="2032374" y="3960017"/>
              <a:ext cx="1876671" cy="461666"/>
            </a:xfrm>
            <a:prstGeom prst="rect">
              <a:avLst/>
            </a:prstGeom>
            <a:noFill/>
          </p:spPr>
          <p:txBody>
            <a:bodyPr wrap="square" rtlCol="0">
              <a:spAutoFit/>
            </a:bodyPr>
            <a:lstStyle/>
            <a:p>
              <a:r>
                <a:rPr lang="nl-NL" sz="825" err="1">
                  <a:latin typeface="Space Grotesk" pitchFamily="2" charset="77"/>
                  <a:cs typeface="Space Grotesk" pitchFamily="2" charset="77"/>
                </a:rPr>
                <a:t>Typical</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weekly</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reporting</a:t>
              </a:r>
              <a:r>
                <a:rPr lang="nl-NL" sz="825">
                  <a:latin typeface="Space Grotesk" pitchFamily="2" charset="77"/>
                  <a:cs typeface="Space Grotesk" pitchFamily="2" charset="77"/>
                </a:rPr>
                <a:t> impact</a:t>
              </a:r>
              <a:endParaRPr lang="en-US" sz="825" noProof="1">
                <a:latin typeface="Space Grotesk" pitchFamily="2" charset="77"/>
                <a:cs typeface="Space Grotesk" pitchFamily="2" charset="77"/>
              </a:endParaRPr>
            </a:p>
          </p:txBody>
        </p:sp>
      </p:grpSp>
      <p:grpSp>
        <p:nvGrpSpPr>
          <p:cNvPr id="41" name="Groep 40">
            <a:extLst>
              <a:ext uri="{FF2B5EF4-FFF2-40B4-BE49-F238E27FC236}">
                <a16:creationId xmlns:a16="http://schemas.microsoft.com/office/drawing/2014/main" id="{8522FCA7-25AD-CE52-8B31-A5E2B8E6597E}"/>
              </a:ext>
            </a:extLst>
          </p:cNvPr>
          <p:cNvGrpSpPr/>
          <p:nvPr/>
        </p:nvGrpSpPr>
        <p:grpSpPr>
          <a:xfrm>
            <a:off x="3355383" y="2603563"/>
            <a:ext cx="2303102" cy="550977"/>
            <a:chOff x="1049256" y="3779700"/>
            <a:chExt cx="2859789" cy="734635"/>
          </a:xfrm>
        </p:grpSpPr>
        <p:sp>
          <p:nvSpPr>
            <p:cNvPr id="42" name="Rectangle: Rounded Corners 15">
              <a:extLst>
                <a:ext uri="{FF2B5EF4-FFF2-40B4-BE49-F238E27FC236}">
                  <a16:creationId xmlns:a16="http://schemas.microsoft.com/office/drawing/2014/main" id="{488F542D-23D9-8013-85B3-639EDB8882EA}"/>
                </a:ext>
              </a:extLst>
            </p:cNvPr>
            <p:cNvSpPr/>
            <p:nvPr/>
          </p:nvSpPr>
          <p:spPr>
            <a:xfrm>
              <a:off x="1049257" y="3779700"/>
              <a:ext cx="2859788" cy="724845"/>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3" name="Oval 20">
              <a:extLst>
                <a:ext uri="{FF2B5EF4-FFF2-40B4-BE49-F238E27FC236}">
                  <a16:creationId xmlns:a16="http://schemas.microsoft.com/office/drawing/2014/main" id="{AA511EF7-E0C4-D130-DF4B-3CD00C309620}"/>
                </a:ext>
              </a:extLst>
            </p:cNvPr>
            <p:cNvSpPr/>
            <p:nvPr/>
          </p:nvSpPr>
          <p:spPr>
            <a:xfrm>
              <a:off x="1049256" y="3794335"/>
              <a:ext cx="983117" cy="7200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75" b="1" noProof="1">
                  <a:solidFill>
                    <a:srgbClr val="F79421"/>
                  </a:solidFill>
                  <a:latin typeface="Space Grotesk" pitchFamily="2" charset="0"/>
                  <a:cs typeface="Space Grotesk" pitchFamily="2" charset="0"/>
                </a:rPr>
                <a:t>10x</a:t>
              </a:r>
            </a:p>
          </p:txBody>
        </p:sp>
        <p:sp>
          <p:nvSpPr>
            <p:cNvPr id="44" name="TextBox 23">
              <a:extLst>
                <a:ext uri="{FF2B5EF4-FFF2-40B4-BE49-F238E27FC236}">
                  <a16:creationId xmlns:a16="http://schemas.microsoft.com/office/drawing/2014/main" id="{257B05DA-506A-CA86-0A6B-7A20B8CA4D9C}"/>
                </a:ext>
              </a:extLst>
            </p:cNvPr>
            <p:cNvSpPr txBox="1"/>
            <p:nvPr/>
          </p:nvSpPr>
          <p:spPr>
            <a:xfrm>
              <a:off x="2032374" y="3946957"/>
              <a:ext cx="1876671" cy="461666"/>
            </a:xfrm>
            <a:prstGeom prst="rect">
              <a:avLst/>
            </a:prstGeom>
            <a:noFill/>
          </p:spPr>
          <p:txBody>
            <a:bodyPr wrap="square" rtlCol="0">
              <a:spAutoFit/>
            </a:bodyPr>
            <a:lstStyle/>
            <a:p>
              <a:r>
                <a:rPr lang="nl-NL" sz="825" err="1">
                  <a:latin typeface="Space Grotesk" pitchFamily="2" charset="77"/>
                  <a:cs typeface="Space Grotesk" pitchFamily="2" charset="77"/>
                </a:rPr>
                <a:t>Faster</a:t>
              </a:r>
              <a:r>
                <a:rPr lang="nl-NL" sz="825">
                  <a:latin typeface="Space Grotesk" pitchFamily="2" charset="77"/>
                  <a:cs typeface="Space Grotesk" pitchFamily="2" charset="77"/>
                </a:rPr>
                <a:t> </a:t>
              </a:r>
              <a:r>
                <a:rPr lang="nl-NL" sz="825" err="1">
                  <a:latin typeface="Space Grotesk" pitchFamily="2" charset="77"/>
                  <a:cs typeface="Space Grotesk" pitchFamily="2" charset="77"/>
                </a:rPr>
                <a:t>than</a:t>
              </a:r>
              <a:r>
                <a:rPr lang="nl-NL" sz="825">
                  <a:latin typeface="Space Grotesk" pitchFamily="2" charset="77"/>
                  <a:cs typeface="Space Grotesk" pitchFamily="2" charset="77"/>
                </a:rPr>
                <a:t> manual data entry</a:t>
              </a:r>
              <a:endParaRPr lang="en-US" sz="825" noProof="1">
                <a:latin typeface="Space Grotesk" pitchFamily="2" charset="77"/>
                <a:cs typeface="Space Grotesk" pitchFamily="2" charset="77"/>
              </a:endParaRPr>
            </a:p>
          </p:txBody>
        </p:sp>
      </p:grpSp>
      <p:grpSp>
        <p:nvGrpSpPr>
          <p:cNvPr id="45" name="Group 142">
            <a:extLst>
              <a:ext uri="{FF2B5EF4-FFF2-40B4-BE49-F238E27FC236}">
                <a16:creationId xmlns:a16="http://schemas.microsoft.com/office/drawing/2014/main" id="{D755F85E-86E3-D474-2623-BE023ACEE633}"/>
              </a:ext>
            </a:extLst>
          </p:cNvPr>
          <p:cNvGrpSpPr/>
          <p:nvPr/>
        </p:nvGrpSpPr>
        <p:grpSpPr>
          <a:xfrm>
            <a:off x="624181" y="3441843"/>
            <a:ext cx="7816028" cy="698343"/>
            <a:chOff x="829975" y="4918729"/>
            <a:chExt cx="10527518" cy="931123"/>
          </a:xfrm>
        </p:grpSpPr>
        <p:sp>
          <p:nvSpPr>
            <p:cNvPr id="46" name="Rectangle: Rounded Corners 92">
              <a:extLst>
                <a:ext uri="{FF2B5EF4-FFF2-40B4-BE49-F238E27FC236}">
                  <a16:creationId xmlns:a16="http://schemas.microsoft.com/office/drawing/2014/main" id="{C980987B-815E-ECBB-A218-1076F119D30B}"/>
                </a:ext>
              </a:extLst>
            </p:cNvPr>
            <p:cNvSpPr/>
            <p:nvPr/>
          </p:nvSpPr>
          <p:spPr>
            <a:xfrm>
              <a:off x="829975" y="4918729"/>
              <a:ext cx="10527518" cy="880369"/>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47" name="Oval 138">
              <a:extLst>
                <a:ext uri="{FF2B5EF4-FFF2-40B4-BE49-F238E27FC236}">
                  <a16:creationId xmlns:a16="http://schemas.microsoft.com/office/drawing/2014/main" id="{6CC38DEA-C0DA-46F6-2EE8-BDD5FE42E365}"/>
                </a:ext>
              </a:extLst>
            </p:cNvPr>
            <p:cNvSpPr/>
            <p:nvPr/>
          </p:nvSpPr>
          <p:spPr>
            <a:xfrm>
              <a:off x="1038089" y="5121577"/>
              <a:ext cx="506472" cy="489633"/>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1" noProof="1">
                <a:latin typeface="Space Grotesk" pitchFamily="2" charset="0"/>
                <a:cs typeface="Space Grotesk" pitchFamily="2" charset="0"/>
              </a:endParaRPr>
            </a:p>
          </p:txBody>
        </p:sp>
        <p:sp>
          <p:nvSpPr>
            <p:cNvPr id="48" name="TextBox 139">
              <a:extLst>
                <a:ext uri="{FF2B5EF4-FFF2-40B4-BE49-F238E27FC236}">
                  <a16:creationId xmlns:a16="http://schemas.microsoft.com/office/drawing/2014/main" id="{0D28DD79-272A-085B-514B-D62E21C8F4CA}"/>
                </a:ext>
              </a:extLst>
            </p:cNvPr>
            <p:cNvSpPr txBox="1"/>
            <p:nvPr/>
          </p:nvSpPr>
          <p:spPr>
            <a:xfrm>
              <a:off x="1761736" y="5034244"/>
              <a:ext cx="9387643" cy="815608"/>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HUMANS STAY IN THE LOOP TO:</a:t>
              </a:r>
            </a:p>
            <a:p>
              <a:endParaRPr lang="en-US" sz="225" noProof="1">
                <a:solidFill>
                  <a:srgbClr val="F79421"/>
                </a:solidFill>
                <a:latin typeface="Space Grotesk" pitchFamily="2" charset="0"/>
                <a:cs typeface="Space Grotesk" pitchFamily="2" charset="0"/>
              </a:endParaRPr>
            </a:p>
            <a:p>
              <a:pPr>
                <a:defRPr/>
              </a:pPr>
              <a:r>
                <a:rPr lang="en-US" sz="1050" noProof="1">
                  <a:solidFill>
                    <a:schemeClr val="bg1"/>
                  </a:solidFill>
                  <a:latin typeface="Space Grotesk" pitchFamily="2" charset="0"/>
                  <a:cs typeface="Space Grotesk" pitchFamily="2" charset="0"/>
                </a:rPr>
                <a:t>design the workflow, validate exceptions, and improve the process when AI confidence is low — that is where human expertise matters most.</a:t>
              </a:r>
            </a:p>
          </p:txBody>
        </p:sp>
      </p:grpSp>
      <p:grpSp>
        <p:nvGrpSpPr>
          <p:cNvPr id="49" name="Group 141">
            <a:extLst>
              <a:ext uri="{FF2B5EF4-FFF2-40B4-BE49-F238E27FC236}">
                <a16:creationId xmlns:a16="http://schemas.microsoft.com/office/drawing/2014/main" id="{B88F1B52-528C-AA0F-01A0-A6BB7CF7EB9B}"/>
              </a:ext>
            </a:extLst>
          </p:cNvPr>
          <p:cNvGrpSpPr/>
          <p:nvPr/>
        </p:nvGrpSpPr>
        <p:grpSpPr>
          <a:xfrm>
            <a:off x="624181" y="4299748"/>
            <a:ext cx="7816028" cy="665493"/>
            <a:chOff x="829975" y="5812599"/>
            <a:chExt cx="10527518" cy="887325"/>
          </a:xfrm>
        </p:grpSpPr>
        <p:sp>
          <p:nvSpPr>
            <p:cNvPr id="50" name="Rectangle: Rounded Corners 137">
              <a:extLst>
                <a:ext uri="{FF2B5EF4-FFF2-40B4-BE49-F238E27FC236}">
                  <a16:creationId xmlns:a16="http://schemas.microsoft.com/office/drawing/2014/main" id="{B8831F33-21D0-535F-B09C-4E2340D1DF56}"/>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51" name="TextBox 140">
              <a:extLst>
                <a:ext uri="{FF2B5EF4-FFF2-40B4-BE49-F238E27FC236}">
                  <a16:creationId xmlns:a16="http://schemas.microsoft.com/office/drawing/2014/main" id="{E62CAB6F-0DC9-1DF6-FBFB-425E044ED43D}"/>
                </a:ext>
              </a:extLst>
            </p:cNvPr>
            <p:cNvSpPr txBox="1"/>
            <p:nvPr/>
          </p:nvSpPr>
          <p:spPr>
            <a:xfrm>
              <a:off x="963967" y="5930482"/>
              <a:ext cx="9567065" cy="769442"/>
            </a:xfrm>
            <a:prstGeom prst="rect">
              <a:avLst/>
            </a:prstGeom>
            <a:noFill/>
          </p:spPr>
          <p:txBody>
            <a:bodyPr wrap="square" rtlCol="0">
              <a:spAutoFit/>
            </a:bodyPr>
            <a:lstStyle/>
            <a:p>
              <a:r>
                <a:rPr lang="en-US" sz="1050" b="1" noProof="1">
                  <a:solidFill>
                    <a:srgbClr val="F79421"/>
                  </a:solidFill>
                  <a:latin typeface="Space Grotesk" pitchFamily="2" charset="0"/>
                  <a:cs typeface="Space Grotesk" pitchFamily="2" charset="0"/>
                </a:rPr>
                <a:t>KEY TAKEAWAY </a:t>
              </a:r>
              <a:r>
                <a:rPr lang="en-US" sz="1050" b="1" noProof="1">
                  <a:solidFill>
                    <a:schemeClr val="bg1"/>
                  </a:solidFill>
                  <a:latin typeface="Space Grotesk" pitchFamily="2" charset="0"/>
                  <a:cs typeface="Space Grotesk" pitchFamily="2" charset="0"/>
                </a:rPr>
                <a:t>- AI handles the repetitive work. Your role shifts toward oversight, improvement, and decision-making.</a:t>
              </a:r>
            </a:p>
            <a:p>
              <a:endParaRPr lang="en-US" sz="1050" noProof="1">
                <a:solidFill>
                  <a:schemeClr val="bg1"/>
                </a:solidFill>
                <a:latin typeface="Space Grotesk" pitchFamily="2" charset="0"/>
                <a:cs typeface="Space Grotesk" pitchFamily="2" charset="0"/>
              </a:endParaRPr>
            </a:p>
          </p:txBody>
        </p:sp>
      </p:grpSp>
      <p:pic>
        <p:nvPicPr>
          <p:cNvPr id="53" name="Graphic 52">
            <a:extLst>
              <a:ext uri="{FF2B5EF4-FFF2-40B4-BE49-F238E27FC236}">
                <a16:creationId xmlns:a16="http://schemas.microsoft.com/office/drawing/2014/main" id="{52B6D209-AA6D-6556-B009-A019496B7CA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40095" y="3653167"/>
            <a:ext cx="248840" cy="248840"/>
          </a:xfrm>
          <a:prstGeom prst="rect">
            <a:avLst/>
          </a:prstGeom>
        </p:spPr>
      </p:pic>
      <p:pic>
        <p:nvPicPr>
          <p:cNvPr id="54" name="Graphic 53">
            <a:extLst>
              <a:ext uri="{FF2B5EF4-FFF2-40B4-BE49-F238E27FC236}">
                <a16:creationId xmlns:a16="http://schemas.microsoft.com/office/drawing/2014/main" id="{0C978DA9-339E-DC2F-C878-F370E068001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433039" y="1894249"/>
            <a:ext cx="248840" cy="248840"/>
          </a:xfrm>
          <a:prstGeom prst="rect">
            <a:avLst/>
          </a:prstGeom>
        </p:spPr>
      </p:pic>
      <p:pic>
        <p:nvPicPr>
          <p:cNvPr id="55" name="Graphic 54">
            <a:extLst>
              <a:ext uri="{FF2B5EF4-FFF2-40B4-BE49-F238E27FC236}">
                <a16:creationId xmlns:a16="http://schemas.microsoft.com/office/drawing/2014/main" id="{44B0A2B4-10DE-666F-9428-624089B0F65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068632" y="1865036"/>
            <a:ext cx="248840" cy="248840"/>
          </a:xfrm>
          <a:prstGeom prst="rect">
            <a:avLst/>
          </a:prstGeom>
        </p:spPr>
      </p:pic>
      <p:sp>
        <p:nvSpPr>
          <p:cNvPr id="56" name="Afgeronde rechthoek 55">
            <a:extLst>
              <a:ext uri="{FF2B5EF4-FFF2-40B4-BE49-F238E27FC236}">
                <a16:creationId xmlns:a16="http://schemas.microsoft.com/office/drawing/2014/main" id="{9B8F183E-08BB-121B-4636-990398ECC964}"/>
              </a:ext>
            </a:extLst>
          </p:cNvPr>
          <p:cNvSpPr/>
          <p:nvPr/>
        </p:nvSpPr>
        <p:spPr>
          <a:xfrm>
            <a:off x="6935789" y="1397360"/>
            <a:ext cx="1491505" cy="25083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latin typeface="Space Grotesk" pitchFamily="2" charset="77"/>
                <a:cs typeface="Space Grotesk" pitchFamily="2" charset="77"/>
              </a:rPr>
              <a:t>Role 1 - automation</a:t>
            </a:r>
          </a:p>
        </p:txBody>
      </p:sp>
    </p:spTree>
    <p:extLst>
      <p:ext uri="{BB962C8B-B14F-4D97-AF65-F5344CB8AC3E}">
        <p14:creationId xmlns:p14="http://schemas.microsoft.com/office/powerpoint/2010/main" val="620597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6FC1-B81F-05F4-81E2-1E8EA7AC5E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BC0350-A3D4-5F25-17E5-42F1C3668D17}"/>
              </a:ext>
            </a:extLst>
          </p:cNvPr>
          <p:cNvSpPr txBox="1"/>
          <p:nvPr/>
        </p:nvSpPr>
        <p:spPr>
          <a:xfrm>
            <a:off x="289681" y="669039"/>
            <a:ext cx="5308479" cy="600164"/>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3 – Exercise slides</a:t>
            </a:r>
          </a:p>
        </p:txBody>
      </p:sp>
      <p:sp>
        <p:nvSpPr>
          <p:cNvPr id="3" name="TextBox 2">
            <a:extLst>
              <a:ext uri="{FF2B5EF4-FFF2-40B4-BE49-F238E27FC236}">
                <a16:creationId xmlns:a16="http://schemas.microsoft.com/office/drawing/2014/main" id="{FD43A53B-D45A-7139-07F1-04C7C4BFE724}"/>
              </a:ext>
            </a:extLst>
          </p:cNvPr>
          <p:cNvSpPr txBox="1"/>
          <p:nvPr/>
        </p:nvSpPr>
        <p:spPr>
          <a:xfrm>
            <a:off x="289681" y="2211308"/>
            <a:ext cx="4572000" cy="923330"/>
          </a:xfrm>
          <a:prstGeom prst="rect">
            <a:avLst/>
          </a:prstGeom>
          <a:noFill/>
        </p:spPr>
        <p:txBody>
          <a:bodyPr wrap="square">
            <a:spAutoFit/>
          </a:bodyPr>
          <a:lstStyle/>
          <a:p>
            <a:pPr>
              <a:defRPr/>
            </a:pPr>
            <a:r>
              <a:rPr lang="en-US" sz="1800">
                <a:solidFill>
                  <a:srgbClr val="FEF4E8"/>
                </a:solidFill>
                <a:latin typeface="Space Grotesk" pitchFamily="2" charset="0"/>
                <a:cs typeface="Space Grotesk" pitchFamily="2" charset="0"/>
              </a:rPr>
              <a:t>Next are some slides in which we’ll introduce / debrief an exercise (these are </a:t>
            </a:r>
            <a:r>
              <a:rPr lang="en-US" sz="1800" b="1">
                <a:solidFill>
                  <a:srgbClr val="FEF4E8"/>
                </a:solidFill>
                <a:latin typeface="Space Grotesk" pitchFamily="2" charset="0"/>
                <a:cs typeface="Space Grotesk" pitchFamily="2" charset="0"/>
              </a:rPr>
              <a:t>3</a:t>
            </a:r>
            <a:r>
              <a:rPr lang="en-US" sz="1800">
                <a:solidFill>
                  <a:srgbClr val="FEF4E8"/>
                </a:solidFill>
                <a:latin typeface="Space Grotesk" pitchFamily="2" charset="0"/>
                <a:cs typeface="Space Grotesk" pitchFamily="2" charset="0"/>
              </a:rPr>
              <a:t> different slides for </a:t>
            </a:r>
            <a:r>
              <a:rPr lang="en-US" sz="1800" b="1">
                <a:solidFill>
                  <a:srgbClr val="FEF4E8"/>
                </a:solidFill>
                <a:latin typeface="Space Grotesk" pitchFamily="2" charset="0"/>
                <a:cs typeface="Space Grotesk" pitchFamily="2" charset="0"/>
              </a:rPr>
              <a:t>1</a:t>
            </a:r>
            <a:r>
              <a:rPr lang="en-US" sz="1800">
                <a:solidFill>
                  <a:srgbClr val="FEF4E8"/>
                </a:solidFill>
                <a:latin typeface="Space Grotesk" pitchFamily="2" charset="0"/>
                <a:cs typeface="Space Grotesk" pitchFamily="2" charset="0"/>
              </a:rPr>
              <a:t> exercise)</a:t>
            </a:r>
          </a:p>
        </p:txBody>
      </p:sp>
    </p:spTree>
    <p:extLst>
      <p:ext uri="{BB962C8B-B14F-4D97-AF65-F5344CB8AC3E}">
        <p14:creationId xmlns:p14="http://schemas.microsoft.com/office/powerpoint/2010/main" val="4058023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AC89E-44EC-45D0-FC45-8C49A6A58439}"/>
            </a:ext>
          </a:extLst>
        </p:cNvPr>
        <p:cNvGrpSpPr/>
        <p:nvPr/>
      </p:nvGrpSpPr>
      <p:grpSpPr>
        <a:xfrm>
          <a:off x="0" y="0"/>
          <a:ext cx="0" cy="0"/>
          <a:chOff x="0" y="0"/>
          <a:chExt cx="0" cy="0"/>
        </a:xfrm>
      </p:grpSpPr>
      <p:sp>
        <p:nvSpPr>
          <p:cNvPr id="2" name="Tekstvak 1" descr="MVX23_Logo_Basislogo_Full_colour_Wit">
            <a:extLst>
              <a:ext uri="{FF2B5EF4-FFF2-40B4-BE49-F238E27FC236}">
                <a16:creationId xmlns:a16="http://schemas.microsoft.com/office/drawing/2014/main" id="{49DB4C9A-F4C9-0C7A-280C-C18D59F7D037}"/>
              </a:ext>
            </a:extLst>
          </p:cNvPr>
          <p:cNvSpPr txBox="1"/>
          <p:nvPr/>
        </p:nvSpPr>
        <p:spPr>
          <a:xfrm>
            <a:off x="985520" y="1472899"/>
            <a:ext cx="8178800" cy="1361911"/>
          </a:xfrm>
          <a:prstGeom prst="rect">
            <a:avLst/>
          </a:prstGeom>
          <a:noFill/>
        </p:spPr>
        <p:txBody>
          <a:bodyPr wrap="square" lIns="68580" tIns="34290" rIns="68580" bIns="34290" rtlCol="0" anchor="t">
            <a:spAutoFit/>
          </a:bodyPr>
          <a:lstStyle/>
          <a:p>
            <a:pPr>
              <a:defRPr/>
            </a:pPr>
            <a:r>
              <a:rPr lang="en-US" sz="3600" b="1">
                <a:solidFill>
                  <a:srgbClr val="E98409"/>
                </a:solidFill>
                <a:latin typeface="Space Grotesk" pitchFamily="2" charset="77"/>
                <a:cs typeface="Space Grotesk" pitchFamily="2" charset="77"/>
              </a:rPr>
              <a:t>  Exercise : </a:t>
            </a:r>
            <a:r>
              <a:rPr lang="en-US" sz="3600" b="1">
                <a:solidFill>
                  <a:srgbClr val="F79421"/>
                </a:solidFill>
                <a:latin typeface="Space Grotesk" pitchFamily="2" charset="77"/>
                <a:cs typeface="Space Grotesk" pitchFamily="2" charset="77"/>
              </a:rPr>
              <a:t>	 </a:t>
            </a:r>
            <a:r>
              <a:rPr lang="en-US" sz="2400" b="1">
                <a:solidFill>
                  <a:prstClr val="white"/>
                </a:solidFill>
                <a:latin typeface="Space Grotesk" pitchFamily="2" charset="77"/>
                <a:cs typeface="Space Grotesk" pitchFamily="2" charset="77"/>
              </a:rPr>
              <a:t>Upgrade your A3  - Ambition &amp; KPIs</a:t>
            </a:r>
          </a:p>
          <a:p>
            <a:pPr>
              <a:defRPr/>
            </a:pPr>
            <a:endParaRPr lang="en-US" sz="2400" b="1">
              <a:solidFill>
                <a:prstClr val="white"/>
              </a:solidFill>
              <a:latin typeface="Space Grotesk" pitchFamily="2" charset="77"/>
              <a:cs typeface="Space Grotesk" pitchFamily="2" charset="77"/>
            </a:endParaRPr>
          </a:p>
          <a:p>
            <a:pPr>
              <a:defRPr/>
            </a:pPr>
            <a:r>
              <a:rPr lang="en-US" sz="2400" b="1">
                <a:solidFill>
                  <a:prstClr val="white"/>
                </a:solidFill>
                <a:latin typeface="Space Grotesk" pitchFamily="2" charset="77"/>
                <a:cs typeface="Space Grotesk" pitchFamily="2" charset="77"/>
              </a:rPr>
              <a:t>				  From 0.1 to 0.2 </a:t>
            </a:r>
          </a:p>
        </p:txBody>
      </p:sp>
    </p:spTree>
    <p:extLst>
      <p:ext uri="{BB962C8B-B14F-4D97-AF65-F5344CB8AC3E}">
        <p14:creationId xmlns:p14="http://schemas.microsoft.com/office/powerpoint/2010/main" val="3237753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97550-6F8C-A7EB-D609-CBCFF4A042E0}"/>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3CAC66A6-6948-0A0C-016C-83532490BE1A}"/>
              </a:ext>
            </a:extLst>
          </p:cNvPr>
          <p:cNvSpPr txBox="1"/>
          <p:nvPr/>
        </p:nvSpPr>
        <p:spPr>
          <a:xfrm>
            <a:off x="614934" y="464058"/>
            <a:ext cx="8186166"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a:cs typeface="Space Grotesk" pitchFamily="2" charset="0"/>
              </a:rPr>
              <a:t>Exercise: Upgrade your A3 0.1 to 0.2</a:t>
            </a:r>
          </a:p>
        </p:txBody>
      </p:sp>
      <p:sp>
        <p:nvSpPr>
          <p:cNvPr id="6" name="Tekstvak 5">
            <a:extLst>
              <a:ext uri="{FF2B5EF4-FFF2-40B4-BE49-F238E27FC236}">
                <a16:creationId xmlns:a16="http://schemas.microsoft.com/office/drawing/2014/main" id="{6B8D843D-2447-F698-411B-BB98072E81D9}"/>
              </a:ext>
            </a:extLst>
          </p:cNvPr>
          <p:cNvSpPr txBox="1"/>
          <p:nvPr/>
        </p:nvSpPr>
        <p:spPr>
          <a:xfrm>
            <a:off x="614934" y="1447037"/>
            <a:ext cx="8094726" cy="3670236"/>
          </a:xfrm>
          <a:prstGeom prst="rect">
            <a:avLst/>
          </a:prstGeom>
          <a:noFill/>
        </p:spPr>
        <p:txBody>
          <a:bodyPr wrap="square" lIns="68580" tIns="34290" rIns="68580" bIns="34290" rtlCol="0" anchor="t">
            <a:spAutoFit/>
          </a:bodyPr>
          <a:lstStyle/>
          <a:p>
            <a:pPr marL="385763" indent="-385763">
              <a:buFont typeface="+mj-lt"/>
              <a:buAutoNum type="arabicPeriod"/>
              <a:defRPr/>
            </a:pPr>
            <a:r>
              <a:rPr lang="en-US" b="1">
                <a:solidFill>
                  <a:srgbClr val="0D006A"/>
                </a:solidFill>
                <a:latin typeface="Raleway" pitchFamily="2" charset="0"/>
              </a:rPr>
              <a:t>In breakout rooms </a:t>
            </a:r>
            <a:r>
              <a:rPr lang="en-US" b="1">
                <a:solidFill>
                  <a:srgbClr val="0D006A"/>
                </a:solidFill>
                <a:latin typeface="Raleway" pitchFamily="2" charset="0"/>
                <a:sym typeface="Wingdings" panose="05000000000000000000" pitchFamily="2" charset="2"/>
              </a:rPr>
              <a:t></a:t>
            </a:r>
            <a:r>
              <a:rPr lang="en-US" b="1">
                <a:solidFill>
                  <a:srgbClr val="0D006A"/>
                </a:solidFill>
                <a:latin typeface="Raleway" pitchFamily="2" charset="0"/>
              </a:rPr>
              <a:t> teams (30/40 minutes) </a:t>
            </a:r>
          </a:p>
          <a:p>
            <a:pPr lvl="1">
              <a:defRPr/>
            </a:pPr>
            <a:r>
              <a:rPr lang="en-US" sz="1200">
                <a:solidFill>
                  <a:srgbClr val="0D006A"/>
                </a:solidFill>
                <a:latin typeface="Raleway" pitchFamily="2" charset="0"/>
              </a:rPr>
              <a:t>Open your A3 v0.1 from Session 1 as input. One person shares screen. </a:t>
            </a:r>
          </a:p>
          <a:p>
            <a:pPr marL="385763" indent="-385763">
              <a:buFont typeface="+mj-lt"/>
              <a:buAutoNum type="arabicPeriod"/>
              <a:defRPr/>
            </a:pPr>
            <a:endParaRPr lang="en-US" sz="1200">
              <a:solidFill>
                <a:srgbClr val="0D006A"/>
              </a:solidFill>
              <a:latin typeface="Raleway" pitchFamily="2" charset="0"/>
            </a:endParaRPr>
          </a:p>
          <a:p>
            <a:pPr marL="385763" indent="-385763">
              <a:buFont typeface="+mj-lt"/>
              <a:buAutoNum type="arabicPeriod"/>
              <a:defRPr/>
            </a:pPr>
            <a:r>
              <a:rPr lang="en-US" sz="1200" b="1">
                <a:solidFill>
                  <a:srgbClr val="0D006A"/>
                </a:solidFill>
                <a:latin typeface="Raleway" pitchFamily="2" charset="0"/>
              </a:rPr>
              <a:t>Ambition / Problem Quadrant </a:t>
            </a:r>
            <a:r>
              <a:rPr lang="en-US" sz="1200" b="1">
                <a:solidFill>
                  <a:srgbClr val="0D006A"/>
                </a:solidFill>
                <a:latin typeface="Raleway" pitchFamily="2" charset="0"/>
                <a:sym typeface="Wingdings" panose="05000000000000000000" pitchFamily="2" charset="2"/>
              </a:rPr>
              <a:t> </a:t>
            </a:r>
            <a:r>
              <a:rPr lang="en-US" sz="1200" b="1">
                <a:solidFill>
                  <a:srgbClr val="0D006A"/>
                </a:solidFill>
                <a:latin typeface="Raleway" pitchFamily="2" charset="0"/>
              </a:rPr>
              <a:t>Answer these four questions in the hand out in chat</a:t>
            </a:r>
          </a:p>
          <a:p>
            <a:pPr marL="728663" lvl="1" indent="-385763">
              <a:buFont typeface="+mj-lt"/>
              <a:buAutoNum type="arabicPeriod"/>
              <a:defRPr/>
            </a:pPr>
            <a:r>
              <a:rPr lang="en-US" sz="1200">
                <a:solidFill>
                  <a:srgbClr val="0D006A"/>
                </a:solidFill>
                <a:latin typeface="Raleway" pitchFamily="2" charset="0"/>
              </a:rPr>
              <a:t>What Moments of Truth are there in your project? Which one is most important?</a:t>
            </a:r>
          </a:p>
          <a:p>
            <a:pPr marL="728663" lvl="1" indent="-385763">
              <a:buFont typeface="+mj-lt"/>
              <a:buAutoNum type="arabicPeriod"/>
              <a:defRPr/>
            </a:pPr>
            <a:r>
              <a:rPr lang="en-US" sz="1200">
                <a:solidFill>
                  <a:srgbClr val="0D006A"/>
                </a:solidFill>
                <a:latin typeface="Raleway" pitchFamily="2" charset="0"/>
              </a:rPr>
              <a:t>What's the job-to-be-done for your customer (“Holes in the wall / Drill example”)?</a:t>
            </a:r>
          </a:p>
          <a:p>
            <a:pPr marL="728663" lvl="1" indent="-385763">
              <a:buFont typeface="+mj-lt"/>
              <a:buAutoNum type="arabicPeriod"/>
              <a:defRPr/>
            </a:pPr>
            <a:r>
              <a:rPr lang="en-US" sz="1200">
                <a:solidFill>
                  <a:srgbClr val="0D006A"/>
                </a:solidFill>
                <a:latin typeface="Raleway" pitchFamily="2" charset="0"/>
              </a:rPr>
              <a:t>To which Strategic goal does your project connect? (Hoshin, which one?)</a:t>
            </a:r>
          </a:p>
          <a:p>
            <a:pPr marL="728663" lvl="1" indent="-385763">
              <a:buFont typeface="+mj-lt"/>
              <a:buAutoNum type="arabicPeriod"/>
              <a:defRPr/>
            </a:pPr>
            <a:r>
              <a:rPr lang="en-US" sz="1200">
                <a:solidFill>
                  <a:srgbClr val="0D006A"/>
                </a:solidFill>
                <a:latin typeface="Raleway" pitchFamily="2" charset="0"/>
              </a:rPr>
              <a:t>Why now? (What's the urgency?)</a:t>
            </a:r>
          </a:p>
          <a:p>
            <a:pPr lvl="1">
              <a:defRPr/>
            </a:pPr>
            <a:endParaRPr lang="en-US" sz="1200">
              <a:solidFill>
                <a:srgbClr val="0D006A"/>
              </a:solidFill>
              <a:latin typeface="Raleway" pitchFamily="2" charset="0"/>
            </a:endParaRPr>
          </a:p>
          <a:p>
            <a:pPr lvl="1">
              <a:defRPr/>
            </a:pPr>
            <a:r>
              <a:rPr lang="en-US" sz="1200">
                <a:solidFill>
                  <a:srgbClr val="0D006A"/>
                </a:solidFill>
                <a:latin typeface="Raleway" pitchFamily="2" charset="0"/>
              </a:rPr>
              <a:t>If you don't know/have an answer, </a:t>
            </a:r>
            <a:r>
              <a:rPr lang="en-US" sz="1200" b="1">
                <a:solidFill>
                  <a:srgbClr val="7030A0"/>
                </a:solidFill>
                <a:latin typeface="Raleway" pitchFamily="2" charset="0"/>
              </a:rPr>
              <a:t>write it down as a question for your sponsor </a:t>
            </a:r>
            <a:r>
              <a:rPr lang="en-US" sz="1200" b="1">
                <a:solidFill>
                  <a:srgbClr val="7030A0"/>
                </a:solidFill>
                <a:latin typeface="Raleway" pitchFamily="2" charset="0"/>
                <a:sym typeface="Wingdings" panose="05000000000000000000" pitchFamily="2" charset="2"/>
              </a:rPr>
              <a:t> </a:t>
            </a:r>
            <a:r>
              <a:rPr lang="en-US" sz="1200" b="1" err="1">
                <a:solidFill>
                  <a:srgbClr val="7030A0"/>
                </a:solidFill>
                <a:latin typeface="Raleway" pitchFamily="2" charset="0"/>
                <a:sym typeface="Wingdings" panose="05000000000000000000" pitchFamily="2" charset="2"/>
              </a:rPr>
              <a:t>Allignment</a:t>
            </a:r>
            <a:r>
              <a:rPr lang="en-US" sz="1200" b="1">
                <a:solidFill>
                  <a:srgbClr val="7030A0"/>
                </a:solidFill>
                <a:latin typeface="Raleway" pitchFamily="2" charset="0"/>
                <a:sym typeface="Wingdings" panose="05000000000000000000" pitchFamily="2" charset="2"/>
              </a:rPr>
              <a:t>!</a:t>
            </a:r>
            <a:endParaRPr lang="en-US" sz="1200" b="1">
              <a:solidFill>
                <a:srgbClr val="7030A0"/>
              </a:solidFill>
              <a:latin typeface="Raleway" pitchFamily="2" charset="0"/>
            </a:endParaRPr>
          </a:p>
          <a:p>
            <a:pPr lvl="1">
              <a:defRPr/>
            </a:pPr>
            <a:endParaRPr lang="en-US" sz="1200">
              <a:solidFill>
                <a:srgbClr val="0D006A"/>
              </a:solidFill>
              <a:latin typeface="Raleway" pitchFamily="2" charset="0"/>
            </a:endParaRPr>
          </a:p>
          <a:p>
            <a:pPr marL="257175" indent="-257175">
              <a:buFont typeface="+mj-lt"/>
              <a:buAutoNum type="arabicPeriod"/>
              <a:defRPr/>
            </a:pPr>
            <a:r>
              <a:rPr lang="en-US" sz="1200" b="1">
                <a:solidFill>
                  <a:srgbClr val="0D006A"/>
                </a:solidFill>
                <a:latin typeface="Raleway"/>
              </a:rPr>
              <a:t>KPI’s Quadrant </a:t>
            </a:r>
            <a:r>
              <a:rPr lang="en-US" sz="1200" b="1">
                <a:solidFill>
                  <a:srgbClr val="0D006A"/>
                </a:solidFill>
                <a:latin typeface="Raleway"/>
                <a:sym typeface="Wingdings" panose="05000000000000000000" pitchFamily="2" charset="2"/>
              </a:rPr>
              <a:t> </a:t>
            </a:r>
            <a:r>
              <a:rPr lang="en-US" sz="1200" b="1">
                <a:solidFill>
                  <a:srgbClr val="0D006A"/>
                </a:solidFill>
                <a:latin typeface="Raleway"/>
              </a:rPr>
              <a:t>Answer these three questions in the hand out in the chat</a:t>
            </a:r>
          </a:p>
          <a:p>
            <a:pPr marL="600075" lvl="1" indent="-257175">
              <a:buFont typeface="+mj-lt"/>
              <a:buAutoNum type="arabicPeriod"/>
              <a:defRPr/>
            </a:pPr>
            <a:r>
              <a:rPr lang="en-US" sz="1200">
                <a:solidFill>
                  <a:srgbClr val="0D006A"/>
                </a:solidFill>
                <a:latin typeface="Raleway"/>
              </a:rPr>
              <a:t>What project KPI’s are you using. I.e. which metrics prove customer value has improved?</a:t>
            </a:r>
          </a:p>
          <a:p>
            <a:pPr marL="600075" lvl="1" indent="-257175">
              <a:buFontTx/>
              <a:buAutoNum type="arabicPeriod"/>
              <a:defRPr/>
            </a:pPr>
            <a:r>
              <a:rPr lang="en-US" sz="1200">
                <a:solidFill>
                  <a:srgbClr val="0D006A"/>
                </a:solidFill>
                <a:latin typeface="Raleway"/>
              </a:rPr>
              <a:t>Label each project KPI as Leading or Lagging</a:t>
            </a:r>
            <a:endParaRPr lang="en-US" sz="1200">
              <a:solidFill>
                <a:srgbClr val="000000"/>
              </a:solidFill>
              <a:latin typeface="Raleway"/>
            </a:endParaRPr>
          </a:p>
          <a:p>
            <a:pPr marL="600075" lvl="1" indent="-257175">
              <a:buFont typeface="+mj-lt"/>
              <a:buAutoNum type="arabicPeriod"/>
              <a:defRPr/>
            </a:pPr>
            <a:r>
              <a:rPr lang="en-US" sz="1200">
                <a:solidFill>
                  <a:srgbClr val="0D006A"/>
                </a:solidFill>
                <a:latin typeface="Raleway"/>
              </a:rPr>
              <a:t>Link the Organizational KPIs to your project KPIs (If you don't know the tree, write "</a:t>
            </a:r>
            <a:r>
              <a:rPr lang="en-US" sz="1200" b="1">
                <a:solidFill>
                  <a:srgbClr val="7030A0"/>
                </a:solidFill>
                <a:latin typeface="Raleway"/>
              </a:rPr>
              <a:t>need to find out</a:t>
            </a:r>
            <a:r>
              <a:rPr lang="en-US" sz="1200">
                <a:solidFill>
                  <a:srgbClr val="0D006A"/>
                </a:solidFill>
                <a:latin typeface="Raleway"/>
              </a:rPr>
              <a:t>")</a:t>
            </a:r>
          </a:p>
          <a:p>
            <a:pPr marL="385763" indent="-385763">
              <a:buFont typeface="+mj-lt"/>
              <a:buAutoNum type="arabicPeriod"/>
              <a:defRPr/>
            </a:pPr>
            <a:endParaRPr lang="en-US" sz="1200">
              <a:solidFill>
                <a:srgbClr val="0D006A"/>
              </a:solidFill>
              <a:latin typeface="Raleway" pitchFamily="2" charset="0"/>
            </a:endParaRPr>
          </a:p>
          <a:p>
            <a:pPr marL="257175" indent="-257175">
              <a:buFont typeface="+mj-lt"/>
              <a:buAutoNum type="arabicPeriod"/>
              <a:defRPr/>
            </a:pPr>
            <a:r>
              <a:rPr lang="en-US" b="1">
                <a:solidFill>
                  <a:srgbClr val="0D006A"/>
                </a:solidFill>
                <a:latin typeface="Raleway" pitchFamily="2" charset="0"/>
              </a:rPr>
              <a:t>Back in main room </a:t>
            </a:r>
            <a:r>
              <a:rPr lang="en-US" b="1">
                <a:solidFill>
                  <a:srgbClr val="0D006A"/>
                </a:solidFill>
                <a:latin typeface="Raleway" pitchFamily="2" charset="0"/>
                <a:sym typeface="Wingdings" panose="05000000000000000000" pitchFamily="2" charset="2"/>
              </a:rPr>
              <a:t> </a:t>
            </a:r>
            <a:r>
              <a:rPr lang="en-US" b="1">
                <a:solidFill>
                  <a:srgbClr val="0D006A"/>
                </a:solidFill>
                <a:latin typeface="Raleway" pitchFamily="2" charset="0"/>
              </a:rPr>
              <a:t>Share findings (5 min per team) </a:t>
            </a:r>
            <a:r>
              <a:rPr lang="nl-NL" sz="1200" err="1">
                <a:solidFill>
                  <a:srgbClr val="0D006A"/>
                </a:solidFill>
                <a:latin typeface="Raleway" pitchFamily="2" charset="77"/>
              </a:rPr>
              <a:t>What</a:t>
            </a:r>
            <a:r>
              <a:rPr lang="nl-NL" sz="1200">
                <a:solidFill>
                  <a:srgbClr val="0D006A"/>
                </a:solidFill>
                <a:latin typeface="Raleway" pitchFamily="2" charset="77"/>
              </a:rPr>
              <a:t> </a:t>
            </a:r>
            <a:r>
              <a:rPr lang="nl-NL" sz="1200" err="1">
                <a:solidFill>
                  <a:srgbClr val="0D006A"/>
                </a:solidFill>
                <a:latin typeface="Raleway" pitchFamily="2" charset="77"/>
              </a:rPr>
              <a:t>changed</a:t>
            </a:r>
            <a:r>
              <a:rPr lang="nl-NL" sz="1200">
                <a:solidFill>
                  <a:srgbClr val="0D006A"/>
                </a:solidFill>
                <a:latin typeface="Raleway" pitchFamily="2" charset="77"/>
              </a:rPr>
              <a:t> </a:t>
            </a:r>
            <a:r>
              <a:rPr lang="nl-NL" sz="1200" err="1">
                <a:solidFill>
                  <a:srgbClr val="0D006A"/>
                </a:solidFill>
                <a:latin typeface="Raleway" pitchFamily="2" charset="77"/>
              </a:rPr>
              <a:t>from</a:t>
            </a:r>
            <a:r>
              <a:rPr lang="nl-NL" sz="1200">
                <a:solidFill>
                  <a:srgbClr val="0D006A"/>
                </a:solidFill>
                <a:latin typeface="Raleway" pitchFamily="2" charset="77"/>
              </a:rPr>
              <a:t> v0.1?</a:t>
            </a:r>
          </a:p>
          <a:p>
            <a:pPr>
              <a:defRPr/>
            </a:pPr>
            <a:endParaRPr lang="en-US" sz="1800">
              <a:solidFill>
                <a:srgbClr val="5400AD"/>
              </a:solidFill>
              <a:latin typeface="Raleway" pitchFamily="2" charset="0"/>
            </a:endParaRPr>
          </a:p>
        </p:txBody>
      </p:sp>
    </p:spTree>
    <p:extLst>
      <p:ext uri="{BB962C8B-B14F-4D97-AF65-F5344CB8AC3E}">
        <p14:creationId xmlns:p14="http://schemas.microsoft.com/office/powerpoint/2010/main" val="240325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fade">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animEffect transition="in" filter="fade">
                                      <p:cBhvr>
                                        <p:cTn id="47" dur="500"/>
                                        <p:tgtEl>
                                          <p:spTgt spid="6">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2" end="12"/>
                                            </p:txEl>
                                          </p:spTgt>
                                        </p:tgtEl>
                                        <p:attrNameLst>
                                          <p:attrName>style.visibility</p:attrName>
                                        </p:attrNameLst>
                                      </p:cBhvr>
                                      <p:to>
                                        <p:strVal val="visible"/>
                                      </p:to>
                                    </p:set>
                                    <p:animEffect transition="in" filter="fade">
                                      <p:cBhvr>
                                        <p:cTn id="52" dur="500"/>
                                        <p:tgtEl>
                                          <p:spTgt spid="6">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3" end="13"/>
                                            </p:txEl>
                                          </p:spTgt>
                                        </p:tgtEl>
                                        <p:attrNameLst>
                                          <p:attrName>style.visibility</p:attrName>
                                        </p:attrNameLst>
                                      </p:cBhvr>
                                      <p:to>
                                        <p:strVal val="visible"/>
                                      </p:to>
                                    </p:set>
                                    <p:animEffect transition="in" filter="fade">
                                      <p:cBhvr>
                                        <p:cTn id="57" dur="500"/>
                                        <p:tgtEl>
                                          <p:spTgt spid="6">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xEl>
                                              <p:pRg st="14" end="14"/>
                                            </p:txEl>
                                          </p:spTgt>
                                        </p:tgtEl>
                                        <p:attrNameLst>
                                          <p:attrName>style.visibility</p:attrName>
                                        </p:attrNameLst>
                                      </p:cBhvr>
                                      <p:to>
                                        <p:strVal val="visible"/>
                                      </p:to>
                                    </p:set>
                                    <p:animEffect transition="in" filter="fade">
                                      <p:cBhvr>
                                        <p:cTn id="62" dur="500"/>
                                        <p:tgtEl>
                                          <p:spTgt spid="6">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16" end="16"/>
                                            </p:txEl>
                                          </p:spTgt>
                                        </p:tgtEl>
                                        <p:attrNameLst>
                                          <p:attrName>style.visibility</p:attrName>
                                        </p:attrNameLst>
                                      </p:cBhvr>
                                      <p:to>
                                        <p:strVal val="visible"/>
                                      </p:to>
                                    </p:set>
                                    <p:animEffect transition="in" filter="fade">
                                      <p:cBhvr>
                                        <p:cTn id="67"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1D0B8-A2C9-677A-7C1E-80737C102EF2}"/>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6CB2C331-751A-B63E-9760-11053556D772}"/>
              </a:ext>
            </a:extLst>
          </p:cNvPr>
          <p:cNvSpPr txBox="1"/>
          <p:nvPr/>
        </p:nvSpPr>
        <p:spPr>
          <a:xfrm>
            <a:off x="614934" y="464058"/>
            <a:ext cx="7919466"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Debrief</a:t>
            </a:r>
          </a:p>
        </p:txBody>
      </p:sp>
      <p:sp>
        <p:nvSpPr>
          <p:cNvPr id="6" name="Tekstvak 5">
            <a:extLst>
              <a:ext uri="{FF2B5EF4-FFF2-40B4-BE49-F238E27FC236}">
                <a16:creationId xmlns:a16="http://schemas.microsoft.com/office/drawing/2014/main" id="{DAAE8F23-041F-2B1F-41EA-496FCBDAEEAA}"/>
              </a:ext>
            </a:extLst>
          </p:cNvPr>
          <p:cNvSpPr txBox="1"/>
          <p:nvPr/>
        </p:nvSpPr>
        <p:spPr>
          <a:xfrm>
            <a:off x="614935" y="1741292"/>
            <a:ext cx="8314091" cy="1477328"/>
          </a:xfrm>
          <a:prstGeom prst="rect">
            <a:avLst/>
          </a:prstGeom>
          <a:noFill/>
        </p:spPr>
        <p:txBody>
          <a:bodyPr wrap="square" rtlCol="0">
            <a:spAutoFit/>
          </a:bodyPr>
          <a:lstStyle/>
          <a:p>
            <a:pPr marL="342900" indent="-342900">
              <a:buFont typeface="+mj-lt"/>
              <a:buAutoNum type="arabicPeriod"/>
              <a:defRPr/>
            </a:pPr>
            <a:r>
              <a:rPr lang="en-US" sz="1800" b="1">
                <a:solidFill>
                  <a:srgbClr val="0D006A"/>
                </a:solidFill>
                <a:latin typeface="Raleway" pitchFamily="2" charset="77"/>
              </a:rPr>
              <a:t>What did you realize you don't know yet about your own project?</a:t>
            </a:r>
          </a:p>
          <a:p>
            <a:pPr marL="342900" indent="-342900">
              <a:buFont typeface="+mj-lt"/>
              <a:buAutoNum type="arabicPeriod"/>
              <a:defRPr/>
            </a:pPr>
            <a:endParaRPr lang="en-US" sz="1800" b="1">
              <a:solidFill>
                <a:srgbClr val="0D006A"/>
              </a:solidFill>
              <a:latin typeface="Raleway" pitchFamily="2" charset="77"/>
            </a:endParaRPr>
          </a:p>
          <a:p>
            <a:pPr marL="342900" indent="-342900">
              <a:buFont typeface="+mj-lt"/>
              <a:buAutoNum type="arabicPeriod"/>
              <a:defRPr/>
            </a:pPr>
            <a:r>
              <a:rPr lang="en-US" sz="1800" b="1">
                <a:solidFill>
                  <a:srgbClr val="0D006A"/>
                </a:solidFill>
                <a:latin typeface="Raleway" pitchFamily="2" charset="77"/>
              </a:rPr>
              <a:t>Which quadrant felt harder, </a:t>
            </a:r>
            <a:r>
              <a:rPr lang="en-US" sz="1800" b="1">
                <a:solidFill>
                  <a:srgbClr val="7030A0"/>
                </a:solidFill>
                <a:latin typeface="Raleway" pitchFamily="2" charset="77"/>
              </a:rPr>
              <a:t>Ambition</a:t>
            </a:r>
            <a:r>
              <a:rPr lang="en-US" sz="1800" b="1">
                <a:solidFill>
                  <a:srgbClr val="0D006A"/>
                </a:solidFill>
                <a:latin typeface="Raleway" pitchFamily="2" charset="77"/>
              </a:rPr>
              <a:t> or </a:t>
            </a:r>
            <a:r>
              <a:rPr lang="en-US" sz="1800" b="1">
                <a:solidFill>
                  <a:srgbClr val="7030A0"/>
                </a:solidFill>
                <a:latin typeface="Raleway" pitchFamily="2" charset="77"/>
              </a:rPr>
              <a:t>KPIs</a:t>
            </a:r>
            <a:r>
              <a:rPr lang="en-US" sz="1800" b="1">
                <a:solidFill>
                  <a:srgbClr val="0D006A"/>
                </a:solidFill>
                <a:latin typeface="Raleway" pitchFamily="2" charset="77"/>
              </a:rPr>
              <a:t>? Why?</a:t>
            </a:r>
          </a:p>
          <a:p>
            <a:pPr marL="342900" indent="-342900">
              <a:buFont typeface="+mj-lt"/>
              <a:buAutoNum type="arabicPeriod"/>
              <a:defRPr/>
            </a:pPr>
            <a:endParaRPr lang="en-US" sz="1800" b="1">
              <a:solidFill>
                <a:srgbClr val="0D006A"/>
              </a:solidFill>
              <a:latin typeface="Raleway" pitchFamily="2" charset="77"/>
            </a:endParaRPr>
          </a:p>
          <a:p>
            <a:pPr marL="342900" indent="-342900">
              <a:buFont typeface="+mj-lt"/>
              <a:buAutoNum type="arabicPeriod"/>
              <a:defRPr/>
            </a:pPr>
            <a:r>
              <a:rPr lang="en-US" sz="1800" b="1">
                <a:solidFill>
                  <a:srgbClr val="0D006A"/>
                </a:solidFill>
                <a:latin typeface="Raleway" pitchFamily="2" charset="77"/>
              </a:rPr>
              <a:t>What is ONE question you will ask your sponsor before Session 3?</a:t>
            </a:r>
            <a:endParaRPr lang="nl-NL" sz="1800">
              <a:solidFill>
                <a:prstClr val="black"/>
              </a:solidFill>
              <a:latin typeface="Calibri" panose="020F0502020204030204"/>
            </a:endParaRPr>
          </a:p>
        </p:txBody>
      </p:sp>
    </p:spTree>
    <p:extLst>
      <p:ext uri="{BB962C8B-B14F-4D97-AF65-F5344CB8AC3E}">
        <p14:creationId xmlns:p14="http://schemas.microsoft.com/office/powerpoint/2010/main" val="4146594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301ED-1D36-81E6-6288-BAC05E5FE0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690178-05D6-900E-1643-C8B098F6863B}"/>
              </a:ext>
            </a:extLst>
          </p:cNvPr>
          <p:cNvSpPr txBox="1"/>
          <p:nvPr/>
        </p:nvSpPr>
        <p:spPr>
          <a:xfrm>
            <a:off x="289681" y="669039"/>
            <a:ext cx="5308479" cy="1107996"/>
          </a:xfrm>
          <a:prstGeom prst="rect">
            <a:avLst/>
          </a:prstGeom>
          <a:noFill/>
        </p:spPr>
        <p:txBody>
          <a:bodyPr wrap="square">
            <a:spAutoFit/>
          </a:bodyPr>
          <a:lstStyle/>
          <a:p>
            <a:pPr>
              <a:defRPr/>
            </a:pPr>
            <a:r>
              <a:rPr lang="en-US" sz="3300" b="1">
                <a:solidFill>
                  <a:srgbClr val="FEF4E8"/>
                </a:solidFill>
                <a:latin typeface="Space Grotesk" pitchFamily="2" charset="0"/>
                <a:cs typeface="Space Grotesk" pitchFamily="2" charset="0"/>
              </a:rPr>
              <a:t>4 – Wrap up &amp; Next Steps </a:t>
            </a:r>
          </a:p>
          <a:p>
            <a:pPr>
              <a:defRPr/>
            </a:pPr>
            <a:r>
              <a:rPr lang="en-US" sz="3300" b="1">
                <a:solidFill>
                  <a:srgbClr val="FEF4E8"/>
                </a:solidFill>
                <a:latin typeface="Space Grotesk" pitchFamily="2" charset="0"/>
                <a:cs typeface="Space Grotesk" pitchFamily="2" charset="0"/>
              </a:rPr>
              <a:t>       Slides</a:t>
            </a:r>
          </a:p>
        </p:txBody>
      </p:sp>
      <p:sp>
        <p:nvSpPr>
          <p:cNvPr id="2" name="TextBox 1">
            <a:extLst>
              <a:ext uri="{FF2B5EF4-FFF2-40B4-BE49-F238E27FC236}">
                <a16:creationId xmlns:a16="http://schemas.microsoft.com/office/drawing/2014/main" id="{A2E96D8E-BB05-7BA6-B2E7-403E6187A4B7}"/>
              </a:ext>
            </a:extLst>
          </p:cNvPr>
          <p:cNvSpPr txBox="1"/>
          <p:nvPr/>
        </p:nvSpPr>
        <p:spPr>
          <a:xfrm>
            <a:off x="4401680" y="3274132"/>
            <a:ext cx="4572000" cy="1200329"/>
          </a:xfrm>
          <a:prstGeom prst="rect">
            <a:avLst/>
          </a:prstGeom>
          <a:noFill/>
        </p:spPr>
        <p:txBody>
          <a:bodyPr wrap="square">
            <a:spAutoFit/>
          </a:bodyPr>
          <a:lstStyle/>
          <a:p>
            <a:pPr algn="ctr">
              <a:defRPr/>
            </a:pPr>
            <a:r>
              <a:rPr lang="en-US" sz="1800" b="1">
                <a:solidFill>
                  <a:srgbClr val="F79421"/>
                </a:solidFill>
                <a:latin typeface="Raleway" pitchFamily="2" charset="0"/>
                <a:cs typeface="Space Grotesk" pitchFamily="2" charset="0"/>
              </a:rPr>
              <a:t>- NOTE –</a:t>
            </a:r>
            <a:r>
              <a:rPr lang="en-US" sz="1800" b="1">
                <a:solidFill>
                  <a:srgbClr val="0D006A"/>
                </a:solidFill>
                <a:latin typeface="Raleway" pitchFamily="2" charset="0"/>
                <a:cs typeface="Space Grotesk" pitchFamily="2" charset="0"/>
              </a:rPr>
              <a:t> </a:t>
            </a:r>
          </a:p>
          <a:p>
            <a:pPr algn="ctr">
              <a:defRPr/>
            </a:pPr>
            <a:r>
              <a:rPr lang="en-US" sz="1800" i="1">
                <a:solidFill>
                  <a:srgbClr val="0D006A"/>
                </a:solidFill>
                <a:latin typeface="Raleway" pitchFamily="2" charset="0"/>
                <a:cs typeface="Space Grotesk" pitchFamily="2" charset="0"/>
              </a:rPr>
              <a:t>ALL THESE SLIDES ARE FROM DIFFERENT TRAININGS. NO SPECIFIC ORDER IS BEING USED HERE  </a:t>
            </a:r>
          </a:p>
        </p:txBody>
      </p:sp>
    </p:spTree>
    <p:extLst>
      <p:ext uri="{BB962C8B-B14F-4D97-AF65-F5344CB8AC3E}">
        <p14:creationId xmlns:p14="http://schemas.microsoft.com/office/powerpoint/2010/main" val="165261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1B58E-4E94-FD9F-8969-0D3C19E10104}"/>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13D385D5-2F4B-BE79-4575-1F1F91D2EF3C}"/>
              </a:ext>
            </a:extLst>
          </p:cNvPr>
          <p:cNvSpPr txBox="1"/>
          <p:nvPr/>
        </p:nvSpPr>
        <p:spPr>
          <a:xfrm>
            <a:off x="614934" y="464058"/>
            <a:ext cx="7919466" cy="530915"/>
          </a:xfrm>
          <a:prstGeom prst="rect">
            <a:avLst/>
          </a:prstGeom>
          <a:noFill/>
        </p:spPr>
        <p:txBody>
          <a:bodyPr wrap="square" lIns="68580" tIns="34290" rIns="68580" bIns="34290" rtlCol="0" anchor="t">
            <a:spAutoFit/>
          </a:bodyPr>
          <a:lstStyle/>
          <a:p>
            <a:pPr>
              <a:defRPr/>
            </a:pPr>
            <a:r>
              <a:rPr lang="en-US" sz="3000" b="1">
                <a:solidFill>
                  <a:srgbClr val="0D006A"/>
                </a:solidFill>
                <a:latin typeface="Space Grotesk" pitchFamily="2" charset="0"/>
                <a:cs typeface="Space Grotesk" pitchFamily="2" charset="0"/>
              </a:rPr>
              <a:t>Wrap-up: What stays</a:t>
            </a:r>
          </a:p>
        </p:txBody>
      </p:sp>
      <p:grpSp>
        <p:nvGrpSpPr>
          <p:cNvPr id="7" name="Group 74">
            <a:extLst>
              <a:ext uri="{FF2B5EF4-FFF2-40B4-BE49-F238E27FC236}">
                <a16:creationId xmlns:a16="http://schemas.microsoft.com/office/drawing/2014/main" id="{EE75DD09-2935-3EC8-8E59-75926FB92AAF}"/>
              </a:ext>
            </a:extLst>
          </p:cNvPr>
          <p:cNvGrpSpPr/>
          <p:nvPr/>
        </p:nvGrpSpPr>
        <p:grpSpPr>
          <a:xfrm>
            <a:off x="6062952" y="1631206"/>
            <a:ext cx="2590095" cy="1098842"/>
            <a:chOff x="846950" y="3429000"/>
            <a:chExt cx="7576982" cy="2969533"/>
          </a:xfrm>
        </p:grpSpPr>
        <p:sp>
          <p:nvSpPr>
            <p:cNvPr id="11" name="Rectangle: Rounded Corners 76">
              <a:extLst>
                <a:ext uri="{FF2B5EF4-FFF2-40B4-BE49-F238E27FC236}">
                  <a16:creationId xmlns:a16="http://schemas.microsoft.com/office/drawing/2014/main" id="{B1927B43-3104-44AA-4B81-A522A76FE8A5}"/>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2" name="Rectangle: Rounded Corners 77">
              <a:extLst>
                <a:ext uri="{FF2B5EF4-FFF2-40B4-BE49-F238E27FC236}">
                  <a16:creationId xmlns:a16="http://schemas.microsoft.com/office/drawing/2014/main" id="{B6F9672B-E098-2610-97D2-26CAFFB39BF4}"/>
                </a:ext>
              </a:extLst>
            </p:cNvPr>
            <p:cNvSpPr/>
            <p:nvPr/>
          </p:nvSpPr>
          <p:spPr>
            <a:xfrm>
              <a:off x="897749" y="3429000"/>
              <a:ext cx="7526183" cy="2969533"/>
            </a:xfrm>
            <a:prstGeom prst="roundRect">
              <a:avLst>
                <a:gd name="adj" fmla="val 8723"/>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8" name="TextBox 111">
            <a:extLst>
              <a:ext uri="{FF2B5EF4-FFF2-40B4-BE49-F238E27FC236}">
                <a16:creationId xmlns:a16="http://schemas.microsoft.com/office/drawing/2014/main" id="{AA2D3A8B-5865-F3D8-C592-EA51367A65DA}"/>
              </a:ext>
            </a:extLst>
          </p:cNvPr>
          <p:cNvSpPr txBox="1"/>
          <p:nvPr/>
        </p:nvSpPr>
        <p:spPr>
          <a:xfrm>
            <a:off x="6645336" y="1783643"/>
            <a:ext cx="1926834" cy="323165"/>
          </a:xfrm>
          <a:prstGeom prst="rect">
            <a:avLst/>
          </a:prstGeom>
          <a:noFill/>
        </p:spPr>
        <p:txBody>
          <a:bodyPr wrap="square" rtlCol="0">
            <a:spAutoFit/>
          </a:bodyPr>
          <a:lstStyle/>
          <a:p>
            <a:pPr>
              <a:defRPr/>
            </a:pPr>
            <a:r>
              <a:rPr lang="en-US" sz="1500" b="1" noProof="1">
                <a:solidFill>
                  <a:srgbClr val="D3116E"/>
                </a:solidFill>
                <a:latin typeface="Space Grotesk" pitchFamily="2" charset="0"/>
                <a:cs typeface="Space Grotesk" pitchFamily="2" charset="0"/>
              </a:rPr>
              <a:t>Value vs Waste </a:t>
            </a:r>
          </a:p>
        </p:txBody>
      </p:sp>
      <p:sp>
        <p:nvSpPr>
          <p:cNvPr id="9" name="Oval 14">
            <a:extLst>
              <a:ext uri="{FF2B5EF4-FFF2-40B4-BE49-F238E27FC236}">
                <a16:creationId xmlns:a16="http://schemas.microsoft.com/office/drawing/2014/main" id="{5A8BB11F-4B95-F311-1C63-FA8A3500B5B2}"/>
              </a:ext>
            </a:extLst>
          </p:cNvPr>
          <p:cNvSpPr/>
          <p:nvPr/>
        </p:nvSpPr>
        <p:spPr>
          <a:xfrm>
            <a:off x="6240336" y="1759380"/>
            <a:ext cx="342900" cy="342900"/>
          </a:xfrm>
          <a:prstGeom prst="ellipse">
            <a:avLst/>
          </a:prstGeom>
          <a:solidFill>
            <a:srgbClr val="D319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0" name="Tekstvak 9">
            <a:extLst>
              <a:ext uri="{FF2B5EF4-FFF2-40B4-BE49-F238E27FC236}">
                <a16:creationId xmlns:a16="http://schemas.microsoft.com/office/drawing/2014/main" id="{9F876038-07F2-26FE-FE7D-5C7BC802ACAD}"/>
              </a:ext>
            </a:extLst>
          </p:cNvPr>
          <p:cNvSpPr txBox="1"/>
          <p:nvPr/>
        </p:nvSpPr>
        <p:spPr>
          <a:xfrm>
            <a:off x="6195513" y="2135028"/>
            <a:ext cx="2376657" cy="613886"/>
          </a:xfrm>
          <a:prstGeom prst="rect">
            <a:avLst/>
          </a:prstGeom>
          <a:noFill/>
        </p:spPr>
        <p:txBody>
          <a:bodyPr wrap="square">
            <a:spAutoFit/>
          </a:bodyPr>
          <a:lstStyle/>
          <a:p>
            <a:pPr lvl="0">
              <a:lnSpc>
                <a:spcPct val="150000"/>
              </a:lnSpc>
            </a:pPr>
            <a:r>
              <a:rPr lang="en-US" sz="1200" b="1" noProof="1">
                <a:solidFill>
                  <a:srgbClr val="D3116E"/>
                </a:solidFill>
                <a:latin typeface="Raleway" panose="020B0003030101060003" pitchFamily="34" charset="0"/>
              </a:rPr>
              <a:t>What do they pay for vs. what costs us</a:t>
            </a:r>
          </a:p>
        </p:txBody>
      </p:sp>
      <p:pic>
        <p:nvPicPr>
          <p:cNvPr id="5" name="Graphic 4">
            <a:extLst>
              <a:ext uri="{FF2B5EF4-FFF2-40B4-BE49-F238E27FC236}">
                <a16:creationId xmlns:a16="http://schemas.microsoft.com/office/drawing/2014/main" id="{1A1003BC-EEDC-161F-5EDD-A26A89A0CD56}"/>
              </a:ext>
            </a:extLst>
          </p:cNvPr>
          <p:cNvPicPr>
            <a:picLocks/>
          </p:cNvPicPr>
          <p:nvPr/>
        </p:nvPicPr>
        <p:blipFill>
          <a:blip>
            <a:extLst>
              <a:ext uri="{96DAC541-7B7A-43D3-8B79-37D633B846F1}">
                <asvg:svgBlip xmlns:asvg="http://schemas.microsoft.com/office/drawing/2016/SVG/main" r:embed="rId3"/>
              </a:ext>
            </a:extLst>
          </a:blip>
          <a:srcRect/>
          <a:stretch/>
        </p:blipFill>
        <p:spPr>
          <a:xfrm>
            <a:off x="6302436" y="1809566"/>
            <a:ext cx="218700" cy="218700"/>
          </a:xfrm>
          <a:prstGeom prst="rect">
            <a:avLst/>
          </a:prstGeom>
        </p:spPr>
      </p:pic>
      <p:grpSp>
        <p:nvGrpSpPr>
          <p:cNvPr id="14" name="Group 69">
            <a:extLst>
              <a:ext uri="{FF2B5EF4-FFF2-40B4-BE49-F238E27FC236}">
                <a16:creationId xmlns:a16="http://schemas.microsoft.com/office/drawing/2014/main" id="{D2810042-2796-6B58-A1AC-F51F5C5A129B}"/>
              </a:ext>
            </a:extLst>
          </p:cNvPr>
          <p:cNvGrpSpPr/>
          <p:nvPr/>
        </p:nvGrpSpPr>
        <p:grpSpPr>
          <a:xfrm>
            <a:off x="3320177" y="1626432"/>
            <a:ext cx="2590095" cy="1098842"/>
            <a:chOff x="846950" y="3429000"/>
            <a:chExt cx="7576982" cy="2969533"/>
          </a:xfrm>
        </p:grpSpPr>
        <p:sp>
          <p:nvSpPr>
            <p:cNvPr id="19" name="Rectangle: Rounded Corners 71">
              <a:extLst>
                <a:ext uri="{FF2B5EF4-FFF2-40B4-BE49-F238E27FC236}">
                  <a16:creationId xmlns:a16="http://schemas.microsoft.com/office/drawing/2014/main" id="{64B528DF-97B3-6008-18A4-64771E7C875C}"/>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0" name="Rectangle: Rounded Corners 72">
              <a:extLst>
                <a:ext uri="{FF2B5EF4-FFF2-40B4-BE49-F238E27FC236}">
                  <a16:creationId xmlns:a16="http://schemas.microsoft.com/office/drawing/2014/main" id="{FFA1B6FB-A14E-C3CD-E6F0-677D7E4E2EB2}"/>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15" name="Oval 86">
            <a:extLst>
              <a:ext uri="{FF2B5EF4-FFF2-40B4-BE49-F238E27FC236}">
                <a16:creationId xmlns:a16="http://schemas.microsoft.com/office/drawing/2014/main" id="{2E247B43-C090-DEF2-307F-B6B7B166C1D1}"/>
              </a:ext>
            </a:extLst>
          </p:cNvPr>
          <p:cNvSpPr/>
          <p:nvPr/>
        </p:nvSpPr>
        <p:spPr>
          <a:xfrm>
            <a:off x="3524174" y="1759380"/>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900" b="1" noProof="1">
              <a:solidFill>
                <a:prstClr val="white"/>
              </a:solidFill>
              <a:latin typeface="Calibri" panose="020F0502020204030204"/>
            </a:endParaRPr>
          </a:p>
        </p:txBody>
      </p:sp>
      <p:sp>
        <p:nvSpPr>
          <p:cNvPr id="16" name="TextBox 110">
            <a:extLst>
              <a:ext uri="{FF2B5EF4-FFF2-40B4-BE49-F238E27FC236}">
                <a16:creationId xmlns:a16="http://schemas.microsoft.com/office/drawing/2014/main" id="{1FF0B320-638A-20C3-51EF-8156FCB2EC36}"/>
              </a:ext>
            </a:extLst>
          </p:cNvPr>
          <p:cNvSpPr txBox="1"/>
          <p:nvPr/>
        </p:nvSpPr>
        <p:spPr>
          <a:xfrm>
            <a:off x="3900313" y="1731366"/>
            <a:ext cx="1932245" cy="323165"/>
          </a:xfrm>
          <a:prstGeom prst="rect">
            <a:avLst/>
          </a:prstGeom>
          <a:noFill/>
        </p:spPr>
        <p:txBody>
          <a:bodyPr wrap="square" rtlCol="0">
            <a:spAutoFit/>
          </a:bodyPr>
          <a:lstStyle/>
          <a:p>
            <a:pPr>
              <a:defRPr/>
            </a:pPr>
            <a:r>
              <a:rPr lang="en-US" sz="1500" b="1" noProof="1">
                <a:solidFill>
                  <a:srgbClr val="F79421"/>
                </a:solidFill>
                <a:latin typeface="Space Grotesk" pitchFamily="2" charset="0"/>
                <a:cs typeface="Space Grotesk" pitchFamily="2" charset="0"/>
              </a:rPr>
              <a:t>Customer arena </a:t>
            </a:r>
          </a:p>
        </p:txBody>
      </p:sp>
      <p:sp>
        <p:nvSpPr>
          <p:cNvPr id="17" name="Tekstvak 16">
            <a:extLst>
              <a:ext uri="{FF2B5EF4-FFF2-40B4-BE49-F238E27FC236}">
                <a16:creationId xmlns:a16="http://schemas.microsoft.com/office/drawing/2014/main" id="{B57AA851-CA0A-8AB0-5C35-A57F02380A91}"/>
              </a:ext>
            </a:extLst>
          </p:cNvPr>
          <p:cNvSpPr txBox="1"/>
          <p:nvPr/>
        </p:nvSpPr>
        <p:spPr>
          <a:xfrm>
            <a:off x="3462033" y="2134451"/>
            <a:ext cx="2448239" cy="890885"/>
          </a:xfrm>
          <a:prstGeom prst="rect">
            <a:avLst/>
          </a:prstGeom>
          <a:noFill/>
        </p:spPr>
        <p:txBody>
          <a:bodyPr wrap="square">
            <a:spAutoFit/>
          </a:bodyPr>
          <a:lstStyle/>
          <a:p>
            <a:pPr lvl="0">
              <a:lnSpc>
                <a:spcPct val="150000"/>
              </a:lnSpc>
            </a:pPr>
            <a:r>
              <a:rPr lang="en-US" sz="1200" b="1" noProof="1">
                <a:solidFill>
                  <a:srgbClr val="F79421"/>
                </a:solidFill>
                <a:latin typeface="Raleway" panose="020B0003030101060003" pitchFamily="34" charset="0"/>
              </a:rPr>
              <a:t>What job is the customer hiring you to do? </a:t>
            </a:r>
          </a:p>
          <a:p>
            <a:pPr lvl="0">
              <a:lnSpc>
                <a:spcPct val="150000"/>
              </a:lnSpc>
            </a:pPr>
            <a:endParaRPr lang="en-US" sz="1200" b="1" noProof="1">
              <a:solidFill>
                <a:srgbClr val="F79421"/>
              </a:solidFill>
              <a:latin typeface="Raleway" panose="020B0003030101060003" pitchFamily="34" charset="0"/>
            </a:endParaRPr>
          </a:p>
        </p:txBody>
      </p:sp>
      <p:pic>
        <p:nvPicPr>
          <p:cNvPr id="18" name="Graphic 17">
            <a:extLst>
              <a:ext uri="{FF2B5EF4-FFF2-40B4-BE49-F238E27FC236}">
                <a16:creationId xmlns:a16="http://schemas.microsoft.com/office/drawing/2014/main" id="{64C72CAC-B47C-5676-34EA-2334FE3586A8}"/>
              </a:ext>
            </a:extLst>
          </p:cNvPr>
          <p:cNvPicPr>
            <a:picLocks/>
          </p:cNvPicPr>
          <p:nvPr/>
        </p:nvPicPr>
        <p:blipFill>
          <a:blip>
            <a:extLst>
              <a:ext uri="{96DAC541-7B7A-43D3-8B79-37D633B846F1}">
                <asvg:svgBlip xmlns:asvg="http://schemas.microsoft.com/office/drawing/2016/SVG/main" r:embed="rId4"/>
              </a:ext>
            </a:extLst>
          </a:blip>
          <a:srcRect/>
          <a:stretch/>
        </p:blipFill>
        <p:spPr>
          <a:xfrm>
            <a:off x="3588043" y="1810117"/>
            <a:ext cx="218700" cy="218700"/>
          </a:xfrm>
          <a:prstGeom prst="rect">
            <a:avLst/>
          </a:prstGeom>
        </p:spPr>
      </p:pic>
      <p:grpSp>
        <p:nvGrpSpPr>
          <p:cNvPr id="22" name="Group 5">
            <a:extLst>
              <a:ext uri="{FF2B5EF4-FFF2-40B4-BE49-F238E27FC236}">
                <a16:creationId xmlns:a16="http://schemas.microsoft.com/office/drawing/2014/main" id="{A8027600-AD17-264C-8E60-678C74340C6F}"/>
              </a:ext>
            </a:extLst>
          </p:cNvPr>
          <p:cNvGrpSpPr/>
          <p:nvPr/>
        </p:nvGrpSpPr>
        <p:grpSpPr>
          <a:xfrm>
            <a:off x="614934" y="1631208"/>
            <a:ext cx="2607577" cy="1094066"/>
            <a:chOff x="846950" y="3415677"/>
            <a:chExt cx="7576982" cy="2969533"/>
          </a:xfrm>
        </p:grpSpPr>
        <p:sp>
          <p:nvSpPr>
            <p:cNvPr id="26" name="Rectangle: Rounded Corners 8">
              <a:extLst>
                <a:ext uri="{FF2B5EF4-FFF2-40B4-BE49-F238E27FC236}">
                  <a16:creationId xmlns:a16="http://schemas.microsoft.com/office/drawing/2014/main" id="{E16FA353-94AE-77EC-CFEA-A82FAB011826}"/>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27" name="Rectangle: Rounded Corners 11">
              <a:extLst>
                <a:ext uri="{FF2B5EF4-FFF2-40B4-BE49-F238E27FC236}">
                  <a16:creationId xmlns:a16="http://schemas.microsoft.com/office/drawing/2014/main" id="{879B33F3-F10F-96B3-336A-D2D2B8B113F7}"/>
                </a:ext>
              </a:extLst>
            </p:cNvPr>
            <p:cNvSpPr/>
            <p:nvPr/>
          </p:nvSpPr>
          <p:spPr>
            <a:xfrm>
              <a:off x="897748" y="3415677"/>
              <a:ext cx="7526184" cy="2969533"/>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23" name="TextBox 7">
            <a:extLst>
              <a:ext uri="{FF2B5EF4-FFF2-40B4-BE49-F238E27FC236}">
                <a16:creationId xmlns:a16="http://schemas.microsoft.com/office/drawing/2014/main" id="{16767CF0-39B1-E85B-EEB6-E8CA3797BD2E}"/>
              </a:ext>
            </a:extLst>
          </p:cNvPr>
          <p:cNvSpPr txBox="1"/>
          <p:nvPr/>
        </p:nvSpPr>
        <p:spPr>
          <a:xfrm>
            <a:off x="1189038" y="1759341"/>
            <a:ext cx="1919930" cy="323165"/>
          </a:xfrm>
          <a:prstGeom prst="rect">
            <a:avLst/>
          </a:prstGeom>
          <a:noFill/>
        </p:spPr>
        <p:txBody>
          <a:bodyPr wrap="square" rtlCol="0">
            <a:spAutoFit/>
          </a:bodyPr>
          <a:lstStyle/>
          <a:p>
            <a:pPr>
              <a:defRPr/>
            </a:pPr>
            <a:r>
              <a:rPr lang="en-US" sz="1500" b="1" noProof="1">
                <a:solidFill>
                  <a:srgbClr val="5400AD"/>
                </a:solidFill>
                <a:latin typeface="Space Grotesk" pitchFamily="2" charset="0"/>
                <a:cs typeface="Space Grotesk" pitchFamily="2" charset="0"/>
              </a:rPr>
              <a:t>Moments of truth </a:t>
            </a:r>
          </a:p>
        </p:txBody>
      </p:sp>
      <p:sp>
        <p:nvSpPr>
          <p:cNvPr id="24" name="Oval 12">
            <a:extLst>
              <a:ext uri="{FF2B5EF4-FFF2-40B4-BE49-F238E27FC236}">
                <a16:creationId xmlns:a16="http://schemas.microsoft.com/office/drawing/2014/main" id="{640C212C-FEB2-FFAA-1079-33916C1BB599}"/>
              </a:ext>
            </a:extLst>
          </p:cNvPr>
          <p:cNvSpPr/>
          <p:nvPr/>
        </p:nvSpPr>
        <p:spPr>
          <a:xfrm>
            <a:off x="846138" y="1763891"/>
            <a:ext cx="342900" cy="342216"/>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25" name="Tekstvak 24">
            <a:extLst>
              <a:ext uri="{FF2B5EF4-FFF2-40B4-BE49-F238E27FC236}">
                <a16:creationId xmlns:a16="http://schemas.microsoft.com/office/drawing/2014/main" id="{892717FB-1577-BD96-6AE8-DF5B276AE1ED}"/>
              </a:ext>
            </a:extLst>
          </p:cNvPr>
          <p:cNvSpPr txBox="1"/>
          <p:nvPr/>
        </p:nvSpPr>
        <p:spPr>
          <a:xfrm>
            <a:off x="716547" y="2135617"/>
            <a:ext cx="2461282" cy="613886"/>
          </a:xfrm>
          <a:prstGeom prst="rect">
            <a:avLst/>
          </a:prstGeom>
          <a:noFill/>
        </p:spPr>
        <p:txBody>
          <a:bodyPr wrap="square">
            <a:spAutoFit/>
          </a:bodyPr>
          <a:lstStyle/>
          <a:p>
            <a:pPr>
              <a:lnSpc>
                <a:spcPct val="150000"/>
              </a:lnSpc>
              <a:defRPr/>
            </a:pPr>
            <a:r>
              <a:rPr lang="en-US" sz="1200" b="1" noProof="1">
                <a:solidFill>
                  <a:srgbClr val="5400AD"/>
                </a:solidFill>
                <a:latin typeface="Raleway" panose="020B0003030101060003" pitchFamily="34" charset="0"/>
              </a:rPr>
              <a:t>When does the customer judge you?</a:t>
            </a:r>
          </a:p>
        </p:txBody>
      </p:sp>
      <p:pic>
        <p:nvPicPr>
          <p:cNvPr id="29" name="Graphic 28" descr="Vergrootglas silhouet">
            <a:extLst>
              <a:ext uri="{FF2B5EF4-FFF2-40B4-BE49-F238E27FC236}">
                <a16:creationId xmlns:a16="http://schemas.microsoft.com/office/drawing/2014/main" id="{1385EFA9-2F3D-01D3-9A44-9FE99305F96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4865" y="1820989"/>
            <a:ext cx="218700" cy="218700"/>
          </a:xfrm>
          <a:prstGeom prst="rect">
            <a:avLst/>
          </a:prstGeom>
        </p:spPr>
      </p:pic>
      <p:sp>
        <p:nvSpPr>
          <p:cNvPr id="30" name="Tekstvak 29">
            <a:extLst>
              <a:ext uri="{FF2B5EF4-FFF2-40B4-BE49-F238E27FC236}">
                <a16:creationId xmlns:a16="http://schemas.microsoft.com/office/drawing/2014/main" id="{04AD33AA-39D2-3107-09C0-7DD714C0909F}"/>
              </a:ext>
            </a:extLst>
          </p:cNvPr>
          <p:cNvSpPr txBox="1"/>
          <p:nvPr/>
        </p:nvSpPr>
        <p:spPr>
          <a:xfrm>
            <a:off x="614934" y="1256997"/>
            <a:ext cx="8038113" cy="248209"/>
          </a:xfrm>
          <a:prstGeom prst="rect">
            <a:avLst/>
          </a:prstGeom>
          <a:noFill/>
        </p:spPr>
        <p:txBody>
          <a:bodyPr wrap="square">
            <a:spAutoFit/>
          </a:bodyPr>
          <a:lstStyle/>
          <a:p>
            <a:r>
              <a:rPr lang="en-US" sz="1013" b="1">
                <a:solidFill>
                  <a:srgbClr val="0D006A"/>
                </a:solidFill>
                <a:latin typeface="Raleway" pitchFamily="2" charset="0"/>
              </a:rPr>
              <a:t>Customer Value: Three lenses to validate impact</a:t>
            </a:r>
            <a:endParaRPr lang="nl-NL" sz="1013">
              <a:solidFill>
                <a:srgbClr val="0D006A"/>
              </a:solidFill>
              <a:latin typeface="Raleway" pitchFamily="2" charset="0"/>
            </a:endParaRPr>
          </a:p>
        </p:txBody>
      </p:sp>
      <p:grpSp>
        <p:nvGrpSpPr>
          <p:cNvPr id="38" name="Group 69">
            <a:extLst>
              <a:ext uri="{FF2B5EF4-FFF2-40B4-BE49-F238E27FC236}">
                <a16:creationId xmlns:a16="http://schemas.microsoft.com/office/drawing/2014/main" id="{FC346E17-E842-A754-93A1-F2811082D1CA}"/>
              </a:ext>
            </a:extLst>
          </p:cNvPr>
          <p:cNvGrpSpPr/>
          <p:nvPr/>
        </p:nvGrpSpPr>
        <p:grpSpPr>
          <a:xfrm>
            <a:off x="3320177" y="3371720"/>
            <a:ext cx="2590095" cy="1098842"/>
            <a:chOff x="846950" y="3429000"/>
            <a:chExt cx="7576982" cy="2969533"/>
          </a:xfrm>
        </p:grpSpPr>
        <p:sp>
          <p:nvSpPr>
            <p:cNvPr id="39" name="Rectangle: Rounded Corners 71">
              <a:extLst>
                <a:ext uri="{FF2B5EF4-FFF2-40B4-BE49-F238E27FC236}">
                  <a16:creationId xmlns:a16="http://schemas.microsoft.com/office/drawing/2014/main" id="{EB3FED77-BEC3-8CCB-570D-FBB46DF84A1D}"/>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40" name="Rectangle: Rounded Corners 72">
              <a:extLst>
                <a:ext uri="{FF2B5EF4-FFF2-40B4-BE49-F238E27FC236}">
                  <a16:creationId xmlns:a16="http://schemas.microsoft.com/office/drawing/2014/main" id="{01D51EA0-FA08-F488-37C5-EE0494CDE582}"/>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41" name="Oval 86">
            <a:extLst>
              <a:ext uri="{FF2B5EF4-FFF2-40B4-BE49-F238E27FC236}">
                <a16:creationId xmlns:a16="http://schemas.microsoft.com/office/drawing/2014/main" id="{1451E9EC-92B8-A6F6-4FB3-D400FFCDD063}"/>
              </a:ext>
            </a:extLst>
          </p:cNvPr>
          <p:cNvSpPr/>
          <p:nvPr/>
        </p:nvSpPr>
        <p:spPr>
          <a:xfrm>
            <a:off x="3524174" y="3504668"/>
            <a:ext cx="342900" cy="342900"/>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900" b="1" noProof="1">
              <a:solidFill>
                <a:prstClr val="white"/>
              </a:solidFill>
              <a:latin typeface="Calibri" panose="020F0502020204030204"/>
            </a:endParaRPr>
          </a:p>
        </p:txBody>
      </p:sp>
      <p:sp>
        <p:nvSpPr>
          <p:cNvPr id="42" name="TextBox 110">
            <a:extLst>
              <a:ext uri="{FF2B5EF4-FFF2-40B4-BE49-F238E27FC236}">
                <a16:creationId xmlns:a16="http://schemas.microsoft.com/office/drawing/2014/main" id="{BEB80EDD-9989-DE10-544C-B93AFAE50180}"/>
              </a:ext>
            </a:extLst>
          </p:cNvPr>
          <p:cNvSpPr txBox="1"/>
          <p:nvPr/>
        </p:nvSpPr>
        <p:spPr>
          <a:xfrm>
            <a:off x="3900313" y="3476655"/>
            <a:ext cx="1932245" cy="323165"/>
          </a:xfrm>
          <a:prstGeom prst="rect">
            <a:avLst/>
          </a:prstGeom>
          <a:noFill/>
        </p:spPr>
        <p:txBody>
          <a:bodyPr wrap="square" rtlCol="0">
            <a:spAutoFit/>
          </a:bodyPr>
          <a:lstStyle/>
          <a:p>
            <a:pPr>
              <a:defRPr/>
            </a:pPr>
            <a:r>
              <a:rPr lang="en-US" sz="1500" b="1" noProof="1">
                <a:solidFill>
                  <a:srgbClr val="F79421"/>
                </a:solidFill>
                <a:latin typeface="Space Grotesk" pitchFamily="2" charset="0"/>
                <a:cs typeface="Space Grotesk" pitchFamily="2" charset="0"/>
              </a:rPr>
              <a:t>KPI Trees</a:t>
            </a:r>
          </a:p>
        </p:txBody>
      </p:sp>
      <p:sp>
        <p:nvSpPr>
          <p:cNvPr id="43" name="Tekstvak 42">
            <a:extLst>
              <a:ext uri="{FF2B5EF4-FFF2-40B4-BE49-F238E27FC236}">
                <a16:creationId xmlns:a16="http://schemas.microsoft.com/office/drawing/2014/main" id="{9A490F3B-DDDF-F1B7-29E9-1A4E88CB2B84}"/>
              </a:ext>
            </a:extLst>
          </p:cNvPr>
          <p:cNvSpPr txBox="1"/>
          <p:nvPr/>
        </p:nvSpPr>
        <p:spPr>
          <a:xfrm>
            <a:off x="3462033" y="3879739"/>
            <a:ext cx="2448239" cy="613886"/>
          </a:xfrm>
          <a:prstGeom prst="rect">
            <a:avLst/>
          </a:prstGeom>
          <a:noFill/>
        </p:spPr>
        <p:txBody>
          <a:bodyPr wrap="square">
            <a:spAutoFit/>
          </a:bodyPr>
          <a:lstStyle/>
          <a:p>
            <a:pPr lvl="0">
              <a:lnSpc>
                <a:spcPct val="150000"/>
              </a:lnSpc>
            </a:pPr>
            <a:r>
              <a:rPr lang="en-US" sz="1200" b="1" noProof="1">
                <a:solidFill>
                  <a:srgbClr val="F79421"/>
                </a:solidFill>
                <a:latin typeface="Raleway" panose="020B0003030101060003" pitchFamily="34" charset="0"/>
              </a:rPr>
              <a:t>Measure each level to see if we’re on track</a:t>
            </a:r>
          </a:p>
        </p:txBody>
      </p:sp>
      <p:pic>
        <p:nvPicPr>
          <p:cNvPr id="44" name="Graphic 43">
            <a:extLst>
              <a:ext uri="{FF2B5EF4-FFF2-40B4-BE49-F238E27FC236}">
                <a16:creationId xmlns:a16="http://schemas.microsoft.com/office/drawing/2014/main" id="{096CE329-C9B7-82D3-1505-0CBA41131ABF}"/>
              </a:ext>
            </a:extLst>
          </p:cNvPr>
          <p:cNvPicPr>
            <a:picLocks/>
          </p:cNvPicPr>
          <p:nvPr/>
        </p:nvPicPr>
        <p:blipFill>
          <a:blip>
            <a:extLst>
              <a:ext uri="{96DAC541-7B7A-43D3-8B79-37D633B846F1}">
                <asvg:svgBlip xmlns:asvg="http://schemas.microsoft.com/office/drawing/2016/SVG/main" r:embed="rId4"/>
              </a:ext>
            </a:extLst>
          </a:blip>
          <a:srcRect/>
          <a:stretch/>
        </p:blipFill>
        <p:spPr>
          <a:xfrm>
            <a:off x="3588043" y="3555405"/>
            <a:ext cx="218700" cy="218700"/>
          </a:xfrm>
          <a:prstGeom prst="rect">
            <a:avLst/>
          </a:prstGeom>
        </p:spPr>
      </p:pic>
      <p:grpSp>
        <p:nvGrpSpPr>
          <p:cNvPr id="45" name="Group 5">
            <a:extLst>
              <a:ext uri="{FF2B5EF4-FFF2-40B4-BE49-F238E27FC236}">
                <a16:creationId xmlns:a16="http://schemas.microsoft.com/office/drawing/2014/main" id="{0400A776-1F01-A1D2-54F1-05663AFC0D9B}"/>
              </a:ext>
            </a:extLst>
          </p:cNvPr>
          <p:cNvGrpSpPr/>
          <p:nvPr/>
        </p:nvGrpSpPr>
        <p:grpSpPr>
          <a:xfrm>
            <a:off x="614934" y="3376496"/>
            <a:ext cx="2607577" cy="1094066"/>
            <a:chOff x="846950" y="3415677"/>
            <a:chExt cx="7576982" cy="2969533"/>
          </a:xfrm>
        </p:grpSpPr>
        <p:sp>
          <p:nvSpPr>
            <p:cNvPr id="46" name="Rectangle: Rounded Corners 8">
              <a:extLst>
                <a:ext uri="{FF2B5EF4-FFF2-40B4-BE49-F238E27FC236}">
                  <a16:creationId xmlns:a16="http://schemas.microsoft.com/office/drawing/2014/main" id="{6C0EE3BB-2F95-E294-AC2F-FF9CF19AD22D}"/>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47" name="Rectangle: Rounded Corners 11">
              <a:extLst>
                <a:ext uri="{FF2B5EF4-FFF2-40B4-BE49-F238E27FC236}">
                  <a16:creationId xmlns:a16="http://schemas.microsoft.com/office/drawing/2014/main" id="{71155818-2993-C814-84D2-6AEE01E8A43A}"/>
                </a:ext>
              </a:extLst>
            </p:cNvPr>
            <p:cNvSpPr/>
            <p:nvPr/>
          </p:nvSpPr>
          <p:spPr>
            <a:xfrm>
              <a:off x="897748" y="3415677"/>
              <a:ext cx="7526184" cy="2969533"/>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48" name="TextBox 7">
            <a:extLst>
              <a:ext uri="{FF2B5EF4-FFF2-40B4-BE49-F238E27FC236}">
                <a16:creationId xmlns:a16="http://schemas.microsoft.com/office/drawing/2014/main" id="{48921F44-4259-B6BD-A52A-DC9F2F6CDF42}"/>
              </a:ext>
            </a:extLst>
          </p:cNvPr>
          <p:cNvSpPr txBox="1"/>
          <p:nvPr/>
        </p:nvSpPr>
        <p:spPr>
          <a:xfrm>
            <a:off x="1189038" y="3504630"/>
            <a:ext cx="1919930" cy="323165"/>
          </a:xfrm>
          <a:prstGeom prst="rect">
            <a:avLst/>
          </a:prstGeom>
          <a:noFill/>
        </p:spPr>
        <p:txBody>
          <a:bodyPr wrap="square" rtlCol="0">
            <a:spAutoFit/>
          </a:bodyPr>
          <a:lstStyle/>
          <a:p>
            <a:pPr>
              <a:defRPr/>
            </a:pPr>
            <a:r>
              <a:rPr lang="en-US" sz="1500" b="1" noProof="1">
                <a:solidFill>
                  <a:srgbClr val="5400AD"/>
                </a:solidFill>
                <a:latin typeface="Space Grotesk" pitchFamily="2" charset="0"/>
                <a:cs typeface="Space Grotesk" pitchFamily="2" charset="0"/>
              </a:rPr>
              <a:t>Hoshin Kanri</a:t>
            </a:r>
          </a:p>
        </p:txBody>
      </p:sp>
      <p:sp>
        <p:nvSpPr>
          <p:cNvPr id="49" name="Oval 12">
            <a:extLst>
              <a:ext uri="{FF2B5EF4-FFF2-40B4-BE49-F238E27FC236}">
                <a16:creationId xmlns:a16="http://schemas.microsoft.com/office/drawing/2014/main" id="{2FF55A36-38C8-197D-5150-274FA820CFE8}"/>
              </a:ext>
            </a:extLst>
          </p:cNvPr>
          <p:cNvSpPr/>
          <p:nvPr/>
        </p:nvSpPr>
        <p:spPr>
          <a:xfrm>
            <a:off x="846138" y="3509179"/>
            <a:ext cx="342900" cy="342216"/>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50" name="Tekstvak 49">
            <a:extLst>
              <a:ext uri="{FF2B5EF4-FFF2-40B4-BE49-F238E27FC236}">
                <a16:creationId xmlns:a16="http://schemas.microsoft.com/office/drawing/2014/main" id="{3056EBE5-DBFD-A0F9-A075-2EE55C9B1570}"/>
              </a:ext>
            </a:extLst>
          </p:cNvPr>
          <p:cNvSpPr txBox="1"/>
          <p:nvPr/>
        </p:nvSpPr>
        <p:spPr>
          <a:xfrm>
            <a:off x="716547" y="3880905"/>
            <a:ext cx="2461282" cy="613886"/>
          </a:xfrm>
          <a:prstGeom prst="rect">
            <a:avLst/>
          </a:prstGeom>
          <a:noFill/>
        </p:spPr>
        <p:txBody>
          <a:bodyPr wrap="square">
            <a:spAutoFit/>
          </a:bodyPr>
          <a:lstStyle/>
          <a:p>
            <a:pPr lvl="0">
              <a:lnSpc>
                <a:spcPct val="150000"/>
              </a:lnSpc>
              <a:defRPr/>
            </a:pPr>
            <a:r>
              <a:rPr lang="en-US" sz="1200" b="1" noProof="1">
                <a:solidFill>
                  <a:srgbClr val="5400AD"/>
                </a:solidFill>
                <a:latin typeface="Raleway" panose="020B0003030101060003" pitchFamily="34" charset="0"/>
              </a:rPr>
              <a:t>Cascade strategy from vision to daily work</a:t>
            </a:r>
          </a:p>
        </p:txBody>
      </p:sp>
      <p:pic>
        <p:nvPicPr>
          <p:cNvPr id="51" name="Graphic 50" descr="Vergrootglas silhouet">
            <a:extLst>
              <a:ext uri="{FF2B5EF4-FFF2-40B4-BE49-F238E27FC236}">
                <a16:creationId xmlns:a16="http://schemas.microsoft.com/office/drawing/2014/main" id="{C6F43DC1-4A96-E5A6-C77F-BEE17768834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4865" y="3566277"/>
            <a:ext cx="218700" cy="218700"/>
          </a:xfrm>
          <a:prstGeom prst="rect">
            <a:avLst/>
          </a:prstGeom>
        </p:spPr>
      </p:pic>
      <p:sp>
        <p:nvSpPr>
          <p:cNvPr id="52" name="Tekstvak 51">
            <a:extLst>
              <a:ext uri="{FF2B5EF4-FFF2-40B4-BE49-F238E27FC236}">
                <a16:creationId xmlns:a16="http://schemas.microsoft.com/office/drawing/2014/main" id="{F6EDA448-D504-1748-8B6E-5954A31BFB8E}"/>
              </a:ext>
            </a:extLst>
          </p:cNvPr>
          <p:cNvSpPr txBox="1"/>
          <p:nvPr/>
        </p:nvSpPr>
        <p:spPr>
          <a:xfrm>
            <a:off x="614934" y="3002286"/>
            <a:ext cx="8038113" cy="225126"/>
          </a:xfrm>
          <a:prstGeom prst="rect">
            <a:avLst/>
          </a:prstGeom>
          <a:noFill/>
        </p:spPr>
        <p:txBody>
          <a:bodyPr wrap="square" lIns="68580" tIns="34290" rIns="68580" bIns="34290" anchor="t">
            <a:spAutoFit/>
          </a:bodyPr>
          <a:lstStyle/>
          <a:p>
            <a:r>
              <a:rPr lang="en-US" sz="1013" b="1">
                <a:solidFill>
                  <a:srgbClr val="0D006A"/>
                </a:solidFill>
                <a:latin typeface="Raleway"/>
              </a:rPr>
              <a:t>Managing direction: Two tools to connect work to goals</a:t>
            </a:r>
            <a:endParaRPr lang="nl-NL" sz="1013">
              <a:solidFill>
                <a:srgbClr val="0D006A"/>
              </a:solidFill>
              <a:latin typeface="Raleway"/>
            </a:endParaRPr>
          </a:p>
        </p:txBody>
      </p:sp>
    </p:spTree>
    <p:extLst>
      <p:ext uri="{BB962C8B-B14F-4D97-AF65-F5344CB8AC3E}">
        <p14:creationId xmlns:p14="http://schemas.microsoft.com/office/powerpoint/2010/main" val="90072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5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500"/>
                                        <p:tgtEl>
                                          <p:spTgt spid="4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500"/>
                                        <p:tgtEl>
                                          <p:spTgt spid="43"/>
                                        </p:tgtEl>
                                      </p:cBhvr>
                                    </p:animEffect>
                                  </p:childTnLst>
                                </p:cTn>
                              </p:par>
                              <p:par>
                                <p:cTn id="67" presetID="10" presetClass="entr" presetSubtype="0"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500"/>
                                        <p:tgtEl>
                                          <p:spTgt spid="44"/>
                                        </p:tgtEl>
                                      </p:cBhvr>
                                    </p:animEffect>
                                  </p:childTnLst>
                                </p:cTn>
                              </p:par>
                              <p:par>
                                <p:cTn id="70" presetID="10" presetClass="entr" presetSubtype="0" fill="hold" nodeType="with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fade">
                                      <p:cBhvr>
                                        <p:cTn id="72" dur="500"/>
                                        <p:tgtEl>
                                          <p:spTgt spid="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childTnLst>
                                </p:cTn>
                              </p:par>
                              <p:par>
                                <p:cTn id="82" presetID="10" presetClass="entr" presetSubtype="0" fill="hold"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5" grpId="0" animBg="1"/>
      <p:bldP spid="16" grpId="0"/>
      <p:bldP spid="17" grpId="0"/>
      <p:bldP spid="23" grpId="0"/>
      <p:bldP spid="24" grpId="0" animBg="1"/>
      <p:bldP spid="25" grpId="0"/>
      <p:bldP spid="30" grpId="0"/>
      <p:bldP spid="41" grpId="0" animBg="1"/>
      <p:bldP spid="42" grpId="0"/>
      <p:bldP spid="43" grpId="0"/>
      <p:bldP spid="48" grpId="0"/>
      <p:bldP spid="49" grpId="0" animBg="1"/>
      <p:bldP spid="50" grpId="0"/>
      <p:bldP spid="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0D4E2-D833-0A5E-D36E-FAC17F774AB9}"/>
            </a:ext>
          </a:extLst>
        </p:cNvPr>
        <p:cNvGrpSpPr/>
        <p:nvPr/>
      </p:nvGrpSpPr>
      <p:grpSpPr>
        <a:xfrm>
          <a:off x="0" y="0"/>
          <a:ext cx="0" cy="0"/>
          <a:chOff x="0" y="0"/>
          <a:chExt cx="0" cy="0"/>
        </a:xfrm>
      </p:grpSpPr>
      <p:grpSp>
        <p:nvGrpSpPr>
          <p:cNvPr id="31" name="Group 5">
            <a:extLst>
              <a:ext uri="{FF2B5EF4-FFF2-40B4-BE49-F238E27FC236}">
                <a16:creationId xmlns:a16="http://schemas.microsoft.com/office/drawing/2014/main" id="{E3EA8B01-275D-4058-223B-9B57235576AE}"/>
              </a:ext>
            </a:extLst>
          </p:cNvPr>
          <p:cNvGrpSpPr/>
          <p:nvPr/>
        </p:nvGrpSpPr>
        <p:grpSpPr>
          <a:xfrm>
            <a:off x="2604328" y="1516312"/>
            <a:ext cx="1882074" cy="552032"/>
            <a:chOff x="846950" y="3415677"/>
            <a:chExt cx="7576982" cy="2991701"/>
          </a:xfrm>
        </p:grpSpPr>
        <p:sp>
          <p:nvSpPr>
            <p:cNvPr id="32" name="Rectangle: Rounded Corners 8">
              <a:extLst>
                <a:ext uri="{FF2B5EF4-FFF2-40B4-BE49-F238E27FC236}">
                  <a16:creationId xmlns:a16="http://schemas.microsoft.com/office/drawing/2014/main" id="{4A17A15B-53FE-6FA3-DC60-0906C4CB9D13}"/>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33" name="Rectangle: Rounded Corners 11">
              <a:extLst>
                <a:ext uri="{FF2B5EF4-FFF2-40B4-BE49-F238E27FC236}">
                  <a16:creationId xmlns:a16="http://schemas.microsoft.com/office/drawing/2014/main" id="{0AE638CE-1EF4-A5FB-A52C-A9BBBBB2C27E}"/>
                </a:ext>
              </a:extLst>
            </p:cNvPr>
            <p:cNvSpPr/>
            <p:nvPr/>
          </p:nvSpPr>
          <p:spPr>
            <a:xfrm>
              <a:off x="897748" y="3415677"/>
              <a:ext cx="7526184" cy="2991701"/>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2" name="Tekstvak 5" descr="MVX23_Logo_Basislogo_Full_colour_Wit">
            <a:extLst>
              <a:ext uri="{FF2B5EF4-FFF2-40B4-BE49-F238E27FC236}">
                <a16:creationId xmlns:a16="http://schemas.microsoft.com/office/drawing/2014/main" id="{D79C293B-6B14-AB1D-D55F-9788295D4D4C}"/>
              </a:ext>
            </a:extLst>
          </p:cNvPr>
          <p:cNvSpPr txBox="1"/>
          <p:nvPr/>
        </p:nvSpPr>
        <p:spPr>
          <a:xfrm>
            <a:off x="614934" y="464058"/>
            <a:ext cx="7919466" cy="530915"/>
          </a:xfrm>
          <a:prstGeom prst="rect">
            <a:avLst/>
          </a:prstGeom>
          <a:noFill/>
        </p:spPr>
        <p:txBody>
          <a:bodyPr wrap="square" lIns="68580" tIns="34290" rIns="68580" bIns="34290" rtlCol="0" anchor="t">
            <a:spAutoFit/>
          </a:bodyPr>
          <a:lstStyle/>
          <a:p>
            <a:pPr>
              <a:defRPr/>
            </a:pPr>
            <a:r>
              <a:rPr lang="en-US" sz="3000" b="1">
                <a:solidFill>
                  <a:srgbClr val="0D006A"/>
                </a:solidFill>
                <a:latin typeface="Space Grotesk" pitchFamily="2" charset="0"/>
                <a:cs typeface="Space Grotesk" pitchFamily="2" charset="0"/>
              </a:rPr>
              <a:t>Wrap-up: What’s next!</a:t>
            </a:r>
          </a:p>
        </p:txBody>
      </p:sp>
      <p:sp>
        <p:nvSpPr>
          <p:cNvPr id="30" name="Tekstvak 29">
            <a:extLst>
              <a:ext uri="{FF2B5EF4-FFF2-40B4-BE49-F238E27FC236}">
                <a16:creationId xmlns:a16="http://schemas.microsoft.com/office/drawing/2014/main" id="{A191C88A-D05F-3C2E-F515-85FDB9CD515D}"/>
              </a:ext>
            </a:extLst>
          </p:cNvPr>
          <p:cNvSpPr txBox="1"/>
          <p:nvPr/>
        </p:nvSpPr>
        <p:spPr>
          <a:xfrm>
            <a:off x="614934" y="1148412"/>
            <a:ext cx="8038113" cy="248209"/>
          </a:xfrm>
          <a:prstGeom prst="rect">
            <a:avLst/>
          </a:prstGeom>
          <a:noFill/>
        </p:spPr>
        <p:txBody>
          <a:bodyPr wrap="square">
            <a:spAutoFit/>
          </a:bodyPr>
          <a:lstStyle/>
          <a:p>
            <a:r>
              <a:rPr lang="en-US" sz="1013" b="1" err="1">
                <a:solidFill>
                  <a:srgbClr val="0D006A"/>
                </a:solidFill>
                <a:latin typeface="Raleway" pitchFamily="2" charset="0"/>
              </a:rPr>
              <a:t>Catchball</a:t>
            </a:r>
            <a:r>
              <a:rPr lang="en-US" sz="1013" b="1">
                <a:solidFill>
                  <a:srgbClr val="0D006A"/>
                </a:solidFill>
                <a:latin typeface="Raleway" pitchFamily="2" charset="0"/>
              </a:rPr>
              <a:t>: Pitching your A3 Upwards and Sideways</a:t>
            </a:r>
            <a:endParaRPr lang="nl-NL" sz="1013">
              <a:solidFill>
                <a:srgbClr val="0D006A"/>
              </a:solidFill>
              <a:latin typeface="Raleway" pitchFamily="2" charset="0"/>
            </a:endParaRPr>
          </a:p>
        </p:txBody>
      </p:sp>
      <p:grpSp>
        <p:nvGrpSpPr>
          <p:cNvPr id="4" name="Group 69">
            <a:extLst>
              <a:ext uri="{FF2B5EF4-FFF2-40B4-BE49-F238E27FC236}">
                <a16:creationId xmlns:a16="http://schemas.microsoft.com/office/drawing/2014/main" id="{2AAE3EB1-2C10-B6F4-7965-61FF29849E17}"/>
              </a:ext>
            </a:extLst>
          </p:cNvPr>
          <p:cNvGrpSpPr/>
          <p:nvPr/>
        </p:nvGrpSpPr>
        <p:grpSpPr>
          <a:xfrm>
            <a:off x="651205" y="1524917"/>
            <a:ext cx="1789463" cy="548613"/>
            <a:chOff x="846950" y="3429000"/>
            <a:chExt cx="7576982" cy="2969533"/>
          </a:xfrm>
        </p:grpSpPr>
        <p:sp>
          <p:nvSpPr>
            <p:cNvPr id="6" name="Rectangle: Rounded Corners 71">
              <a:extLst>
                <a:ext uri="{FF2B5EF4-FFF2-40B4-BE49-F238E27FC236}">
                  <a16:creationId xmlns:a16="http://schemas.microsoft.com/office/drawing/2014/main" id="{141E81CF-6C74-C97B-6E89-AAD37FFD4E07}"/>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13" name="Rectangle: Rounded Corners 72">
              <a:extLst>
                <a:ext uri="{FF2B5EF4-FFF2-40B4-BE49-F238E27FC236}">
                  <a16:creationId xmlns:a16="http://schemas.microsoft.com/office/drawing/2014/main" id="{14AB78C2-7E15-7635-5B66-E9A53538A635}"/>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28" name="Tekstvak 27">
            <a:extLst>
              <a:ext uri="{FF2B5EF4-FFF2-40B4-BE49-F238E27FC236}">
                <a16:creationId xmlns:a16="http://schemas.microsoft.com/office/drawing/2014/main" id="{B07016DC-BD92-1782-12F8-2586BCF90C8A}"/>
              </a:ext>
            </a:extLst>
          </p:cNvPr>
          <p:cNvSpPr txBox="1"/>
          <p:nvPr/>
        </p:nvSpPr>
        <p:spPr>
          <a:xfrm>
            <a:off x="698100" y="1581057"/>
            <a:ext cx="1742568" cy="450957"/>
          </a:xfrm>
          <a:prstGeom prst="rect">
            <a:avLst/>
          </a:prstGeom>
          <a:noFill/>
        </p:spPr>
        <p:txBody>
          <a:bodyPr wrap="square">
            <a:spAutoFit/>
          </a:bodyPr>
          <a:lstStyle/>
          <a:p>
            <a:pPr lvl="0">
              <a:lnSpc>
                <a:spcPct val="150000"/>
              </a:lnSpc>
            </a:pPr>
            <a:r>
              <a:rPr lang="en-US" sz="825" b="1" noProof="1">
                <a:solidFill>
                  <a:srgbClr val="F79421"/>
                </a:solidFill>
                <a:latin typeface="Raleway" panose="020B0003030101060003" pitchFamily="34" charset="0"/>
              </a:rPr>
              <a:t>How to present your Ambition to sponsors (get buy-in)</a:t>
            </a:r>
          </a:p>
        </p:txBody>
      </p:sp>
      <p:sp>
        <p:nvSpPr>
          <p:cNvPr id="35" name="Tekstvak 34">
            <a:extLst>
              <a:ext uri="{FF2B5EF4-FFF2-40B4-BE49-F238E27FC236}">
                <a16:creationId xmlns:a16="http://schemas.microsoft.com/office/drawing/2014/main" id="{81581166-F035-8644-7F45-BB81E08068B9}"/>
              </a:ext>
            </a:extLst>
          </p:cNvPr>
          <p:cNvSpPr txBox="1"/>
          <p:nvPr/>
        </p:nvSpPr>
        <p:spPr>
          <a:xfrm>
            <a:off x="2643155" y="1580976"/>
            <a:ext cx="1882074" cy="450957"/>
          </a:xfrm>
          <a:prstGeom prst="rect">
            <a:avLst/>
          </a:prstGeom>
          <a:noFill/>
        </p:spPr>
        <p:txBody>
          <a:bodyPr wrap="square">
            <a:spAutoFit/>
          </a:bodyPr>
          <a:lstStyle/>
          <a:p>
            <a:pPr lvl="0">
              <a:lnSpc>
                <a:spcPct val="150000"/>
              </a:lnSpc>
              <a:defRPr/>
            </a:pPr>
            <a:r>
              <a:rPr lang="en-US" sz="825" b="1" noProof="1">
                <a:solidFill>
                  <a:srgbClr val="5400AD"/>
                </a:solidFill>
                <a:latin typeface="Raleway" panose="020B0003030101060003" pitchFamily="34" charset="0"/>
              </a:rPr>
              <a:t>How to align with peers across functions (build support)</a:t>
            </a:r>
          </a:p>
        </p:txBody>
      </p:sp>
      <p:grpSp>
        <p:nvGrpSpPr>
          <p:cNvPr id="36" name="Group 5">
            <a:extLst>
              <a:ext uri="{FF2B5EF4-FFF2-40B4-BE49-F238E27FC236}">
                <a16:creationId xmlns:a16="http://schemas.microsoft.com/office/drawing/2014/main" id="{2BE3ECC8-6F62-BCE9-6BA2-4B78CA2B0D48}"/>
              </a:ext>
            </a:extLst>
          </p:cNvPr>
          <p:cNvGrpSpPr/>
          <p:nvPr/>
        </p:nvGrpSpPr>
        <p:grpSpPr>
          <a:xfrm>
            <a:off x="4572000" y="1516313"/>
            <a:ext cx="1770593" cy="557217"/>
            <a:chOff x="846950" y="3415677"/>
            <a:chExt cx="7576982" cy="2969533"/>
          </a:xfrm>
        </p:grpSpPr>
        <p:sp>
          <p:nvSpPr>
            <p:cNvPr id="37" name="Rectangle: Rounded Corners 8">
              <a:extLst>
                <a:ext uri="{FF2B5EF4-FFF2-40B4-BE49-F238E27FC236}">
                  <a16:creationId xmlns:a16="http://schemas.microsoft.com/office/drawing/2014/main" id="{91496D03-C149-7B47-8F0A-A653D17874FC}"/>
                </a:ext>
              </a:extLst>
            </p:cNvPr>
            <p:cNvSpPr/>
            <p:nvPr/>
          </p:nvSpPr>
          <p:spPr>
            <a:xfrm>
              <a:off x="846950" y="3431396"/>
              <a:ext cx="2589773" cy="2939071"/>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53" name="Rectangle: Rounded Corners 11">
              <a:extLst>
                <a:ext uri="{FF2B5EF4-FFF2-40B4-BE49-F238E27FC236}">
                  <a16:creationId xmlns:a16="http://schemas.microsoft.com/office/drawing/2014/main" id="{2DBA266E-2A2A-DD11-DB22-005A17F4FC5B}"/>
                </a:ext>
              </a:extLst>
            </p:cNvPr>
            <p:cNvSpPr/>
            <p:nvPr/>
          </p:nvSpPr>
          <p:spPr>
            <a:xfrm>
              <a:off x="897748" y="3415677"/>
              <a:ext cx="7526184" cy="2969533"/>
            </a:xfrm>
            <a:prstGeom prst="roundRect">
              <a:avLst>
                <a:gd name="adj" fmla="val 9478"/>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55" name="Tekstvak 54">
            <a:extLst>
              <a:ext uri="{FF2B5EF4-FFF2-40B4-BE49-F238E27FC236}">
                <a16:creationId xmlns:a16="http://schemas.microsoft.com/office/drawing/2014/main" id="{32155932-B5AF-1A2C-6B7A-C06B3552F593}"/>
              </a:ext>
            </a:extLst>
          </p:cNvPr>
          <p:cNvSpPr txBox="1"/>
          <p:nvPr/>
        </p:nvSpPr>
        <p:spPr>
          <a:xfrm>
            <a:off x="4586040" y="1575790"/>
            <a:ext cx="1770593" cy="450957"/>
          </a:xfrm>
          <a:prstGeom prst="rect">
            <a:avLst/>
          </a:prstGeom>
          <a:noFill/>
        </p:spPr>
        <p:txBody>
          <a:bodyPr wrap="square">
            <a:spAutoFit/>
          </a:bodyPr>
          <a:lstStyle/>
          <a:p>
            <a:pPr lvl="0">
              <a:lnSpc>
                <a:spcPct val="150000"/>
              </a:lnSpc>
              <a:defRPr/>
            </a:pPr>
            <a:r>
              <a:rPr lang="en-US" sz="825" b="1" noProof="1">
                <a:solidFill>
                  <a:schemeClr val="accent6">
                    <a:lumMod val="75000"/>
                  </a:schemeClr>
                </a:solidFill>
                <a:latin typeface="Raleway" panose="020B0003030101060003" pitchFamily="34" charset="0"/>
              </a:rPr>
              <a:t>Practice giving and receiving structured feedback</a:t>
            </a:r>
          </a:p>
        </p:txBody>
      </p:sp>
      <p:sp>
        <p:nvSpPr>
          <p:cNvPr id="56" name="Tekstvak 55">
            <a:extLst>
              <a:ext uri="{FF2B5EF4-FFF2-40B4-BE49-F238E27FC236}">
                <a16:creationId xmlns:a16="http://schemas.microsoft.com/office/drawing/2014/main" id="{ECFB993B-6FCF-A1B1-5192-77E5D4C6260F}"/>
              </a:ext>
            </a:extLst>
          </p:cNvPr>
          <p:cNvSpPr txBox="1"/>
          <p:nvPr/>
        </p:nvSpPr>
        <p:spPr>
          <a:xfrm>
            <a:off x="614934" y="2229094"/>
            <a:ext cx="8038113" cy="248209"/>
          </a:xfrm>
          <a:prstGeom prst="rect">
            <a:avLst/>
          </a:prstGeom>
          <a:noFill/>
        </p:spPr>
        <p:txBody>
          <a:bodyPr wrap="square">
            <a:spAutoFit/>
          </a:bodyPr>
          <a:lstStyle/>
          <a:p>
            <a:r>
              <a:rPr lang="en-US" sz="1013" b="1">
                <a:solidFill>
                  <a:srgbClr val="0D006A"/>
                </a:solidFill>
                <a:latin typeface="Raleway" pitchFamily="2" charset="0"/>
              </a:rPr>
              <a:t>A3 as a conversational tool, not a report</a:t>
            </a:r>
            <a:endParaRPr lang="nl-NL" sz="1013">
              <a:solidFill>
                <a:srgbClr val="0D006A"/>
              </a:solidFill>
              <a:latin typeface="Raleway" pitchFamily="2" charset="0"/>
            </a:endParaRPr>
          </a:p>
        </p:txBody>
      </p:sp>
      <p:grpSp>
        <p:nvGrpSpPr>
          <p:cNvPr id="58" name="Group 69">
            <a:extLst>
              <a:ext uri="{FF2B5EF4-FFF2-40B4-BE49-F238E27FC236}">
                <a16:creationId xmlns:a16="http://schemas.microsoft.com/office/drawing/2014/main" id="{211DAC15-B4CD-0B8C-8C47-9365AE146EEE}"/>
              </a:ext>
            </a:extLst>
          </p:cNvPr>
          <p:cNvGrpSpPr/>
          <p:nvPr/>
        </p:nvGrpSpPr>
        <p:grpSpPr>
          <a:xfrm>
            <a:off x="651205" y="2605598"/>
            <a:ext cx="1789463" cy="548613"/>
            <a:chOff x="846950" y="3429000"/>
            <a:chExt cx="7576982" cy="2969533"/>
          </a:xfrm>
        </p:grpSpPr>
        <p:sp>
          <p:nvSpPr>
            <p:cNvPr id="59" name="Rectangle: Rounded Corners 71">
              <a:extLst>
                <a:ext uri="{FF2B5EF4-FFF2-40B4-BE49-F238E27FC236}">
                  <a16:creationId xmlns:a16="http://schemas.microsoft.com/office/drawing/2014/main" id="{8A6115DB-3934-5F4A-5CD3-5BE992F08823}"/>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sp>
          <p:nvSpPr>
            <p:cNvPr id="60" name="Rectangle: Rounded Corners 72">
              <a:extLst>
                <a:ext uri="{FF2B5EF4-FFF2-40B4-BE49-F238E27FC236}">
                  <a16:creationId xmlns:a16="http://schemas.microsoft.com/office/drawing/2014/main" id="{7AC8C518-73ED-FC68-1441-3EB747A67F33}"/>
                </a:ext>
              </a:extLst>
            </p:cNvPr>
            <p:cNvSpPr/>
            <p:nvPr/>
          </p:nvSpPr>
          <p:spPr>
            <a:xfrm>
              <a:off x="897749" y="3429000"/>
              <a:ext cx="7526183" cy="2969533"/>
            </a:xfrm>
            <a:prstGeom prst="roundRect">
              <a:avLst>
                <a:gd name="adj" fmla="val 837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noProof="1">
                <a:solidFill>
                  <a:prstClr val="white"/>
                </a:solidFill>
                <a:latin typeface="Calibri" panose="020F0502020204030204"/>
              </a:endParaRPr>
            </a:p>
          </p:txBody>
        </p:sp>
      </p:grpSp>
      <p:sp>
        <p:nvSpPr>
          <p:cNvPr id="61" name="Tekstvak 60">
            <a:extLst>
              <a:ext uri="{FF2B5EF4-FFF2-40B4-BE49-F238E27FC236}">
                <a16:creationId xmlns:a16="http://schemas.microsoft.com/office/drawing/2014/main" id="{BED015C5-CB30-2498-957B-AF89BA750512}"/>
              </a:ext>
            </a:extLst>
          </p:cNvPr>
          <p:cNvSpPr txBox="1"/>
          <p:nvPr/>
        </p:nvSpPr>
        <p:spPr>
          <a:xfrm>
            <a:off x="698100" y="2661739"/>
            <a:ext cx="1742568" cy="450957"/>
          </a:xfrm>
          <a:prstGeom prst="rect">
            <a:avLst/>
          </a:prstGeom>
          <a:noFill/>
        </p:spPr>
        <p:txBody>
          <a:bodyPr wrap="square">
            <a:spAutoFit/>
          </a:bodyPr>
          <a:lstStyle/>
          <a:p>
            <a:pPr lvl="0">
              <a:lnSpc>
                <a:spcPct val="150000"/>
              </a:lnSpc>
            </a:pPr>
            <a:r>
              <a:rPr lang="en-US" sz="825" b="1" noProof="1">
                <a:solidFill>
                  <a:srgbClr val="F79421"/>
                </a:solidFill>
                <a:latin typeface="Raleway" panose="020B0003030101060003" pitchFamily="34" charset="0"/>
              </a:rPr>
              <a:t>Your A3 is how you test thinking and build alignment</a:t>
            </a:r>
          </a:p>
        </p:txBody>
      </p:sp>
      <p:grpSp>
        <p:nvGrpSpPr>
          <p:cNvPr id="62" name="Group 5">
            <a:extLst>
              <a:ext uri="{FF2B5EF4-FFF2-40B4-BE49-F238E27FC236}">
                <a16:creationId xmlns:a16="http://schemas.microsoft.com/office/drawing/2014/main" id="{983F70E0-0F65-7C2E-E4B5-995A462BF32D}"/>
              </a:ext>
            </a:extLst>
          </p:cNvPr>
          <p:cNvGrpSpPr/>
          <p:nvPr/>
        </p:nvGrpSpPr>
        <p:grpSpPr>
          <a:xfrm>
            <a:off x="2604328" y="2596994"/>
            <a:ext cx="1882074" cy="552032"/>
            <a:chOff x="846950" y="3415677"/>
            <a:chExt cx="7576982" cy="2991701"/>
          </a:xfrm>
        </p:grpSpPr>
        <p:sp>
          <p:nvSpPr>
            <p:cNvPr id="63" name="Rectangle: Rounded Corners 8">
              <a:extLst>
                <a:ext uri="{FF2B5EF4-FFF2-40B4-BE49-F238E27FC236}">
                  <a16:creationId xmlns:a16="http://schemas.microsoft.com/office/drawing/2014/main" id="{3CACD2B9-39A1-8761-BA93-BC752EBDFD71}"/>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sp>
          <p:nvSpPr>
            <p:cNvPr id="64" name="Rectangle: Rounded Corners 11">
              <a:extLst>
                <a:ext uri="{FF2B5EF4-FFF2-40B4-BE49-F238E27FC236}">
                  <a16:creationId xmlns:a16="http://schemas.microsoft.com/office/drawing/2014/main" id="{72D58806-2D99-20F4-C936-EA208EB19D9E}"/>
                </a:ext>
              </a:extLst>
            </p:cNvPr>
            <p:cNvSpPr/>
            <p:nvPr/>
          </p:nvSpPr>
          <p:spPr>
            <a:xfrm>
              <a:off x="897748" y="3415677"/>
              <a:ext cx="7526184" cy="2991701"/>
            </a:xfrm>
            <a:prstGeom prst="roundRect">
              <a:avLst>
                <a:gd name="adj" fmla="val 9478"/>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800" noProof="1">
                <a:solidFill>
                  <a:prstClr val="white"/>
                </a:solidFill>
                <a:latin typeface="Calibri" panose="020F0502020204030204"/>
              </a:endParaRPr>
            </a:p>
          </p:txBody>
        </p:sp>
      </p:grpSp>
      <p:sp>
        <p:nvSpPr>
          <p:cNvPr id="65" name="Tekstvak 64">
            <a:extLst>
              <a:ext uri="{FF2B5EF4-FFF2-40B4-BE49-F238E27FC236}">
                <a16:creationId xmlns:a16="http://schemas.microsoft.com/office/drawing/2014/main" id="{0D509AFD-4622-D357-BB44-7D2AF051E114}"/>
              </a:ext>
            </a:extLst>
          </p:cNvPr>
          <p:cNvSpPr txBox="1"/>
          <p:nvPr/>
        </p:nvSpPr>
        <p:spPr>
          <a:xfrm>
            <a:off x="2643155" y="2661657"/>
            <a:ext cx="1882074" cy="450957"/>
          </a:xfrm>
          <a:prstGeom prst="rect">
            <a:avLst/>
          </a:prstGeom>
          <a:noFill/>
        </p:spPr>
        <p:txBody>
          <a:bodyPr wrap="square">
            <a:spAutoFit/>
          </a:bodyPr>
          <a:lstStyle/>
          <a:p>
            <a:pPr lvl="0">
              <a:lnSpc>
                <a:spcPct val="150000"/>
              </a:lnSpc>
              <a:defRPr/>
            </a:pPr>
            <a:r>
              <a:rPr lang="en-US" sz="825" b="1" noProof="1">
                <a:solidFill>
                  <a:srgbClr val="5400AD"/>
                </a:solidFill>
                <a:latin typeface="Raleway" panose="020B0003030101060003" pitchFamily="34" charset="0"/>
              </a:rPr>
              <a:t>You'll learn how to walk someone through it</a:t>
            </a:r>
          </a:p>
        </p:txBody>
      </p:sp>
      <p:sp>
        <p:nvSpPr>
          <p:cNvPr id="70" name="Tekstvak 69">
            <a:extLst>
              <a:ext uri="{FF2B5EF4-FFF2-40B4-BE49-F238E27FC236}">
                <a16:creationId xmlns:a16="http://schemas.microsoft.com/office/drawing/2014/main" id="{FFCEB789-BF45-29A7-F469-1B98FDE366B4}"/>
              </a:ext>
            </a:extLst>
          </p:cNvPr>
          <p:cNvSpPr txBox="1"/>
          <p:nvPr/>
        </p:nvSpPr>
        <p:spPr>
          <a:xfrm>
            <a:off x="614934" y="3309776"/>
            <a:ext cx="7008876" cy="369332"/>
          </a:xfrm>
          <a:prstGeom prst="rect">
            <a:avLst/>
          </a:prstGeom>
          <a:noFill/>
        </p:spPr>
        <p:txBody>
          <a:bodyPr wrap="square">
            <a:spAutoFit/>
          </a:bodyPr>
          <a:lstStyle/>
          <a:p>
            <a:r>
              <a:rPr lang="en-US" sz="1800" b="1">
                <a:solidFill>
                  <a:srgbClr val="0D006A"/>
                </a:solidFill>
                <a:latin typeface="Raleway" pitchFamily="2" charset="0"/>
              </a:rPr>
              <a:t>Homework for the next session (18</a:t>
            </a:r>
            <a:r>
              <a:rPr lang="en-US" sz="1800" b="1" baseline="30000">
                <a:solidFill>
                  <a:srgbClr val="0D006A"/>
                </a:solidFill>
                <a:latin typeface="Raleway" pitchFamily="2" charset="0"/>
              </a:rPr>
              <a:t>th</a:t>
            </a:r>
            <a:r>
              <a:rPr lang="en-US" sz="1800" b="1">
                <a:solidFill>
                  <a:srgbClr val="0D006A"/>
                </a:solidFill>
                <a:latin typeface="Raleway" pitchFamily="2" charset="0"/>
              </a:rPr>
              <a:t> of </a:t>
            </a:r>
            <a:r>
              <a:rPr lang="en-US" sz="1800" b="1" err="1">
                <a:solidFill>
                  <a:srgbClr val="0D006A"/>
                </a:solidFill>
                <a:latin typeface="Raleway" pitchFamily="2" charset="0"/>
              </a:rPr>
              <a:t>june</a:t>
            </a:r>
            <a:r>
              <a:rPr lang="en-US" sz="1800" b="1">
                <a:solidFill>
                  <a:srgbClr val="0D006A"/>
                </a:solidFill>
                <a:latin typeface="Raleway" pitchFamily="2" charset="0"/>
              </a:rPr>
              <a:t>)</a:t>
            </a:r>
            <a:endParaRPr lang="nl-NL" sz="1800" b="1">
              <a:solidFill>
                <a:srgbClr val="0D006A"/>
              </a:solidFill>
              <a:latin typeface="Raleway" pitchFamily="2" charset="0"/>
            </a:endParaRPr>
          </a:p>
        </p:txBody>
      </p:sp>
      <p:sp>
        <p:nvSpPr>
          <p:cNvPr id="71" name="Tekstvak 70">
            <a:extLst>
              <a:ext uri="{FF2B5EF4-FFF2-40B4-BE49-F238E27FC236}">
                <a16:creationId xmlns:a16="http://schemas.microsoft.com/office/drawing/2014/main" id="{B747CA32-4C80-6FEC-5F7D-B84A009C3ED6}"/>
              </a:ext>
            </a:extLst>
          </p:cNvPr>
          <p:cNvSpPr txBox="1"/>
          <p:nvPr/>
        </p:nvSpPr>
        <p:spPr>
          <a:xfrm>
            <a:off x="639501" y="3708396"/>
            <a:ext cx="5717132" cy="692754"/>
          </a:xfrm>
          <a:prstGeom prst="rect">
            <a:avLst/>
          </a:prstGeom>
          <a:noFill/>
        </p:spPr>
        <p:txBody>
          <a:bodyPr wrap="square" lIns="68580" tIns="34290" rIns="68580" bIns="34290" anchor="t">
            <a:spAutoFit/>
          </a:bodyPr>
          <a:lstStyle/>
          <a:p>
            <a:pPr marL="257175" indent="-257175">
              <a:buFont typeface="+mj-lt"/>
              <a:buAutoNum type="arabicPeriod"/>
            </a:pPr>
            <a:r>
              <a:rPr lang="en-US" sz="1013">
                <a:solidFill>
                  <a:srgbClr val="002060"/>
                </a:solidFill>
                <a:latin typeface="Raleway"/>
              </a:rPr>
              <a:t>Finish the Ambition / Problem  and KPI Quadrants;</a:t>
            </a:r>
          </a:p>
          <a:p>
            <a:pPr marL="257175" indent="-257175">
              <a:buFont typeface="+mj-lt"/>
              <a:buAutoNum type="arabicPeriod"/>
            </a:pPr>
            <a:r>
              <a:rPr lang="en-US" sz="1013">
                <a:solidFill>
                  <a:srgbClr val="002060"/>
                </a:solidFill>
                <a:latin typeface="Raleway" pitchFamily="2" charset="0"/>
              </a:rPr>
              <a:t>Have a dialogue with your Sponsor(s) about the parts that are unclear and update your A3 with the answers;</a:t>
            </a:r>
          </a:p>
          <a:p>
            <a:pPr marL="257175" indent="-257175">
              <a:buFont typeface="+mj-lt"/>
              <a:buAutoNum type="arabicPeriod"/>
            </a:pPr>
            <a:r>
              <a:rPr lang="en-US" sz="1013">
                <a:solidFill>
                  <a:srgbClr val="002060"/>
                </a:solidFill>
                <a:latin typeface="Raleway" pitchFamily="2" charset="0"/>
              </a:rPr>
              <a:t>Bring your A3 version 0.2 to the next session.</a:t>
            </a:r>
            <a:endParaRPr lang="nl-NL" sz="1013">
              <a:solidFill>
                <a:srgbClr val="002060"/>
              </a:solidFill>
              <a:latin typeface="Raleway" pitchFamily="2" charset="0"/>
            </a:endParaRPr>
          </a:p>
        </p:txBody>
      </p:sp>
    </p:spTree>
    <p:extLst>
      <p:ext uri="{BB962C8B-B14F-4D97-AF65-F5344CB8AC3E}">
        <p14:creationId xmlns:p14="http://schemas.microsoft.com/office/powerpoint/2010/main" val="174588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500"/>
                                        <p:tgtEl>
                                          <p:spTgt spid="56"/>
                                        </p:tgtEl>
                                      </p:cBhvr>
                                    </p:animEffect>
                                  </p:childTnLst>
                                </p:cTn>
                              </p:par>
                              <p:par>
                                <p:cTn id="31" presetID="10"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500"/>
                                        <p:tgtEl>
                                          <p:spTgt spid="5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childTnLst>
                                </p:cTn>
                              </p:par>
                              <p:par>
                                <p:cTn id="37" presetID="10" presetClass="entr" presetSubtype="0" fill="hold"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500"/>
                                        <p:tgtEl>
                                          <p:spTgt spid="6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28" grpId="0"/>
      <p:bldP spid="35" grpId="0"/>
      <p:bldP spid="55" grpId="0"/>
      <p:bldP spid="56" grpId="0"/>
      <p:bldP spid="61" grpId="0"/>
      <p:bldP spid="65" grpId="0"/>
      <p:bldP spid="70" grpId="0"/>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54870-4FA1-1F57-5218-A45DEEDFCCF5}"/>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C99375B0-7BE0-AABE-5B4D-AD308C24C266}"/>
              </a:ext>
            </a:extLst>
          </p:cNvPr>
          <p:cNvGrpSpPr/>
          <p:nvPr/>
        </p:nvGrpSpPr>
        <p:grpSpPr>
          <a:xfrm>
            <a:off x="622678" y="3655041"/>
            <a:ext cx="7892671" cy="1012341"/>
            <a:chOff x="846950" y="3429000"/>
            <a:chExt cx="15341553" cy="2969533"/>
          </a:xfrm>
        </p:grpSpPr>
        <p:sp>
          <p:nvSpPr>
            <p:cNvPr id="101" name="Rectangle: Rounded Corners 100">
              <a:extLst>
                <a:ext uri="{FF2B5EF4-FFF2-40B4-BE49-F238E27FC236}">
                  <a16:creationId xmlns:a16="http://schemas.microsoft.com/office/drawing/2014/main" id="{6DD4A105-B01D-F8AA-16C3-B9DC22E81A5C}"/>
                </a:ext>
              </a:extLst>
            </p:cNvPr>
            <p:cNvSpPr/>
            <p:nvPr/>
          </p:nvSpPr>
          <p:spPr>
            <a:xfrm>
              <a:off x="846950" y="3431396"/>
              <a:ext cx="2589773" cy="293907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u="sng" noProof="1"/>
            </a:p>
          </p:txBody>
        </p:sp>
        <p:sp>
          <p:nvSpPr>
            <p:cNvPr id="102" name="Rectangle: Rounded Corners 101">
              <a:extLst>
                <a:ext uri="{FF2B5EF4-FFF2-40B4-BE49-F238E27FC236}">
                  <a16:creationId xmlns:a16="http://schemas.microsoft.com/office/drawing/2014/main" id="{6C9D0C6E-198C-DF93-E902-5D7712ED4DE7}"/>
                </a:ext>
              </a:extLst>
            </p:cNvPr>
            <p:cNvSpPr/>
            <p:nvPr/>
          </p:nvSpPr>
          <p:spPr>
            <a:xfrm>
              <a:off x="897749" y="3429000"/>
              <a:ext cx="15290754" cy="2969533"/>
            </a:xfrm>
            <a:prstGeom prst="roundRect">
              <a:avLst/>
            </a:prstGeom>
            <a:solidFill>
              <a:srgbClr val="C7C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u="sng" noProof="1"/>
            </a:p>
          </p:txBody>
        </p:sp>
      </p:grpSp>
      <p:sp>
        <p:nvSpPr>
          <p:cNvPr id="52" name="Tekstvak 5" descr="MVX23_Logo_Basislogo_Full_colour_Wit">
            <a:extLst>
              <a:ext uri="{FF2B5EF4-FFF2-40B4-BE49-F238E27FC236}">
                <a16:creationId xmlns:a16="http://schemas.microsoft.com/office/drawing/2014/main" id="{677B568B-1F19-CEA0-F1AC-DBDC12C1AA1D}"/>
              </a:ext>
            </a:extLst>
          </p:cNvPr>
          <p:cNvSpPr txBox="1"/>
          <p:nvPr/>
        </p:nvSpPr>
        <p:spPr>
          <a:xfrm>
            <a:off x="635213" y="47000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Key takeaways for today </a:t>
            </a:r>
            <a:endParaRPr lang="en-US" sz="3300" b="1" noProof="1">
              <a:solidFill>
                <a:srgbClr val="0D006A"/>
              </a:solidFill>
              <a:latin typeface="Space Grotesk" pitchFamily="2" charset="0"/>
              <a:cs typeface="Space Grotesk" pitchFamily="2" charset="0"/>
            </a:endParaRPr>
          </a:p>
        </p:txBody>
      </p:sp>
      <p:grpSp>
        <p:nvGrpSpPr>
          <p:cNvPr id="3" name="Group 2">
            <a:extLst>
              <a:ext uri="{FF2B5EF4-FFF2-40B4-BE49-F238E27FC236}">
                <a16:creationId xmlns:a16="http://schemas.microsoft.com/office/drawing/2014/main" id="{05DEBE59-D64F-6F2D-06AE-8F527196BC25}"/>
              </a:ext>
            </a:extLst>
          </p:cNvPr>
          <p:cNvGrpSpPr/>
          <p:nvPr/>
        </p:nvGrpSpPr>
        <p:grpSpPr>
          <a:xfrm>
            <a:off x="622678" y="1229338"/>
            <a:ext cx="3881386" cy="1012340"/>
            <a:chOff x="326250" y="3429000"/>
            <a:chExt cx="7576982" cy="2969533"/>
          </a:xfrm>
        </p:grpSpPr>
        <p:grpSp>
          <p:nvGrpSpPr>
            <p:cNvPr id="6" name="Group 5">
              <a:extLst>
                <a:ext uri="{FF2B5EF4-FFF2-40B4-BE49-F238E27FC236}">
                  <a16:creationId xmlns:a16="http://schemas.microsoft.com/office/drawing/2014/main" id="{A261B943-39CE-E2C3-E518-77FC069AC8DE}"/>
                </a:ext>
              </a:extLst>
            </p:cNvPr>
            <p:cNvGrpSpPr/>
            <p:nvPr/>
          </p:nvGrpSpPr>
          <p:grpSpPr>
            <a:xfrm>
              <a:off x="326250" y="3429000"/>
              <a:ext cx="7576982" cy="2969533"/>
              <a:chOff x="846950" y="3429000"/>
              <a:chExt cx="7576982" cy="2969533"/>
            </a:xfrm>
          </p:grpSpPr>
          <p:sp>
            <p:nvSpPr>
              <p:cNvPr id="9" name="Rectangle: Rounded Corners 8">
                <a:extLst>
                  <a:ext uri="{FF2B5EF4-FFF2-40B4-BE49-F238E27FC236}">
                    <a16:creationId xmlns:a16="http://schemas.microsoft.com/office/drawing/2014/main" id="{898055E2-6AA1-0778-9DC8-6F77B9A3820B}"/>
                  </a:ext>
                </a:extLst>
              </p:cNvPr>
              <p:cNvSpPr/>
              <p:nvPr/>
            </p:nvSpPr>
            <p:spPr>
              <a:xfrm>
                <a:off x="846950" y="3431396"/>
                <a:ext cx="2589773" cy="2939071"/>
              </a:xfrm>
              <a:prstGeom prst="roundRect">
                <a:avLst/>
              </a:prstGeom>
              <a:solidFill>
                <a:srgbClr val="5400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12" name="Rectangle: Rounded Corners 11">
                <a:extLst>
                  <a:ext uri="{FF2B5EF4-FFF2-40B4-BE49-F238E27FC236}">
                    <a16:creationId xmlns:a16="http://schemas.microsoft.com/office/drawing/2014/main" id="{E43C82CB-B8A3-912B-B0A1-A33AEFA028BD}"/>
                  </a:ext>
                </a:extLst>
              </p:cNvPr>
              <p:cNvSpPr/>
              <p:nvPr/>
            </p:nvSpPr>
            <p:spPr>
              <a:xfrm>
                <a:off x="897749" y="3429000"/>
                <a:ext cx="7526183" cy="2969533"/>
              </a:xfrm>
              <a:prstGeom prst="roundRect">
                <a:avLst/>
              </a:prstGeom>
              <a:solidFill>
                <a:srgbClr val="C6C6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8" name="TextBox 7">
              <a:extLst>
                <a:ext uri="{FF2B5EF4-FFF2-40B4-BE49-F238E27FC236}">
                  <a16:creationId xmlns:a16="http://schemas.microsoft.com/office/drawing/2014/main" id="{ABD9E415-F4ED-D518-9C4B-FEBF1FB615AD}"/>
                </a:ext>
              </a:extLst>
            </p:cNvPr>
            <p:cNvSpPr txBox="1"/>
            <p:nvPr/>
          </p:nvSpPr>
          <p:spPr>
            <a:xfrm>
              <a:off x="1396761" y="3696209"/>
              <a:ext cx="6175364" cy="2590132"/>
            </a:xfrm>
            <a:prstGeom prst="rect">
              <a:avLst/>
            </a:prstGeom>
            <a:noFill/>
          </p:spPr>
          <p:txBody>
            <a:bodyPr wrap="square" rtlCol="0">
              <a:spAutoFit/>
            </a:bodyPr>
            <a:lstStyle/>
            <a:p>
              <a:r>
                <a:rPr lang="en-US" sz="1013" b="1" noProof="1">
                  <a:solidFill>
                    <a:srgbClr val="5400AD"/>
                  </a:solidFill>
                  <a:latin typeface="Space Grotesk" pitchFamily="2" charset="0"/>
                  <a:cs typeface="Space Grotesk" pitchFamily="2" charset="0"/>
                </a:rPr>
                <a:t>DISCOVER </a:t>
              </a:r>
            </a:p>
            <a:p>
              <a:r>
                <a:rPr lang="en-US" sz="900" b="1" noProof="1">
                  <a:latin typeface="Space Grotesk" pitchFamily="2" charset="0"/>
                  <a:cs typeface="Space Grotesk" pitchFamily="2" charset="0"/>
                </a:rPr>
                <a:t>Spot AI opportunities in business processes</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Recognise where AI can streamline workflows, reduce repetitive work, and support operational efficiency — and where human involvement remains essential.</a:t>
              </a:r>
            </a:p>
          </p:txBody>
        </p:sp>
      </p:grpSp>
      <p:grpSp>
        <p:nvGrpSpPr>
          <p:cNvPr id="28" name="Group 27">
            <a:extLst>
              <a:ext uri="{FF2B5EF4-FFF2-40B4-BE49-F238E27FC236}">
                <a16:creationId xmlns:a16="http://schemas.microsoft.com/office/drawing/2014/main" id="{6180148D-0866-F817-8BB8-73FF943F63B7}"/>
              </a:ext>
            </a:extLst>
          </p:cNvPr>
          <p:cNvGrpSpPr/>
          <p:nvPr/>
        </p:nvGrpSpPr>
        <p:grpSpPr>
          <a:xfrm>
            <a:off x="4637350" y="1229528"/>
            <a:ext cx="3881387" cy="1012341"/>
            <a:chOff x="846950" y="3429000"/>
            <a:chExt cx="7576982" cy="2969533"/>
          </a:xfrm>
          <a:solidFill>
            <a:srgbClr val="DBD5C8"/>
          </a:solidFill>
        </p:grpSpPr>
        <p:sp>
          <p:nvSpPr>
            <p:cNvPr id="34" name="Rectangle: Rounded Corners 33">
              <a:extLst>
                <a:ext uri="{FF2B5EF4-FFF2-40B4-BE49-F238E27FC236}">
                  <a16:creationId xmlns:a16="http://schemas.microsoft.com/office/drawing/2014/main" id="{854390C6-2877-2F5B-4E73-987D436CE8B8}"/>
                </a:ext>
              </a:extLst>
            </p:cNvPr>
            <p:cNvSpPr/>
            <p:nvPr/>
          </p:nvSpPr>
          <p:spPr>
            <a:xfrm>
              <a:off x="846950" y="3431396"/>
              <a:ext cx="2589773" cy="293907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35" name="Rectangle: Rounded Corners 34">
              <a:extLst>
                <a:ext uri="{FF2B5EF4-FFF2-40B4-BE49-F238E27FC236}">
                  <a16:creationId xmlns:a16="http://schemas.microsoft.com/office/drawing/2014/main" id="{16033FC9-301B-EF8B-22A1-418C8A53BB69}"/>
                </a:ext>
              </a:extLst>
            </p:cNvPr>
            <p:cNvSpPr/>
            <p:nvPr/>
          </p:nvSpPr>
          <p:spPr>
            <a:xfrm>
              <a:off x="897749" y="3429000"/>
              <a:ext cx="7526183" cy="2969533"/>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0" name="Group 69">
            <a:extLst>
              <a:ext uri="{FF2B5EF4-FFF2-40B4-BE49-F238E27FC236}">
                <a16:creationId xmlns:a16="http://schemas.microsoft.com/office/drawing/2014/main" id="{DE005840-C849-6AFF-61C3-D04A7FFA7177}"/>
              </a:ext>
            </a:extLst>
          </p:cNvPr>
          <p:cNvGrpSpPr/>
          <p:nvPr/>
        </p:nvGrpSpPr>
        <p:grpSpPr>
          <a:xfrm>
            <a:off x="628650" y="2395379"/>
            <a:ext cx="3881387" cy="1012341"/>
            <a:chOff x="846950" y="3429000"/>
            <a:chExt cx="7576982" cy="2969533"/>
          </a:xfrm>
        </p:grpSpPr>
        <p:sp>
          <p:nvSpPr>
            <p:cNvPr id="72" name="Rectangle: Rounded Corners 71">
              <a:extLst>
                <a:ext uri="{FF2B5EF4-FFF2-40B4-BE49-F238E27FC236}">
                  <a16:creationId xmlns:a16="http://schemas.microsoft.com/office/drawing/2014/main" id="{329EEC90-CD5F-B2DC-CAA2-8DFB39D5B548}"/>
                </a:ext>
              </a:extLst>
            </p:cNvPr>
            <p:cNvSpPr/>
            <p:nvPr/>
          </p:nvSpPr>
          <p:spPr>
            <a:xfrm>
              <a:off x="846950" y="3431396"/>
              <a:ext cx="2589773" cy="2939071"/>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3" name="Rectangle: Rounded Corners 72">
              <a:extLst>
                <a:ext uri="{FF2B5EF4-FFF2-40B4-BE49-F238E27FC236}">
                  <a16:creationId xmlns:a16="http://schemas.microsoft.com/office/drawing/2014/main" id="{B94B0943-113E-6AF5-D637-F7A91DB43009}"/>
                </a:ext>
              </a:extLst>
            </p:cNvPr>
            <p:cNvSpPr/>
            <p:nvPr/>
          </p:nvSpPr>
          <p:spPr>
            <a:xfrm>
              <a:off x="897749" y="3429000"/>
              <a:ext cx="7526183" cy="2969533"/>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grpSp>
        <p:nvGrpSpPr>
          <p:cNvPr id="75" name="Group 74">
            <a:extLst>
              <a:ext uri="{FF2B5EF4-FFF2-40B4-BE49-F238E27FC236}">
                <a16:creationId xmlns:a16="http://schemas.microsoft.com/office/drawing/2014/main" id="{B618A4C8-808C-3046-6347-CD300C73F6FD}"/>
              </a:ext>
            </a:extLst>
          </p:cNvPr>
          <p:cNvGrpSpPr/>
          <p:nvPr/>
        </p:nvGrpSpPr>
        <p:grpSpPr>
          <a:xfrm>
            <a:off x="4663862" y="2395379"/>
            <a:ext cx="3881387" cy="1012341"/>
            <a:chOff x="846950" y="3429000"/>
            <a:chExt cx="7576982" cy="2969533"/>
          </a:xfrm>
        </p:grpSpPr>
        <p:sp>
          <p:nvSpPr>
            <p:cNvPr id="77" name="Rectangle: Rounded Corners 76">
              <a:extLst>
                <a:ext uri="{FF2B5EF4-FFF2-40B4-BE49-F238E27FC236}">
                  <a16:creationId xmlns:a16="http://schemas.microsoft.com/office/drawing/2014/main" id="{90E8AE3E-D6BB-A2CB-AA0A-8032F4E53CB6}"/>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sp>
          <p:nvSpPr>
            <p:cNvPr id="78" name="Rectangle: Rounded Corners 77">
              <a:extLst>
                <a:ext uri="{FF2B5EF4-FFF2-40B4-BE49-F238E27FC236}">
                  <a16:creationId xmlns:a16="http://schemas.microsoft.com/office/drawing/2014/main" id="{4A51B880-E173-EA31-FFB6-FA664863AF80}"/>
                </a:ext>
              </a:extLst>
            </p:cNvPr>
            <p:cNvSpPr/>
            <p:nvPr/>
          </p:nvSpPr>
          <p:spPr>
            <a:xfrm>
              <a:off x="897749" y="3429000"/>
              <a:ext cx="7526183" cy="2969533"/>
            </a:xfrm>
            <a:prstGeom prst="roundRect">
              <a:avLst/>
            </a:prstGeom>
            <a:solidFill>
              <a:srgbClr val="D6C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noProof="1"/>
            </a:p>
          </p:txBody>
        </p:sp>
      </p:grpSp>
      <p:sp>
        <p:nvSpPr>
          <p:cNvPr id="84" name="Oval 83">
            <a:extLst>
              <a:ext uri="{FF2B5EF4-FFF2-40B4-BE49-F238E27FC236}">
                <a16:creationId xmlns:a16="http://schemas.microsoft.com/office/drawing/2014/main" id="{6450EB7F-80FD-4091-2993-FD550077F790}"/>
              </a:ext>
            </a:extLst>
          </p:cNvPr>
          <p:cNvSpPr/>
          <p:nvPr/>
        </p:nvSpPr>
        <p:spPr>
          <a:xfrm>
            <a:off x="733452" y="1340420"/>
            <a:ext cx="392726" cy="403947"/>
          </a:xfrm>
          <a:prstGeom prst="ellipse">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latin typeface="Space Grotesk" pitchFamily="2" charset="0"/>
                <a:cs typeface="Space Grotesk" pitchFamily="2" charset="0"/>
              </a:rPr>
              <a:t>1</a:t>
            </a:r>
          </a:p>
        </p:txBody>
      </p:sp>
      <p:sp>
        <p:nvSpPr>
          <p:cNvPr id="85" name="Oval 84">
            <a:extLst>
              <a:ext uri="{FF2B5EF4-FFF2-40B4-BE49-F238E27FC236}">
                <a16:creationId xmlns:a16="http://schemas.microsoft.com/office/drawing/2014/main" id="{CF169B3E-55E6-347F-4A64-53DED49BEEA6}"/>
              </a:ext>
            </a:extLst>
          </p:cNvPr>
          <p:cNvSpPr/>
          <p:nvPr/>
        </p:nvSpPr>
        <p:spPr>
          <a:xfrm>
            <a:off x="4774657" y="2511651"/>
            <a:ext cx="392726" cy="403947"/>
          </a:xfrm>
          <a:prstGeom prst="ellipse">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4</a:t>
            </a:r>
            <a:endParaRPr lang="en-US" sz="900" b="1" noProof="1"/>
          </a:p>
        </p:txBody>
      </p:sp>
      <p:sp>
        <p:nvSpPr>
          <p:cNvPr id="86" name="Oval 85">
            <a:extLst>
              <a:ext uri="{FF2B5EF4-FFF2-40B4-BE49-F238E27FC236}">
                <a16:creationId xmlns:a16="http://schemas.microsoft.com/office/drawing/2014/main" id="{6F72B518-B754-F589-FAFD-AF4A8C8F3DCB}"/>
              </a:ext>
            </a:extLst>
          </p:cNvPr>
          <p:cNvSpPr/>
          <p:nvPr/>
        </p:nvSpPr>
        <p:spPr>
          <a:xfrm>
            <a:off x="4774657" y="1357972"/>
            <a:ext cx="392726" cy="403947"/>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2</a:t>
            </a:r>
            <a:endParaRPr lang="en-US" sz="900" b="1" noProof="1"/>
          </a:p>
        </p:txBody>
      </p:sp>
      <p:sp>
        <p:nvSpPr>
          <p:cNvPr id="87" name="Oval 86">
            <a:extLst>
              <a:ext uri="{FF2B5EF4-FFF2-40B4-BE49-F238E27FC236}">
                <a16:creationId xmlns:a16="http://schemas.microsoft.com/office/drawing/2014/main" id="{45E2FD23-0165-F24D-84FB-F9B7CB375463}"/>
              </a:ext>
            </a:extLst>
          </p:cNvPr>
          <p:cNvSpPr/>
          <p:nvPr/>
        </p:nvSpPr>
        <p:spPr>
          <a:xfrm>
            <a:off x="732768" y="2511651"/>
            <a:ext cx="392726" cy="403947"/>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3</a:t>
            </a:r>
            <a:endParaRPr lang="en-US" sz="900" b="1" noProof="1"/>
          </a:p>
        </p:txBody>
      </p:sp>
      <p:sp>
        <p:nvSpPr>
          <p:cNvPr id="88" name="Oval 87">
            <a:extLst>
              <a:ext uri="{FF2B5EF4-FFF2-40B4-BE49-F238E27FC236}">
                <a16:creationId xmlns:a16="http://schemas.microsoft.com/office/drawing/2014/main" id="{D09D4BBB-C16F-53ED-F335-2185A7F1F3B9}"/>
              </a:ext>
            </a:extLst>
          </p:cNvPr>
          <p:cNvSpPr/>
          <p:nvPr/>
        </p:nvSpPr>
        <p:spPr>
          <a:xfrm>
            <a:off x="732767" y="3775289"/>
            <a:ext cx="392726" cy="40394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noProof="1">
                <a:solidFill>
                  <a:prstClr val="white"/>
                </a:solidFill>
                <a:latin typeface="Space Grotesk" pitchFamily="2" charset="0"/>
                <a:cs typeface="Space Grotesk" pitchFamily="2" charset="0"/>
              </a:rPr>
              <a:t>5</a:t>
            </a:r>
            <a:endParaRPr lang="en-US" sz="900" b="1" noProof="1"/>
          </a:p>
        </p:txBody>
      </p:sp>
      <p:sp>
        <p:nvSpPr>
          <p:cNvPr id="109" name="TextBox 108">
            <a:extLst>
              <a:ext uri="{FF2B5EF4-FFF2-40B4-BE49-F238E27FC236}">
                <a16:creationId xmlns:a16="http://schemas.microsoft.com/office/drawing/2014/main" id="{18CCE0CB-D33F-3561-01BD-A078EEE9F540}"/>
              </a:ext>
            </a:extLst>
          </p:cNvPr>
          <p:cNvSpPr txBox="1"/>
          <p:nvPr/>
        </p:nvSpPr>
        <p:spPr>
          <a:xfrm>
            <a:off x="5242298" y="1325206"/>
            <a:ext cx="3253002" cy="1021498"/>
          </a:xfrm>
          <a:prstGeom prst="rect">
            <a:avLst/>
          </a:prstGeom>
          <a:noFill/>
        </p:spPr>
        <p:txBody>
          <a:bodyPr wrap="square" rtlCol="0">
            <a:spAutoFit/>
          </a:bodyPr>
          <a:lstStyle/>
          <a:p>
            <a:r>
              <a:rPr lang="en-US" sz="1013" b="1" noProof="1">
                <a:solidFill>
                  <a:schemeClr val="accent4">
                    <a:lumMod val="75000"/>
                  </a:schemeClr>
                </a:solidFill>
                <a:latin typeface="Space Grotesk" pitchFamily="2" charset="0"/>
                <a:cs typeface="Space Grotesk" pitchFamily="2" charset="0"/>
              </a:rPr>
              <a:t>USE</a:t>
            </a:r>
            <a:endParaRPr lang="en-US" sz="825" b="1" noProof="1">
              <a:solidFill>
                <a:schemeClr val="accent4">
                  <a:lumMod val="75000"/>
                </a:schemeClr>
              </a:solidFill>
              <a:latin typeface="Space Grotesk" pitchFamily="2" charset="0"/>
              <a:cs typeface="Space Grotesk" pitchFamily="2" charset="0"/>
            </a:endParaRPr>
          </a:p>
          <a:p>
            <a:r>
              <a:rPr lang="en-US" sz="900" b="1" noProof="1">
                <a:latin typeface="Space Grotesk" pitchFamily="2" charset="0"/>
                <a:cs typeface="Space Grotesk" pitchFamily="2" charset="0"/>
              </a:rPr>
              <a:t>Draft content, analyse information &amp; summarise insights</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Use AI tools hands-on to generate drafts, explain concepts, summarise information, and identify patterns in data or operations.</a:t>
            </a:r>
          </a:p>
        </p:txBody>
      </p:sp>
      <p:sp>
        <p:nvSpPr>
          <p:cNvPr id="111" name="TextBox 110">
            <a:extLst>
              <a:ext uri="{FF2B5EF4-FFF2-40B4-BE49-F238E27FC236}">
                <a16:creationId xmlns:a16="http://schemas.microsoft.com/office/drawing/2014/main" id="{1A71F00E-C5F3-73C7-E06A-69748E64B1A0}"/>
              </a:ext>
            </a:extLst>
          </p:cNvPr>
          <p:cNvSpPr txBox="1"/>
          <p:nvPr/>
        </p:nvSpPr>
        <p:spPr>
          <a:xfrm>
            <a:off x="1203589" y="2474426"/>
            <a:ext cx="3163394" cy="882999"/>
          </a:xfrm>
          <a:prstGeom prst="rect">
            <a:avLst/>
          </a:prstGeom>
          <a:noFill/>
        </p:spPr>
        <p:txBody>
          <a:bodyPr wrap="square" rtlCol="0">
            <a:spAutoFit/>
          </a:bodyPr>
          <a:lstStyle/>
          <a:p>
            <a:r>
              <a:rPr lang="en-US" sz="1013" b="1" noProof="1">
                <a:solidFill>
                  <a:srgbClr val="F79421"/>
                </a:solidFill>
                <a:latin typeface="Space Grotesk" pitchFamily="2" charset="0"/>
                <a:cs typeface="Space Grotesk" pitchFamily="2" charset="0"/>
              </a:rPr>
              <a:t>ANALYSE</a:t>
            </a:r>
            <a:endParaRPr lang="en-US" sz="825" b="1" noProof="1">
              <a:solidFill>
                <a:srgbClr val="F79421"/>
              </a:solidFill>
              <a:latin typeface="Space Grotesk" pitchFamily="2" charset="0"/>
              <a:cs typeface="Space Grotesk" pitchFamily="2" charset="0"/>
            </a:endParaRPr>
          </a:p>
          <a:p>
            <a:r>
              <a:rPr lang="en-US" sz="900" b="1" noProof="1">
                <a:latin typeface="Space Grotesk" pitchFamily="2" charset="0"/>
                <a:cs typeface="Space Grotesk" pitchFamily="2" charset="0"/>
              </a:rPr>
              <a:t>Weigh the pros and cons of AI in your workflow</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Evaluate the value, risks, and practical trade-offs of integrating AI into existing processes — before committing.</a:t>
            </a:r>
          </a:p>
        </p:txBody>
      </p:sp>
      <p:sp>
        <p:nvSpPr>
          <p:cNvPr id="112" name="TextBox 111">
            <a:extLst>
              <a:ext uri="{FF2B5EF4-FFF2-40B4-BE49-F238E27FC236}">
                <a16:creationId xmlns:a16="http://schemas.microsoft.com/office/drawing/2014/main" id="{DC7FD80F-D85A-1DD1-0588-EFAA29900C8A}"/>
              </a:ext>
            </a:extLst>
          </p:cNvPr>
          <p:cNvSpPr txBox="1"/>
          <p:nvPr/>
        </p:nvSpPr>
        <p:spPr>
          <a:xfrm>
            <a:off x="5281333" y="2498989"/>
            <a:ext cx="3163394" cy="882999"/>
          </a:xfrm>
          <a:prstGeom prst="rect">
            <a:avLst/>
          </a:prstGeom>
          <a:noFill/>
        </p:spPr>
        <p:txBody>
          <a:bodyPr wrap="square" rtlCol="0">
            <a:spAutoFit/>
          </a:bodyPr>
          <a:lstStyle/>
          <a:p>
            <a:r>
              <a:rPr lang="en-US" sz="1013" b="1" noProof="1">
                <a:solidFill>
                  <a:srgbClr val="D3116E"/>
                </a:solidFill>
                <a:latin typeface="Space Grotesk" pitchFamily="2" charset="0"/>
                <a:cs typeface="Space Grotesk" pitchFamily="2" charset="0"/>
              </a:rPr>
              <a:t>VALIDATE</a:t>
            </a:r>
            <a:endParaRPr lang="en-US" sz="825" b="1" noProof="1">
              <a:solidFill>
                <a:srgbClr val="D3116E"/>
              </a:solidFill>
              <a:latin typeface="Space Grotesk" pitchFamily="2" charset="0"/>
              <a:cs typeface="Space Grotesk" pitchFamily="2" charset="0"/>
            </a:endParaRPr>
          </a:p>
          <a:p>
            <a:r>
              <a:rPr lang="en-US" sz="900" b="1" noProof="1">
                <a:latin typeface="Space Grotesk" pitchFamily="2" charset="0"/>
                <a:cs typeface="Space Grotesk" pitchFamily="2" charset="0"/>
              </a:rPr>
              <a:t>Check AI output for reliability and accuracy</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Apply a practical verification mindset to AI-generated content — identifying errors, hallucinations, and misleading conclusions.</a:t>
            </a:r>
          </a:p>
        </p:txBody>
      </p:sp>
      <p:sp>
        <p:nvSpPr>
          <p:cNvPr id="113" name="TextBox 112">
            <a:extLst>
              <a:ext uri="{FF2B5EF4-FFF2-40B4-BE49-F238E27FC236}">
                <a16:creationId xmlns:a16="http://schemas.microsoft.com/office/drawing/2014/main" id="{35749A47-CB90-B39E-C80E-3A43498C4555}"/>
              </a:ext>
            </a:extLst>
          </p:cNvPr>
          <p:cNvSpPr txBox="1"/>
          <p:nvPr/>
        </p:nvSpPr>
        <p:spPr>
          <a:xfrm>
            <a:off x="1154064" y="3776001"/>
            <a:ext cx="7179540" cy="767582"/>
          </a:xfrm>
          <a:prstGeom prst="rect">
            <a:avLst/>
          </a:prstGeom>
          <a:noFill/>
        </p:spPr>
        <p:txBody>
          <a:bodyPr wrap="square" rtlCol="0">
            <a:spAutoFit/>
          </a:bodyPr>
          <a:lstStyle/>
          <a:p>
            <a:r>
              <a:rPr lang="en-US" sz="1013" b="1" noProof="1">
                <a:latin typeface="Space Grotesk" pitchFamily="2" charset="0"/>
                <a:cs typeface="Space Grotesk" pitchFamily="2" charset="0"/>
              </a:rPr>
              <a:t>NAVIGATE</a:t>
            </a:r>
            <a:endParaRPr lang="en-US" sz="825" b="1" noProof="1">
              <a:latin typeface="Space Grotesk" pitchFamily="2" charset="0"/>
              <a:cs typeface="Space Grotesk" pitchFamily="2" charset="0"/>
            </a:endParaRPr>
          </a:p>
          <a:p>
            <a:r>
              <a:rPr lang="en-US" sz="1050" b="1" noProof="1">
                <a:latin typeface="Space Grotesk" pitchFamily="2" charset="0"/>
                <a:cs typeface="Space Grotesk" pitchFamily="2" charset="0"/>
              </a:rPr>
              <a:t>Apply ethical and operational judgment when using AI</a:t>
            </a:r>
          </a:p>
          <a:p>
            <a:pPr>
              <a:defRPr/>
            </a:pPr>
            <a:endParaRPr lang="en-US" sz="525" noProof="1">
              <a:solidFill>
                <a:prstClr val="black"/>
              </a:solidFill>
              <a:latin typeface="Space Grotesk" pitchFamily="2" charset="0"/>
              <a:cs typeface="Space Grotesk" pitchFamily="2" charset="0"/>
            </a:endParaRPr>
          </a:p>
          <a:p>
            <a:pPr>
              <a:defRPr/>
            </a:pPr>
            <a:r>
              <a:rPr lang="en-US" sz="900" noProof="1">
                <a:solidFill>
                  <a:prstClr val="black"/>
                </a:solidFill>
                <a:latin typeface="Space Grotesk" pitchFamily="2" charset="0"/>
                <a:cs typeface="Space Grotesk" pitchFamily="2" charset="0"/>
              </a:rPr>
              <a:t>Understand privacy, governance, and ethical considerations so AI is used responsibly, effectively, and with proper human oversight.</a:t>
            </a:r>
          </a:p>
        </p:txBody>
      </p:sp>
    </p:spTree>
    <p:extLst>
      <p:ext uri="{BB962C8B-B14F-4D97-AF65-F5344CB8AC3E}">
        <p14:creationId xmlns:p14="http://schemas.microsoft.com/office/powerpoint/2010/main" val="1880877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9459-9921-CA1F-869B-AD9FE6CB75CF}"/>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7D06FB2A-3A01-B77F-13FE-8DDA4849D1D9}"/>
              </a:ext>
            </a:extLst>
          </p:cNvPr>
          <p:cNvSpPr txBox="1"/>
          <p:nvPr/>
        </p:nvSpPr>
        <p:spPr>
          <a:xfrm>
            <a:off x="635212" y="470003"/>
            <a:ext cx="8508788"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pitchFamily="2" charset="0"/>
                <a:cs typeface="Space Grotesk" pitchFamily="2" charset="0"/>
              </a:rPr>
              <a:t>Resources &amp; next steps</a:t>
            </a:r>
          </a:p>
        </p:txBody>
      </p:sp>
      <p:sp>
        <p:nvSpPr>
          <p:cNvPr id="3" name="Tekstvak 7" descr="MVX23_Logo_Basislogo_Full_colour_Wit">
            <a:extLst>
              <a:ext uri="{FF2B5EF4-FFF2-40B4-BE49-F238E27FC236}">
                <a16:creationId xmlns:a16="http://schemas.microsoft.com/office/drawing/2014/main" id="{B979C1DF-CFE2-9162-C700-46F5687178EF}"/>
              </a:ext>
            </a:extLst>
          </p:cNvPr>
          <p:cNvSpPr txBox="1"/>
          <p:nvPr/>
        </p:nvSpPr>
        <p:spPr>
          <a:xfrm>
            <a:off x="637698" y="1348521"/>
            <a:ext cx="8373193" cy="441788"/>
          </a:xfrm>
          <a:prstGeom prst="rect">
            <a:avLst/>
          </a:prstGeom>
          <a:noFill/>
        </p:spPr>
        <p:txBody>
          <a:bodyPr wrap="square" lIns="68580" tIns="34290" rIns="68580" bIns="34290" rtlCol="0" anchor="t">
            <a:spAutoFit/>
          </a:bodyPr>
          <a:lstStyle/>
          <a:p>
            <a:pPr>
              <a:lnSpc>
                <a:spcPct val="150000"/>
              </a:lnSpc>
            </a:pPr>
            <a:r>
              <a:rPr lang="en-US" sz="1800" noProof="1">
                <a:solidFill>
                  <a:srgbClr val="0D006A"/>
                </a:solidFill>
                <a:ea typeface="+mn-lt"/>
                <a:cs typeface="+mn-lt"/>
              </a:rPr>
              <a:t>Lorum</a:t>
            </a:r>
            <a:endParaRPr lang="en-US" sz="2100" b="1" noProof="1">
              <a:solidFill>
                <a:srgbClr val="0D006A"/>
              </a:solidFill>
              <a:ea typeface="+mn-lt"/>
              <a:cs typeface="+mn-lt"/>
            </a:endParaRPr>
          </a:p>
        </p:txBody>
      </p:sp>
      <p:sp>
        <p:nvSpPr>
          <p:cNvPr id="4" name="Google Shape;1266;p60">
            <a:extLst>
              <a:ext uri="{FF2B5EF4-FFF2-40B4-BE49-F238E27FC236}">
                <a16:creationId xmlns:a16="http://schemas.microsoft.com/office/drawing/2014/main" id="{E0DAE708-AFAD-8CFF-863A-7208FBBC2ACB}"/>
              </a:ext>
            </a:extLst>
          </p:cNvPr>
          <p:cNvSpPr/>
          <p:nvPr/>
        </p:nvSpPr>
        <p:spPr>
          <a:xfrm>
            <a:off x="526163" y="1401240"/>
            <a:ext cx="2586114" cy="3245791"/>
          </a:xfrm>
          <a:prstGeom prst="roundRect">
            <a:avLst>
              <a:gd name="adj" fmla="val 7422"/>
            </a:avLst>
          </a:prstGeom>
          <a:solidFill>
            <a:srgbClr val="002060"/>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6" name="Google Shape;1269;p60">
            <a:extLst>
              <a:ext uri="{FF2B5EF4-FFF2-40B4-BE49-F238E27FC236}">
                <a16:creationId xmlns:a16="http://schemas.microsoft.com/office/drawing/2014/main" id="{21755218-2D4F-FB60-8ABF-FAE6E9DEF1A1}"/>
              </a:ext>
            </a:extLst>
          </p:cNvPr>
          <p:cNvSpPr txBox="1"/>
          <p:nvPr/>
        </p:nvSpPr>
        <p:spPr>
          <a:xfrm>
            <a:off x="59135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ea typeface="Arial"/>
                <a:cs typeface="Arial"/>
                <a:sym typeface="Arial"/>
              </a:rPr>
              <a:t>Listen to the podcasts</a:t>
            </a:r>
            <a:endParaRPr lang="en-US" sz="1200" noProof="1">
              <a:solidFill>
                <a:schemeClr val="bg1"/>
              </a:solidFill>
            </a:endParaRPr>
          </a:p>
        </p:txBody>
      </p:sp>
      <p:sp>
        <p:nvSpPr>
          <p:cNvPr id="7" name="Google Shape;1270;p60">
            <a:extLst>
              <a:ext uri="{FF2B5EF4-FFF2-40B4-BE49-F238E27FC236}">
                <a16:creationId xmlns:a16="http://schemas.microsoft.com/office/drawing/2014/main" id="{37249125-BC11-4A26-B2F6-365B7517AE87}"/>
              </a:ext>
            </a:extLst>
          </p:cNvPr>
          <p:cNvSpPr txBox="1"/>
          <p:nvPr/>
        </p:nvSpPr>
        <p:spPr>
          <a:xfrm>
            <a:off x="591358" y="2056085"/>
            <a:ext cx="2445336" cy="830975"/>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To give you some more foundational knowledge on AI</a:t>
            </a:r>
            <a:endParaRPr lang="en-US" sz="1200" noProof="1">
              <a:solidFill>
                <a:schemeClr val="bg1"/>
              </a:solidFill>
            </a:endParaRPr>
          </a:p>
        </p:txBody>
      </p:sp>
      <p:sp>
        <p:nvSpPr>
          <p:cNvPr id="11" name="Google Shape;1266;p60">
            <a:extLst>
              <a:ext uri="{FF2B5EF4-FFF2-40B4-BE49-F238E27FC236}">
                <a16:creationId xmlns:a16="http://schemas.microsoft.com/office/drawing/2014/main" id="{E2E97F47-3CD0-4F56-35D9-2BD72EF60A1B}"/>
              </a:ext>
            </a:extLst>
          </p:cNvPr>
          <p:cNvSpPr/>
          <p:nvPr/>
        </p:nvSpPr>
        <p:spPr>
          <a:xfrm>
            <a:off x="3278943" y="1401240"/>
            <a:ext cx="2586114" cy="3245791"/>
          </a:xfrm>
          <a:prstGeom prst="roundRect">
            <a:avLst>
              <a:gd name="adj" fmla="val 7422"/>
            </a:avLst>
          </a:prstGeom>
          <a:solidFill>
            <a:srgbClr val="F79421"/>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12" name="Google Shape;1269;p60">
            <a:extLst>
              <a:ext uri="{FF2B5EF4-FFF2-40B4-BE49-F238E27FC236}">
                <a16:creationId xmlns:a16="http://schemas.microsoft.com/office/drawing/2014/main" id="{11264253-6659-6819-AD42-47F564E24305}"/>
              </a:ext>
            </a:extLst>
          </p:cNvPr>
          <p:cNvSpPr txBox="1"/>
          <p:nvPr/>
        </p:nvSpPr>
        <p:spPr>
          <a:xfrm>
            <a:off x="334413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cs typeface="Arial"/>
                <a:sym typeface="Arial"/>
              </a:rPr>
              <a:t>Work on your case</a:t>
            </a:r>
            <a:endParaRPr lang="en-US" sz="1200" noProof="1">
              <a:solidFill>
                <a:schemeClr val="bg1"/>
              </a:solidFill>
            </a:endParaRPr>
          </a:p>
        </p:txBody>
      </p:sp>
      <p:sp>
        <p:nvSpPr>
          <p:cNvPr id="13" name="Google Shape;1270;p60">
            <a:extLst>
              <a:ext uri="{FF2B5EF4-FFF2-40B4-BE49-F238E27FC236}">
                <a16:creationId xmlns:a16="http://schemas.microsoft.com/office/drawing/2014/main" id="{983F2900-9879-ECDA-1D74-06C32012AA81}"/>
              </a:ext>
            </a:extLst>
          </p:cNvPr>
          <p:cNvSpPr txBox="1"/>
          <p:nvPr/>
        </p:nvSpPr>
        <p:spPr>
          <a:xfrm>
            <a:off x="3344138" y="2056085"/>
            <a:ext cx="2445336" cy="1061807"/>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Continue building your business case together with your team or leverage the canvas for your own</a:t>
            </a:r>
            <a:endParaRPr lang="en-US" sz="1200" noProof="1">
              <a:solidFill>
                <a:schemeClr val="bg1"/>
              </a:solidFill>
            </a:endParaRPr>
          </a:p>
        </p:txBody>
      </p:sp>
      <p:sp>
        <p:nvSpPr>
          <p:cNvPr id="14" name="Google Shape;1273;p60">
            <a:extLst>
              <a:ext uri="{FF2B5EF4-FFF2-40B4-BE49-F238E27FC236}">
                <a16:creationId xmlns:a16="http://schemas.microsoft.com/office/drawing/2014/main" id="{D21C7C37-B0A9-8E93-2B27-AEFC90273811}"/>
              </a:ext>
            </a:extLst>
          </p:cNvPr>
          <p:cNvSpPr/>
          <p:nvPr/>
        </p:nvSpPr>
        <p:spPr>
          <a:xfrm>
            <a:off x="4094924" y="3431963"/>
            <a:ext cx="954152" cy="952493"/>
          </a:xfrm>
          <a:custGeom>
            <a:avLst/>
            <a:gdLst/>
            <a:ahLst/>
            <a:cxnLst/>
            <a:rect l="l" t="t" r="r" b="b"/>
            <a:pathLst>
              <a:path w="1693300" h="1690358" extrusionOk="0">
                <a:moveTo>
                  <a:pt x="780167" y="130034"/>
                </a:moveTo>
                <a:lnTo>
                  <a:pt x="780167" y="260061"/>
                </a:lnTo>
                <a:lnTo>
                  <a:pt x="195044" y="260061"/>
                </a:lnTo>
                <a:cubicBezTo>
                  <a:pt x="159156" y="260061"/>
                  <a:pt x="130030" y="289252"/>
                  <a:pt x="130030" y="325075"/>
                </a:cubicBezTo>
                <a:lnTo>
                  <a:pt x="130030" y="325075"/>
                </a:lnTo>
                <a:lnTo>
                  <a:pt x="130030" y="1495320"/>
                </a:lnTo>
                <a:cubicBezTo>
                  <a:pt x="130030" y="1531208"/>
                  <a:pt x="159156" y="1560334"/>
                  <a:pt x="195044" y="1560334"/>
                </a:cubicBezTo>
                <a:lnTo>
                  <a:pt x="195044" y="1560334"/>
                </a:lnTo>
                <a:lnTo>
                  <a:pt x="1365290" y="1560334"/>
                </a:lnTo>
                <a:cubicBezTo>
                  <a:pt x="1401177" y="1560334"/>
                  <a:pt x="1430304" y="1531208"/>
                  <a:pt x="1430304" y="1495320"/>
                </a:cubicBezTo>
                <a:lnTo>
                  <a:pt x="1430304" y="1495320"/>
                </a:lnTo>
                <a:lnTo>
                  <a:pt x="1430304" y="910197"/>
                </a:lnTo>
                <a:lnTo>
                  <a:pt x="1560331" y="910197"/>
                </a:lnTo>
                <a:lnTo>
                  <a:pt x="1560331" y="1495320"/>
                </a:lnTo>
                <a:cubicBezTo>
                  <a:pt x="1560331" y="1602853"/>
                  <a:pt x="1472822" y="1690361"/>
                  <a:pt x="1365290" y="1690361"/>
                </a:cubicBezTo>
                <a:lnTo>
                  <a:pt x="1365290" y="1690361"/>
                </a:lnTo>
                <a:lnTo>
                  <a:pt x="195044" y="1690361"/>
                </a:lnTo>
                <a:cubicBezTo>
                  <a:pt x="87511" y="1690361"/>
                  <a:pt x="3" y="1602853"/>
                  <a:pt x="3" y="1495320"/>
                </a:cubicBezTo>
                <a:lnTo>
                  <a:pt x="3" y="1495320"/>
                </a:lnTo>
                <a:lnTo>
                  <a:pt x="3" y="325075"/>
                </a:lnTo>
                <a:cubicBezTo>
                  <a:pt x="3" y="217542"/>
                  <a:pt x="87511" y="130034"/>
                  <a:pt x="195044" y="130034"/>
                </a:cubicBezTo>
                <a:lnTo>
                  <a:pt x="195044" y="130034"/>
                </a:lnTo>
                <a:lnTo>
                  <a:pt x="780167" y="130034"/>
                </a:lnTo>
                <a:close/>
                <a:moveTo>
                  <a:pt x="1365504" y="43838"/>
                </a:moveTo>
                <a:cubicBezTo>
                  <a:pt x="1423887" y="-14674"/>
                  <a:pt x="1525763" y="-14544"/>
                  <a:pt x="1584210" y="43838"/>
                </a:cubicBezTo>
                <a:lnTo>
                  <a:pt x="1584210" y="43838"/>
                </a:lnTo>
                <a:lnTo>
                  <a:pt x="1647924" y="107682"/>
                </a:lnTo>
                <a:cubicBezTo>
                  <a:pt x="1677180" y="136808"/>
                  <a:pt x="1693303" y="175686"/>
                  <a:pt x="1693303" y="217035"/>
                </a:cubicBezTo>
                <a:cubicBezTo>
                  <a:pt x="1693303" y="258319"/>
                  <a:pt x="1677245" y="297197"/>
                  <a:pt x="1647924" y="326388"/>
                </a:cubicBezTo>
                <a:lnTo>
                  <a:pt x="1647924" y="326388"/>
                </a:lnTo>
                <a:lnTo>
                  <a:pt x="721674" y="1252572"/>
                </a:lnTo>
                <a:cubicBezTo>
                  <a:pt x="711727" y="1262585"/>
                  <a:pt x="698854" y="1268956"/>
                  <a:pt x="684876" y="1270906"/>
                </a:cubicBezTo>
                <a:lnTo>
                  <a:pt x="684876" y="1270906"/>
                </a:lnTo>
                <a:lnTo>
                  <a:pt x="463180" y="1301268"/>
                </a:lnTo>
                <a:cubicBezTo>
                  <a:pt x="460254" y="1301723"/>
                  <a:pt x="457329" y="1301918"/>
                  <a:pt x="454403" y="1301918"/>
                </a:cubicBezTo>
                <a:cubicBezTo>
                  <a:pt x="415395" y="1301918"/>
                  <a:pt x="385163" y="1267396"/>
                  <a:pt x="390560" y="1228647"/>
                </a:cubicBezTo>
                <a:lnTo>
                  <a:pt x="390560" y="1228647"/>
                </a:lnTo>
                <a:lnTo>
                  <a:pt x="420921" y="1006951"/>
                </a:lnTo>
                <a:cubicBezTo>
                  <a:pt x="422871" y="992973"/>
                  <a:pt x="429243" y="980100"/>
                  <a:pt x="439255" y="970153"/>
                </a:cubicBezTo>
                <a:lnTo>
                  <a:pt x="439255" y="970153"/>
                </a:lnTo>
                <a:close/>
                <a:moveTo>
                  <a:pt x="1296005" y="295766"/>
                </a:moveTo>
                <a:lnTo>
                  <a:pt x="545747" y="1046024"/>
                </a:lnTo>
                <a:lnTo>
                  <a:pt x="529819" y="1162008"/>
                </a:lnTo>
                <a:lnTo>
                  <a:pt x="645803" y="1146080"/>
                </a:lnTo>
                <a:lnTo>
                  <a:pt x="1396061" y="395887"/>
                </a:lnTo>
                <a:lnTo>
                  <a:pt x="1296005" y="295766"/>
                </a:lnTo>
                <a:close/>
                <a:moveTo>
                  <a:pt x="1493061" y="135053"/>
                </a:moveTo>
                <a:cubicBezTo>
                  <a:pt x="1479863" y="122050"/>
                  <a:pt x="1469916" y="121855"/>
                  <a:pt x="1456654" y="135053"/>
                </a:cubicBezTo>
                <a:lnTo>
                  <a:pt x="1456654" y="135053"/>
                </a:lnTo>
                <a:lnTo>
                  <a:pt x="1387154" y="204552"/>
                </a:lnTo>
                <a:lnTo>
                  <a:pt x="1487275" y="304673"/>
                </a:lnTo>
                <a:lnTo>
                  <a:pt x="1556775" y="235174"/>
                </a:lnTo>
                <a:cubicBezTo>
                  <a:pt x="1563341" y="228607"/>
                  <a:pt x="1564251" y="221001"/>
                  <a:pt x="1564251" y="217035"/>
                </a:cubicBezTo>
                <a:cubicBezTo>
                  <a:pt x="1564251" y="213069"/>
                  <a:pt x="1563341" y="205397"/>
                  <a:pt x="1556775" y="198831"/>
                </a:cubicBezTo>
                <a:lnTo>
                  <a:pt x="1556775" y="198831"/>
                </a:lnTo>
                <a:close/>
              </a:path>
            </a:pathLst>
          </a:custGeom>
          <a:solidFill>
            <a:schemeClr val="bg1"/>
          </a:solidFill>
          <a:ln>
            <a:noFill/>
          </a:ln>
        </p:spPr>
        <p:txBody>
          <a:bodyPr spcFirstLastPara="1" wrap="square" lIns="68569" tIns="34275" rIns="68569" bIns="34275" anchor="t" anchorCtr="0">
            <a:noAutofit/>
          </a:bodyPr>
          <a:lstStyle/>
          <a:p>
            <a:endParaRPr lang="en-US" noProof="1">
              <a:solidFill>
                <a:schemeClr val="dk1"/>
              </a:solidFill>
              <a:latin typeface="Arial"/>
              <a:ea typeface="Arial"/>
              <a:cs typeface="Arial"/>
              <a:sym typeface="Arial"/>
            </a:endParaRPr>
          </a:p>
        </p:txBody>
      </p:sp>
      <p:sp>
        <p:nvSpPr>
          <p:cNvPr id="15" name="Google Shape;1266;p60">
            <a:extLst>
              <a:ext uri="{FF2B5EF4-FFF2-40B4-BE49-F238E27FC236}">
                <a16:creationId xmlns:a16="http://schemas.microsoft.com/office/drawing/2014/main" id="{54E343D6-00A6-B009-F792-0DA03905CA2A}"/>
              </a:ext>
            </a:extLst>
          </p:cNvPr>
          <p:cNvSpPr/>
          <p:nvPr/>
        </p:nvSpPr>
        <p:spPr>
          <a:xfrm>
            <a:off x="6031723" y="1401240"/>
            <a:ext cx="2586114" cy="3245791"/>
          </a:xfrm>
          <a:prstGeom prst="roundRect">
            <a:avLst>
              <a:gd name="adj" fmla="val 7422"/>
            </a:avLst>
          </a:prstGeom>
          <a:solidFill>
            <a:srgbClr val="593993"/>
          </a:solidFill>
          <a:ln w="19050" cap="flat" cmpd="sng">
            <a:solidFill>
              <a:srgbClr val="F2F2F2"/>
            </a:solidFill>
            <a:prstDash val="solid"/>
            <a:miter lim="800000"/>
            <a:headEnd type="none" w="sm" len="sm"/>
            <a:tailEnd type="none" w="sm" len="sm"/>
          </a:ln>
        </p:spPr>
        <p:txBody>
          <a:bodyPr spcFirstLastPara="1" wrap="square" lIns="68569" tIns="34275" rIns="68569" bIns="34275" anchor="ctr" anchorCtr="0">
            <a:noAutofit/>
          </a:bodyPr>
          <a:lstStyle/>
          <a:p>
            <a:pPr algn="ctr"/>
            <a:endParaRPr lang="en-US" noProof="1">
              <a:solidFill>
                <a:schemeClr val="lt1"/>
              </a:solidFill>
              <a:latin typeface="Arial"/>
              <a:ea typeface="Arial"/>
              <a:cs typeface="Arial"/>
              <a:sym typeface="Arial"/>
            </a:endParaRPr>
          </a:p>
        </p:txBody>
      </p:sp>
      <p:sp>
        <p:nvSpPr>
          <p:cNvPr id="16" name="Google Shape;1269;p60">
            <a:extLst>
              <a:ext uri="{FF2B5EF4-FFF2-40B4-BE49-F238E27FC236}">
                <a16:creationId xmlns:a16="http://schemas.microsoft.com/office/drawing/2014/main" id="{D7B4BC6B-BB37-05D8-2475-08EE9A18AF1F}"/>
              </a:ext>
            </a:extLst>
          </p:cNvPr>
          <p:cNvSpPr txBox="1"/>
          <p:nvPr/>
        </p:nvSpPr>
        <p:spPr>
          <a:xfrm>
            <a:off x="6096918" y="1703371"/>
            <a:ext cx="2445337" cy="230832"/>
          </a:xfrm>
          <a:prstGeom prst="rect">
            <a:avLst/>
          </a:prstGeom>
          <a:noFill/>
          <a:ln>
            <a:noFill/>
          </a:ln>
        </p:spPr>
        <p:txBody>
          <a:bodyPr spcFirstLastPara="1" wrap="square" lIns="0" tIns="0" rIns="0" bIns="0" anchor="t" anchorCtr="0">
            <a:spAutoFit/>
          </a:bodyPr>
          <a:lstStyle/>
          <a:p>
            <a:pPr algn="ctr"/>
            <a:r>
              <a:rPr lang="en-US" sz="1500" b="1" noProof="1">
                <a:solidFill>
                  <a:schemeClr val="bg1"/>
                </a:solidFill>
                <a:latin typeface="Arial"/>
                <a:ea typeface="Arial"/>
                <a:cs typeface="Arial"/>
                <a:sym typeface="Arial"/>
              </a:rPr>
              <a:t>Experiment</a:t>
            </a:r>
            <a:endParaRPr lang="en-US" sz="1200" noProof="1">
              <a:solidFill>
                <a:schemeClr val="bg1"/>
              </a:solidFill>
            </a:endParaRPr>
          </a:p>
        </p:txBody>
      </p:sp>
      <p:sp>
        <p:nvSpPr>
          <p:cNvPr id="17" name="Google Shape;1270;p60">
            <a:extLst>
              <a:ext uri="{FF2B5EF4-FFF2-40B4-BE49-F238E27FC236}">
                <a16:creationId xmlns:a16="http://schemas.microsoft.com/office/drawing/2014/main" id="{4266EA6D-F793-2A96-1694-B57FC36007DF}"/>
              </a:ext>
            </a:extLst>
          </p:cNvPr>
          <p:cNvSpPr txBox="1"/>
          <p:nvPr/>
        </p:nvSpPr>
        <p:spPr>
          <a:xfrm>
            <a:off x="6096917" y="2056085"/>
            <a:ext cx="2445336" cy="1061807"/>
          </a:xfrm>
          <a:prstGeom prst="rect">
            <a:avLst/>
          </a:prstGeom>
          <a:noFill/>
          <a:ln>
            <a:noFill/>
          </a:ln>
        </p:spPr>
        <p:txBody>
          <a:bodyPr spcFirstLastPara="1" wrap="square" lIns="0" tIns="68569" rIns="0" bIns="68569" anchor="t" anchorCtr="0">
            <a:spAutoFit/>
          </a:bodyPr>
          <a:lstStyle/>
          <a:p>
            <a:pPr algn="ctr">
              <a:buClr>
                <a:schemeClr val="dk1"/>
              </a:buClr>
              <a:buSzPts val="2400"/>
            </a:pPr>
            <a:r>
              <a:rPr lang="en-US" sz="1500" noProof="1">
                <a:solidFill>
                  <a:schemeClr val="bg1"/>
                </a:solidFill>
                <a:latin typeface="Arial"/>
                <a:ea typeface="Arial"/>
                <a:cs typeface="Arial"/>
                <a:sym typeface="Arial"/>
              </a:rPr>
              <a:t>Everything that is AI moves at such an enormous pace that it is vital to continue to experiment!</a:t>
            </a:r>
            <a:endParaRPr lang="en-US" sz="1200" noProof="1">
              <a:solidFill>
                <a:schemeClr val="bg1"/>
              </a:solidFill>
            </a:endParaRPr>
          </a:p>
        </p:txBody>
      </p:sp>
      <p:pic>
        <p:nvPicPr>
          <p:cNvPr id="8" name="Graphic 7" descr="Headphones with solid fill">
            <a:extLst>
              <a:ext uri="{FF2B5EF4-FFF2-40B4-BE49-F238E27FC236}">
                <a16:creationId xmlns:a16="http://schemas.microsoft.com/office/drawing/2014/main" id="{C1A08939-0718-3C8A-887B-A104BD1A6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1006" y="3239994"/>
            <a:ext cx="1336430" cy="1336430"/>
          </a:xfrm>
          <a:prstGeom prst="rect">
            <a:avLst/>
          </a:prstGeom>
        </p:spPr>
      </p:pic>
      <p:pic>
        <p:nvPicPr>
          <p:cNvPr id="19" name="Graphic 18" descr="Flask with solid fill">
            <a:extLst>
              <a:ext uri="{FF2B5EF4-FFF2-40B4-BE49-F238E27FC236}">
                <a16:creationId xmlns:a16="http://schemas.microsoft.com/office/drawing/2014/main" id="{D524BB13-A651-BC55-9A94-734123570C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2536" y="3337368"/>
            <a:ext cx="1104488" cy="1104488"/>
          </a:xfrm>
          <a:prstGeom prst="rect">
            <a:avLst/>
          </a:prstGeom>
        </p:spPr>
      </p:pic>
    </p:spTree>
    <p:extLst>
      <p:ext uri="{BB962C8B-B14F-4D97-AF65-F5344CB8AC3E}">
        <p14:creationId xmlns:p14="http://schemas.microsoft.com/office/powerpoint/2010/main" val="433481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D686E837-B8B6-50D0-809D-28FA4FDAC298}"/>
              </a:ext>
            </a:extLst>
          </p:cNvPr>
          <p:cNvSpPr txBox="1"/>
          <p:nvPr/>
        </p:nvSpPr>
        <p:spPr>
          <a:xfrm>
            <a:off x="674178" y="433400"/>
            <a:ext cx="7954748" cy="577081"/>
          </a:xfrm>
          <a:prstGeom prst="rect">
            <a:avLst/>
          </a:prstGeom>
          <a:noFill/>
        </p:spPr>
        <p:txBody>
          <a:bodyPr wrap="square" lIns="68580" tIns="34290" rIns="68580" bIns="34290" rtlCol="0" anchor="t">
            <a:spAutoFit/>
          </a:bodyPr>
          <a:lstStyle/>
          <a:p>
            <a:pPr>
              <a:defRPr/>
            </a:pPr>
            <a:r>
              <a:rPr lang="en-US" sz="3300" b="1" noProof="1">
                <a:solidFill>
                  <a:prstClr val="white"/>
                </a:solidFill>
                <a:latin typeface="Space Grotesk" pitchFamily="2" charset="0"/>
                <a:cs typeface="Space Grotesk" pitchFamily="2" charset="0"/>
              </a:rPr>
              <a:t>To close it off</a:t>
            </a:r>
          </a:p>
        </p:txBody>
      </p:sp>
      <p:sp>
        <p:nvSpPr>
          <p:cNvPr id="3" name="Tekstvak 7" descr="MVX23_Logo_Basislogo_Full_colour_Wit">
            <a:extLst>
              <a:ext uri="{FF2B5EF4-FFF2-40B4-BE49-F238E27FC236}">
                <a16:creationId xmlns:a16="http://schemas.microsoft.com/office/drawing/2014/main" id="{454F44BF-243B-9563-A4C6-54537D838592}"/>
              </a:ext>
            </a:extLst>
          </p:cNvPr>
          <p:cNvSpPr txBox="1"/>
          <p:nvPr/>
        </p:nvSpPr>
        <p:spPr>
          <a:xfrm>
            <a:off x="628650" y="1657068"/>
            <a:ext cx="4328208" cy="2033634"/>
          </a:xfrm>
          <a:prstGeom prst="rect">
            <a:avLst/>
          </a:prstGeom>
          <a:noFill/>
        </p:spPr>
        <p:txBody>
          <a:bodyPr wrap="square" lIns="68580" tIns="34290" rIns="68580" bIns="34290" rtlCol="0" anchor="t">
            <a:spAutoFit/>
          </a:bodyPr>
          <a:lstStyle/>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I would like you to write down:</a:t>
            </a:r>
          </a:p>
          <a:p>
            <a:pPr marL="257175" indent="-257175">
              <a:lnSpc>
                <a:spcPct val="115000"/>
              </a:lnSpc>
              <a:spcAft>
                <a:spcPts val="600"/>
              </a:spcAft>
              <a:buFontTx/>
              <a:buChar char="-"/>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One key takeaway for today </a:t>
            </a:r>
          </a:p>
          <a:p>
            <a:pPr marL="257175" indent="-257175">
              <a:lnSpc>
                <a:spcPct val="115000"/>
              </a:lnSpc>
              <a:spcAft>
                <a:spcPts val="600"/>
              </a:spcAft>
              <a:buFontTx/>
              <a:buChar char="-"/>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One action you will take to </a:t>
            </a:r>
          </a:p>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       keep yourself up-to-date</a:t>
            </a:r>
          </a:p>
          <a:p>
            <a:pPr>
              <a:lnSpc>
                <a:spcPct val="115000"/>
              </a:lnSpc>
              <a:spcAft>
                <a:spcPts val="600"/>
              </a:spcAft>
              <a:defRPr/>
            </a:pPr>
            <a:endPar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600"/>
              </a:spcAft>
              <a:defRPr/>
            </a:pPr>
            <a:r>
              <a:rPr lang="en-US" sz="1500" kern="100" noProof="1">
                <a:solidFill>
                  <a:prstClr val="white"/>
                </a:solidFill>
                <a:latin typeface="Aptos" panose="020B0004020202020204" pitchFamily="34" charset="0"/>
                <a:ea typeface="Aptos" panose="020B0004020202020204" pitchFamily="34" charset="0"/>
                <a:cs typeface="Times New Roman" panose="02020603050405020304" pitchFamily="18" charset="0"/>
              </a:rPr>
              <a:t>And let’s share it with the rest!</a:t>
            </a:r>
          </a:p>
        </p:txBody>
      </p:sp>
      <p:pic>
        <p:nvPicPr>
          <p:cNvPr id="8" name="Picture 7">
            <a:extLst>
              <a:ext uri="{FF2B5EF4-FFF2-40B4-BE49-F238E27FC236}">
                <a16:creationId xmlns:a16="http://schemas.microsoft.com/office/drawing/2014/main" id="{1253C35D-20A6-5669-D88A-60E90622225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798"/>
          <a:stretch>
            <a:fillRect/>
          </a:stretch>
        </p:blipFill>
        <p:spPr>
          <a:xfrm>
            <a:off x="2792756" y="-1"/>
            <a:ext cx="6351244" cy="5143501"/>
          </a:xfrm>
          <a:custGeom>
            <a:avLst/>
            <a:gdLst>
              <a:gd name="csX0" fmla="*/ 2572218 w 6396525"/>
              <a:gd name="csY0" fmla="*/ 0 h 5143501"/>
              <a:gd name="csX1" fmla="*/ 6396525 w 6396525"/>
              <a:gd name="csY1" fmla="*/ 0 h 5143501"/>
              <a:gd name="csX2" fmla="*/ 6396525 w 6396525"/>
              <a:gd name="csY2" fmla="*/ 5143501 h 5143501"/>
              <a:gd name="csX3" fmla="*/ 0 w 6396525"/>
              <a:gd name="csY3" fmla="*/ 5143501 h 5143501"/>
            </a:gdLst>
            <a:ahLst/>
            <a:cxnLst>
              <a:cxn ang="0">
                <a:pos x="csX0" y="csY0"/>
              </a:cxn>
              <a:cxn ang="0">
                <a:pos x="csX1" y="csY1"/>
              </a:cxn>
              <a:cxn ang="0">
                <a:pos x="csX2" y="csY2"/>
              </a:cxn>
              <a:cxn ang="0">
                <a:pos x="csX3" y="csY3"/>
              </a:cxn>
            </a:cxnLst>
            <a:rect l="l" t="t" r="r" b="b"/>
            <a:pathLst>
              <a:path w="6396525" h="5143501">
                <a:moveTo>
                  <a:pt x="2572218" y="0"/>
                </a:moveTo>
                <a:lnTo>
                  <a:pt x="6396525" y="0"/>
                </a:lnTo>
                <a:lnTo>
                  <a:pt x="6396525" y="5143501"/>
                </a:lnTo>
                <a:lnTo>
                  <a:pt x="0" y="5143501"/>
                </a:lnTo>
                <a:close/>
              </a:path>
            </a:pathLst>
          </a:custGeom>
        </p:spPr>
      </p:pic>
    </p:spTree>
    <p:extLst>
      <p:ext uri="{BB962C8B-B14F-4D97-AF65-F5344CB8AC3E}">
        <p14:creationId xmlns:p14="http://schemas.microsoft.com/office/powerpoint/2010/main" val="1852826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A7B3D-1700-9E40-1E34-9344846DCD5C}"/>
            </a:ext>
          </a:extLst>
        </p:cNvPr>
        <p:cNvGrpSpPr/>
        <p:nvPr/>
      </p:nvGrpSpPr>
      <p:grpSpPr>
        <a:xfrm>
          <a:off x="0" y="0"/>
          <a:ext cx="0" cy="0"/>
          <a:chOff x="0" y="0"/>
          <a:chExt cx="0" cy="0"/>
        </a:xfrm>
      </p:grpSpPr>
      <p:pic>
        <p:nvPicPr>
          <p:cNvPr id="6" name="Google Shape;1245;p57">
            <a:extLst>
              <a:ext uri="{FF2B5EF4-FFF2-40B4-BE49-F238E27FC236}">
                <a16:creationId xmlns:a16="http://schemas.microsoft.com/office/drawing/2014/main" id="{31FE0514-7848-D50A-82E0-7E28060008AA}"/>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a:stretch>
            <a:fillRect/>
          </a:stretch>
        </p:blipFill>
        <p:spPr>
          <a:xfrm>
            <a:off x="-51734" y="0"/>
            <a:ext cx="3937934" cy="514350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358CB09C-2CF5-FC56-025A-FA900AFD8261}"/>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06479F60-2064-8777-9B49-315DFB3FD18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410043" y="3093843"/>
            <a:ext cx="2751023" cy="798700"/>
          </a:xfrm>
          <a:prstGeom prst="teardrop">
            <a:avLst/>
          </a:prstGeom>
          <a:noFill/>
          <a:ln>
            <a:noFill/>
          </a:ln>
        </p:spPr>
      </p:pic>
      <p:pic>
        <p:nvPicPr>
          <p:cNvPr id="7" name="Picture 6">
            <a:extLst>
              <a:ext uri="{FF2B5EF4-FFF2-40B4-BE49-F238E27FC236}">
                <a16:creationId xmlns:a16="http://schemas.microsoft.com/office/drawing/2014/main" id="{BB7717FA-CE3C-B661-A203-13E09431CC5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2364BE0B-2291-A193-8896-286914D44A3A}"/>
              </a:ext>
            </a:extLst>
          </p:cNvPr>
          <p:cNvSpPr txBox="1"/>
          <p:nvPr/>
        </p:nvSpPr>
        <p:spPr>
          <a:xfrm>
            <a:off x="4761527" y="377879"/>
            <a:ext cx="3890310" cy="4167488"/>
          </a:xfrm>
          <a:prstGeom prst="rect">
            <a:avLst/>
          </a:prstGeom>
          <a:noFill/>
        </p:spPr>
        <p:txBody>
          <a:bodyPr wrap="square" lIns="68580" tIns="34290" rIns="68580" bIns="34290" rtlCol="0" anchor="t">
            <a:spAutoFit/>
          </a:bodyPr>
          <a:lstStyle/>
          <a:p>
            <a:pPr>
              <a:lnSpc>
                <a:spcPct val="150000"/>
              </a:lnSpc>
              <a:defRPr/>
            </a:pPr>
            <a:endParaRPr lang="en-US" sz="2100">
              <a:solidFill>
                <a:srgbClr val="0D006A"/>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Layout </a:t>
            </a:r>
          </a:p>
          <a:p>
            <a:pPr marL="202406">
              <a:lnSpc>
                <a:spcPct val="150000"/>
              </a:lnSpc>
              <a:defRPr/>
            </a:pPr>
            <a:r>
              <a:rPr lang="en-US" sz="1050">
                <a:solidFill>
                  <a:schemeClr val="bg1">
                    <a:lumMod val="65000"/>
                  </a:schemeClr>
                </a:solidFill>
                <a:latin typeface="DM Sans"/>
                <a:ea typeface="+mn-lt"/>
                <a:cs typeface="+mn-lt"/>
              </a:rPr>
              <a:t>Fonts, sizes, margins according to </a:t>
            </a:r>
            <a:r>
              <a:rPr lang="en-US" sz="1050" err="1">
                <a:solidFill>
                  <a:schemeClr val="bg1">
                    <a:lumMod val="65000"/>
                  </a:schemeClr>
                </a:solidFill>
                <a:latin typeface="DM Sans"/>
                <a:ea typeface="+mn-lt"/>
                <a:cs typeface="+mn-lt"/>
              </a:rPr>
              <a:t>Maverx</a:t>
            </a:r>
            <a:r>
              <a:rPr lang="en-US" sz="1050">
                <a:solidFill>
                  <a:schemeClr val="bg1">
                    <a:lumMod val="65000"/>
                  </a:schemeClr>
                </a:solidFill>
                <a:latin typeface="DM Sans"/>
                <a:ea typeface="+mn-lt"/>
                <a:cs typeface="+mn-lt"/>
              </a:rPr>
              <a:t> Template</a:t>
            </a:r>
          </a:p>
          <a:p>
            <a:pPr>
              <a:lnSpc>
                <a:spcPct val="150000"/>
              </a:lnSpc>
              <a:defRPr/>
            </a:pPr>
            <a:r>
              <a:rPr lang="en-US" sz="2100">
                <a:solidFill>
                  <a:schemeClr val="bg1">
                    <a:lumMod val="65000"/>
                  </a:schemeClr>
                </a:solidFill>
                <a:latin typeface="DM Sans"/>
                <a:ea typeface="+mn-lt"/>
                <a:cs typeface="+mn-lt"/>
              </a:rPr>
              <a:t>Structure </a:t>
            </a:r>
          </a:p>
          <a:p>
            <a:pPr marL="202406">
              <a:lnSpc>
                <a:spcPct val="150000"/>
              </a:lnSpc>
              <a:defRPr/>
            </a:pPr>
            <a:r>
              <a:rPr lang="en-US" sz="1050">
                <a:solidFill>
                  <a:schemeClr val="bg1">
                    <a:lumMod val="65000"/>
                  </a:schemeClr>
                </a:solidFill>
                <a:latin typeface="DM Sans"/>
                <a:ea typeface="+mn-lt"/>
                <a:cs typeface="+mn-lt"/>
              </a:rPr>
              <a:t>The required order of your slides </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lumMod val="65000"/>
                  </a:schemeClr>
                </a:solidFill>
                <a:latin typeface="DM Sans"/>
                <a:ea typeface="+mn-lt"/>
                <a:cs typeface="+mn-lt"/>
              </a:rPr>
              <a:t>Examples</a:t>
            </a:r>
          </a:p>
          <a:p>
            <a:pPr marL="202406">
              <a:lnSpc>
                <a:spcPct val="150000"/>
              </a:lnSpc>
              <a:defRPr/>
            </a:pPr>
            <a:r>
              <a:rPr lang="en-US" sz="1050">
                <a:solidFill>
                  <a:schemeClr val="bg1">
                    <a:lumMod val="65000"/>
                  </a:schemeClr>
                </a:solidFill>
                <a:latin typeface="DM Sans"/>
                <a:ea typeface="+mn-lt"/>
                <a:cs typeface="+mn-lt"/>
              </a:rPr>
              <a:t>Real slides with speaker notes from other trainings</a:t>
            </a:r>
            <a:endParaRPr lang="en-US" sz="2100">
              <a:solidFill>
                <a:schemeClr val="bg1">
                  <a:lumMod val="65000"/>
                </a:schemeClr>
              </a:solidFill>
              <a:latin typeface="DM Sans"/>
              <a:ea typeface="+mn-lt"/>
              <a:cs typeface="+mn-lt"/>
            </a:endParaRPr>
          </a:p>
          <a:p>
            <a:pPr>
              <a:lnSpc>
                <a:spcPct val="150000"/>
              </a:lnSpc>
              <a:defRPr/>
            </a:pPr>
            <a:r>
              <a:rPr lang="en-US" sz="2100">
                <a:solidFill>
                  <a:schemeClr val="bg1"/>
                </a:solidFill>
                <a:latin typeface="DM Sans"/>
                <a:ea typeface="+mn-lt"/>
                <a:cs typeface="+mn-lt"/>
              </a:rPr>
              <a:t>Assets</a:t>
            </a:r>
          </a:p>
          <a:p>
            <a:pPr marL="202406">
              <a:lnSpc>
                <a:spcPct val="150000"/>
              </a:lnSpc>
              <a:defRPr/>
            </a:pPr>
            <a:r>
              <a:rPr lang="en-US" sz="1050">
                <a:solidFill>
                  <a:schemeClr val="bg1"/>
                </a:solidFill>
                <a:latin typeface="DM Sans"/>
                <a:ea typeface="+mn-lt"/>
                <a:cs typeface="+mn-lt"/>
              </a:rPr>
              <a:t>Template slides with assets we can reuse </a:t>
            </a:r>
            <a:endParaRPr lang="en-US" sz="2100">
              <a:solidFill>
                <a:schemeClr val="bg1"/>
              </a:solidFill>
              <a:latin typeface="DM Sans"/>
              <a:ea typeface="+mn-lt"/>
              <a:cs typeface="+mn-lt"/>
            </a:endParaRPr>
          </a:p>
          <a:p>
            <a:pPr>
              <a:lnSpc>
                <a:spcPct val="150000"/>
              </a:lnSpc>
              <a:defRPr/>
            </a:pPr>
            <a:r>
              <a:rPr lang="en-US" sz="2100">
                <a:solidFill>
                  <a:srgbClr val="0D006A"/>
                </a:solidFill>
                <a:latin typeface="DM Sans"/>
                <a:ea typeface="+mn-lt"/>
                <a:cs typeface="+mn-lt"/>
              </a:rPr>
              <a:t>Other</a:t>
            </a:r>
          </a:p>
          <a:p>
            <a:pPr marL="202406">
              <a:lnSpc>
                <a:spcPct val="150000"/>
              </a:lnSpc>
              <a:defRPr/>
            </a:pPr>
            <a:r>
              <a:rPr lang="en-US" sz="1050">
                <a:solidFill>
                  <a:srgbClr val="0D006A"/>
                </a:solidFill>
                <a:latin typeface="DM Sans"/>
                <a:ea typeface="+mn-lt"/>
                <a:cs typeface="+mn-lt"/>
              </a:rPr>
              <a:t>Other slides you can use as a basis </a:t>
            </a:r>
            <a:endParaRPr lang="en-US" sz="2100">
              <a:solidFill>
                <a:srgbClr val="0D006A"/>
              </a:solidFill>
              <a:latin typeface="DM Sans"/>
              <a:ea typeface="+mn-lt"/>
              <a:cs typeface="+mn-lt"/>
            </a:endParaRPr>
          </a:p>
        </p:txBody>
      </p:sp>
    </p:spTree>
    <p:extLst>
      <p:ext uri="{BB962C8B-B14F-4D97-AF65-F5344CB8AC3E}">
        <p14:creationId xmlns:p14="http://schemas.microsoft.com/office/powerpoint/2010/main" val="3945848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CACFD-96F5-AB82-44F0-9231C5A09987}"/>
            </a:ext>
          </a:extLst>
        </p:cNvPr>
        <p:cNvGrpSpPr/>
        <p:nvPr/>
      </p:nvGrpSpPr>
      <p:grpSpPr>
        <a:xfrm>
          <a:off x="0" y="0"/>
          <a:ext cx="0" cy="0"/>
          <a:chOff x="0" y="0"/>
          <a:chExt cx="0" cy="0"/>
        </a:xfrm>
      </p:grpSpPr>
      <p:grpSp>
        <p:nvGrpSpPr>
          <p:cNvPr id="132" name="Group 131">
            <a:extLst>
              <a:ext uri="{FF2B5EF4-FFF2-40B4-BE49-F238E27FC236}">
                <a16:creationId xmlns:a16="http://schemas.microsoft.com/office/drawing/2014/main" id="{2682EA06-6E6D-1DBD-5D48-FA880078EC39}"/>
              </a:ext>
            </a:extLst>
          </p:cNvPr>
          <p:cNvGrpSpPr/>
          <p:nvPr/>
        </p:nvGrpSpPr>
        <p:grpSpPr>
          <a:xfrm>
            <a:off x="629388" y="1092108"/>
            <a:ext cx="1485000" cy="1334036"/>
            <a:chOff x="399996" y="1803394"/>
            <a:chExt cx="2047100" cy="1778714"/>
          </a:xfrm>
        </p:grpSpPr>
        <p:grpSp>
          <p:nvGrpSpPr>
            <p:cNvPr id="6" name="Group 5">
              <a:extLst>
                <a:ext uri="{FF2B5EF4-FFF2-40B4-BE49-F238E27FC236}">
                  <a16:creationId xmlns:a16="http://schemas.microsoft.com/office/drawing/2014/main" id="{5DF36015-7C2F-80F8-62AD-D9323D25DA71}"/>
                </a:ext>
              </a:extLst>
            </p:cNvPr>
            <p:cNvGrpSpPr/>
            <p:nvPr/>
          </p:nvGrpSpPr>
          <p:grpSpPr>
            <a:xfrm rot="5400000">
              <a:off x="534189" y="1669201"/>
              <a:ext cx="1778714" cy="2047100"/>
              <a:chOff x="846950" y="3409279"/>
              <a:chExt cx="3466210" cy="2969533"/>
            </a:xfrm>
          </p:grpSpPr>
          <p:sp>
            <p:nvSpPr>
              <p:cNvPr id="9" name="Rectangle: Rounded Corners 8">
                <a:extLst>
                  <a:ext uri="{FF2B5EF4-FFF2-40B4-BE49-F238E27FC236}">
                    <a16:creationId xmlns:a16="http://schemas.microsoft.com/office/drawing/2014/main" id="{B12EA832-005D-1CA5-EA90-ADB6F0DD3D2D}"/>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 name="Rectangle: Rounded Corners 11">
                <a:extLst>
                  <a:ext uri="{FF2B5EF4-FFF2-40B4-BE49-F238E27FC236}">
                    <a16:creationId xmlns:a16="http://schemas.microsoft.com/office/drawing/2014/main" id="{20916A56-D3EA-3262-8F45-54637BF3FAAE}"/>
                  </a:ext>
                </a:extLst>
              </p:cNvPr>
              <p:cNvSpPr/>
              <p:nvPr/>
            </p:nvSpPr>
            <p:spPr>
              <a:xfrm>
                <a:off x="897748" y="3409279"/>
                <a:ext cx="3415412" cy="2969533"/>
              </a:xfrm>
              <a:prstGeom prst="roundRect">
                <a:avLst/>
              </a:prstGeom>
              <a:solidFill>
                <a:srgbClr val="FCF6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38" name="Group 37">
              <a:extLst>
                <a:ext uri="{FF2B5EF4-FFF2-40B4-BE49-F238E27FC236}">
                  <a16:creationId xmlns:a16="http://schemas.microsoft.com/office/drawing/2014/main" id="{1528999B-7452-7BCC-5378-1AB6A37C506C}"/>
                </a:ext>
              </a:extLst>
            </p:cNvPr>
            <p:cNvGrpSpPr/>
            <p:nvPr/>
          </p:nvGrpSpPr>
          <p:grpSpPr>
            <a:xfrm>
              <a:off x="508136" y="1940197"/>
              <a:ext cx="1799924" cy="1373624"/>
              <a:chOff x="369236" y="2275871"/>
              <a:chExt cx="1799924" cy="1373624"/>
            </a:xfrm>
          </p:grpSpPr>
          <p:sp>
            <p:nvSpPr>
              <p:cNvPr id="8" name="TextBox 7">
                <a:extLst>
                  <a:ext uri="{FF2B5EF4-FFF2-40B4-BE49-F238E27FC236}">
                    <a16:creationId xmlns:a16="http://schemas.microsoft.com/office/drawing/2014/main" id="{BB6528A3-4543-CB7B-DD33-D8198DDE5477}"/>
                  </a:ext>
                </a:extLst>
              </p:cNvPr>
              <p:cNvSpPr txBox="1"/>
              <p:nvPr/>
            </p:nvSpPr>
            <p:spPr>
              <a:xfrm>
                <a:off x="369236" y="2880054"/>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endParaRPr lang="en-US" sz="1000" b="1">
                  <a:solidFill>
                    <a:schemeClr val="tx1">
                      <a:lumMod val="85000"/>
                      <a:lumOff val="15000"/>
                    </a:schemeClr>
                  </a:solidFill>
                  <a:latin typeface="Space Grotesk" pitchFamily="2" charset="0"/>
                  <a:cs typeface="Space Grotesk" pitchFamily="2" charset="0"/>
                </a:endParaRP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84" name="Oval 83">
                <a:extLst>
                  <a:ext uri="{FF2B5EF4-FFF2-40B4-BE49-F238E27FC236}">
                    <a16:creationId xmlns:a16="http://schemas.microsoft.com/office/drawing/2014/main" id="{E2542B76-43F4-BBCD-FE91-1E44E306411B}"/>
                  </a:ext>
                </a:extLst>
              </p:cNvPr>
              <p:cNvSpPr/>
              <p:nvPr/>
            </p:nvSpPr>
            <p:spPr>
              <a:xfrm>
                <a:off x="445245" y="2275871"/>
                <a:ext cx="575999" cy="538596"/>
              </a:xfrm>
              <a:prstGeom prst="ellipse">
                <a:avLst/>
              </a:prstGeom>
              <a:solidFill>
                <a:srgbClr val="E5BD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65" name="Group 64">
            <a:extLst>
              <a:ext uri="{FF2B5EF4-FFF2-40B4-BE49-F238E27FC236}">
                <a16:creationId xmlns:a16="http://schemas.microsoft.com/office/drawing/2014/main" id="{35C4E1A6-7560-2BCA-C92C-124828F977F4}"/>
              </a:ext>
            </a:extLst>
          </p:cNvPr>
          <p:cNvGrpSpPr/>
          <p:nvPr/>
        </p:nvGrpSpPr>
        <p:grpSpPr>
          <a:xfrm>
            <a:off x="3263063" y="2538205"/>
            <a:ext cx="2565000" cy="1048647"/>
            <a:chOff x="846950" y="3409278"/>
            <a:chExt cx="3466210" cy="2969533"/>
          </a:xfrm>
        </p:grpSpPr>
        <p:sp>
          <p:nvSpPr>
            <p:cNvPr id="66" name="Rectangle: Rounded Corners 65">
              <a:extLst>
                <a:ext uri="{FF2B5EF4-FFF2-40B4-BE49-F238E27FC236}">
                  <a16:creationId xmlns:a16="http://schemas.microsoft.com/office/drawing/2014/main" id="{FC92F346-5765-8F65-9437-D33288835F9A}"/>
                </a:ext>
              </a:extLst>
            </p:cNvPr>
            <p:cNvSpPr/>
            <p:nvPr/>
          </p:nvSpPr>
          <p:spPr>
            <a:xfrm>
              <a:off x="846950" y="3431396"/>
              <a:ext cx="2589773" cy="2939071"/>
            </a:xfrm>
            <a:prstGeom prst="roundRect">
              <a:avLst/>
            </a:prstGeom>
            <a:solidFill>
              <a:srgbClr val="9152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67" name="Rectangle: Rounded Corners 66">
              <a:extLst>
                <a:ext uri="{FF2B5EF4-FFF2-40B4-BE49-F238E27FC236}">
                  <a16:creationId xmlns:a16="http://schemas.microsoft.com/office/drawing/2014/main" id="{FAA881A4-5F9D-5001-E2F6-DFA28C194535}"/>
                </a:ext>
              </a:extLst>
            </p:cNvPr>
            <p:cNvSpPr/>
            <p:nvPr/>
          </p:nvSpPr>
          <p:spPr>
            <a:xfrm>
              <a:off x="897749" y="3409278"/>
              <a:ext cx="3415411" cy="2969533"/>
            </a:xfrm>
            <a:prstGeom prst="roundRect">
              <a:avLst/>
            </a:prstGeom>
            <a:solidFill>
              <a:srgbClr val="FE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45" name="Group 144">
            <a:extLst>
              <a:ext uri="{FF2B5EF4-FFF2-40B4-BE49-F238E27FC236}">
                <a16:creationId xmlns:a16="http://schemas.microsoft.com/office/drawing/2014/main" id="{C63016F9-B0D0-A782-5FF2-712A503F0802}"/>
              </a:ext>
            </a:extLst>
          </p:cNvPr>
          <p:cNvGrpSpPr/>
          <p:nvPr/>
        </p:nvGrpSpPr>
        <p:grpSpPr>
          <a:xfrm>
            <a:off x="622481" y="2538205"/>
            <a:ext cx="2565000" cy="1048647"/>
            <a:chOff x="829975" y="3384273"/>
            <a:chExt cx="3420000" cy="1398196"/>
          </a:xfrm>
        </p:grpSpPr>
        <p:grpSp>
          <p:nvGrpSpPr>
            <p:cNvPr id="56" name="Group 55">
              <a:extLst>
                <a:ext uri="{FF2B5EF4-FFF2-40B4-BE49-F238E27FC236}">
                  <a16:creationId xmlns:a16="http://schemas.microsoft.com/office/drawing/2014/main" id="{B6818D93-1597-4CDE-F74F-30F784B8BFE1}"/>
                </a:ext>
              </a:extLst>
            </p:cNvPr>
            <p:cNvGrpSpPr/>
            <p:nvPr/>
          </p:nvGrpSpPr>
          <p:grpSpPr>
            <a:xfrm>
              <a:off x="829975" y="3384273"/>
              <a:ext cx="3420000" cy="1398196"/>
              <a:chOff x="846950" y="3409278"/>
              <a:chExt cx="3466210" cy="2969533"/>
            </a:xfrm>
          </p:grpSpPr>
          <p:sp>
            <p:nvSpPr>
              <p:cNvPr id="57" name="Rectangle: Rounded Corners 56">
                <a:extLst>
                  <a:ext uri="{FF2B5EF4-FFF2-40B4-BE49-F238E27FC236}">
                    <a16:creationId xmlns:a16="http://schemas.microsoft.com/office/drawing/2014/main" id="{022958EA-71B0-E307-A138-F696FF9BF2BA}"/>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8" name="Rectangle: Rounded Corners 57">
                <a:extLst>
                  <a:ext uri="{FF2B5EF4-FFF2-40B4-BE49-F238E27FC236}">
                    <a16:creationId xmlns:a16="http://schemas.microsoft.com/office/drawing/2014/main" id="{64F5E277-ACF1-1450-CC95-6A1B6F58241E}"/>
                  </a:ext>
                </a:extLst>
              </p:cNvPr>
              <p:cNvSpPr/>
              <p:nvPr/>
            </p:nvSpPr>
            <p:spPr>
              <a:xfrm>
                <a:off x="897749" y="3409278"/>
                <a:ext cx="3415411" cy="2969533"/>
              </a:xfrm>
              <a:prstGeom prst="roundRect">
                <a:avLst/>
              </a:prstGeom>
              <a:solidFill>
                <a:srgbClr val="F9F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89" name="TextBox 88">
              <a:extLst>
                <a:ext uri="{FF2B5EF4-FFF2-40B4-BE49-F238E27FC236}">
                  <a16:creationId xmlns:a16="http://schemas.microsoft.com/office/drawing/2014/main" id="{DDFAFF50-3235-6753-C8B7-2A911FC679CF}"/>
                </a:ext>
              </a:extLst>
            </p:cNvPr>
            <p:cNvSpPr txBox="1"/>
            <p:nvPr/>
          </p:nvSpPr>
          <p:spPr>
            <a:xfrm>
              <a:off x="880454" y="3472268"/>
              <a:ext cx="3286435" cy="1179811"/>
            </a:xfrm>
            <a:prstGeom prst="rect">
              <a:avLst/>
            </a:prstGeom>
            <a:noFill/>
          </p:spPr>
          <p:txBody>
            <a:bodyPr wrap="square" rtlCol="0">
              <a:spAutoFit/>
            </a:bodyPr>
            <a:lstStyle/>
            <a:p>
              <a:r>
                <a:rPr lang="en-US" sz="1200" b="1">
                  <a:solidFill>
                    <a:srgbClr val="5400AD"/>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sp>
        <p:nvSpPr>
          <p:cNvPr id="90" name="TextBox 89">
            <a:extLst>
              <a:ext uri="{FF2B5EF4-FFF2-40B4-BE49-F238E27FC236}">
                <a16:creationId xmlns:a16="http://schemas.microsoft.com/office/drawing/2014/main" id="{801649A8-5ECF-6945-F89E-5BE2473584F9}"/>
              </a:ext>
            </a:extLst>
          </p:cNvPr>
          <p:cNvSpPr txBox="1"/>
          <p:nvPr/>
        </p:nvSpPr>
        <p:spPr>
          <a:xfrm>
            <a:off x="3380966" y="2604201"/>
            <a:ext cx="2339821" cy="884858"/>
          </a:xfrm>
          <a:prstGeom prst="rect">
            <a:avLst/>
          </a:prstGeom>
          <a:noFill/>
        </p:spPr>
        <p:txBody>
          <a:bodyPr wrap="square" rtlCol="0">
            <a:spAutoFit/>
          </a:bodyPr>
          <a:lstStyle/>
          <a:p>
            <a:r>
              <a:rPr lang="en-US" sz="1200" b="1">
                <a:solidFill>
                  <a:srgbClr val="F79421"/>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nvGrpSpPr>
          <p:cNvPr id="137" name="Group 136">
            <a:extLst>
              <a:ext uri="{FF2B5EF4-FFF2-40B4-BE49-F238E27FC236}">
                <a16:creationId xmlns:a16="http://schemas.microsoft.com/office/drawing/2014/main" id="{0252B7C6-352D-6BF3-E0F2-CAAB56D7AAD6}"/>
              </a:ext>
            </a:extLst>
          </p:cNvPr>
          <p:cNvGrpSpPr/>
          <p:nvPr/>
        </p:nvGrpSpPr>
        <p:grpSpPr>
          <a:xfrm>
            <a:off x="5953119" y="2540394"/>
            <a:ext cx="2565000" cy="1048647"/>
            <a:chOff x="7937492" y="3850192"/>
            <a:chExt cx="3420000" cy="1398196"/>
          </a:xfrm>
        </p:grpSpPr>
        <p:grpSp>
          <p:nvGrpSpPr>
            <p:cNvPr id="68" name="Group 67">
              <a:extLst>
                <a:ext uri="{FF2B5EF4-FFF2-40B4-BE49-F238E27FC236}">
                  <a16:creationId xmlns:a16="http://schemas.microsoft.com/office/drawing/2014/main" id="{DF00399D-8E9D-B7D2-9159-963A9E053712}"/>
                </a:ext>
              </a:extLst>
            </p:cNvPr>
            <p:cNvGrpSpPr/>
            <p:nvPr/>
          </p:nvGrpSpPr>
          <p:grpSpPr>
            <a:xfrm>
              <a:off x="7937492" y="3850192"/>
              <a:ext cx="3420000" cy="1398196"/>
              <a:chOff x="846950" y="3409278"/>
              <a:chExt cx="3466210" cy="2969533"/>
            </a:xfrm>
          </p:grpSpPr>
          <p:sp>
            <p:nvSpPr>
              <p:cNvPr id="69" name="Rectangle: Rounded Corners 68">
                <a:extLst>
                  <a:ext uri="{FF2B5EF4-FFF2-40B4-BE49-F238E27FC236}">
                    <a16:creationId xmlns:a16="http://schemas.microsoft.com/office/drawing/2014/main" id="{0BE72A8D-1B73-EABF-5559-704855AA41B7}"/>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1" name="Rectangle: Rounded Corners 70">
                <a:extLst>
                  <a:ext uri="{FF2B5EF4-FFF2-40B4-BE49-F238E27FC236}">
                    <a16:creationId xmlns:a16="http://schemas.microsoft.com/office/drawing/2014/main" id="{58E3173F-B77C-C1C8-DB48-7DA233C2DF69}"/>
                  </a:ext>
                </a:extLst>
              </p:cNvPr>
              <p:cNvSpPr/>
              <p:nvPr/>
            </p:nvSpPr>
            <p:spPr>
              <a:xfrm>
                <a:off x="897749" y="3409278"/>
                <a:ext cx="3415411" cy="2969533"/>
              </a:xfrm>
              <a:prstGeom prst="roundRect">
                <a:avLst/>
              </a:prstGeom>
              <a:solidFill>
                <a:srgbClr val="FEF0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91" name="TextBox 90">
              <a:extLst>
                <a:ext uri="{FF2B5EF4-FFF2-40B4-BE49-F238E27FC236}">
                  <a16:creationId xmlns:a16="http://schemas.microsoft.com/office/drawing/2014/main" id="{12A12122-96B5-E389-D618-8265699DBFDA}"/>
                </a:ext>
              </a:extLst>
            </p:cNvPr>
            <p:cNvSpPr txBox="1"/>
            <p:nvPr/>
          </p:nvSpPr>
          <p:spPr>
            <a:xfrm>
              <a:off x="8041968" y="3935268"/>
              <a:ext cx="2987668" cy="1179811"/>
            </a:xfrm>
            <a:prstGeom prst="rect">
              <a:avLst/>
            </a:prstGeom>
            <a:noFill/>
          </p:spPr>
          <p:txBody>
            <a:bodyPr wrap="square" rtlCol="0">
              <a:spAutoFit/>
            </a:bodyPr>
            <a:lstStyle/>
            <a:p>
              <a:r>
                <a:rPr lang="en-US" sz="1200" b="1">
                  <a:solidFill>
                    <a:srgbClr val="D3116E"/>
                  </a:solidFill>
                  <a:latin typeface="Space Grotesk" pitchFamily="2" charset="0"/>
                  <a:cs typeface="Space Grotesk" pitchFamily="2" charset="0"/>
                </a:rPr>
                <a:t>TITLE</a:t>
              </a:r>
            </a:p>
            <a:p>
              <a:r>
                <a:rPr lang="en-US" sz="1100" b="1">
                  <a:solidFill>
                    <a:schemeClr val="tx1">
                      <a:lumMod val="85000"/>
                      <a:lumOff val="15000"/>
                    </a:schemeClr>
                  </a:solidFill>
                  <a:latin typeface="Space Grotesk" pitchFamily="2" charset="0"/>
                  <a:cs typeface="Space Grotesk" pitchFamily="2" charset="0"/>
                </a:rPr>
                <a:t>Subtitle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 Lorum ipsum Lorum ipsum Lorum ipsum Lorum ipsum</a:t>
              </a:r>
            </a:p>
          </p:txBody>
        </p:sp>
      </p:grpSp>
      <p:grpSp>
        <p:nvGrpSpPr>
          <p:cNvPr id="133" name="Group 132">
            <a:extLst>
              <a:ext uri="{FF2B5EF4-FFF2-40B4-BE49-F238E27FC236}">
                <a16:creationId xmlns:a16="http://schemas.microsoft.com/office/drawing/2014/main" id="{BEAAA7EF-1725-D202-3780-4B5D3DC7632F}"/>
              </a:ext>
            </a:extLst>
          </p:cNvPr>
          <p:cNvGrpSpPr/>
          <p:nvPr/>
        </p:nvGrpSpPr>
        <p:grpSpPr>
          <a:xfrm>
            <a:off x="2226581" y="1092107"/>
            <a:ext cx="1485000" cy="1334036"/>
            <a:chOff x="2610761" y="1803393"/>
            <a:chExt cx="2047100" cy="1778714"/>
          </a:xfrm>
        </p:grpSpPr>
        <p:grpSp>
          <p:nvGrpSpPr>
            <p:cNvPr id="97" name="Group 96">
              <a:extLst>
                <a:ext uri="{FF2B5EF4-FFF2-40B4-BE49-F238E27FC236}">
                  <a16:creationId xmlns:a16="http://schemas.microsoft.com/office/drawing/2014/main" id="{B366E712-A0B2-B83E-568F-9CBDA27E32C8}"/>
                </a:ext>
              </a:extLst>
            </p:cNvPr>
            <p:cNvGrpSpPr/>
            <p:nvPr/>
          </p:nvGrpSpPr>
          <p:grpSpPr>
            <a:xfrm rot="5400000">
              <a:off x="2744954" y="1669200"/>
              <a:ext cx="1778714" cy="2047100"/>
              <a:chOff x="846950" y="3409278"/>
              <a:chExt cx="3466210" cy="2969533"/>
            </a:xfrm>
          </p:grpSpPr>
          <p:sp>
            <p:nvSpPr>
              <p:cNvPr id="98" name="Rectangle: Rounded Corners 97">
                <a:extLst>
                  <a:ext uri="{FF2B5EF4-FFF2-40B4-BE49-F238E27FC236}">
                    <a16:creationId xmlns:a16="http://schemas.microsoft.com/office/drawing/2014/main" id="{FF59A5E7-422D-519F-4FEA-B464EDDEF8A0}"/>
                  </a:ext>
                </a:extLst>
              </p:cNvPr>
              <p:cNvSpPr/>
              <p:nvPr/>
            </p:nvSpPr>
            <p:spPr>
              <a:xfrm>
                <a:off x="846950" y="3431396"/>
                <a:ext cx="2589773" cy="2939071"/>
              </a:xfrm>
              <a:prstGeom prst="roundRect">
                <a:avLst/>
              </a:prstGeom>
              <a:solidFill>
                <a:srgbClr val="F8A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00" name="Rectangle: Rounded Corners 99">
                <a:extLst>
                  <a:ext uri="{FF2B5EF4-FFF2-40B4-BE49-F238E27FC236}">
                    <a16:creationId xmlns:a16="http://schemas.microsoft.com/office/drawing/2014/main" id="{80A7E3A1-7831-A81B-C1D4-89166074E7D0}"/>
                  </a:ext>
                </a:extLst>
              </p:cNvPr>
              <p:cNvSpPr/>
              <p:nvPr/>
            </p:nvSpPr>
            <p:spPr>
              <a:xfrm>
                <a:off x="897749" y="3409278"/>
                <a:ext cx="3415411" cy="2969533"/>
              </a:xfrm>
              <a:prstGeom prst="roundRect">
                <a:avLst/>
              </a:prstGeom>
              <a:solidFill>
                <a:srgbClr val="FE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03" name="Group 102">
              <a:extLst>
                <a:ext uri="{FF2B5EF4-FFF2-40B4-BE49-F238E27FC236}">
                  <a16:creationId xmlns:a16="http://schemas.microsoft.com/office/drawing/2014/main" id="{7BD2E3A4-9C7F-300A-1DA2-E6B2DA6ED8B4}"/>
                </a:ext>
              </a:extLst>
            </p:cNvPr>
            <p:cNvGrpSpPr/>
            <p:nvPr/>
          </p:nvGrpSpPr>
          <p:grpSpPr>
            <a:xfrm>
              <a:off x="2718901" y="1940197"/>
              <a:ext cx="1799924" cy="1373624"/>
              <a:chOff x="369236" y="2275871"/>
              <a:chExt cx="1799924" cy="1373624"/>
            </a:xfrm>
          </p:grpSpPr>
          <p:sp>
            <p:nvSpPr>
              <p:cNvPr id="104" name="TextBox 103">
                <a:extLst>
                  <a:ext uri="{FF2B5EF4-FFF2-40B4-BE49-F238E27FC236}">
                    <a16:creationId xmlns:a16="http://schemas.microsoft.com/office/drawing/2014/main" id="{BF787327-C810-8822-E9A2-F48E5C8CC675}"/>
                  </a:ext>
                </a:extLst>
              </p:cNvPr>
              <p:cNvSpPr txBox="1"/>
              <p:nvPr/>
            </p:nvSpPr>
            <p:spPr>
              <a:xfrm>
                <a:off x="369236" y="2880054"/>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endParaRPr lang="en-US" sz="1000" b="1">
                  <a:solidFill>
                    <a:schemeClr val="tx1">
                      <a:lumMod val="85000"/>
                      <a:lumOff val="15000"/>
                    </a:schemeClr>
                  </a:solidFill>
                  <a:latin typeface="Space Grotesk" pitchFamily="2" charset="0"/>
                  <a:cs typeface="Space Grotesk" pitchFamily="2" charset="0"/>
                </a:endParaRP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05" name="Oval 104">
                <a:extLst>
                  <a:ext uri="{FF2B5EF4-FFF2-40B4-BE49-F238E27FC236}">
                    <a16:creationId xmlns:a16="http://schemas.microsoft.com/office/drawing/2014/main" id="{02A33EB0-7040-C3ED-CB49-F958E1F2AB2C}"/>
                  </a:ext>
                </a:extLst>
              </p:cNvPr>
              <p:cNvSpPr/>
              <p:nvPr/>
            </p:nvSpPr>
            <p:spPr>
              <a:xfrm>
                <a:off x="445245" y="2275871"/>
                <a:ext cx="575999" cy="538596"/>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4" name="Group 133">
            <a:extLst>
              <a:ext uri="{FF2B5EF4-FFF2-40B4-BE49-F238E27FC236}">
                <a16:creationId xmlns:a16="http://schemas.microsoft.com/office/drawing/2014/main" id="{C8EFFB69-CF3F-F119-27E2-4D7DD16DFF2D}"/>
              </a:ext>
            </a:extLst>
          </p:cNvPr>
          <p:cNvGrpSpPr/>
          <p:nvPr/>
        </p:nvGrpSpPr>
        <p:grpSpPr>
          <a:xfrm>
            <a:off x="3823774" y="1092107"/>
            <a:ext cx="1485000" cy="1334036"/>
            <a:chOff x="4798376" y="1803393"/>
            <a:chExt cx="2047100" cy="1778714"/>
          </a:xfrm>
        </p:grpSpPr>
        <p:grpSp>
          <p:nvGrpSpPr>
            <p:cNvPr id="107" name="Group 106">
              <a:extLst>
                <a:ext uri="{FF2B5EF4-FFF2-40B4-BE49-F238E27FC236}">
                  <a16:creationId xmlns:a16="http://schemas.microsoft.com/office/drawing/2014/main" id="{1B75E4D2-B54D-0495-1DBD-FDDFE09451BA}"/>
                </a:ext>
              </a:extLst>
            </p:cNvPr>
            <p:cNvGrpSpPr/>
            <p:nvPr/>
          </p:nvGrpSpPr>
          <p:grpSpPr>
            <a:xfrm rot="5400000">
              <a:off x="4932569" y="1669200"/>
              <a:ext cx="1778714" cy="2047100"/>
              <a:chOff x="846950" y="3409278"/>
              <a:chExt cx="3466210" cy="2969533"/>
            </a:xfrm>
          </p:grpSpPr>
          <p:sp>
            <p:nvSpPr>
              <p:cNvPr id="108" name="Rectangle: Rounded Corners 107">
                <a:extLst>
                  <a:ext uri="{FF2B5EF4-FFF2-40B4-BE49-F238E27FC236}">
                    <a16:creationId xmlns:a16="http://schemas.microsoft.com/office/drawing/2014/main" id="{CFD1BCBA-A17A-F9EC-E60B-2613489D1B45}"/>
                  </a:ext>
                </a:extLst>
              </p:cNvPr>
              <p:cNvSpPr/>
              <p:nvPr/>
            </p:nvSpPr>
            <p:spPr>
              <a:xfrm>
                <a:off x="846950" y="3431396"/>
                <a:ext cx="2589773" cy="293907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10" name="Rectangle: Rounded Corners 109">
                <a:extLst>
                  <a:ext uri="{FF2B5EF4-FFF2-40B4-BE49-F238E27FC236}">
                    <a16:creationId xmlns:a16="http://schemas.microsoft.com/office/drawing/2014/main" id="{0E02D652-45EC-C692-0FEE-93BAFC43C6C7}"/>
                  </a:ext>
                </a:extLst>
              </p:cNvPr>
              <p:cNvSpPr/>
              <p:nvPr/>
            </p:nvSpPr>
            <p:spPr>
              <a:xfrm>
                <a:off x="897749" y="3409278"/>
                <a:ext cx="3415411" cy="2969533"/>
              </a:xfrm>
              <a:prstGeom prst="roundRect">
                <a:avLst/>
              </a:prstGeom>
              <a:solidFill>
                <a:srgbClr val="E5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14" name="Group 113">
              <a:extLst>
                <a:ext uri="{FF2B5EF4-FFF2-40B4-BE49-F238E27FC236}">
                  <a16:creationId xmlns:a16="http://schemas.microsoft.com/office/drawing/2014/main" id="{766493DE-3065-2AEF-8BA1-5047146153F8}"/>
                </a:ext>
              </a:extLst>
            </p:cNvPr>
            <p:cNvGrpSpPr/>
            <p:nvPr/>
          </p:nvGrpSpPr>
          <p:grpSpPr>
            <a:xfrm>
              <a:off x="4906516" y="1940197"/>
              <a:ext cx="1799924" cy="1373625"/>
              <a:chOff x="369236" y="2275871"/>
              <a:chExt cx="1799924" cy="1373625"/>
            </a:xfrm>
          </p:grpSpPr>
          <p:sp>
            <p:nvSpPr>
              <p:cNvPr id="115" name="TextBox 114">
                <a:extLst>
                  <a:ext uri="{FF2B5EF4-FFF2-40B4-BE49-F238E27FC236}">
                    <a16:creationId xmlns:a16="http://schemas.microsoft.com/office/drawing/2014/main" id="{975B814A-0006-B010-70D9-C2F416B69720}"/>
                  </a:ext>
                </a:extLst>
              </p:cNvPr>
              <p:cNvSpPr txBox="1"/>
              <p:nvPr/>
            </p:nvSpPr>
            <p:spPr>
              <a:xfrm>
                <a:off x="369236" y="2880055"/>
                <a:ext cx="1799924" cy="769441"/>
              </a:xfrm>
              <a:prstGeom prst="rect">
                <a:avLst/>
              </a:prstGeom>
              <a:noFill/>
            </p:spPr>
            <p:txBody>
              <a:bodyPr wrap="square" rtlCol="0">
                <a:spAutoFit/>
              </a:bodyPr>
              <a:lstStyle/>
              <a:p>
                <a:r>
                  <a:rPr lang="en-US" sz="1200" b="1">
                    <a:latin typeface="Space Grotesk" pitchFamily="2" charset="0"/>
                    <a:cs typeface="Space Grotesk" pitchFamily="2" charset="0"/>
                  </a:rPr>
                  <a:t>TITLE</a:t>
                </a: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16" name="Oval 115">
                <a:extLst>
                  <a:ext uri="{FF2B5EF4-FFF2-40B4-BE49-F238E27FC236}">
                    <a16:creationId xmlns:a16="http://schemas.microsoft.com/office/drawing/2014/main" id="{15E5E29E-8239-4324-DBE2-7CF0D6D21EE2}"/>
                  </a:ext>
                </a:extLst>
              </p:cNvPr>
              <p:cNvSpPr/>
              <p:nvPr/>
            </p:nvSpPr>
            <p:spPr>
              <a:xfrm>
                <a:off x="445245" y="2275871"/>
                <a:ext cx="575999" cy="538596"/>
              </a:xfrm>
              <a:prstGeom prst="ellipse">
                <a:avLst/>
              </a:prstGeom>
              <a:solidFill>
                <a:srgbClr val="89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5" name="Group 134">
            <a:extLst>
              <a:ext uri="{FF2B5EF4-FFF2-40B4-BE49-F238E27FC236}">
                <a16:creationId xmlns:a16="http://schemas.microsoft.com/office/drawing/2014/main" id="{C5957345-C90F-B272-66E2-C3E8F55AE1C5}"/>
              </a:ext>
            </a:extLst>
          </p:cNvPr>
          <p:cNvGrpSpPr/>
          <p:nvPr/>
        </p:nvGrpSpPr>
        <p:grpSpPr>
          <a:xfrm>
            <a:off x="5420967" y="1092107"/>
            <a:ext cx="1485000" cy="1334036"/>
            <a:chOff x="6918200" y="1803393"/>
            <a:chExt cx="2047100" cy="1778714"/>
          </a:xfrm>
        </p:grpSpPr>
        <p:grpSp>
          <p:nvGrpSpPr>
            <p:cNvPr id="118" name="Group 117">
              <a:extLst>
                <a:ext uri="{FF2B5EF4-FFF2-40B4-BE49-F238E27FC236}">
                  <a16:creationId xmlns:a16="http://schemas.microsoft.com/office/drawing/2014/main" id="{A3345769-1821-6EF9-3240-A0BCEC4B5747}"/>
                </a:ext>
              </a:extLst>
            </p:cNvPr>
            <p:cNvGrpSpPr/>
            <p:nvPr/>
          </p:nvGrpSpPr>
          <p:grpSpPr>
            <a:xfrm rot="5400000">
              <a:off x="7052393" y="1669200"/>
              <a:ext cx="1778714" cy="2047100"/>
              <a:chOff x="846950" y="3409278"/>
              <a:chExt cx="3466210" cy="2969533"/>
            </a:xfrm>
          </p:grpSpPr>
          <p:sp>
            <p:nvSpPr>
              <p:cNvPr id="119" name="Rectangle: Rounded Corners 118">
                <a:extLst>
                  <a:ext uri="{FF2B5EF4-FFF2-40B4-BE49-F238E27FC236}">
                    <a16:creationId xmlns:a16="http://schemas.microsoft.com/office/drawing/2014/main" id="{21D6F683-A2AD-E43B-E8B3-168C60028061}"/>
                  </a:ext>
                </a:extLst>
              </p:cNvPr>
              <p:cNvSpPr/>
              <p:nvPr/>
            </p:nvSpPr>
            <p:spPr>
              <a:xfrm>
                <a:off x="846950" y="3431396"/>
                <a:ext cx="2589773" cy="2939071"/>
              </a:xfrm>
              <a:prstGeom prst="roundRect">
                <a:avLst/>
              </a:prstGeom>
              <a:solidFill>
                <a:srgbClr val="0400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0" name="Rectangle: Rounded Corners 119">
                <a:extLst>
                  <a:ext uri="{FF2B5EF4-FFF2-40B4-BE49-F238E27FC236}">
                    <a16:creationId xmlns:a16="http://schemas.microsoft.com/office/drawing/2014/main" id="{6AE0FAB9-C20B-2F28-14BF-10972DAC3A5E}"/>
                  </a:ext>
                </a:extLst>
              </p:cNvPr>
              <p:cNvSpPr/>
              <p:nvPr/>
            </p:nvSpPr>
            <p:spPr>
              <a:xfrm>
                <a:off x="897749" y="3409278"/>
                <a:ext cx="3415411" cy="2969533"/>
              </a:xfrm>
              <a:prstGeom prst="round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21" name="Group 120">
              <a:extLst>
                <a:ext uri="{FF2B5EF4-FFF2-40B4-BE49-F238E27FC236}">
                  <a16:creationId xmlns:a16="http://schemas.microsoft.com/office/drawing/2014/main" id="{7D3A37F8-D996-63B4-8405-9BC0D3668D0B}"/>
                </a:ext>
              </a:extLst>
            </p:cNvPr>
            <p:cNvGrpSpPr/>
            <p:nvPr/>
          </p:nvGrpSpPr>
          <p:grpSpPr>
            <a:xfrm>
              <a:off x="7026340" y="1940197"/>
              <a:ext cx="1799924" cy="1373623"/>
              <a:chOff x="369236" y="2275871"/>
              <a:chExt cx="1799924" cy="1373623"/>
            </a:xfrm>
          </p:grpSpPr>
          <p:sp>
            <p:nvSpPr>
              <p:cNvPr id="122" name="TextBox 121">
                <a:extLst>
                  <a:ext uri="{FF2B5EF4-FFF2-40B4-BE49-F238E27FC236}">
                    <a16:creationId xmlns:a16="http://schemas.microsoft.com/office/drawing/2014/main" id="{CD8F6BED-F711-4A98-9A52-34174EE3A5AC}"/>
                  </a:ext>
                </a:extLst>
              </p:cNvPr>
              <p:cNvSpPr txBox="1"/>
              <p:nvPr/>
            </p:nvSpPr>
            <p:spPr>
              <a:xfrm>
                <a:off x="369236" y="2880053"/>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23" name="Oval 122">
                <a:extLst>
                  <a:ext uri="{FF2B5EF4-FFF2-40B4-BE49-F238E27FC236}">
                    <a16:creationId xmlns:a16="http://schemas.microsoft.com/office/drawing/2014/main" id="{A58F797A-7DDE-AF32-F2E0-0A7993106B11}"/>
                  </a:ext>
                </a:extLst>
              </p:cNvPr>
              <p:cNvSpPr/>
              <p:nvPr/>
            </p:nvSpPr>
            <p:spPr>
              <a:xfrm>
                <a:off x="445245" y="2275871"/>
                <a:ext cx="575999" cy="538596"/>
              </a:xfrm>
              <a:prstGeom prst="ellipse">
                <a:avLst/>
              </a:prstGeom>
              <a:solidFill>
                <a:srgbClr val="2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36" name="Group 135">
            <a:extLst>
              <a:ext uri="{FF2B5EF4-FFF2-40B4-BE49-F238E27FC236}">
                <a16:creationId xmlns:a16="http://schemas.microsoft.com/office/drawing/2014/main" id="{9B1CF4FC-C9F1-5560-4E31-8EEAB3971643}"/>
              </a:ext>
            </a:extLst>
          </p:cNvPr>
          <p:cNvGrpSpPr/>
          <p:nvPr/>
        </p:nvGrpSpPr>
        <p:grpSpPr>
          <a:xfrm>
            <a:off x="7018160" y="1092107"/>
            <a:ext cx="1485000" cy="1334036"/>
            <a:chOff x="9311246" y="1803393"/>
            <a:chExt cx="2047100" cy="1778714"/>
          </a:xfrm>
        </p:grpSpPr>
        <p:grpSp>
          <p:nvGrpSpPr>
            <p:cNvPr id="125" name="Group 124">
              <a:extLst>
                <a:ext uri="{FF2B5EF4-FFF2-40B4-BE49-F238E27FC236}">
                  <a16:creationId xmlns:a16="http://schemas.microsoft.com/office/drawing/2014/main" id="{6D153F6C-29FB-3B64-8306-0A9ABFC1F746}"/>
                </a:ext>
              </a:extLst>
            </p:cNvPr>
            <p:cNvGrpSpPr/>
            <p:nvPr/>
          </p:nvGrpSpPr>
          <p:grpSpPr>
            <a:xfrm rot="5400000">
              <a:off x="9445439" y="1669200"/>
              <a:ext cx="1778714" cy="2047100"/>
              <a:chOff x="846950" y="3409278"/>
              <a:chExt cx="3466210" cy="2969533"/>
            </a:xfrm>
          </p:grpSpPr>
          <p:sp>
            <p:nvSpPr>
              <p:cNvPr id="126" name="Rectangle: Rounded Corners 125">
                <a:extLst>
                  <a:ext uri="{FF2B5EF4-FFF2-40B4-BE49-F238E27FC236}">
                    <a16:creationId xmlns:a16="http://schemas.microsoft.com/office/drawing/2014/main" id="{86419CB9-D3C8-7B0C-988B-FC281704EB9A}"/>
                  </a:ext>
                </a:extLst>
              </p:cNvPr>
              <p:cNvSpPr/>
              <p:nvPr/>
            </p:nvSpPr>
            <p:spPr>
              <a:xfrm>
                <a:off x="846950" y="3431396"/>
                <a:ext cx="2589773" cy="2939071"/>
              </a:xfrm>
              <a:prstGeom prst="roundRect">
                <a:avLst/>
              </a:prstGeom>
              <a:solidFill>
                <a:srgbClr val="38E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27" name="Rectangle: Rounded Corners 126">
                <a:extLst>
                  <a:ext uri="{FF2B5EF4-FFF2-40B4-BE49-F238E27FC236}">
                    <a16:creationId xmlns:a16="http://schemas.microsoft.com/office/drawing/2014/main" id="{C2C5886F-2E72-B353-5171-FCDECF3B2808}"/>
                  </a:ext>
                </a:extLst>
              </p:cNvPr>
              <p:cNvSpPr/>
              <p:nvPr/>
            </p:nvSpPr>
            <p:spPr>
              <a:xfrm>
                <a:off x="897749" y="3409278"/>
                <a:ext cx="3415411" cy="2969533"/>
              </a:xfrm>
              <a:prstGeom prst="roundRect">
                <a:avLst/>
              </a:prstGeom>
              <a:solidFill>
                <a:srgbClr val="EBFF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pSp>
          <p:nvGrpSpPr>
            <p:cNvPr id="128" name="Group 127">
              <a:extLst>
                <a:ext uri="{FF2B5EF4-FFF2-40B4-BE49-F238E27FC236}">
                  <a16:creationId xmlns:a16="http://schemas.microsoft.com/office/drawing/2014/main" id="{1EF263C2-F995-395F-6763-F66EC714CF7D}"/>
                </a:ext>
              </a:extLst>
            </p:cNvPr>
            <p:cNvGrpSpPr/>
            <p:nvPr/>
          </p:nvGrpSpPr>
          <p:grpSpPr>
            <a:xfrm>
              <a:off x="9349936" y="1940197"/>
              <a:ext cx="1799924" cy="1373623"/>
              <a:chOff x="369236" y="2275871"/>
              <a:chExt cx="1799924" cy="1373623"/>
            </a:xfrm>
          </p:grpSpPr>
          <p:sp>
            <p:nvSpPr>
              <p:cNvPr id="129" name="TextBox 128">
                <a:extLst>
                  <a:ext uri="{FF2B5EF4-FFF2-40B4-BE49-F238E27FC236}">
                    <a16:creationId xmlns:a16="http://schemas.microsoft.com/office/drawing/2014/main" id="{444581CF-F2B2-506B-C570-07F1C98BB377}"/>
                  </a:ext>
                </a:extLst>
              </p:cNvPr>
              <p:cNvSpPr txBox="1"/>
              <p:nvPr/>
            </p:nvSpPr>
            <p:spPr>
              <a:xfrm>
                <a:off x="369236" y="2880053"/>
                <a:ext cx="1799924" cy="769441"/>
              </a:xfrm>
              <a:prstGeom prst="rect">
                <a:avLst/>
              </a:prstGeom>
              <a:noFill/>
            </p:spPr>
            <p:txBody>
              <a:bodyPr wrap="square" rtlCol="0">
                <a:spAutoFit/>
              </a:bodyPr>
              <a:lstStyle/>
              <a:p>
                <a:r>
                  <a:rPr lang="en-US" sz="1200" b="1">
                    <a:solidFill>
                      <a:schemeClr val="tx1">
                        <a:lumMod val="85000"/>
                        <a:lumOff val="15000"/>
                      </a:schemeClr>
                    </a:solidFill>
                    <a:latin typeface="Space Grotesk" pitchFamily="2" charset="0"/>
                    <a:cs typeface="Space Grotesk" pitchFamily="2" charset="0"/>
                  </a:rPr>
                  <a:t>TITLE</a:t>
                </a:r>
              </a:p>
              <a:p>
                <a:pPr>
                  <a:defRPr/>
                </a:pPr>
                <a:endParaRPr lang="en-US" sz="150">
                  <a:solidFill>
                    <a:schemeClr val="tx1">
                      <a:lumMod val="85000"/>
                      <a:lumOff val="15000"/>
                    </a:schemeClr>
                  </a:solidFill>
                  <a:latin typeface="Space Grotesk" pitchFamily="2" charset="0"/>
                  <a:cs typeface="Space Grotesk" pitchFamily="2" charset="0"/>
                </a:endParaRPr>
              </a:p>
              <a:p>
                <a:pPr>
                  <a:defRPr/>
                </a:pPr>
                <a:r>
                  <a:rPr lang="en-US" sz="900">
                    <a:solidFill>
                      <a:schemeClr val="tx1">
                        <a:lumMod val="85000"/>
                        <a:lumOff val="15000"/>
                      </a:schemeClr>
                    </a:solidFill>
                    <a:latin typeface="Space Grotesk" pitchFamily="2" charset="0"/>
                    <a:cs typeface="Space Grotesk" pitchFamily="2" charset="0"/>
                  </a:rPr>
                  <a:t>Lorum ipsum Lorum ipsum Lorum ipsum</a:t>
                </a:r>
              </a:p>
            </p:txBody>
          </p:sp>
          <p:sp>
            <p:nvSpPr>
              <p:cNvPr id="130" name="Oval 129">
                <a:extLst>
                  <a:ext uri="{FF2B5EF4-FFF2-40B4-BE49-F238E27FC236}">
                    <a16:creationId xmlns:a16="http://schemas.microsoft.com/office/drawing/2014/main" id="{A1792CA7-AEDC-8FCE-DA3A-18FDE129146C}"/>
                  </a:ext>
                </a:extLst>
              </p:cNvPr>
              <p:cNvSpPr/>
              <p:nvPr/>
            </p:nvSpPr>
            <p:spPr>
              <a:xfrm>
                <a:off x="445245" y="2275871"/>
                <a:ext cx="575999" cy="538596"/>
              </a:xfrm>
              <a:prstGeom prst="ellipse">
                <a:avLst/>
              </a:prstGeom>
              <a:solidFill>
                <a:srgbClr val="38E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grpSp>
      </p:grpSp>
      <p:grpSp>
        <p:nvGrpSpPr>
          <p:cNvPr id="143" name="Group 142">
            <a:extLst>
              <a:ext uri="{FF2B5EF4-FFF2-40B4-BE49-F238E27FC236}">
                <a16:creationId xmlns:a16="http://schemas.microsoft.com/office/drawing/2014/main" id="{D66EBCD3-5544-0931-8BFD-D38E53FCEE16}"/>
              </a:ext>
            </a:extLst>
          </p:cNvPr>
          <p:cNvGrpSpPr/>
          <p:nvPr/>
        </p:nvGrpSpPr>
        <p:grpSpPr>
          <a:xfrm>
            <a:off x="622481" y="3689047"/>
            <a:ext cx="7895639" cy="538121"/>
            <a:chOff x="829975" y="4918729"/>
            <a:chExt cx="10527518" cy="717495"/>
          </a:xfrm>
        </p:grpSpPr>
        <p:sp>
          <p:nvSpPr>
            <p:cNvPr id="93" name="Rectangle: Rounded Corners 92">
              <a:extLst>
                <a:ext uri="{FF2B5EF4-FFF2-40B4-BE49-F238E27FC236}">
                  <a16:creationId xmlns:a16="http://schemas.microsoft.com/office/drawing/2014/main" id="{6EB18C74-6969-DC84-F873-ADBEFC5EF4F2}"/>
                </a:ext>
              </a:extLst>
            </p:cNvPr>
            <p:cNvSpPr/>
            <p:nvPr/>
          </p:nvSpPr>
          <p:spPr>
            <a:xfrm>
              <a:off x="829975" y="4918729"/>
              <a:ext cx="10527518" cy="717495"/>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39" name="Oval 138">
              <a:extLst>
                <a:ext uri="{FF2B5EF4-FFF2-40B4-BE49-F238E27FC236}">
                  <a16:creationId xmlns:a16="http://schemas.microsoft.com/office/drawing/2014/main" id="{B33DFBC4-632F-144F-DEBD-E9A6ED829FDE}"/>
                </a:ext>
              </a:extLst>
            </p:cNvPr>
            <p:cNvSpPr/>
            <p:nvPr/>
          </p:nvSpPr>
          <p:spPr>
            <a:xfrm>
              <a:off x="1042620" y="5032659"/>
              <a:ext cx="506472" cy="489633"/>
            </a:xfrm>
            <a:prstGeom prst="ellipse">
              <a:avLst/>
            </a:prstGeom>
            <a:solidFill>
              <a:srgbClr val="F8A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500" b="1">
                <a:latin typeface="Space Grotesk" pitchFamily="2" charset="0"/>
                <a:cs typeface="Space Grotesk" pitchFamily="2" charset="0"/>
              </a:endParaRPr>
            </a:p>
          </p:txBody>
        </p:sp>
        <p:sp>
          <p:nvSpPr>
            <p:cNvPr id="140" name="TextBox 139">
              <a:extLst>
                <a:ext uri="{FF2B5EF4-FFF2-40B4-BE49-F238E27FC236}">
                  <a16:creationId xmlns:a16="http://schemas.microsoft.com/office/drawing/2014/main" id="{0698E936-F959-9C9B-5335-A55D2A5AEAB7}"/>
                </a:ext>
              </a:extLst>
            </p:cNvPr>
            <p:cNvSpPr txBox="1"/>
            <p:nvPr/>
          </p:nvSpPr>
          <p:spPr>
            <a:xfrm>
              <a:off x="1761736" y="5013924"/>
              <a:ext cx="9387643" cy="553998"/>
            </a:xfrm>
            <a:prstGeom prst="rect">
              <a:avLst/>
            </a:prstGeom>
            <a:noFill/>
          </p:spPr>
          <p:txBody>
            <a:bodyPr wrap="square" rtlCol="0">
              <a:spAutoFit/>
            </a:bodyPr>
            <a:lstStyle/>
            <a:p>
              <a:r>
                <a:rPr lang="en-US" sz="1050" b="1">
                  <a:solidFill>
                    <a:srgbClr val="F8A94A"/>
                  </a:solidFill>
                  <a:latin typeface="Space Grotesk" pitchFamily="2" charset="0"/>
                  <a:cs typeface="Space Grotesk" pitchFamily="2" charset="0"/>
                </a:rPr>
                <a:t>TITLE</a:t>
              </a:r>
              <a:endParaRPr lang="en-US" sz="225">
                <a:solidFill>
                  <a:srgbClr val="F8A94A"/>
                </a:solidFill>
                <a:latin typeface="Space Grotesk" pitchFamily="2" charset="0"/>
                <a:cs typeface="Space Grotesk" pitchFamily="2" charset="0"/>
              </a:endParaRPr>
            </a:p>
            <a:p>
              <a:pPr>
                <a:defRPr/>
              </a:pPr>
              <a:r>
                <a:rPr lang="en-US" sz="1050">
                  <a:solidFill>
                    <a:schemeClr val="bg1">
                      <a:lumMod val="95000"/>
                    </a:schemeClr>
                  </a:solidFill>
                  <a:latin typeface="Space Grotesk" pitchFamily="2" charset="0"/>
                  <a:cs typeface="Space Grotesk" pitchFamily="2" charset="0"/>
                </a:rPr>
                <a:t>Lorum ipsum Lorum ipsum Lorum ipsum Lorum ipsum Lorum ipsum Lorum ipsum Lorum ipsum Lorum ipsum</a:t>
              </a:r>
            </a:p>
          </p:txBody>
        </p:sp>
      </p:grpSp>
      <p:grpSp>
        <p:nvGrpSpPr>
          <p:cNvPr id="142" name="Group 141">
            <a:extLst>
              <a:ext uri="{FF2B5EF4-FFF2-40B4-BE49-F238E27FC236}">
                <a16:creationId xmlns:a16="http://schemas.microsoft.com/office/drawing/2014/main" id="{7A973F7E-2007-CB1E-FED2-CB130B533DC0}"/>
              </a:ext>
            </a:extLst>
          </p:cNvPr>
          <p:cNvGrpSpPr/>
          <p:nvPr/>
        </p:nvGrpSpPr>
        <p:grpSpPr>
          <a:xfrm>
            <a:off x="622481" y="4359450"/>
            <a:ext cx="7895639" cy="538121"/>
            <a:chOff x="829975" y="5812599"/>
            <a:chExt cx="10527518" cy="717495"/>
          </a:xfrm>
        </p:grpSpPr>
        <p:sp>
          <p:nvSpPr>
            <p:cNvPr id="138" name="Rectangle: Rounded Corners 137">
              <a:extLst>
                <a:ext uri="{FF2B5EF4-FFF2-40B4-BE49-F238E27FC236}">
                  <a16:creationId xmlns:a16="http://schemas.microsoft.com/office/drawing/2014/main" id="{F4432A31-5A36-F7E3-58DD-CD85681F840F}"/>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solidFill>
                  <a:schemeClr val="tx2"/>
                </a:solidFill>
              </a:endParaRPr>
            </a:p>
          </p:txBody>
        </p:sp>
        <p:sp>
          <p:nvSpPr>
            <p:cNvPr id="141" name="TextBox 140">
              <a:extLst>
                <a:ext uri="{FF2B5EF4-FFF2-40B4-BE49-F238E27FC236}">
                  <a16:creationId xmlns:a16="http://schemas.microsoft.com/office/drawing/2014/main" id="{4CD96E2E-4D96-993A-1466-801D5EBC7CA6}"/>
                </a:ext>
              </a:extLst>
            </p:cNvPr>
            <p:cNvSpPr txBox="1"/>
            <p:nvPr/>
          </p:nvSpPr>
          <p:spPr>
            <a:xfrm>
              <a:off x="972716" y="5924359"/>
              <a:ext cx="9567063" cy="553998"/>
            </a:xfrm>
            <a:prstGeom prst="rect">
              <a:avLst/>
            </a:prstGeom>
            <a:noFill/>
          </p:spPr>
          <p:txBody>
            <a:bodyPr wrap="square" rtlCol="0">
              <a:spAutoFit/>
            </a:bodyPr>
            <a:lstStyle/>
            <a:p>
              <a:r>
                <a:rPr lang="en-US" sz="1050" b="1">
                  <a:solidFill>
                    <a:srgbClr val="F8A94A"/>
                  </a:solidFill>
                  <a:latin typeface="Space Grotesk" pitchFamily="2" charset="0"/>
                  <a:cs typeface="Space Grotesk" pitchFamily="2" charset="0"/>
                </a:rPr>
                <a:t>KEY TAKEAWAY </a:t>
              </a:r>
              <a:r>
                <a:rPr lang="en-US" sz="1050" b="1">
                  <a:solidFill>
                    <a:schemeClr val="bg1">
                      <a:lumMod val="95000"/>
                    </a:schemeClr>
                  </a:solidFill>
                  <a:latin typeface="Space Grotesk" pitchFamily="2" charset="0"/>
                  <a:cs typeface="Space Grotesk" pitchFamily="2" charset="0"/>
                </a:rPr>
                <a:t>– </a:t>
              </a:r>
              <a:r>
                <a:rPr lang="en-US" sz="1050" b="1" i="1">
                  <a:solidFill>
                    <a:schemeClr val="bg1">
                      <a:lumMod val="95000"/>
                    </a:schemeClr>
                  </a:solidFill>
                  <a:latin typeface="Space Grotesk" pitchFamily="2" charset="0"/>
                  <a:cs typeface="Space Grotesk" pitchFamily="2" charset="0"/>
                </a:rPr>
                <a:t>“L</a:t>
              </a:r>
              <a:r>
                <a:rPr lang="en-US" sz="1050" i="1">
                  <a:solidFill>
                    <a:schemeClr val="bg1">
                      <a:lumMod val="95000"/>
                    </a:schemeClr>
                  </a:solidFill>
                  <a:latin typeface="Space Grotesk" pitchFamily="2" charset="0"/>
                  <a:cs typeface="Space Grotesk" pitchFamily="2" charset="0"/>
                </a:rPr>
                <a:t>orum ipsum Lorum ipsum Lorum ipsum Lorum ipsum Lorum ipsum Lorum ipsum Lorum ipsum”</a:t>
              </a:r>
            </a:p>
          </p:txBody>
        </p:sp>
      </p:grpSp>
      <p:pic>
        <p:nvPicPr>
          <p:cNvPr id="17" name="Graphic 16" descr="User with solid fill">
            <a:extLst>
              <a:ext uri="{FF2B5EF4-FFF2-40B4-BE49-F238E27FC236}">
                <a16:creationId xmlns:a16="http://schemas.microsoft.com/office/drawing/2014/main" id="{F862DA52-F141-C975-C34D-A4C630406D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729" y="1216381"/>
            <a:ext cx="326325" cy="326325"/>
          </a:xfrm>
          <a:prstGeom prst="rect">
            <a:avLst/>
          </a:prstGeom>
        </p:spPr>
      </p:pic>
      <p:pic>
        <p:nvPicPr>
          <p:cNvPr id="4" name="Graphic 3" descr="User with solid fill">
            <a:extLst>
              <a:ext uri="{FF2B5EF4-FFF2-40B4-BE49-F238E27FC236}">
                <a16:creationId xmlns:a16="http://schemas.microsoft.com/office/drawing/2014/main" id="{89704CFF-F4FF-5FE3-A307-C9AC37562F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1346" y="1216381"/>
            <a:ext cx="326325" cy="326325"/>
          </a:xfrm>
          <a:prstGeom prst="rect">
            <a:avLst/>
          </a:prstGeom>
        </p:spPr>
      </p:pic>
      <p:pic>
        <p:nvPicPr>
          <p:cNvPr id="5" name="Graphic 4" descr="User with solid fill">
            <a:extLst>
              <a:ext uri="{FF2B5EF4-FFF2-40B4-BE49-F238E27FC236}">
                <a16:creationId xmlns:a16="http://schemas.microsoft.com/office/drawing/2014/main" id="{921BA807-F9A8-DEB7-4C3B-495C5D51C4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99626" y="1216381"/>
            <a:ext cx="326325" cy="326325"/>
          </a:xfrm>
          <a:prstGeom prst="rect">
            <a:avLst/>
          </a:prstGeom>
        </p:spPr>
      </p:pic>
      <p:pic>
        <p:nvPicPr>
          <p:cNvPr id="10" name="Graphic 9" descr="User with solid fill">
            <a:extLst>
              <a:ext uri="{FF2B5EF4-FFF2-40B4-BE49-F238E27FC236}">
                <a16:creationId xmlns:a16="http://schemas.microsoft.com/office/drawing/2014/main" id="{03B63C69-E0C3-56DB-A0EF-F9C2152E00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0308" y="1216381"/>
            <a:ext cx="326325" cy="326325"/>
          </a:xfrm>
          <a:prstGeom prst="rect">
            <a:avLst/>
          </a:prstGeom>
        </p:spPr>
      </p:pic>
      <p:pic>
        <p:nvPicPr>
          <p:cNvPr id="11" name="Graphic 10" descr="User with solid fill">
            <a:extLst>
              <a:ext uri="{FF2B5EF4-FFF2-40B4-BE49-F238E27FC236}">
                <a16:creationId xmlns:a16="http://schemas.microsoft.com/office/drawing/2014/main" id="{7F7F627D-606B-0F33-147A-F3DECAC5AC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40030" y="1216381"/>
            <a:ext cx="326325" cy="326325"/>
          </a:xfrm>
          <a:prstGeom prst="rect">
            <a:avLst/>
          </a:prstGeom>
        </p:spPr>
      </p:pic>
      <p:sp>
        <p:nvSpPr>
          <p:cNvPr id="3" name="Tekstvak 5" descr="MVX23_Logo_Basislogo_Full_colour_Wit">
            <a:extLst>
              <a:ext uri="{FF2B5EF4-FFF2-40B4-BE49-F238E27FC236}">
                <a16:creationId xmlns:a16="http://schemas.microsoft.com/office/drawing/2014/main" id="{D7089022-4558-440B-858C-1794B47FB3A1}"/>
              </a:ext>
            </a:extLst>
          </p:cNvPr>
          <p:cNvSpPr txBox="1"/>
          <p:nvPr/>
        </p:nvSpPr>
        <p:spPr>
          <a:xfrm>
            <a:off x="665693" y="20584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Asset Template (1)</a:t>
            </a:r>
            <a:endParaRPr lang="en-US" sz="3300" b="1" noProof="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2039583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9DD-43F0-A7E0-0127-10CB2999942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44214AA4-2442-C39B-3A58-64F70ADDA6C1}"/>
              </a:ext>
            </a:extLst>
          </p:cNvPr>
          <p:cNvGrpSpPr/>
          <p:nvPr/>
        </p:nvGrpSpPr>
        <p:grpSpPr>
          <a:xfrm>
            <a:off x="271549" y="1346196"/>
            <a:ext cx="3949519" cy="1313387"/>
            <a:chOff x="622482" y="1258363"/>
            <a:chExt cx="3949519" cy="1313387"/>
          </a:xfrm>
        </p:grpSpPr>
        <p:sp>
          <p:nvSpPr>
            <p:cNvPr id="3" name="Rectangle: Rounded Corners 2">
              <a:extLst>
                <a:ext uri="{FF2B5EF4-FFF2-40B4-BE49-F238E27FC236}">
                  <a16:creationId xmlns:a16="http://schemas.microsoft.com/office/drawing/2014/main" id="{2349F4DF-82CA-0C0C-3FF8-9F2B13B817BE}"/>
                </a:ext>
              </a:extLst>
            </p:cNvPr>
            <p:cNvSpPr/>
            <p:nvPr/>
          </p:nvSpPr>
          <p:spPr>
            <a:xfrm>
              <a:off x="622482" y="1258363"/>
              <a:ext cx="3949519" cy="1313387"/>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7" name="TextBox 6">
              <a:extLst>
                <a:ext uri="{FF2B5EF4-FFF2-40B4-BE49-F238E27FC236}">
                  <a16:creationId xmlns:a16="http://schemas.microsoft.com/office/drawing/2014/main" id="{175BCBDE-33CC-8037-3A7C-9A7F4A292F21}"/>
                </a:ext>
              </a:extLst>
            </p:cNvPr>
            <p:cNvSpPr txBox="1"/>
            <p:nvPr/>
          </p:nvSpPr>
          <p:spPr>
            <a:xfrm>
              <a:off x="826485" y="1399859"/>
              <a:ext cx="3557427" cy="1094595"/>
            </a:xfrm>
            <a:prstGeom prst="rect">
              <a:avLst/>
            </a:prstGeom>
            <a:noFill/>
          </p:spPr>
          <p:txBody>
            <a:bodyPr wrap="square" rtlCol="0">
              <a:spAutoFit/>
            </a:bodyPr>
            <a:lstStyle/>
            <a:p>
              <a:r>
                <a:rPr lang="en-US" sz="1200" b="1" spc="225">
                  <a:solidFill>
                    <a:srgbClr val="F2F2F2"/>
                  </a:solidFill>
                  <a:latin typeface="Space Grotesk" pitchFamily="2" charset="0"/>
                  <a:cs typeface="Space Grotesk" pitchFamily="2" charset="0"/>
                </a:rPr>
                <a:t>KEY TAKEAWAY</a:t>
              </a:r>
            </a:p>
            <a:p>
              <a:pPr>
                <a:defRPr/>
              </a:pPr>
              <a:endParaRPr lang="en-US" sz="788">
                <a:solidFill>
                  <a:schemeClr val="bg1"/>
                </a:solidFill>
                <a:latin typeface="Space Grotesk" pitchFamily="2" charset="0"/>
                <a:cs typeface="Space Grotesk" pitchFamily="2" charset="0"/>
              </a:endParaRPr>
            </a:p>
            <a:p>
              <a:pPr>
                <a:defRPr/>
              </a:pPr>
              <a:r>
                <a:rPr lang="en-US" sz="1400">
                  <a:solidFill>
                    <a:schemeClr val="bg1"/>
                  </a:solidFill>
                  <a:latin typeface="Space Grotesk bold" pitchFamily="2" charset="0"/>
                  <a:cs typeface="Space Grotesk bold" pitchFamily="2" charset="0"/>
                </a:rPr>
                <a:t>The risk is not just what AI </a:t>
              </a:r>
              <a:r>
                <a:rPr lang="en-US" sz="1400">
                  <a:solidFill>
                    <a:srgbClr val="F8A94A"/>
                  </a:solidFill>
                  <a:latin typeface="Space Grotesk bold" pitchFamily="2" charset="0"/>
                  <a:cs typeface="Space Grotesk bold" pitchFamily="2" charset="0"/>
                </a:rPr>
                <a:t>produces</a:t>
              </a:r>
              <a:r>
                <a:rPr lang="en-US" sz="1400">
                  <a:solidFill>
                    <a:srgbClr val="F79421"/>
                  </a:solidFill>
                  <a:latin typeface="Space Grotesk bold" pitchFamily="2" charset="0"/>
                  <a:cs typeface="Space Grotesk bold" pitchFamily="2" charset="0"/>
                </a:rPr>
                <a:t> </a:t>
              </a:r>
              <a:r>
                <a:rPr lang="en-US" sz="1400">
                  <a:solidFill>
                    <a:schemeClr val="bg1"/>
                  </a:solidFill>
                  <a:latin typeface="Space Grotesk bold" pitchFamily="2" charset="0"/>
                  <a:cs typeface="Space Grotesk bold" pitchFamily="2" charset="0"/>
                </a:rPr>
                <a:t>– it is what you </a:t>
              </a:r>
              <a:r>
                <a:rPr lang="en-US" sz="1400">
                  <a:solidFill>
                    <a:srgbClr val="F8A94A"/>
                  </a:solidFill>
                  <a:latin typeface="Space Grotesk bold" pitchFamily="2" charset="0"/>
                  <a:cs typeface="Space Grotesk bold" pitchFamily="2" charset="0"/>
                </a:rPr>
                <a:t>feed into it</a:t>
              </a:r>
              <a:r>
                <a:rPr lang="en-US" sz="1400">
                  <a:solidFill>
                    <a:schemeClr val="bg1"/>
                  </a:solidFill>
                  <a:latin typeface="Space Grotesk bold" pitchFamily="2" charset="0"/>
                  <a:cs typeface="Space Grotesk bold" pitchFamily="2" charset="0"/>
                </a:rPr>
                <a:t>.</a:t>
              </a:r>
            </a:p>
            <a:p>
              <a:pPr>
                <a:defRPr/>
              </a:pPr>
              <a:endParaRPr lang="en-US" sz="900">
                <a:solidFill>
                  <a:srgbClr val="F79421"/>
                </a:solidFill>
                <a:latin typeface="Space Grotesk bold" pitchFamily="2" charset="0"/>
                <a:cs typeface="Space Grotesk bold" pitchFamily="2" charset="0"/>
              </a:endParaRPr>
            </a:p>
            <a:p>
              <a:pPr>
                <a:defRPr/>
              </a:pPr>
              <a:r>
                <a:rPr lang="en-US" sz="825">
                  <a:solidFill>
                    <a:schemeClr val="bg1">
                      <a:lumMod val="85000"/>
                    </a:schemeClr>
                  </a:solidFill>
                  <a:latin typeface="Space Grotesk bold" pitchFamily="2" charset="0"/>
                  <a:cs typeface="Space Grotesk bold" pitchFamily="2" charset="0"/>
                </a:rPr>
                <a:t>In finance, data is sensitive by default, not exception</a:t>
              </a:r>
            </a:p>
          </p:txBody>
        </p:sp>
      </p:grpSp>
      <p:grpSp>
        <p:nvGrpSpPr>
          <p:cNvPr id="6" name="Group 5">
            <a:extLst>
              <a:ext uri="{FF2B5EF4-FFF2-40B4-BE49-F238E27FC236}">
                <a16:creationId xmlns:a16="http://schemas.microsoft.com/office/drawing/2014/main" id="{515C28A0-E46C-AE00-6E56-90C60D983D01}"/>
              </a:ext>
            </a:extLst>
          </p:cNvPr>
          <p:cNvGrpSpPr/>
          <p:nvPr/>
        </p:nvGrpSpPr>
        <p:grpSpPr>
          <a:xfrm>
            <a:off x="4349369" y="1346196"/>
            <a:ext cx="4523082" cy="1395750"/>
            <a:chOff x="624401" y="2955203"/>
            <a:chExt cx="4523082" cy="1395750"/>
          </a:xfrm>
        </p:grpSpPr>
        <p:grpSp>
          <p:nvGrpSpPr>
            <p:cNvPr id="10" name="Group 9">
              <a:extLst>
                <a:ext uri="{FF2B5EF4-FFF2-40B4-BE49-F238E27FC236}">
                  <a16:creationId xmlns:a16="http://schemas.microsoft.com/office/drawing/2014/main" id="{33A445E8-51AE-48E2-CE8D-9AB7FAFA118A}"/>
                </a:ext>
              </a:extLst>
            </p:cNvPr>
            <p:cNvGrpSpPr/>
            <p:nvPr/>
          </p:nvGrpSpPr>
          <p:grpSpPr>
            <a:xfrm>
              <a:off x="624401" y="2955203"/>
              <a:ext cx="4523082" cy="1395750"/>
              <a:chOff x="845757" y="3384273"/>
              <a:chExt cx="3404217" cy="1398196"/>
            </a:xfrm>
          </p:grpSpPr>
          <p:grpSp>
            <p:nvGrpSpPr>
              <p:cNvPr id="11" name="Group 10">
                <a:extLst>
                  <a:ext uri="{FF2B5EF4-FFF2-40B4-BE49-F238E27FC236}">
                    <a16:creationId xmlns:a16="http://schemas.microsoft.com/office/drawing/2014/main" id="{BD625097-3B16-BB9E-C1E0-2E3BC2653935}"/>
                  </a:ext>
                </a:extLst>
              </p:cNvPr>
              <p:cNvGrpSpPr/>
              <p:nvPr/>
            </p:nvGrpSpPr>
            <p:grpSpPr>
              <a:xfrm>
                <a:off x="845757" y="3384273"/>
                <a:ext cx="3404217" cy="1398196"/>
                <a:chOff x="862945" y="3409277"/>
                <a:chExt cx="3450215" cy="2969533"/>
              </a:xfrm>
            </p:grpSpPr>
            <p:sp>
              <p:nvSpPr>
                <p:cNvPr id="14" name="Rectangle: Rounded Corners 13">
                  <a:extLst>
                    <a:ext uri="{FF2B5EF4-FFF2-40B4-BE49-F238E27FC236}">
                      <a16:creationId xmlns:a16="http://schemas.microsoft.com/office/drawing/2014/main" id="{2C6D4A40-94D7-BEEC-DEA6-FB6F6E287B06}"/>
                    </a:ext>
                  </a:extLst>
                </p:cNvPr>
                <p:cNvSpPr/>
                <p:nvPr/>
              </p:nvSpPr>
              <p:spPr>
                <a:xfrm>
                  <a:off x="862945" y="3431396"/>
                  <a:ext cx="2354339" cy="2939072"/>
                </a:xfrm>
                <a:prstGeom prst="roundRect">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5" name="Rectangle: Rounded Corners 14">
                  <a:extLst>
                    <a:ext uri="{FF2B5EF4-FFF2-40B4-BE49-F238E27FC236}">
                      <a16:creationId xmlns:a16="http://schemas.microsoft.com/office/drawing/2014/main" id="{32B04B6E-C13C-AAB9-D0BF-27453A11DE77}"/>
                    </a:ext>
                  </a:extLst>
                </p:cNvPr>
                <p:cNvSpPr/>
                <p:nvPr/>
              </p:nvSpPr>
              <p:spPr>
                <a:xfrm>
                  <a:off x="897749" y="3409277"/>
                  <a:ext cx="3415411" cy="2969533"/>
                </a:xfrm>
                <a:prstGeom prst="roundRect">
                  <a:avLst/>
                </a:prstGeom>
                <a:solidFill>
                  <a:srgbClr val="FEF8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13" name="TextBox 12">
                <a:extLst>
                  <a:ext uri="{FF2B5EF4-FFF2-40B4-BE49-F238E27FC236}">
                    <a16:creationId xmlns:a16="http://schemas.microsoft.com/office/drawing/2014/main" id="{62EE1884-F316-D1E4-01C2-796C47135A36}"/>
                  </a:ext>
                </a:extLst>
              </p:cNvPr>
              <p:cNvSpPr txBox="1"/>
              <p:nvPr/>
            </p:nvSpPr>
            <p:spPr>
              <a:xfrm>
                <a:off x="997851" y="3472268"/>
                <a:ext cx="3169036" cy="547260"/>
              </a:xfrm>
              <a:prstGeom prst="rect">
                <a:avLst/>
              </a:prstGeom>
              <a:noFill/>
            </p:spPr>
            <p:txBody>
              <a:bodyPr wrap="square" rtlCol="0">
                <a:spAutoFit/>
              </a:bodyPr>
              <a:lstStyle/>
              <a:p>
                <a:pPr algn="ctr"/>
                <a:r>
                  <a:rPr lang="en-US" sz="1600" b="1">
                    <a:solidFill>
                      <a:srgbClr val="F79421"/>
                    </a:solidFill>
                    <a:latin typeface="Space Grotesk bold" pitchFamily="2" charset="0"/>
                    <a:cs typeface="Space Grotesk bold" pitchFamily="2" charset="0"/>
                  </a:rPr>
                  <a:t>Title placeholder</a:t>
                </a:r>
              </a:p>
              <a:p>
                <a:pPr algn="ctr"/>
                <a:r>
                  <a:rPr lang="en-US" sz="1200" b="1" i="1">
                    <a:solidFill>
                      <a:schemeClr val="bg1">
                        <a:lumMod val="10000"/>
                      </a:schemeClr>
                    </a:solidFill>
                    <a:latin typeface="Space Grotesk" pitchFamily="2" charset="0"/>
                    <a:cs typeface="Space Grotesk" pitchFamily="2" charset="0"/>
                  </a:rPr>
                  <a:t>“Subtitle or quote placeholder”</a:t>
                </a:r>
                <a:endParaRPr lang="en-US" sz="825" b="1" i="1">
                  <a:solidFill>
                    <a:schemeClr val="bg1">
                      <a:lumMod val="10000"/>
                    </a:schemeClr>
                  </a:solidFill>
                  <a:latin typeface="Space Grotesk" pitchFamily="2" charset="0"/>
                  <a:cs typeface="Space Grotesk" pitchFamily="2" charset="0"/>
                </a:endParaRPr>
              </a:p>
              <a:p>
                <a:pPr algn="ctr">
                  <a:defRPr/>
                </a:pPr>
                <a:endParaRPr lang="en-US" sz="150">
                  <a:solidFill>
                    <a:prstClr val="black"/>
                  </a:solidFill>
                  <a:latin typeface="Space Grotesk" pitchFamily="2" charset="0"/>
                  <a:cs typeface="Space Grotesk" pitchFamily="2" charset="0"/>
                </a:endParaRPr>
              </a:p>
            </p:txBody>
          </p:sp>
        </p:grpSp>
        <p:sp>
          <p:nvSpPr>
            <p:cNvPr id="16" name="Rectangle: Rounded Corners 15">
              <a:extLst>
                <a:ext uri="{FF2B5EF4-FFF2-40B4-BE49-F238E27FC236}">
                  <a16:creationId xmlns:a16="http://schemas.microsoft.com/office/drawing/2014/main" id="{A98E2CB4-B7F7-70AA-7B90-9BA6D8394AF7}"/>
                </a:ext>
              </a:extLst>
            </p:cNvPr>
            <p:cNvSpPr/>
            <p:nvPr/>
          </p:nvSpPr>
          <p:spPr>
            <a:xfrm>
              <a:off x="826484" y="3640537"/>
              <a:ext cx="1345216" cy="489201"/>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9" name="Rectangle: Rounded Corners 18">
              <a:extLst>
                <a:ext uri="{FF2B5EF4-FFF2-40B4-BE49-F238E27FC236}">
                  <a16:creationId xmlns:a16="http://schemas.microsoft.com/office/drawing/2014/main" id="{C368DBBD-BCC7-086E-C473-4BD6E02100E0}"/>
                </a:ext>
              </a:extLst>
            </p:cNvPr>
            <p:cNvSpPr/>
            <p:nvPr/>
          </p:nvSpPr>
          <p:spPr>
            <a:xfrm>
              <a:off x="2240085" y="3630140"/>
              <a:ext cx="1345216" cy="509994"/>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Rectangle: Rounded Corners 19">
              <a:extLst>
                <a:ext uri="{FF2B5EF4-FFF2-40B4-BE49-F238E27FC236}">
                  <a16:creationId xmlns:a16="http://schemas.microsoft.com/office/drawing/2014/main" id="{7827680B-BEEF-1E82-E04A-8E2B08EB745E}"/>
                </a:ext>
              </a:extLst>
            </p:cNvPr>
            <p:cNvSpPr/>
            <p:nvPr/>
          </p:nvSpPr>
          <p:spPr>
            <a:xfrm>
              <a:off x="3653773" y="3630140"/>
              <a:ext cx="1345216" cy="509994"/>
            </a:xfrm>
            <a:prstGeom prst="round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1" name="Oval 20">
              <a:extLst>
                <a:ext uri="{FF2B5EF4-FFF2-40B4-BE49-F238E27FC236}">
                  <a16:creationId xmlns:a16="http://schemas.microsoft.com/office/drawing/2014/main" id="{58E3A008-0843-BD82-4DCF-A7BD477D1906}"/>
                </a:ext>
              </a:extLst>
            </p:cNvPr>
            <p:cNvSpPr/>
            <p:nvPr/>
          </p:nvSpPr>
          <p:spPr>
            <a:xfrm>
              <a:off x="933972"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1</a:t>
              </a:r>
              <a:endParaRPr lang="en-GB" sz="1500" b="1">
                <a:latin typeface="Space Grotesk" pitchFamily="2" charset="0"/>
                <a:cs typeface="Space Grotesk" pitchFamily="2" charset="0"/>
              </a:endParaRPr>
            </a:p>
          </p:txBody>
        </p:sp>
        <p:sp>
          <p:nvSpPr>
            <p:cNvPr id="22" name="Oval 21">
              <a:extLst>
                <a:ext uri="{FF2B5EF4-FFF2-40B4-BE49-F238E27FC236}">
                  <a16:creationId xmlns:a16="http://schemas.microsoft.com/office/drawing/2014/main" id="{EAE6FFE4-23B1-3BE8-59B0-4EC67E8744BB}"/>
                </a:ext>
              </a:extLst>
            </p:cNvPr>
            <p:cNvSpPr/>
            <p:nvPr/>
          </p:nvSpPr>
          <p:spPr>
            <a:xfrm>
              <a:off x="2327522"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2</a:t>
              </a:r>
              <a:endParaRPr lang="en-GB" sz="1500" b="1">
                <a:latin typeface="Space Grotesk" pitchFamily="2" charset="0"/>
                <a:cs typeface="Space Grotesk" pitchFamily="2" charset="0"/>
              </a:endParaRPr>
            </a:p>
          </p:txBody>
        </p:sp>
        <p:sp>
          <p:nvSpPr>
            <p:cNvPr id="23" name="Oval 22">
              <a:extLst>
                <a:ext uri="{FF2B5EF4-FFF2-40B4-BE49-F238E27FC236}">
                  <a16:creationId xmlns:a16="http://schemas.microsoft.com/office/drawing/2014/main" id="{F3405043-DC2A-7380-5FC2-DC7E57E53E54}"/>
                </a:ext>
              </a:extLst>
            </p:cNvPr>
            <p:cNvSpPr/>
            <p:nvPr/>
          </p:nvSpPr>
          <p:spPr>
            <a:xfrm>
              <a:off x="3741757" y="3754283"/>
              <a:ext cx="285390" cy="275901"/>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latin typeface="Space Grotesk" pitchFamily="2" charset="0"/>
                  <a:cs typeface="Space Grotesk" pitchFamily="2" charset="0"/>
                </a:rPr>
                <a:t>3</a:t>
              </a:r>
              <a:endParaRPr lang="en-GB" sz="1500" b="1">
                <a:latin typeface="Space Grotesk" pitchFamily="2" charset="0"/>
                <a:cs typeface="Space Grotesk" pitchFamily="2" charset="0"/>
              </a:endParaRPr>
            </a:p>
          </p:txBody>
        </p:sp>
        <p:sp>
          <p:nvSpPr>
            <p:cNvPr id="24" name="TextBox 23">
              <a:extLst>
                <a:ext uri="{FF2B5EF4-FFF2-40B4-BE49-F238E27FC236}">
                  <a16:creationId xmlns:a16="http://schemas.microsoft.com/office/drawing/2014/main" id="{BA9F3A40-840F-5F2E-B34E-806D544BC70F}"/>
                </a:ext>
              </a:extLst>
            </p:cNvPr>
            <p:cNvSpPr txBox="1"/>
            <p:nvPr/>
          </p:nvSpPr>
          <p:spPr>
            <a:xfrm>
              <a:off x="123981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sp>
          <p:nvSpPr>
            <p:cNvPr id="25" name="TextBox 24">
              <a:extLst>
                <a:ext uri="{FF2B5EF4-FFF2-40B4-BE49-F238E27FC236}">
                  <a16:creationId xmlns:a16="http://schemas.microsoft.com/office/drawing/2014/main" id="{562C572B-C86E-28D9-DF7E-26C41C0F842A}"/>
                </a:ext>
              </a:extLst>
            </p:cNvPr>
            <p:cNvSpPr txBox="1"/>
            <p:nvPr/>
          </p:nvSpPr>
          <p:spPr>
            <a:xfrm>
              <a:off x="263769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sp>
          <p:nvSpPr>
            <p:cNvPr id="26" name="TextBox 25">
              <a:extLst>
                <a:ext uri="{FF2B5EF4-FFF2-40B4-BE49-F238E27FC236}">
                  <a16:creationId xmlns:a16="http://schemas.microsoft.com/office/drawing/2014/main" id="{E864F30C-C640-CC7E-41DC-EDBE11491280}"/>
                </a:ext>
              </a:extLst>
            </p:cNvPr>
            <p:cNvSpPr txBox="1"/>
            <p:nvPr/>
          </p:nvSpPr>
          <p:spPr>
            <a:xfrm>
              <a:off x="4027147" y="3724297"/>
              <a:ext cx="922271" cy="369332"/>
            </a:xfrm>
            <a:prstGeom prst="rect">
              <a:avLst/>
            </a:prstGeom>
            <a:noFill/>
          </p:spPr>
          <p:txBody>
            <a:bodyPr wrap="square" rtlCol="0">
              <a:spAutoFit/>
            </a:bodyPr>
            <a:lstStyle/>
            <a:p>
              <a:r>
                <a:rPr lang="en-US" sz="900">
                  <a:solidFill>
                    <a:schemeClr val="bg1">
                      <a:lumMod val="10000"/>
                    </a:schemeClr>
                  </a:solidFill>
                  <a:latin typeface="Space Grotesk" pitchFamily="2" charset="0"/>
                  <a:cs typeface="Space Grotesk" pitchFamily="2" charset="0"/>
                </a:rPr>
                <a:t>Lorum ipsum Lorum ipsum</a:t>
              </a:r>
            </a:p>
          </p:txBody>
        </p:sp>
      </p:grpSp>
      <p:grpSp>
        <p:nvGrpSpPr>
          <p:cNvPr id="12" name="Group 11">
            <a:extLst>
              <a:ext uri="{FF2B5EF4-FFF2-40B4-BE49-F238E27FC236}">
                <a16:creationId xmlns:a16="http://schemas.microsoft.com/office/drawing/2014/main" id="{6FDE94E5-94B8-2EE5-4AAF-53876FC2E5B1}"/>
              </a:ext>
            </a:extLst>
          </p:cNvPr>
          <p:cNvGrpSpPr/>
          <p:nvPr/>
        </p:nvGrpSpPr>
        <p:grpSpPr>
          <a:xfrm>
            <a:off x="279505" y="3535680"/>
            <a:ext cx="8592946" cy="1054175"/>
            <a:chOff x="622482" y="1258363"/>
            <a:chExt cx="3949519" cy="1313387"/>
          </a:xfrm>
        </p:grpSpPr>
        <p:sp>
          <p:nvSpPr>
            <p:cNvPr id="17" name="Rectangle: Rounded Corners 16">
              <a:extLst>
                <a:ext uri="{FF2B5EF4-FFF2-40B4-BE49-F238E27FC236}">
                  <a16:creationId xmlns:a16="http://schemas.microsoft.com/office/drawing/2014/main" id="{30CD3AF4-6D1D-7AE9-6FD1-44D90B0954EE}"/>
                </a:ext>
              </a:extLst>
            </p:cNvPr>
            <p:cNvSpPr/>
            <p:nvPr/>
          </p:nvSpPr>
          <p:spPr>
            <a:xfrm>
              <a:off x="622482" y="1258363"/>
              <a:ext cx="3949519" cy="1313387"/>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18" name="TextBox 17">
              <a:extLst>
                <a:ext uri="{FF2B5EF4-FFF2-40B4-BE49-F238E27FC236}">
                  <a16:creationId xmlns:a16="http://schemas.microsoft.com/office/drawing/2014/main" id="{07B4C50D-EEA6-DD8E-F03E-131B7211868D}"/>
                </a:ext>
              </a:extLst>
            </p:cNvPr>
            <p:cNvSpPr txBox="1"/>
            <p:nvPr/>
          </p:nvSpPr>
          <p:spPr>
            <a:xfrm>
              <a:off x="826485" y="1399859"/>
              <a:ext cx="3557427" cy="1094595"/>
            </a:xfrm>
            <a:prstGeom prst="rect">
              <a:avLst/>
            </a:prstGeom>
            <a:noFill/>
          </p:spPr>
          <p:txBody>
            <a:bodyPr wrap="square" rtlCol="0">
              <a:spAutoFit/>
            </a:bodyPr>
            <a:lstStyle/>
            <a:p>
              <a:r>
                <a:rPr lang="en-US" sz="1200" b="1" spc="225">
                  <a:solidFill>
                    <a:srgbClr val="F2F2F2"/>
                  </a:solidFill>
                  <a:latin typeface="Space Grotesk" pitchFamily="2" charset="0"/>
                  <a:cs typeface="Space Grotesk" pitchFamily="2" charset="0"/>
                </a:rPr>
                <a:t>KEY TAKEAWAY</a:t>
              </a:r>
            </a:p>
            <a:p>
              <a:pPr>
                <a:defRPr/>
              </a:pPr>
              <a:endParaRPr lang="en-US" sz="788">
                <a:solidFill>
                  <a:schemeClr val="bg1"/>
                </a:solidFill>
                <a:latin typeface="Space Grotesk" pitchFamily="2" charset="0"/>
                <a:cs typeface="Space Grotesk" pitchFamily="2" charset="0"/>
              </a:endParaRPr>
            </a:p>
            <a:p>
              <a:pPr>
                <a:defRPr/>
              </a:pPr>
              <a:r>
                <a:rPr lang="en-US" sz="1400">
                  <a:solidFill>
                    <a:schemeClr val="bg1"/>
                  </a:solidFill>
                  <a:latin typeface="Space Grotesk bold" pitchFamily="2" charset="0"/>
                  <a:cs typeface="Space Grotesk bold" pitchFamily="2" charset="0"/>
                </a:rPr>
                <a:t>The risk is not just what AI </a:t>
              </a:r>
              <a:r>
                <a:rPr lang="en-US" sz="1400">
                  <a:solidFill>
                    <a:srgbClr val="F8A94A"/>
                  </a:solidFill>
                  <a:latin typeface="Space Grotesk bold" pitchFamily="2" charset="0"/>
                  <a:cs typeface="Space Grotesk bold" pitchFamily="2" charset="0"/>
                </a:rPr>
                <a:t>produces</a:t>
              </a:r>
              <a:r>
                <a:rPr lang="en-US" sz="1400">
                  <a:solidFill>
                    <a:srgbClr val="F79421"/>
                  </a:solidFill>
                  <a:latin typeface="Space Grotesk bold" pitchFamily="2" charset="0"/>
                  <a:cs typeface="Space Grotesk bold" pitchFamily="2" charset="0"/>
                </a:rPr>
                <a:t> </a:t>
              </a:r>
              <a:r>
                <a:rPr lang="en-US" sz="1400">
                  <a:solidFill>
                    <a:schemeClr val="bg1"/>
                  </a:solidFill>
                  <a:latin typeface="Space Grotesk bold" pitchFamily="2" charset="0"/>
                  <a:cs typeface="Space Grotesk bold" pitchFamily="2" charset="0"/>
                </a:rPr>
                <a:t>– it is what you </a:t>
              </a:r>
              <a:r>
                <a:rPr lang="en-US" sz="1400">
                  <a:solidFill>
                    <a:srgbClr val="F8A94A"/>
                  </a:solidFill>
                  <a:latin typeface="Space Grotesk bold" pitchFamily="2" charset="0"/>
                  <a:cs typeface="Space Grotesk bold" pitchFamily="2" charset="0"/>
                </a:rPr>
                <a:t>feed into it</a:t>
              </a:r>
              <a:r>
                <a:rPr lang="en-US" sz="1400">
                  <a:solidFill>
                    <a:schemeClr val="bg1"/>
                  </a:solidFill>
                  <a:latin typeface="Space Grotesk bold" pitchFamily="2" charset="0"/>
                  <a:cs typeface="Space Grotesk bold" pitchFamily="2" charset="0"/>
                </a:rPr>
                <a:t>.</a:t>
              </a:r>
            </a:p>
            <a:p>
              <a:pPr>
                <a:defRPr/>
              </a:pPr>
              <a:endParaRPr lang="en-US" sz="900">
                <a:solidFill>
                  <a:srgbClr val="F79421"/>
                </a:solidFill>
                <a:latin typeface="Space Grotesk bold" pitchFamily="2" charset="0"/>
                <a:cs typeface="Space Grotesk bold" pitchFamily="2" charset="0"/>
              </a:endParaRPr>
            </a:p>
            <a:p>
              <a:pPr>
                <a:defRPr/>
              </a:pPr>
              <a:r>
                <a:rPr lang="en-US" sz="825">
                  <a:solidFill>
                    <a:schemeClr val="bg1">
                      <a:lumMod val="85000"/>
                    </a:schemeClr>
                  </a:solidFill>
                  <a:latin typeface="Space Grotesk bold" pitchFamily="2" charset="0"/>
                  <a:cs typeface="Space Grotesk bold" pitchFamily="2" charset="0"/>
                </a:rPr>
                <a:t>In finance, data is sensitive by default, not exception</a:t>
              </a:r>
            </a:p>
          </p:txBody>
        </p:sp>
      </p:grpSp>
      <p:pic>
        <p:nvPicPr>
          <p:cNvPr id="28" name="Graphic 27" descr="Star with solid fill">
            <a:extLst>
              <a:ext uri="{FF2B5EF4-FFF2-40B4-BE49-F238E27FC236}">
                <a16:creationId xmlns:a16="http://schemas.microsoft.com/office/drawing/2014/main" id="{E5AF8C40-F983-ED69-830A-13C14661E8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1215762">
            <a:off x="354254" y="3877479"/>
            <a:ext cx="422105" cy="422105"/>
          </a:xfrm>
          <a:prstGeom prst="rect">
            <a:avLst/>
          </a:prstGeom>
        </p:spPr>
      </p:pic>
      <p:sp>
        <p:nvSpPr>
          <p:cNvPr id="2" name="Tekstvak 5" descr="MVX23_Logo_Basislogo_Full_colour_Wit">
            <a:extLst>
              <a:ext uri="{FF2B5EF4-FFF2-40B4-BE49-F238E27FC236}">
                <a16:creationId xmlns:a16="http://schemas.microsoft.com/office/drawing/2014/main" id="{D89BDBEB-0A3B-20E9-A04F-6EDEAF3A39AE}"/>
              </a:ext>
            </a:extLst>
          </p:cNvPr>
          <p:cNvSpPr txBox="1"/>
          <p:nvPr/>
        </p:nvSpPr>
        <p:spPr>
          <a:xfrm>
            <a:off x="665693" y="205843"/>
            <a:ext cx="6640835" cy="577081"/>
          </a:xfrm>
          <a:prstGeom prst="rect">
            <a:avLst/>
          </a:prstGeom>
          <a:noFill/>
        </p:spPr>
        <p:txBody>
          <a:bodyPr wrap="square" lIns="68580" tIns="34290" rIns="68580" bIns="34290" rtlCol="0" anchor="t">
            <a:spAutoFit/>
          </a:bodyPr>
          <a:lstStyle/>
          <a:p>
            <a:pPr>
              <a:defRPr/>
            </a:pPr>
            <a:r>
              <a:rPr lang="en-US" sz="3300" b="1" noProof="1">
                <a:solidFill>
                  <a:srgbClr val="0D006A"/>
                </a:solidFill>
                <a:latin typeface="Space Grotesk"/>
                <a:cs typeface="Space Grotesk" pitchFamily="2" charset="0"/>
              </a:rPr>
              <a:t>Asset Template (2)</a:t>
            </a:r>
            <a:endParaRPr lang="en-US" sz="3300" b="1" noProof="1">
              <a:solidFill>
                <a:srgbClr val="0D006A"/>
              </a:solidFill>
              <a:latin typeface="Space Grotesk" pitchFamily="2" charset="0"/>
              <a:cs typeface="Space Grotesk" pitchFamily="2" charset="0"/>
            </a:endParaRPr>
          </a:p>
        </p:txBody>
      </p:sp>
    </p:spTree>
    <p:extLst>
      <p:ext uri="{BB962C8B-B14F-4D97-AF65-F5344CB8AC3E}">
        <p14:creationId xmlns:p14="http://schemas.microsoft.com/office/powerpoint/2010/main" val="3265736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FC65-F80A-8B90-E1B3-A229B75E1BE3}"/>
            </a:ext>
          </a:extLst>
        </p:cNvPr>
        <p:cNvGrpSpPr/>
        <p:nvPr/>
      </p:nvGrpSpPr>
      <p:grpSpPr>
        <a:xfrm>
          <a:off x="0" y="0"/>
          <a:ext cx="0" cy="0"/>
          <a:chOff x="0" y="0"/>
          <a:chExt cx="0" cy="0"/>
        </a:xfrm>
      </p:grpSpPr>
      <p:sp>
        <p:nvSpPr>
          <p:cNvPr id="52" name="Tekstvak 5" descr="MVX23_Logo_Basislogo_Full_colour_Wit">
            <a:extLst>
              <a:ext uri="{FF2B5EF4-FFF2-40B4-BE49-F238E27FC236}">
                <a16:creationId xmlns:a16="http://schemas.microsoft.com/office/drawing/2014/main" id="{6F6D945B-7E2E-0CA4-13CE-0B18CF404DB4}"/>
              </a:ext>
            </a:extLst>
          </p:cNvPr>
          <p:cNvSpPr txBox="1"/>
          <p:nvPr/>
        </p:nvSpPr>
        <p:spPr>
          <a:xfrm>
            <a:off x="729537" y="204509"/>
            <a:ext cx="6640835"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Asset template (3)</a:t>
            </a:r>
          </a:p>
        </p:txBody>
      </p:sp>
      <p:grpSp>
        <p:nvGrpSpPr>
          <p:cNvPr id="132" name="Group 131">
            <a:extLst>
              <a:ext uri="{FF2B5EF4-FFF2-40B4-BE49-F238E27FC236}">
                <a16:creationId xmlns:a16="http://schemas.microsoft.com/office/drawing/2014/main" id="{9AC1F1E6-61DE-A485-2602-62D0763A4870}"/>
              </a:ext>
            </a:extLst>
          </p:cNvPr>
          <p:cNvGrpSpPr/>
          <p:nvPr/>
        </p:nvGrpSpPr>
        <p:grpSpPr>
          <a:xfrm>
            <a:off x="629388" y="1092108"/>
            <a:ext cx="1485000" cy="1334036"/>
            <a:chOff x="399996" y="1803394"/>
            <a:chExt cx="2047100" cy="1778714"/>
          </a:xfrm>
        </p:grpSpPr>
        <p:grpSp>
          <p:nvGrpSpPr>
            <p:cNvPr id="6" name="Group 5">
              <a:extLst>
                <a:ext uri="{FF2B5EF4-FFF2-40B4-BE49-F238E27FC236}">
                  <a16:creationId xmlns:a16="http://schemas.microsoft.com/office/drawing/2014/main" id="{F927F5B4-C6AD-B6FF-B60E-12B5044EFA57}"/>
                </a:ext>
              </a:extLst>
            </p:cNvPr>
            <p:cNvGrpSpPr/>
            <p:nvPr/>
          </p:nvGrpSpPr>
          <p:grpSpPr>
            <a:xfrm rot="5400000">
              <a:off x="534189" y="1669201"/>
              <a:ext cx="1778714" cy="2047100"/>
              <a:chOff x="846950" y="3409279"/>
              <a:chExt cx="3466210" cy="2969533"/>
            </a:xfrm>
          </p:grpSpPr>
          <p:sp>
            <p:nvSpPr>
              <p:cNvPr id="9" name="Rectangle: Rounded Corners 8">
                <a:extLst>
                  <a:ext uri="{FF2B5EF4-FFF2-40B4-BE49-F238E27FC236}">
                    <a16:creationId xmlns:a16="http://schemas.microsoft.com/office/drawing/2014/main" id="{EAC1C015-D8C9-7256-9690-BB6C67F5FC53}"/>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 name="Rectangle: Rounded Corners 11">
                <a:extLst>
                  <a:ext uri="{FF2B5EF4-FFF2-40B4-BE49-F238E27FC236}">
                    <a16:creationId xmlns:a16="http://schemas.microsoft.com/office/drawing/2014/main" id="{A5792346-0E72-8F80-8DAC-AB0B20E17CC1}"/>
                  </a:ext>
                </a:extLst>
              </p:cNvPr>
              <p:cNvSpPr/>
              <p:nvPr/>
            </p:nvSpPr>
            <p:spPr>
              <a:xfrm>
                <a:off x="897748" y="3409279"/>
                <a:ext cx="3415412"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38" name="Group 37">
              <a:extLst>
                <a:ext uri="{FF2B5EF4-FFF2-40B4-BE49-F238E27FC236}">
                  <a16:creationId xmlns:a16="http://schemas.microsoft.com/office/drawing/2014/main" id="{66ED3C1A-7B5B-074D-6222-85A2D90D6C63}"/>
                </a:ext>
              </a:extLst>
            </p:cNvPr>
            <p:cNvGrpSpPr/>
            <p:nvPr/>
          </p:nvGrpSpPr>
          <p:grpSpPr>
            <a:xfrm>
              <a:off x="508136" y="1940197"/>
              <a:ext cx="1799924" cy="1404400"/>
              <a:chOff x="369236" y="2275871"/>
              <a:chExt cx="1799924" cy="1404400"/>
            </a:xfrm>
          </p:grpSpPr>
          <p:sp>
            <p:nvSpPr>
              <p:cNvPr id="8" name="TextBox 7">
                <a:extLst>
                  <a:ext uri="{FF2B5EF4-FFF2-40B4-BE49-F238E27FC236}">
                    <a16:creationId xmlns:a16="http://schemas.microsoft.com/office/drawing/2014/main" id="{64FC5F92-CD5C-4935-BE01-5E530C7BC870}"/>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84" name="Oval 83">
                <a:extLst>
                  <a:ext uri="{FF2B5EF4-FFF2-40B4-BE49-F238E27FC236}">
                    <a16:creationId xmlns:a16="http://schemas.microsoft.com/office/drawing/2014/main" id="{4B809CDF-C2D9-1EE6-D14A-8F1E4DD574D3}"/>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36" name="Graphic 35" descr="User outline">
                <a:extLst>
                  <a:ext uri="{FF2B5EF4-FFF2-40B4-BE49-F238E27FC236}">
                    <a16:creationId xmlns:a16="http://schemas.microsoft.com/office/drawing/2014/main" id="{D8AABB41-1898-7181-79C6-B58F11E087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65" name="Group 64">
            <a:extLst>
              <a:ext uri="{FF2B5EF4-FFF2-40B4-BE49-F238E27FC236}">
                <a16:creationId xmlns:a16="http://schemas.microsoft.com/office/drawing/2014/main" id="{1A84DBCB-61E7-D487-4199-89F189C15D26}"/>
              </a:ext>
            </a:extLst>
          </p:cNvPr>
          <p:cNvGrpSpPr/>
          <p:nvPr/>
        </p:nvGrpSpPr>
        <p:grpSpPr>
          <a:xfrm>
            <a:off x="3263063" y="2538205"/>
            <a:ext cx="2565000" cy="1048647"/>
            <a:chOff x="846950" y="3409278"/>
            <a:chExt cx="3466210" cy="2969533"/>
          </a:xfrm>
        </p:grpSpPr>
        <p:sp>
          <p:nvSpPr>
            <p:cNvPr id="66" name="Rectangle: Rounded Corners 65">
              <a:extLst>
                <a:ext uri="{FF2B5EF4-FFF2-40B4-BE49-F238E27FC236}">
                  <a16:creationId xmlns:a16="http://schemas.microsoft.com/office/drawing/2014/main" id="{F9D0EC5F-CBFB-9472-827F-112D7B3A4B9A}"/>
                </a:ext>
              </a:extLst>
            </p:cNvPr>
            <p:cNvSpPr/>
            <p:nvPr/>
          </p:nvSpPr>
          <p:spPr>
            <a:xfrm>
              <a:off x="846950" y="3431396"/>
              <a:ext cx="2589773" cy="293907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67" name="Rectangle: Rounded Corners 66">
              <a:extLst>
                <a:ext uri="{FF2B5EF4-FFF2-40B4-BE49-F238E27FC236}">
                  <a16:creationId xmlns:a16="http://schemas.microsoft.com/office/drawing/2014/main" id="{0648CB20-3EF2-6765-0187-DB15815C6E8F}"/>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45" name="Group 144">
            <a:extLst>
              <a:ext uri="{FF2B5EF4-FFF2-40B4-BE49-F238E27FC236}">
                <a16:creationId xmlns:a16="http://schemas.microsoft.com/office/drawing/2014/main" id="{11D2DF0B-7379-71DD-3A13-C5C4B9CC035C}"/>
              </a:ext>
            </a:extLst>
          </p:cNvPr>
          <p:cNvGrpSpPr/>
          <p:nvPr/>
        </p:nvGrpSpPr>
        <p:grpSpPr>
          <a:xfrm>
            <a:off x="622481" y="2538205"/>
            <a:ext cx="2565000" cy="1048647"/>
            <a:chOff x="829975" y="3384273"/>
            <a:chExt cx="3420000" cy="1398196"/>
          </a:xfrm>
        </p:grpSpPr>
        <p:grpSp>
          <p:nvGrpSpPr>
            <p:cNvPr id="56" name="Group 55">
              <a:extLst>
                <a:ext uri="{FF2B5EF4-FFF2-40B4-BE49-F238E27FC236}">
                  <a16:creationId xmlns:a16="http://schemas.microsoft.com/office/drawing/2014/main" id="{FF693588-E309-7510-8837-8754840E9553}"/>
                </a:ext>
              </a:extLst>
            </p:cNvPr>
            <p:cNvGrpSpPr/>
            <p:nvPr/>
          </p:nvGrpSpPr>
          <p:grpSpPr>
            <a:xfrm>
              <a:off x="829975" y="3384273"/>
              <a:ext cx="3420000" cy="1398196"/>
              <a:chOff x="846950" y="3409278"/>
              <a:chExt cx="3466210" cy="2969533"/>
            </a:xfrm>
          </p:grpSpPr>
          <p:sp>
            <p:nvSpPr>
              <p:cNvPr id="57" name="Rectangle: Rounded Corners 56">
                <a:extLst>
                  <a:ext uri="{FF2B5EF4-FFF2-40B4-BE49-F238E27FC236}">
                    <a16:creationId xmlns:a16="http://schemas.microsoft.com/office/drawing/2014/main" id="{89E4B2A7-4C39-9D0A-730B-D75C1C029182}"/>
                  </a:ext>
                </a:extLst>
              </p:cNvPr>
              <p:cNvSpPr/>
              <p:nvPr/>
            </p:nvSpPr>
            <p:spPr>
              <a:xfrm>
                <a:off x="846950" y="3431396"/>
                <a:ext cx="2589773" cy="2939071"/>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58" name="Rectangle: Rounded Corners 57">
                <a:extLst>
                  <a:ext uri="{FF2B5EF4-FFF2-40B4-BE49-F238E27FC236}">
                    <a16:creationId xmlns:a16="http://schemas.microsoft.com/office/drawing/2014/main" id="{E73D0326-F8A0-8F47-B589-99EE9E21203A}"/>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sp>
          <p:nvSpPr>
            <p:cNvPr id="89" name="TextBox 88">
              <a:extLst>
                <a:ext uri="{FF2B5EF4-FFF2-40B4-BE49-F238E27FC236}">
                  <a16:creationId xmlns:a16="http://schemas.microsoft.com/office/drawing/2014/main" id="{531B0B51-348D-D79E-4309-460BE88EA84C}"/>
                </a:ext>
              </a:extLst>
            </p:cNvPr>
            <p:cNvSpPr txBox="1"/>
            <p:nvPr/>
          </p:nvSpPr>
          <p:spPr>
            <a:xfrm>
              <a:off x="880454" y="3472268"/>
              <a:ext cx="3286435" cy="1231107"/>
            </a:xfrm>
            <a:prstGeom prst="rect">
              <a:avLst/>
            </a:prstGeom>
            <a:noFill/>
          </p:spPr>
          <p:txBody>
            <a:bodyPr wrap="square" rtlCol="0">
              <a:spAutoFit/>
            </a:bodyPr>
            <a:lstStyle/>
            <a:p>
              <a:pPr>
                <a:defRPr/>
              </a:pPr>
              <a:r>
                <a:rPr lang="en-US" b="1">
                  <a:solidFill>
                    <a:srgbClr val="5400AD"/>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sp>
        <p:nvSpPr>
          <p:cNvPr id="90" name="TextBox 89">
            <a:extLst>
              <a:ext uri="{FF2B5EF4-FFF2-40B4-BE49-F238E27FC236}">
                <a16:creationId xmlns:a16="http://schemas.microsoft.com/office/drawing/2014/main" id="{3FC2BC34-930E-5B48-A0BF-AB80050A9705}"/>
              </a:ext>
            </a:extLst>
          </p:cNvPr>
          <p:cNvSpPr txBox="1"/>
          <p:nvPr/>
        </p:nvSpPr>
        <p:spPr>
          <a:xfrm>
            <a:off x="3380966" y="2604201"/>
            <a:ext cx="2339821" cy="923330"/>
          </a:xfrm>
          <a:prstGeom prst="rect">
            <a:avLst/>
          </a:prstGeom>
          <a:noFill/>
        </p:spPr>
        <p:txBody>
          <a:bodyPr wrap="square" rtlCol="0">
            <a:spAutoFit/>
          </a:bodyPr>
          <a:lstStyle/>
          <a:p>
            <a:pPr>
              <a:defRPr/>
            </a:pPr>
            <a:r>
              <a:rPr lang="en-US" b="1">
                <a:solidFill>
                  <a:srgbClr val="FFC000">
                    <a:lumMod val="50000"/>
                  </a:srgbClr>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nvGrpSpPr>
          <p:cNvPr id="137" name="Group 136">
            <a:extLst>
              <a:ext uri="{FF2B5EF4-FFF2-40B4-BE49-F238E27FC236}">
                <a16:creationId xmlns:a16="http://schemas.microsoft.com/office/drawing/2014/main" id="{7909DCBA-634F-F604-139B-4C37B7A468B3}"/>
              </a:ext>
            </a:extLst>
          </p:cNvPr>
          <p:cNvGrpSpPr/>
          <p:nvPr/>
        </p:nvGrpSpPr>
        <p:grpSpPr>
          <a:xfrm>
            <a:off x="5953119" y="2540394"/>
            <a:ext cx="2565000" cy="1048647"/>
            <a:chOff x="7937492" y="3850192"/>
            <a:chExt cx="3420000" cy="1398196"/>
          </a:xfrm>
        </p:grpSpPr>
        <p:grpSp>
          <p:nvGrpSpPr>
            <p:cNvPr id="68" name="Group 67">
              <a:extLst>
                <a:ext uri="{FF2B5EF4-FFF2-40B4-BE49-F238E27FC236}">
                  <a16:creationId xmlns:a16="http://schemas.microsoft.com/office/drawing/2014/main" id="{5AC95552-85A0-35D0-22F9-E0F25F473483}"/>
                </a:ext>
              </a:extLst>
            </p:cNvPr>
            <p:cNvGrpSpPr/>
            <p:nvPr/>
          </p:nvGrpSpPr>
          <p:grpSpPr>
            <a:xfrm>
              <a:off x="7937492" y="3850192"/>
              <a:ext cx="3420000" cy="1398196"/>
              <a:chOff x="846950" y="3409278"/>
              <a:chExt cx="3466210" cy="2969533"/>
            </a:xfrm>
          </p:grpSpPr>
          <p:sp>
            <p:nvSpPr>
              <p:cNvPr id="69" name="Rectangle: Rounded Corners 68">
                <a:extLst>
                  <a:ext uri="{FF2B5EF4-FFF2-40B4-BE49-F238E27FC236}">
                    <a16:creationId xmlns:a16="http://schemas.microsoft.com/office/drawing/2014/main" id="{30FDB80C-6C03-1545-6363-9E50659B4A40}"/>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71" name="Rectangle: Rounded Corners 70">
                <a:extLst>
                  <a:ext uri="{FF2B5EF4-FFF2-40B4-BE49-F238E27FC236}">
                    <a16:creationId xmlns:a16="http://schemas.microsoft.com/office/drawing/2014/main" id="{68C5E9EF-2A52-862C-098D-1EE5B79B3831}"/>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sp>
          <p:nvSpPr>
            <p:cNvPr id="91" name="TextBox 90">
              <a:extLst>
                <a:ext uri="{FF2B5EF4-FFF2-40B4-BE49-F238E27FC236}">
                  <a16:creationId xmlns:a16="http://schemas.microsoft.com/office/drawing/2014/main" id="{FA2CC866-DC80-C273-985B-210FEB8C67E8}"/>
                </a:ext>
              </a:extLst>
            </p:cNvPr>
            <p:cNvSpPr txBox="1"/>
            <p:nvPr/>
          </p:nvSpPr>
          <p:spPr>
            <a:xfrm>
              <a:off x="8041968" y="3935268"/>
              <a:ext cx="2987668" cy="1231107"/>
            </a:xfrm>
            <a:prstGeom prst="rect">
              <a:avLst/>
            </a:prstGeom>
            <a:noFill/>
          </p:spPr>
          <p:txBody>
            <a:bodyPr wrap="square" rtlCol="0">
              <a:spAutoFit/>
            </a:bodyPr>
            <a:lstStyle/>
            <a:p>
              <a:pPr>
                <a:defRPr/>
              </a:pPr>
              <a:r>
                <a:rPr lang="en-US" b="1">
                  <a:solidFill>
                    <a:srgbClr val="D3116E"/>
                  </a:solidFill>
                  <a:latin typeface="Space Grotesk" pitchFamily="2" charset="0"/>
                  <a:cs typeface="Space Grotesk" pitchFamily="2" charset="0"/>
                </a:rPr>
                <a:t>TITLE</a:t>
              </a:r>
            </a:p>
            <a:p>
              <a:pPr>
                <a:defRPr/>
              </a:pPr>
              <a:r>
                <a:rPr lang="en-US" sz="1200" b="1">
                  <a:solidFill>
                    <a:prstClr val="black"/>
                  </a:solidFill>
                  <a:latin typeface="Space Grotesk" pitchFamily="2" charset="0"/>
                  <a:cs typeface="Space Grotesk" pitchFamily="2" charset="0"/>
                </a:rPr>
                <a:t>Subtitle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 Lorum ipsum Lorum ipsum Lorum ipsum Lorum ipsum</a:t>
              </a:r>
            </a:p>
          </p:txBody>
        </p:sp>
      </p:grpSp>
      <p:grpSp>
        <p:nvGrpSpPr>
          <p:cNvPr id="133" name="Group 132">
            <a:extLst>
              <a:ext uri="{FF2B5EF4-FFF2-40B4-BE49-F238E27FC236}">
                <a16:creationId xmlns:a16="http://schemas.microsoft.com/office/drawing/2014/main" id="{8C17E3C8-5038-B31E-6213-F8E9235533F3}"/>
              </a:ext>
            </a:extLst>
          </p:cNvPr>
          <p:cNvGrpSpPr/>
          <p:nvPr/>
        </p:nvGrpSpPr>
        <p:grpSpPr>
          <a:xfrm>
            <a:off x="2226581" y="1092107"/>
            <a:ext cx="1485000" cy="1334036"/>
            <a:chOff x="2610761" y="1803393"/>
            <a:chExt cx="2047100" cy="1778714"/>
          </a:xfrm>
        </p:grpSpPr>
        <p:grpSp>
          <p:nvGrpSpPr>
            <p:cNvPr id="97" name="Group 96">
              <a:extLst>
                <a:ext uri="{FF2B5EF4-FFF2-40B4-BE49-F238E27FC236}">
                  <a16:creationId xmlns:a16="http://schemas.microsoft.com/office/drawing/2014/main" id="{011499C2-BB3E-1366-100B-97082CEA10FA}"/>
                </a:ext>
              </a:extLst>
            </p:cNvPr>
            <p:cNvGrpSpPr/>
            <p:nvPr/>
          </p:nvGrpSpPr>
          <p:grpSpPr>
            <a:xfrm rot="5400000">
              <a:off x="2744954" y="1669200"/>
              <a:ext cx="1778714" cy="2047100"/>
              <a:chOff x="846950" y="3409278"/>
              <a:chExt cx="3466210" cy="2969533"/>
            </a:xfrm>
          </p:grpSpPr>
          <p:sp>
            <p:nvSpPr>
              <p:cNvPr id="98" name="Rectangle: Rounded Corners 97">
                <a:extLst>
                  <a:ext uri="{FF2B5EF4-FFF2-40B4-BE49-F238E27FC236}">
                    <a16:creationId xmlns:a16="http://schemas.microsoft.com/office/drawing/2014/main" id="{BA5550A8-6E9B-554F-236C-2A8E9937D1AD}"/>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00" name="Rectangle: Rounded Corners 99">
                <a:extLst>
                  <a:ext uri="{FF2B5EF4-FFF2-40B4-BE49-F238E27FC236}">
                    <a16:creationId xmlns:a16="http://schemas.microsoft.com/office/drawing/2014/main" id="{73DCDAD3-DD73-2EB7-3F07-91D23E01862A}"/>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03" name="Group 102">
              <a:extLst>
                <a:ext uri="{FF2B5EF4-FFF2-40B4-BE49-F238E27FC236}">
                  <a16:creationId xmlns:a16="http://schemas.microsoft.com/office/drawing/2014/main" id="{BAA95CD9-0718-30DB-BDA8-73D13E0DFDB3}"/>
                </a:ext>
              </a:extLst>
            </p:cNvPr>
            <p:cNvGrpSpPr/>
            <p:nvPr/>
          </p:nvGrpSpPr>
          <p:grpSpPr>
            <a:xfrm>
              <a:off x="2718901" y="1940197"/>
              <a:ext cx="1799924" cy="1404400"/>
              <a:chOff x="369236" y="2275871"/>
              <a:chExt cx="1799924" cy="1404400"/>
            </a:xfrm>
          </p:grpSpPr>
          <p:sp>
            <p:nvSpPr>
              <p:cNvPr id="104" name="TextBox 103">
                <a:extLst>
                  <a:ext uri="{FF2B5EF4-FFF2-40B4-BE49-F238E27FC236}">
                    <a16:creationId xmlns:a16="http://schemas.microsoft.com/office/drawing/2014/main" id="{4B4E3CD6-02F6-F9B7-F97B-319313968B10}"/>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05" name="Oval 104">
                <a:extLst>
                  <a:ext uri="{FF2B5EF4-FFF2-40B4-BE49-F238E27FC236}">
                    <a16:creationId xmlns:a16="http://schemas.microsoft.com/office/drawing/2014/main" id="{B959735A-2B4D-5493-79A0-3ECDEB0C95D4}"/>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06" name="Graphic 105" descr="User outline">
                <a:extLst>
                  <a:ext uri="{FF2B5EF4-FFF2-40B4-BE49-F238E27FC236}">
                    <a16:creationId xmlns:a16="http://schemas.microsoft.com/office/drawing/2014/main" id="{2E896363-3862-53B1-A555-B8873E60FC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4" name="Group 133">
            <a:extLst>
              <a:ext uri="{FF2B5EF4-FFF2-40B4-BE49-F238E27FC236}">
                <a16:creationId xmlns:a16="http://schemas.microsoft.com/office/drawing/2014/main" id="{943E83FC-D410-DB53-7701-990FEB78EBE2}"/>
              </a:ext>
            </a:extLst>
          </p:cNvPr>
          <p:cNvGrpSpPr/>
          <p:nvPr/>
        </p:nvGrpSpPr>
        <p:grpSpPr>
          <a:xfrm>
            <a:off x="3823774" y="1092107"/>
            <a:ext cx="1485000" cy="1334036"/>
            <a:chOff x="4798376" y="1803393"/>
            <a:chExt cx="2047100" cy="1778714"/>
          </a:xfrm>
        </p:grpSpPr>
        <p:grpSp>
          <p:nvGrpSpPr>
            <p:cNvPr id="107" name="Group 106">
              <a:extLst>
                <a:ext uri="{FF2B5EF4-FFF2-40B4-BE49-F238E27FC236}">
                  <a16:creationId xmlns:a16="http://schemas.microsoft.com/office/drawing/2014/main" id="{E808FAD5-60D2-FA77-7D54-16360F14F82E}"/>
                </a:ext>
              </a:extLst>
            </p:cNvPr>
            <p:cNvGrpSpPr/>
            <p:nvPr/>
          </p:nvGrpSpPr>
          <p:grpSpPr>
            <a:xfrm rot="5400000">
              <a:off x="4932569" y="1669200"/>
              <a:ext cx="1778714" cy="2047100"/>
              <a:chOff x="846950" y="3409278"/>
              <a:chExt cx="3466210" cy="2969533"/>
            </a:xfrm>
          </p:grpSpPr>
          <p:sp>
            <p:nvSpPr>
              <p:cNvPr id="108" name="Rectangle: Rounded Corners 107">
                <a:extLst>
                  <a:ext uri="{FF2B5EF4-FFF2-40B4-BE49-F238E27FC236}">
                    <a16:creationId xmlns:a16="http://schemas.microsoft.com/office/drawing/2014/main" id="{0D7F6BB7-B44C-6F97-D7D1-11F6923668E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10" name="Rectangle: Rounded Corners 109">
                <a:extLst>
                  <a:ext uri="{FF2B5EF4-FFF2-40B4-BE49-F238E27FC236}">
                    <a16:creationId xmlns:a16="http://schemas.microsoft.com/office/drawing/2014/main" id="{0E2C8D9F-A928-A1FF-FD6F-EDFDB43F2688}"/>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14" name="Group 113">
              <a:extLst>
                <a:ext uri="{FF2B5EF4-FFF2-40B4-BE49-F238E27FC236}">
                  <a16:creationId xmlns:a16="http://schemas.microsoft.com/office/drawing/2014/main" id="{D595E78E-C5C4-9132-6C8E-73FF2F9CA7EB}"/>
                </a:ext>
              </a:extLst>
            </p:cNvPr>
            <p:cNvGrpSpPr/>
            <p:nvPr/>
          </p:nvGrpSpPr>
          <p:grpSpPr>
            <a:xfrm>
              <a:off x="4906516" y="1940197"/>
              <a:ext cx="1799924" cy="1404400"/>
              <a:chOff x="369236" y="2275871"/>
              <a:chExt cx="1799924" cy="1404400"/>
            </a:xfrm>
          </p:grpSpPr>
          <p:sp>
            <p:nvSpPr>
              <p:cNvPr id="115" name="TextBox 114">
                <a:extLst>
                  <a:ext uri="{FF2B5EF4-FFF2-40B4-BE49-F238E27FC236}">
                    <a16:creationId xmlns:a16="http://schemas.microsoft.com/office/drawing/2014/main" id="{7957EB9D-BC77-20EF-6024-644A75C5FDEC}"/>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16" name="Oval 115">
                <a:extLst>
                  <a:ext uri="{FF2B5EF4-FFF2-40B4-BE49-F238E27FC236}">
                    <a16:creationId xmlns:a16="http://schemas.microsoft.com/office/drawing/2014/main" id="{8C97FEE3-D94B-179B-46E8-E037DACB859B}"/>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17" name="Graphic 116" descr="User outline">
                <a:extLst>
                  <a:ext uri="{FF2B5EF4-FFF2-40B4-BE49-F238E27FC236}">
                    <a16:creationId xmlns:a16="http://schemas.microsoft.com/office/drawing/2014/main" id="{19672C37-0CF7-3815-807B-40CCD34A67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5" name="Group 134">
            <a:extLst>
              <a:ext uri="{FF2B5EF4-FFF2-40B4-BE49-F238E27FC236}">
                <a16:creationId xmlns:a16="http://schemas.microsoft.com/office/drawing/2014/main" id="{14E8D014-2E75-EDE3-28ED-5A62A656EAA8}"/>
              </a:ext>
            </a:extLst>
          </p:cNvPr>
          <p:cNvGrpSpPr/>
          <p:nvPr/>
        </p:nvGrpSpPr>
        <p:grpSpPr>
          <a:xfrm>
            <a:off x="5420967" y="1092107"/>
            <a:ext cx="1485000" cy="1334036"/>
            <a:chOff x="6918200" y="1803393"/>
            <a:chExt cx="2047100" cy="1778714"/>
          </a:xfrm>
        </p:grpSpPr>
        <p:grpSp>
          <p:nvGrpSpPr>
            <p:cNvPr id="118" name="Group 117">
              <a:extLst>
                <a:ext uri="{FF2B5EF4-FFF2-40B4-BE49-F238E27FC236}">
                  <a16:creationId xmlns:a16="http://schemas.microsoft.com/office/drawing/2014/main" id="{4FD5AB8F-66EC-032E-C138-81E1AB94C5C6}"/>
                </a:ext>
              </a:extLst>
            </p:cNvPr>
            <p:cNvGrpSpPr/>
            <p:nvPr/>
          </p:nvGrpSpPr>
          <p:grpSpPr>
            <a:xfrm rot="5400000">
              <a:off x="7052393" y="1669200"/>
              <a:ext cx="1778714" cy="2047100"/>
              <a:chOff x="846950" y="3409278"/>
              <a:chExt cx="3466210" cy="2969533"/>
            </a:xfrm>
          </p:grpSpPr>
          <p:sp>
            <p:nvSpPr>
              <p:cNvPr id="119" name="Rectangle: Rounded Corners 118">
                <a:extLst>
                  <a:ext uri="{FF2B5EF4-FFF2-40B4-BE49-F238E27FC236}">
                    <a16:creationId xmlns:a16="http://schemas.microsoft.com/office/drawing/2014/main" id="{FC2F8C6D-2AEF-EFA2-EE17-8CF922A94D55}"/>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0" name="Rectangle: Rounded Corners 119">
                <a:extLst>
                  <a:ext uri="{FF2B5EF4-FFF2-40B4-BE49-F238E27FC236}">
                    <a16:creationId xmlns:a16="http://schemas.microsoft.com/office/drawing/2014/main" id="{23CFEF58-A5BA-0B9A-4F8C-E1918E353054}"/>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21" name="Group 120">
              <a:extLst>
                <a:ext uri="{FF2B5EF4-FFF2-40B4-BE49-F238E27FC236}">
                  <a16:creationId xmlns:a16="http://schemas.microsoft.com/office/drawing/2014/main" id="{642DE138-B600-49AC-203B-F6A99B6ACB21}"/>
                </a:ext>
              </a:extLst>
            </p:cNvPr>
            <p:cNvGrpSpPr/>
            <p:nvPr/>
          </p:nvGrpSpPr>
          <p:grpSpPr>
            <a:xfrm>
              <a:off x="7026340" y="1940197"/>
              <a:ext cx="1799924" cy="1404400"/>
              <a:chOff x="369236" y="2275871"/>
              <a:chExt cx="1799924" cy="1404400"/>
            </a:xfrm>
          </p:grpSpPr>
          <p:sp>
            <p:nvSpPr>
              <p:cNvPr id="122" name="TextBox 121">
                <a:extLst>
                  <a:ext uri="{FF2B5EF4-FFF2-40B4-BE49-F238E27FC236}">
                    <a16:creationId xmlns:a16="http://schemas.microsoft.com/office/drawing/2014/main" id="{7B0B2478-B0B6-791B-B734-5A326D12BDC8}"/>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23" name="Oval 122">
                <a:extLst>
                  <a:ext uri="{FF2B5EF4-FFF2-40B4-BE49-F238E27FC236}">
                    <a16:creationId xmlns:a16="http://schemas.microsoft.com/office/drawing/2014/main" id="{6DFD64E3-1DE0-B126-10C8-A83E3FCE66C4}"/>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24" name="Graphic 123" descr="User outline">
                <a:extLst>
                  <a:ext uri="{FF2B5EF4-FFF2-40B4-BE49-F238E27FC236}">
                    <a16:creationId xmlns:a16="http://schemas.microsoft.com/office/drawing/2014/main" id="{C3652EBB-9957-98AA-17F5-6C0B00A586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36" name="Group 135">
            <a:extLst>
              <a:ext uri="{FF2B5EF4-FFF2-40B4-BE49-F238E27FC236}">
                <a16:creationId xmlns:a16="http://schemas.microsoft.com/office/drawing/2014/main" id="{2F53291D-28DB-7E41-971F-06DB373F8CC4}"/>
              </a:ext>
            </a:extLst>
          </p:cNvPr>
          <p:cNvGrpSpPr/>
          <p:nvPr/>
        </p:nvGrpSpPr>
        <p:grpSpPr>
          <a:xfrm>
            <a:off x="7018160" y="1092107"/>
            <a:ext cx="1485000" cy="1334036"/>
            <a:chOff x="9311246" y="1803393"/>
            <a:chExt cx="2047100" cy="1778714"/>
          </a:xfrm>
        </p:grpSpPr>
        <p:grpSp>
          <p:nvGrpSpPr>
            <p:cNvPr id="125" name="Group 124">
              <a:extLst>
                <a:ext uri="{FF2B5EF4-FFF2-40B4-BE49-F238E27FC236}">
                  <a16:creationId xmlns:a16="http://schemas.microsoft.com/office/drawing/2014/main" id="{71B1F419-24DE-C9C3-69FE-0AF970B7BADB}"/>
                </a:ext>
              </a:extLst>
            </p:cNvPr>
            <p:cNvGrpSpPr/>
            <p:nvPr/>
          </p:nvGrpSpPr>
          <p:grpSpPr>
            <a:xfrm rot="5400000">
              <a:off x="9445439" y="1669200"/>
              <a:ext cx="1778714" cy="2047100"/>
              <a:chOff x="846950" y="3409278"/>
              <a:chExt cx="3466210" cy="2969533"/>
            </a:xfrm>
          </p:grpSpPr>
          <p:sp>
            <p:nvSpPr>
              <p:cNvPr id="126" name="Rectangle: Rounded Corners 125">
                <a:extLst>
                  <a:ext uri="{FF2B5EF4-FFF2-40B4-BE49-F238E27FC236}">
                    <a16:creationId xmlns:a16="http://schemas.microsoft.com/office/drawing/2014/main" id="{F7D20359-F499-AF53-F00F-9155EDBA98FF}"/>
                  </a:ext>
                </a:extLst>
              </p:cNvPr>
              <p:cNvSpPr/>
              <p:nvPr/>
            </p:nvSpPr>
            <p:spPr>
              <a:xfrm>
                <a:off x="846950" y="3431396"/>
                <a:ext cx="2589773" cy="2939071"/>
              </a:xfrm>
              <a:prstGeom prst="roundRect">
                <a:avLst/>
              </a:prstGeom>
              <a:solidFill>
                <a:srgbClr val="D311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27" name="Rectangle: Rounded Corners 126">
                <a:extLst>
                  <a:ext uri="{FF2B5EF4-FFF2-40B4-BE49-F238E27FC236}">
                    <a16:creationId xmlns:a16="http://schemas.microsoft.com/office/drawing/2014/main" id="{F0E143E8-CAF1-342B-6F14-1F4BA0E9B75F}"/>
                  </a:ext>
                </a:extLst>
              </p:cNvPr>
              <p:cNvSpPr/>
              <p:nvPr/>
            </p:nvSpPr>
            <p:spPr>
              <a:xfrm>
                <a:off x="897749" y="3409278"/>
                <a:ext cx="3415411" cy="2969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grpSp>
        <p:grpSp>
          <p:nvGrpSpPr>
            <p:cNvPr id="128" name="Group 127">
              <a:extLst>
                <a:ext uri="{FF2B5EF4-FFF2-40B4-BE49-F238E27FC236}">
                  <a16:creationId xmlns:a16="http://schemas.microsoft.com/office/drawing/2014/main" id="{4B88CA41-D361-0977-C47E-BCF6CD9C448C}"/>
                </a:ext>
              </a:extLst>
            </p:cNvPr>
            <p:cNvGrpSpPr/>
            <p:nvPr/>
          </p:nvGrpSpPr>
          <p:grpSpPr>
            <a:xfrm>
              <a:off x="9349936" y="1940197"/>
              <a:ext cx="1799924" cy="1404400"/>
              <a:chOff x="369236" y="2275871"/>
              <a:chExt cx="1799924" cy="1404400"/>
            </a:xfrm>
          </p:grpSpPr>
          <p:sp>
            <p:nvSpPr>
              <p:cNvPr id="129" name="TextBox 128">
                <a:extLst>
                  <a:ext uri="{FF2B5EF4-FFF2-40B4-BE49-F238E27FC236}">
                    <a16:creationId xmlns:a16="http://schemas.microsoft.com/office/drawing/2014/main" id="{1F5B07F1-9B58-0959-AD12-6CA47F208CF8}"/>
                  </a:ext>
                </a:extLst>
              </p:cNvPr>
              <p:cNvSpPr txBox="1"/>
              <p:nvPr/>
            </p:nvSpPr>
            <p:spPr>
              <a:xfrm>
                <a:off x="369236" y="2880053"/>
                <a:ext cx="1799924" cy="800218"/>
              </a:xfrm>
              <a:prstGeom prst="rect">
                <a:avLst/>
              </a:prstGeom>
              <a:noFill/>
            </p:spPr>
            <p:txBody>
              <a:bodyPr wrap="square" rtlCol="0">
                <a:spAutoFit/>
              </a:bodyPr>
              <a:lstStyle/>
              <a:p>
                <a:pPr>
                  <a:defRPr/>
                </a:pPr>
                <a:r>
                  <a:rPr lang="en-US" b="1">
                    <a:solidFill>
                      <a:prstClr val="black"/>
                    </a:solidFill>
                    <a:latin typeface="Space Grotesk" pitchFamily="2" charset="0"/>
                    <a:cs typeface="Space Grotesk" pitchFamily="2" charset="0"/>
                  </a:rPr>
                  <a:t>TITLE</a:t>
                </a:r>
                <a:endParaRPr lang="en-US" sz="825" b="1">
                  <a:solidFill>
                    <a:prstClr val="black"/>
                  </a:solidFill>
                  <a:latin typeface="Space Grotesk" pitchFamily="2" charset="0"/>
                  <a:cs typeface="Space Grotesk" pitchFamily="2" charset="0"/>
                </a:endParaRPr>
              </a:p>
              <a:p>
                <a:pPr>
                  <a:defRPr/>
                </a:pPr>
                <a:endParaRPr lang="en-US" sz="150">
                  <a:solidFill>
                    <a:prstClr val="black"/>
                  </a:solidFill>
                  <a:latin typeface="Space Grotesk" pitchFamily="2" charset="0"/>
                  <a:cs typeface="Space Grotesk" pitchFamily="2" charset="0"/>
                </a:endParaRPr>
              </a:p>
              <a:p>
                <a:pPr>
                  <a:defRPr/>
                </a:pPr>
                <a:r>
                  <a:rPr lang="en-US" sz="900">
                    <a:solidFill>
                      <a:prstClr val="black"/>
                    </a:solidFill>
                    <a:latin typeface="Space Grotesk" pitchFamily="2" charset="0"/>
                    <a:cs typeface="Space Grotesk" pitchFamily="2" charset="0"/>
                  </a:rPr>
                  <a:t>Lorum ipsum Lorum ipsum Lorum ipsum</a:t>
                </a:r>
              </a:p>
            </p:txBody>
          </p:sp>
          <p:sp>
            <p:nvSpPr>
              <p:cNvPr id="130" name="Oval 129">
                <a:extLst>
                  <a:ext uri="{FF2B5EF4-FFF2-40B4-BE49-F238E27FC236}">
                    <a16:creationId xmlns:a16="http://schemas.microsoft.com/office/drawing/2014/main" id="{C458ED47-83DD-314C-1238-87D4BBD50402}"/>
                  </a:ext>
                </a:extLst>
              </p:cNvPr>
              <p:cNvSpPr/>
              <p:nvPr/>
            </p:nvSpPr>
            <p:spPr>
              <a:xfrm>
                <a:off x="445245" y="2275871"/>
                <a:ext cx="575999" cy="538596"/>
              </a:xfrm>
              <a:prstGeom prst="ellipse">
                <a:avLst/>
              </a:prstGeom>
              <a:solidFill>
                <a:srgbClr val="F3E0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pic>
            <p:nvPicPr>
              <p:cNvPr id="131" name="Graphic 130" descr="User outline">
                <a:extLst>
                  <a:ext uri="{FF2B5EF4-FFF2-40B4-BE49-F238E27FC236}">
                    <a16:creationId xmlns:a16="http://schemas.microsoft.com/office/drawing/2014/main" id="{C27EB8A9-B2B7-9D44-DDBA-D2DD3404D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30" y="2351030"/>
                <a:ext cx="352541" cy="352541"/>
              </a:xfrm>
              <a:prstGeom prst="rect">
                <a:avLst/>
              </a:prstGeom>
            </p:spPr>
          </p:pic>
        </p:grpSp>
      </p:grpSp>
      <p:grpSp>
        <p:nvGrpSpPr>
          <p:cNvPr id="143" name="Group 142">
            <a:extLst>
              <a:ext uri="{FF2B5EF4-FFF2-40B4-BE49-F238E27FC236}">
                <a16:creationId xmlns:a16="http://schemas.microsoft.com/office/drawing/2014/main" id="{6A18C40C-163D-DFCD-3CEC-680DE3C264D0}"/>
              </a:ext>
            </a:extLst>
          </p:cNvPr>
          <p:cNvGrpSpPr/>
          <p:nvPr/>
        </p:nvGrpSpPr>
        <p:grpSpPr>
          <a:xfrm>
            <a:off x="622481" y="3689047"/>
            <a:ext cx="7895639" cy="538121"/>
            <a:chOff x="829975" y="4918729"/>
            <a:chExt cx="10527518" cy="717495"/>
          </a:xfrm>
        </p:grpSpPr>
        <p:sp>
          <p:nvSpPr>
            <p:cNvPr id="93" name="Rectangle: Rounded Corners 92">
              <a:extLst>
                <a:ext uri="{FF2B5EF4-FFF2-40B4-BE49-F238E27FC236}">
                  <a16:creationId xmlns:a16="http://schemas.microsoft.com/office/drawing/2014/main" id="{F691C4FF-3A4E-C6DF-985D-5984FD0A4CA9}"/>
                </a:ext>
              </a:extLst>
            </p:cNvPr>
            <p:cNvSpPr/>
            <p:nvPr/>
          </p:nvSpPr>
          <p:spPr>
            <a:xfrm>
              <a:off x="829975" y="4918729"/>
              <a:ext cx="10527518" cy="717495"/>
            </a:xfrm>
            <a:prstGeom prst="roundRect">
              <a:avLst/>
            </a:prstGeom>
            <a:solidFill>
              <a:srgbClr val="5400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39" name="Oval 138">
              <a:extLst>
                <a:ext uri="{FF2B5EF4-FFF2-40B4-BE49-F238E27FC236}">
                  <a16:creationId xmlns:a16="http://schemas.microsoft.com/office/drawing/2014/main" id="{0025F1DD-298B-5A6C-0959-DA5A3075B67B}"/>
                </a:ext>
              </a:extLst>
            </p:cNvPr>
            <p:cNvSpPr/>
            <p:nvPr/>
          </p:nvSpPr>
          <p:spPr>
            <a:xfrm>
              <a:off x="1042620" y="5032659"/>
              <a:ext cx="506472" cy="489633"/>
            </a:xfrm>
            <a:prstGeom prst="ellipse">
              <a:avLst/>
            </a:prstGeom>
            <a:solidFill>
              <a:srgbClr val="F794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1500" b="1">
                <a:solidFill>
                  <a:prstClr val="white"/>
                </a:solidFill>
                <a:latin typeface="Space Grotesk" pitchFamily="2" charset="0"/>
                <a:cs typeface="Space Grotesk" pitchFamily="2" charset="0"/>
              </a:endParaRPr>
            </a:p>
          </p:txBody>
        </p:sp>
        <p:sp>
          <p:nvSpPr>
            <p:cNvPr id="140" name="TextBox 139">
              <a:extLst>
                <a:ext uri="{FF2B5EF4-FFF2-40B4-BE49-F238E27FC236}">
                  <a16:creationId xmlns:a16="http://schemas.microsoft.com/office/drawing/2014/main" id="{8CF35327-F2A2-936E-74D7-296D84D58D72}"/>
                </a:ext>
              </a:extLst>
            </p:cNvPr>
            <p:cNvSpPr txBox="1"/>
            <p:nvPr/>
          </p:nvSpPr>
          <p:spPr>
            <a:xfrm>
              <a:off x="1761736" y="5034244"/>
              <a:ext cx="9387643" cy="553998"/>
            </a:xfrm>
            <a:prstGeom prst="rect">
              <a:avLst/>
            </a:prstGeom>
            <a:noFill/>
          </p:spPr>
          <p:txBody>
            <a:bodyPr wrap="square" rtlCol="0">
              <a:spAutoFit/>
            </a:bodyPr>
            <a:lstStyle/>
            <a:p>
              <a:pPr>
                <a:defRPr/>
              </a:pPr>
              <a:r>
                <a:rPr lang="en-US" sz="1050" b="1">
                  <a:solidFill>
                    <a:srgbClr val="F79421"/>
                  </a:solidFill>
                  <a:latin typeface="Space Grotesk" pitchFamily="2" charset="0"/>
                  <a:cs typeface="Space Grotesk" pitchFamily="2" charset="0"/>
                </a:rPr>
                <a:t>TITLE</a:t>
              </a:r>
              <a:endParaRPr lang="en-US" sz="225">
                <a:solidFill>
                  <a:srgbClr val="F79421"/>
                </a:solidFill>
                <a:latin typeface="Space Grotesk" pitchFamily="2" charset="0"/>
                <a:cs typeface="Space Grotesk" pitchFamily="2" charset="0"/>
              </a:endParaRPr>
            </a:p>
            <a:p>
              <a:pPr>
                <a:defRPr/>
              </a:pPr>
              <a:r>
                <a:rPr lang="en-US" sz="1050">
                  <a:solidFill>
                    <a:prstClr val="white"/>
                  </a:solidFill>
                  <a:latin typeface="Space Grotesk" pitchFamily="2" charset="0"/>
                  <a:cs typeface="Space Grotesk" pitchFamily="2" charset="0"/>
                </a:rPr>
                <a:t>Lorum ipsum Lorum ipsum Lorum ipsum Lorum ipsum Lorum ipsum Lorum ipsum Lorum ipsum Lorum ipsum</a:t>
              </a:r>
            </a:p>
          </p:txBody>
        </p:sp>
      </p:grpSp>
      <p:grpSp>
        <p:nvGrpSpPr>
          <p:cNvPr id="142" name="Group 141">
            <a:extLst>
              <a:ext uri="{FF2B5EF4-FFF2-40B4-BE49-F238E27FC236}">
                <a16:creationId xmlns:a16="http://schemas.microsoft.com/office/drawing/2014/main" id="{3E7A1260-DB12-4311-F8BA-FD849C76A8AD}"/>
              </a:ext>
            </a:extLst>
          </p:cNvPr>
          <p:cNvGrpSpPr/>
          <p:nvPr/>
        </p:nvGrpSpPr>
        <p:grpSpPr>
          <a:xfrm>
            <a:off x="622481" y="4359448"/>
            <a:ext cx="7895639" cy="567898"/>
            <a:chOff x="829975" y="5812599"/>
            <a:chExt cx="10527518" cy="757198"/>
          </a:xfrm>
        </p:grpSpPr>
        <p:sp>
          <p:nvSpPr>
            <p:cNvPr id="138" name="Rectangle: Rounded Corners 137">
              <a:extLst>
                <a:ext uri="{FF2B5EF4-FFF2-40B4-BE49-F238E27FC236}">
                  <a16:creationId xmlns:a16="http://schemas.microsoft.com/office/drawing/2014/main" id="{07FC4EAB-1130-B7AD-0908-00E98112B117}"/>
                </a:ext>
              </a:extLst>
            </p:cNvPr>
            <p:cNvSpPr/>
            <p:nvPr/>
          </p:nvSpPr>
          <p:spPr>
            <a:xfrm>
              <a:off x="829975" y="5812599"/>
              <a:ext cx="10527518" cy="717495"/>
            </a:xfrm>
            <a:prstGeom prst="roundRect">
              <a:avLst/>
            </a:prstGeom>
            <a:solidFill>
              <a:srgbClr val="1F05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solidFill>
                  <a:prstClr val="white"/>
                </a:solidFill>
                <a:latin typeface="Calibri" panose="020F0502020204030204"/>
              </a:endParaRPr>
            </a:p>
          </p:txBody>
        </p:sp>
        <p:sp>
          <p:nvSpPr>
            <p:cNvPr id="141" name="TextBox 140">
              <a:extLst>
                <a:ext uri="{FF2B5EF4-FFF2-40B4-BE49-F238E27FC236}">
                  <a16:creationId xmlns:a16="http://schemas.microsoft.com/office/drawing/2014/main" id="{582E57FC-101A-BCBC-A8F4-B6DB132C80F3}"/>
                </a:ext>
              </a:extLst>
            </p:cNvPr>
            <p:cNvSpPr txBox="1"/>
            <p:nvPr/>
          </p:nvSpPr>
          <p:spPr>
            <a:xfrm>
              <a:off x="972716" y="6015799"/>
              <a:ext cx="9567063" cy="553998"/>
            </a:xfrm>
            <a:prstGeom prst="rect">
              <a:avLst/>
            </a:prstGeom>
            <a:noFill/>
          </p:spPr>
          <p:txBody>
            <a:bodyPr wrap="square" rtlCol="0">
              <a:spAutoFit/>
            </a:bodyPr>
            <a:lstStyle/>
            <a:p>
              <a:pPr>
                <a:defRPr/>
              </a:pPr>
              <a:r>
                <a:rPr lang="en-US" sz="1050" b="1">
                  <a:solidFill>
                    <a:srgbClr val="F79421"/>
                  </a:solidFill>
                  <a:latin typeface="Space Grotesk" pitchFamily="2" charset="0"/>
                  <a:cs typeface="Space Grotesk" pitchFamily="2" charset="0"/>
                </a:rPr>
                <a:t>KEY TAKEAWAY </a:t>
              </a:r>
              <a:r>
                <a:rPr lang="en-US" sz="1050" b="1">
                  <a:solidFill>
                    <a:prstClr val="white"/>
                  </a:solidFill>
                  <a:latin typeface="Space Grotesk" pitchFamily="2" charset="0"/>
                  <a:cs typeface="Space Grotesk" pitchFamily="2" charset="0"/>
                </a:rPr>
                <a:t>- L</a:t>
              </a:r>
              <a:r>
                <a:rPr lang="en-US" sz="1050">
                  <a:solidFill>
                    <a:prstClr val="white"/>
                  </a:solidFill>
                  <a:latin typeface="Space Grotesk" pitchFamily="2" charset="0"/>
                  <a:cs typeface="Space Grotesk" pitchFamily="2" charset="0"/>
                </a:rPr>
                <a:t>orum ipsum Lorum ipsum Lorum ipsum Lorum ipsum Lorum ipsum Lorum ipsum Lorum ipsum</a:t>
              </a:r>
            </a:p>
          </p:txBody>
        </p:sp>
      </p:grpSp>
    </p:spTree>
    <p:extLst>
      <p:ext uri="{BB962C8B-B14F-4D97-AF65-F5344CB8AC3E}">
        <p14:creationId xmlns:p14="http://schemas.microsoft.com/office/powerpoint/2010/main" val="3373999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F6340EE-AC9F-E8FD-1996-070A7749EDEB}"/>
              </a:ext>
            </a:extLst>
          </p:cNvPr>
          <p:cNvSpPr/>
          <p:nvPr/>
        </p:nvSpPr>
        <p:spPr>
          <a:xfrm>
            <a:off x="636270" y="1233128"/>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6" name="Group 5">
            <a:extLst>
              <a:ext uri="{FF2B5EF4-FFF2-40B4-BE49-F238E27FC236}">
                <a16:creationId xmlns:a16="http://schemas.microsoft.com/office/drawing/2014/main" id="{C912901C-CCA4-AC00-FC40-5A7817EA2FF7}"/>
              </a:ext>
            </a:extLst>
          </p:cNvPr>
          <p:cNvGrpSpPr/>
          <p:nvPr/>
        </p:nvGrpSpPr>
        <p:grpSpPr>
          <a:xfrm>
            <a:off x="636270" y="1064260"/>
            <a:ext cx="3890010" cy="487841"/>
            <a:chOff x="848360" y="1513840"/>
            <a:chExt cx="5186680" cy="396240"/>
          </a:xfrm>
          <a:solidFill>
            <a:srgbClr val="5400AD"/>
          </a:solidFill>
        </p:grpSpPr>
        <p:sp>
          <p:nvSpPr>
            <p:cNvPr id="4" name="Rectangle 3">
              <a:extLst>
                <a:ext uri="{FF2B5EF4-FFF2-40B4-BE49-F238E27FC236}">
                  <a16:creationId xmlns:a16="http://schemas.microsoft.com/office/drawing/2014/main" id="{452E3C3F-9B68-DBD5-3AF6-1DD1D1FAF2B1}"/>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5" name="Rectangle: Rounded Corners 4">
              <a:extLst>
                <a:ext uri="{FF2B5EF4-FFF2-40B4-BE49-F238E27FC236}">
                  <a16:creationId xmlns:a16="http://schemas.microsoft.com/office/drawing/2014/main" id="{8690FC00-55E5-3671-0A06-4B8E4FC99D66}"/>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10" name="Table 9">
            <a:extLst>
              <a:ext uri="{FF2B5EF4-FFF2-40B4-BE49-F238E27FC236}">
                <a16:creationId xmlns:a16="http://schemas.microsoft.com/office/drawing/2014/main" id="{6551E5B9-46EF-337B-3324-D7B8AE30840F}"/>
              </a:ext>
            </a:extLst>
          </p:cNvPr>
          <p:cNvGraphicFramePr>
            <a:graphicFrameLocks noGrp="1"/>
          </p:cNvGraphicFramePr>
          <p:nvPr>
            <p:extLst>
              <p:ext uri="{D42A27DB-BD31-4B8C-83A1-F6EECF244321}">
                <p14:modId xmlns:p14="http://schemas.microsoft.com/office/powerpoint/2010/main" val="4284136470"/>
              </p:ext>
            </p:extLst>
          </p:nvPr>
        </p:nvGraphicFramePr>
        <p:xfrm>
          <a:off x="628651" y="1178950"/>
          <a:ext cx="3905248" cy="1642074"/>
        </p:xfrm>
        <a:graphic>
          <a:graphicData uri="http://schemas.openxmlformats.org/drawingml/2006/table">
            <a:tbl>
              <a:tblPr firstRow="1" bandRow="1">
                <a:tableStyleId>{2D5ABB26-0587-4C30-8999-92F81FD0307C}</a:tableStyleId>
              </a:tblPr>
              <a:tblGrid>
                <a:gridCol w="896526">
                  <a:extLst>
                    <a:ext uri="{9D8B030D-6E8A-4147-A177-3AD203B41FA5}">
                      <a16:colId xmlns:a16="http://schemas.microsoft.com/office/drawing/2014/main" val="1484404569"/>
                    </a:ext>
                  </a:extLst>
                </a:gridCol>
                <a:gridCol w="3008722">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17" name="Rectangle: Rounded Corners 16">
            <a:extLst>
              <a:ext uri="{FF2B5EF4-FFF2-40B4-BE49-F238E27FC236}">
                <a16:creationId xmlns:a16="http://schemas.microsoft.com/office/drawing/2014/main" id="{A86A55FD-D098-4A12-20EC-66D9FCE0DCAC}"/>
              </a:ext>
            </a:extLst>
          </p:cNvPr>
          <p:cNvSpPr/>
          <p:nvPr/>
        </p:nvSpPr>
        <p:spPr>
          <a:xfrm>
            <a:off x="4617720" y="1233128"/>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18" name="Group 17">
            <a:extLst>
              <a:ext uri="{FF2B5EF4-FFF2-40B4-BE49-F238E27FC236}">
                <a16:creationId xmlns:a16="http://schemas.microsoft.com/office/drawing/2014/main" id="{5BFD72A6-383A-C20E-F513-7C963B895CC3}"/>
              </a:ext>
            </a:extLst>
          </p:cNvPr>
          <p:cNvGrpSpPr/>
          <p:nvPr/>
        </p:nvGrpSpPr>
        <p:grpSpPr>
          <a:xfrm>
            <a:off x="4617720" y="1064260"/>
            <a:ext cx="3890010" cy="487841"/>
            <a:chOff x="848360" y="1513840"/>
            <a:chExt cx="5186680" cy="396240"/>
          </a:xfrm>
          <a:solidFill>
            <a:srgbClr val="D3116E"/>
          </a:solidFill>
        </p:grpSpPr>
        <p:sp>
          <p:nvSpPr>
            <p:cNvPr id="19" name="Rectangle 18">
              <a:extLst>
                <a:ext uri="{FF2B5EF4-FFF2-40B4-BE49-F238E27FC236}">
                  <a16:creationId xmlns:a16="http://schemas.microsoft.com/office/drawing/2014/main" id="{0849B364-7192-4E20-9797-09BA4E13643F}"/>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0" name="Rectangle: Rounded Corners 19">
              <a:extLst>
                <a:ext uri="{FF2B5EF4-FFF2-40B4-BE49-F238E27FC236}">
                  <a16:creationId xmlns:a16="http://schemas.microsoft.com/office/drawing/2014/main" id="{5A3FE486-07B2-A568-2CCF-4163CBF28B76}"/>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3" name="Table 2">
            <a:extLst>
              <a:ext uri="{FF2B5EF4-FFF2-40B4-BE49-F238E27FC236}">
                <a16:creationId xmlns:a16="http://schemas.microsoft.com/office/drawing/2014/main" id="{ACA02327-3AD9-F8D4-0789-9A20D2796787}"/>
              </a:ext>
            </a:extLst>
          </p:cNvPr>
          <p:cNvGraphicFramePr>
            <a:graphicFrameLocks noGrp="1"/>
          </p:cNvGraphicFramePr>
          <p:nvPr>
            <p:extLst>
              <p:ext uri="{D42A27DB-BD31-4B8C-83A1-F6EECF244321}">
                <p14:modId xmlns:p14="http://schemas.microsoft.com/office/powerpoint/2010/main" val="1850808789"/>
              </p:ext>
            </p:extLst>
          </p:nvPr>
        </p:nvGraphicFramePr>
        <p:xfrm>
          <a:off x="4625339" y="1178950"/>
          <a:ext cx="3874771" cy="1642074"/>
        </p:xfrm>
        <a:graphic>
          <a:graphicData uri="http://schemas.openxmlformats.org/drawingml/2006/table">
            <a:tbl>
              <a:tblPr firstRow="1" bandRow="1">
                <a:tableStyleId>{2D5ABB26-0587-4C30-8999-92F81FD0307C}</a:tableStyleId>
              </a:tblPr>
              <a:tblGrid>
                <a:gridCol w="889530">
                  <a:extLst>
                    <a:ext uri="{9D8B030D-6E8A-4147-A177-3AD203B41FA5}">
                      <a16:colId xmlns:a16="http://schemas.microsoft.com/office/drawing/2014/main" val="1484404569"/>
                    </a:ext>
                  </a:extLst>
                </a:gridCol>
                <a:gridCol w="2985241">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23" name="Rectangle: Rounded Corners 22">
            <a:extLst>
              <a:ext uri="{FF2B5EF4-FFF2-40B4-BE49-F238E27FC236}">
                <a16:creationId xmlns:a16="http://schemas.microsoft.com/office/drawing/2014/main" id="{D97E1827-FAD2-E431-4460-004374D37889}"/>
              </a:ext>
            </a:extLst>
          </p:cNvPr>
          <p:cNvSpPr/>
          <p:nvPr/>
        </p:nvSpPr>
        <p:spPr>
          <a:xfrm>
            <a:off x="4617720" y="328159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24" name="Group 23">
            <a:extLst>
              <a:ext uri="{FF2B5EF4-FFF2-40B4-BE49-F238E27FC236}">
                <a16:creationId xmlns:a16="http://schemas.microsoft.com/office/drawing/2014/main" id="{09D75283-988A-C223-B906-942E2197DBAA}"/>
              </a:ext>
            </a:extLst>
          </p:cNvPr>
          <p:cNvGrpSpPr/>
          <p:nvPr/>
        </p:nvGrpSpPr>
        <p:grpSpPr>
          <a:xfrm>
            <a:off x="4617720" y="3112731"/>
            <a:ext cx="3890010" cy="487841"/>
            <a:chOff x="848360" y="1513840"/>
            <a:chExt cx="5186680" cy="396240"/>
          </a:xfrm>
          <a:solidFill>
            <a:srgbClr val="00729A"/>
          </a:solidFill>
        </p:grpSpPr>
        <p:sp>
          <p:nvSpPr>
            <p:cNvPr id="25" name="Rectangle 24">
              <a:extLst>
                <a:ext uri="{FF2B5EF4-FFF2-40B4-BE49-F238E27FC236}">
                  <a16:creationId xmlns:a16="http://schemas.microsoft.com/office/drawing/2014/main" id="{909CB293-713C-CA69-B494-993597A3EBDD}"/>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26" name="Rectangle: Rounded Corners 25">
              <a:extLst>
                <a:ext uri="{FF2B5EF4-FFF2-40B4-BE49-F238E27FC236}">
                  <a16:creationId xmlns:a16="http://schemas.microsoft.com/office/drawing/2014/main" id="{7299BB4A-3C2A-0D33-4E52-346F45AC3C2C}"/>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sp>
        <p:nvSpPr>
          <p:cNvPr id="27" name="Rectangle: Rounded Corners 26">
            <a:extLst>
              <a:ext uri="{FF2B5EF4-FFF2-40B4-BE49-F238E27FC236}">
                <a16:creationId xmlns:a16="http://schemas.microsoft.com/office/drawing/2014/main" id="{79F54FB4-B527-DB50-D018-72DD44202A2E}"/>
              </a:ext>
            </a:extLst>
          </p:cNvPr>
          <p:cNvSpPr/>
          <p:nvPr/>
        </p:nvSpPr>
        <p:spPr>
          <a:xfrm>
            <a:off x="628651" y="3281599"/>
            <a:ext cx="3882391" cy="163861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nvGrpSpPr>
          <p:cNvPr id="28" name="Group 27">
            <a:extLst>
              <a:ext uri="{FF2B5EF4-FFF2-40B4-BE49-F238E27FC236}">
                <a16:creationId xmlns:a16="http://schemas.microsoft.com/office/drawing/2014/main" id="{975BD03B-31B2-C381-8856-EA7E4811CACF}"/>
              </a:ext>
            </a:extLst>
          </p:cNvPr>
          <p:cNvGrpSpPr/>
          <p:nvPr/>
        </p:nvGrpSpPr>
        <p:grpSpPr>
          <a:xfrm>
            <a:off x="628651" y="3112731"/>
            <a:ext cx="3890010" cy="487841"/>
            <a:chOff x="848360" y="1513840"/>
            <a:chExt cx="5186680" cy="396240"/>
          </a:xfrm>
          <a:solidFill>
            <a:srgbClr val="F79421"/>
          </a:solidFill>
        </p:grpSpPr>
        <p:sp>
          <p:nvSpPr>
            <p:cNvPr id="29" name="Rectangle 28">
              <a:extLst>
                <a:ext uri="{FF2B5EF4-FFF2-40B4-BE49-F238E27FC236}">
                  <a16:creationId xmlns:a16="http://schemas.microsoft.com/office/drawing/2014/main" id="{6DFACDBE-4F5D-9BB8-7120-2128B0E83091}"/>
                </a:ext>
              </a:extLst>
            </p:cNvPr>
            <p:cNvSpPr/>
            <p:nvPr/>
          </p:nvSpPr>
          <p:spPr>
            <a:xfrm>
              <a:off x="848360" y="1651000"/>
              <a:ext cx="5186680" cy="259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sp>
          <p:nvSpPr>
            <p:cNvPr id="30" name="Rectangle: Rounded Corners 29">
              <a:extLst>
                <a:ext uri="{FF2B5EF4-FFF2-40B4-BE49-F238E27FC236}">
                  <a16:creationId xmlns:a16="http://schemas.microsoft.com/office/drawing/2014/main" id="{B29CADE5-D75B-EC96-0F27-075165FCA90E}"/>
                </a:ext>
              </a:extLst>
            </p:cNvPr>
            <p:cNvSpPr/>
            <p:nvPr/>
          </p:nvSpPr>
          <p:spPr>
            <a:xfrm>
              <a:off x="848360" y="1513840"/>
              <a:ext cx="5186680" cy="25908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13"/>
            </a:p>
          </p:txBody>
        </p:sp>
      </p:grpSp>
      <p:graphicFrame>
        <p:nvGraphicFramePr>
          <p:cNvPr id="31" name="Table 30">
            <a:extLst>
              <a:ext uri="{FF2B5EF4-FFF2-40B4-BE49-F238E27FC236}">
                <a16:creationId xmlns:a16="http://schemas.microsoft.com/office/drawing/2014/main" id="{58DDBDD4-8316-7B48-62DB-7A5AB78A5497}"/>
              </a:ext>
            </a:extLst>
          </p:cNvPr>
          <p:cNvGraphicFramePr>
            <a:graphicFrameLocks noGrp="1"/>
          </p:cNvGraphicFramePr>
          <p:nvPr>
            <p:extLst>
              <p:ext uri="{D42A27DB-BD31-4B8C-83A1-F6EECF244321}">
                <p14:modId xmlns:p14="http://schemas.microsoft.com/office/powerpoint/2010/main" val="3178866910"/>
              </p:ext>
            </p:extLst>
          </p:nvPr>
        </p:nvGraphicFramePr>
        <p:xfrm>
          <a:off x="4625339" y="3210662"/>
          <a:ext cx="3874771" cy="1642074"/>
        </p:xfrm>
        <a:graphic>
          <a:graphicData uri="http://schemas.openxmlformats.org/drawingml/2006/table">
            <a:tbl>
              <a:tblPr firstRow="1" bandRow="1">
                <a:tableStyleId>{2D5ABB26-0587-4C30-8999-92F81FD0307C}</a:tableStyleId>
              </a:tblPr>
              <a:tblGrid>
                <a:gridCol w="889530">
                  <a:extLst>
                    <a:ext uri="{9D8B030D-6E8A-4147-A177-3AD203B41FA5}">
                      <a16:colId xmlns:a16="http://schemas.microsoft.com/office/drawing/2014/main" val="1484404569"/>
                    </a:ext>
                  </a:extLst>
                </a:gridCol>
                <a:gridCol w="2985241">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graphicFrame>
        <p:nvGraphicFramePr>
          <p:cNvPr id="32" name="Table 31">
            <a:extLst>
              <a:ext uri="{FF2B5EF4-FFF2-40B4-BE49-F238E27FC236}">
                <a16:creationId xmlns:a16="http://schemas.microsoft.com/office/drawing/2014/main" id="{E40912A7-B800-F34D-53FC-8E9BD1AC239E}"/>
              </a:ext>
            </a:extLst>
          </p:cNvPr>
          <p:cNvGraphicFramePr>
            <a:graphicFrameLocks noGrp="1"/>
          </p:cNvGraphicFramePr>
          <p:nvPr>
            <p:extLst>
              <p:ext uri="{D42A27DB-BD31-4B8C-83A1-F6EECF244321}">
                <p14:modId xmlns:p14="http://schemas.microsoft.com/office/powerpoint/2010/main" val="830643194"/>
              </p:ext>
            </p:extLst>
          </p:nvPr>
        </p:nvGraphicFramePr>
        <p:xfrm>
          <a:off x="628651" y="3210662"/>
          <a:ext cx="3905248" cy="1642074"/>
        </p:xfrm>
        <a:graphic>
          <a:graphicData uri="http://schemas.openxmlformats.org/drawingml/2006/table">
            <a:tbl>
              <a:tblPr firstRow="1" bandRow="1">
                <a:tableStyleId>{2D5ABB26-0587-4C30-8999-92F81FD0307C}</a:tableStyleId>
              </a:tblPr>
              <a:tblGrid>
                <a:gridCol w="896526">
                  <a:extLst>
                    <a:ext uri="{9D8B030D-6E8A-4147-A177-3AD203B41FA5}">
                      <a16:colId xmlns:a16="http://schemas.microsoft.com/office/drawing/2014/main" val="1484404569"/>
                    </a:ext>
                  </a:extLst>
                </a:gridCol>
                <a:gridCol w="3008722">
                  <a:extLst>
                    <a:ext uri="{9D8B030D-6E8A-4147-A177-3AD203B41FA5}">
                      <a16:colId xmlns:a16="http://schemas.microsoft.com/office/drawing/2014/main" val="2624468348"/>
                    </a:ext>
                  </a:extLst>
                </a:gridCol>
              </a:tblGrid>
              <a:tr h="416686">
                <a:tc>
                  <a:txBody>
                    <a:bodyPr/>
                    <a:lstStyle/>
                    <a:p>
                      <a:pPr algn="l"/>
                      <a:r>
                        <a:rPr lang="en-US" sz="1000" b="1">
                          <a:solidFill>
                            <a:schemeClr val="bg1">
                              <a:lumMod val="95000"/>
                            </a:schemeClr>
                          </a:solidFill>
                          <a:latin typeface="Space Grotesk" pitchFamily="2" charset="0"/>
                          <a:cs typeface="Space Grotesk" pitchFamily="2" charset="0"/>
                        </a:rPr>
                        <a:t>TIME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tc>
                  <a:txBody>
                    <a:bodyPr/>
                    <a:lstStyle/>
                    <a:p>
                      <a:pPr algn="l"/>
                      <a:r>
                        <a:rPr lang="en-US" sz="1000" b="1">
                          <a:solidFill>
                            <a:schemeClr val="bg1">
                              <a:lumMod val="95000"/>
                            </a:schemeClr>
                          </a:solidFill>
                          <a:latin typeface="Space Grotesk" pitchFamily="2" charset="0"/>
                          <a:cs typeface="Space Grotesk" pitchFamily="2" charset="0"/>
                        </a:rPr>
                        <a:t>MODULE</a:t>
                      </a:r>
                      <a:endParaRPr lang="en-GB" sz="1000" b="1">
                        <a:solidFill>
                          <a:schemeClr val="bg1">
                            <a:lumMod val="95000"/>
                          </a:schemeClr>
                        </a:solidFill>
                        <a:latin typeface="Space Grotesk" pitchFamily="2" charset="0"/>
                        <a:cs typeface="Space Grotesk" pitchFamily="2" charset="0"/>
                      </a:endParaRPr>
                    </a:p>
                  </a:txBody>
                  <a:tcPr marL="68580" marR="68580" marT="34290" marB="34290">
                    <a:lnB>
                      <a:noFill/>
                    </a:lnB>
                  </a:tcPr>
                </a:tc>
                <a:extLst>
                  <a:ext uri="{0D108BD9-81ED-4DB2-BD59-A6C34878D82A}">
                    <a16:rowId xmlns:a16="http://schemas.microsoft.com/office/drawing/2014/main" val="2530454398"/>
                  </a:ext>
                </a:extLst>
              </a:tr>
              <a:tr h="306347">
                <a:tc>
                  <a:txBody>
                    <a:bodyPr/>
                    <a:lstStyle/>
                    <a:p>
                      <a:pPr algn="l"/>
                      <a:r>
                        <a:rPr lang="en-US" sz="900" b="0" kern="1200">
                          <a:solidFill>
                            <a:schemeClr val="tx1"/>
                          </a:solidFill>
                          <a:latin typeface="Space Grotesk" pitchFamily="2" charset="0"/>
                          <a:ea typeface="+mn-ea"/>
                          <a:cs typeface="Space Grotesk" pitchFamily="2" charset="0"/>
                        </a:rPr>
                        <a:t>15 MINUTES</a:t>
                      </a:r>
                      <a:endParaRPr lang="en-GB" sz="900" b="0" kern="120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900" b="0" kern="1200">
                          <a:solidFill>
                            <a:schemeClr val="tx1"/>
                          </a:solidFill>
                          <a:latin typeface="Space Grotesk" pitchFamily="2" charset="0"/>
                          <a:ea typeface="+mn-ea"/>
                          <a:cs typeface="Space Grotesk" pitchFamily="2" charset="0"/>
                        </a:rPr>
                        <a:t>Lorum ipsum Lorum ipsum Lorum ipsum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54535145"/>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20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2334697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40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43730401"/>
                  </a:ext>
                </a:extLst>
              </a:tr>
              <a:tr h="3063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Space Grotesk" pitchFamily="2" charset="0"/>
                          <a:ea typeface="+mn-ea"/>
                          <a:cs typeface="Space Grotesk" pitchFamily="2" charset="0"/>
                        </a:rPr>
                        <a:t>50 MINUTES</a:t>
                      </a:r>
                      <a:endParaRPr lang="en-GB" sz="900" b="0" kern="1200" noProof="0">
                        <a:solidFill>
                          <a:schemeClr val="tx1"/>
                        </a:solidFill>
                        <a:latin typeface="Space Grotesk" pitchFamily="2" charset="0"/>
                        <a:ea typeface="+mn-ea"/>
                        <a:cs typeface="Space Grotesk" pitchFamily="2" charset="0"/>
                      </a:endParaRPr>
                    </a:p>
                  </a:txBody>
                  <a:tcPr marL="68580" marR="68580" marT="34290" marB="3429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tx1"/>
                          </a:solidFill>
                          <a:latin typeface="Space Grotesk" pitchFamily="2" charset="0"/>
                          <a:ea typeface="+mn-ea"/>
                          <a:cs typeface="Space Grotesk" pitchFamily="2" charset="0"/>
                        </a:rPr>
                        <a:t>Lorum ipsum Lorum ipsum Lorum ipsum</a:t>
                      </a:r>
                      <a:endParaRPr lang="en-US" sz="900" b="0" kern="1200" noProof="0">
                        <a:solidFill>
                          <a:schemeClr val="tx1"/>
                        </a:solidFill>
                        <a:latin typeface="Space Grotesk" pitchFamily="2" charset="0"/>
                        <a:ea typeface="+mn-ea"/>
                        <a:cs typeface="Space Grotesk" pitchFamily="2" charset="0"/>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7470779"/>
                  </a:ext>
                </a:extLst>
              </a:tr>
            </a:tbl>
          </a:graphicData>
        </a:graphic>
      </p:graphicFrame>
      <p:sp>
        <p:nvSpPr>
          <p:cNvPr id="2" name="Tekstvak 5" descr="MVX23_Logo_Basislogo_Full_colour_Wit">
            <a:extLst>
              <a:ext uri="{FF2B5EF4-FFF2-40B4-BE49-F238E27FC236}">
                <a16:creationId xmlns:a16="http://schemas.microsoft.com/office/drawing/2014/main" id="{73825C22-AD50-B936-CDB7-1EFF66C1BD0A}"/>
              </a:ext>
            </a:extLst>
          </p:cNvPr>
          <p:cNvSpPr txBox="1"/>
          <p:nvPr/>
        </p:nvSpPr>
        <p:spPr>
          <a:xfrm>
            <a:off x="635213" y="195683"/>
            <a:ext cx="6640835" cy="577081"/>
          </a:xfrm>
          <a:prstGeom prst="rect">
            <a:avLst/>
          </a:prstGeom>
          <a:noFill/>
        </p:spPr>
        <p:txBody>
          <a:bodyPr wrap="square" lIns="68580" tIns="34290" rIns="68580" bIns="34290" rtlCol="0" anchor="t">
            <a:spAutoFit/>
          </a:bodyPr>
          <a:lstStyle/>
          <a:p>
            <a:pPr lvl="0">
              <a:defRPr/>
            </a:pPr>
            <a:r>
              <a:rPr lang="en-US" sz="3300" b="1">
                <a:solidFill>
                  <a:srgbClr val="0D006A"/>
                </a:solidFill>
                <a:latin typeface="Space Grotesk" pitchFamily="2" charset="0"/>
                <a:cs typeface="Space Grotesk" pitchFamily="2" charset="0"/>
              </a:rPr>
              <a:t>Asset template (4)</a:t>
            </a:r>
          </a:p>
        </p:txBody>
      </p:sp>
    </p:spTree>
    <p:extLst>
      <p:ext uri="{BB962C8B-B14F-4D97-AF65-F5344CB8AC3E}">
        <p14:creationId xmlns:p14="http://schemas.microsoft.com/office/powerpoint/2010/main" val="4260257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B6B00-F718-2A26-A862-37D91AF78CDE}"/>
            </a:ext>
          </a:extLst>
        </p:cNvPr>
        <p:cNvGrpSpPr/>
        <p:nvPr/>
      </p:nvGrpSpPr>
      <p:grpSpPr>
        <a:xfrm>
          <a:off x="0" y="0"/>
          <a:ext cx="0" cy="0"/>
          <a:chOff x="0" y="0"/>
          <a:chExt cx="0" cy="0"/>
        </a:xfrm>
      </p:grpSpPr>
      <p:pic>
        <p:nvPicPr>
          <p:cNvPr id="6" name="Google Shape;1018;p37">
            <a:extLst>
              <a:ext uri="{FF2B5EF4-FFF2-40B4-BE49-F238E27FC236}">
                <a16:creationId xmlns:a16="http://schemas.microsoft.com/office/drawing/2014/main" id="{8A747C84-B55A-CD19-7C6A-9AFAD88B3C2E}"/>
              </a:ext>
            </a:extLst>
          </p:cNvPr>
          <p:cNvPicPr preferRelativeResize="0">
            <a:picLocks/>
          </p:cNvPicPr>
          <p:nvPr/>
        </p:nvPicPr>
        <p:blipFill rotWithShape="1">
          <a:blip r:embed="rId2" cstate="screen">
            <a:alphaModFix/>
            <a:extLst>
              <a:ext uri="{28A0092B-C50C-407E-A947-70E740481C1C}">
                <a14:useLocalDpi xmlns:a14="http://schemas.microsoft.com/office/drawing/2010/main"/>
              </a:ext>
            </a:extLst>
          </a:blip>
          <a:srcRect t="-12"/>
          <a:stretch>
            <a:fillRect/>
          </a:stretch>
        </p:blipFill>
        <p:spPr>
          <a:xfrm>
            <a:off x="0" y="0"/>
            <a:ext cx="3890310" cy="5154930"/>
          </a:xfrm>
          <a:prstGeom prst="rect">
            <a:avLst/>
          </a:prstGeom>
          <a:solidFill>
            <a:srgbClr val="A69F98"/>
          </a:solidFill>
          <a:ln>
            <a:noFill/>
          </a:ln>
        </p:spPr>
      </p:pic>
      <p:sp>
        <p:nvSpPr>
          <p:cNvPr id="2" name="Tekstvak 5" descr="MVX23_Logo_Basislogo_Full_colour_Wit">
            <a:extLst>
              <a:ext uri="{FF2B5EF4-FFF2-40B4-BE49-F238E27FC236}">
                <a16:creationId xmlns:a16="http://schemas.microsoft.com/office/drawing/2014/main" id="{1661F2D5-64C6-8EA1-1D92-C6D65122CFE0}"/>
              </a:ext>
            </a:extLst>
          </p:cNvPr>
          <p:cNvSpPr txBox="1"/>
          <p:nvPr/>
        </p:nvSpPr>
        <p:spPr>
          <a:xfrm>
            <a:off x="4686300" y="174468"/>
            <a:ext cx="1814009" cy="577081"/>
          </a:xfrm>
          <a:prstGeom prst="rect">
            <a:avLst/>
          </a:prstGeom>
          <a:noFill/>
        </p:spPr>
        <p:txBody>
          <a:bodyPr wrap="square" lIns="68580" tIns="34290" rIns="68580" bIns="34290" rtlCol="0" anchor="t">
            <a:spAutoFit/>
          </a:bodyPr>
          <a:lstStyle/>
          <a:p>
            <a:pPr>
              <a:defRPr/>
            </a:pPr>
            <a:r>
              <a:rPr lang="en-US" sz="3300" b="1">
                <a:solidFill>
                  <a:srgbClr val="002060"/>
                </a:solidFill>
                <a:latin typeface="Space Grotesk" pitchFamily="2" charset="0"/>
                <a:cs typeface="Space Grotesk" pitchFamily="2" charset="0"/>
              </a:rPr>
              <a:t>Agenda</a:t>
            </a:r>
          </a:p>
        </p:txBody>
      </p:sp>
      <p:pic>
        <p:nvPicPr>
          <p:cNvPr id="3" name="Google Shape;1007;p37">
            <a:extLst>
              <a:ext uri="{FF2B5EF4-FFF2-40B4-BE49-F238E27FC236}">
                <a16:creationId xmlns:a16="http://schemas.microsoft.com/office/drawing/2014/main" id="{5D56C8B4-A6EE-31C2-4FAD-C227D2199410}"/>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11025409">
            <a:off x="4575304" y="3715882"/>
            <a:ext cx="4159259" cy="798700"/>
          </a:xfrm>
          <a:prstGeom prst="teardrop">
            <a:avLst/>
          </a:prstGeom>
          <a:noFill/>
          <a:ln>
            <a:noFill/>
          </a:ln>
        </p:spPr>
      </p:pic>
      <p:pic>
        <p:nvPicPr>
          <p:cNvPr id="7" name="Picture 6">
            <a:extLst>
              <a:ext uri="{FF2B5EF4-FFF2-40B4-BE49-F238E27FC236}">
                <a16:creationId xmlns:a16="http://schemas.microsoft.com/office/drawing/2014/main" id="{04F1F7C1-0FF1-B712-451D-4A72C56B53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272" y="42507"/>
            <a:ext cx="841782" cy="841003"/>
          </a:xfrm>
          <a:prstGeom prst="rect">
            <a:avLst/>
          </a:prstGeom>
        </p:spPr>
      </p:pic>
      <p:sp>
        <p:nvSpPr>
          <p:cNvPr id="5" name="Tekstvak 7" descr="MVX23_Logo_Basislogo_Full_colour_Wit">
            <a:extLst>
              <a:ext uri="{FF2B5EF4-FFF2-40B4-BE49-F238E27FC236}">
                <a16:creationId xmlns:a16="http://schemas.microsoft.com/office/drawing/2014/main" id="{001C0BFA-0D8A-18C6-0FEA-313963AB8C7A}"/>
              </a:ext>
            </a:extLst>
          </p:cNvPr>
          <p:cNvSpPr txBox="1"/>
          <p:nvPr/>
        </p:nvSpPr>
        <p:spPr>
          <a:xfrm>
            <a:off x="4761527" y="377879"/>
            <a:ext cx="3890310" cy="3902992"/>
          </a:xfrm>
          <a:prstGeom prst="rect">
            <a:avLst/>
          </a:prstGeom>
          <a:noFill/>
        </p:spPr>
        <p:txBody>
          <a:bodyPr wrap="square" lIns="68580" tIns="34290" rIns="68580" bIns="34290" rtlCol="0" anchor="t">
            <a:spAutoFit/>
          </a:bodyPr>
          <a:lstStyle/>
          <a:p>
            <a:pPr>
              <a:lnSpc>
                <a:spcPct val="150000"/>
              </a:lnSpc>
              <a:defRPr/>
            </a:pPr>
            <a:endParaRPr lang="en-US" sz="2100" dirty="0">
              <a:solidFill>
                <a:srgbClr val="0D006A"/>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Layout </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Fonts, sizes, margins according to </a:t>
            </a:r>
            <a:r>
              <a:rPr lang="en-US" sz="1050" dirty="0" err="1">
                <a:solidFill>
                  <a:schemeClr val="bg1">
                    <a:lumMod val="65000"/>
                  </a:schemeClr>
                </a:solidFill>
                <a:latin typeface="DM Sans"/>
                <a:ea typeface="Calibri" panose="020F0502020204030204"/>
                <a:cs typeface="Calibri" panose="020F0502020204030204"/>
              </a:rPr>
              <a:t>Maverx</a:t>
            </a:r>
            <a:r>
              <a:rPr lang="en-US" sz="1050" dirty="0">
                <a:solidFill>
                  <a:schemeClr val="bg1">
                    <a:lumMod val="65000"/>
                  </a:schemeClr>
                </a:solidFill>
                <a:latin typeface="DM Sans"/>
                <a:ea typeface="Calibri" panose="020F0502020204030204"/>
                <a:cs typeface="Calibri" panose="020F0502020204030204"/>
              </a:rPr>
              <a:t> Template</a:t>
            </a: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Structure </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The required order of your slides </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Examples</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Real slides with speaker notes from other trainings</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lumMod val="65000"/>
                  </a:schemeClr>
                </a:solidFill>
                <a:latin typeface="DM Sans"/>
                <a:ea typeface="Calibri" panose="020F0502020204030204"/>
                <a:cs typeface="Calibri" panose="020F0502020204030204"/>
              </a:rPr>
              <a:t>Assets</a:t>
            </a:r>
          </a:p>
          <a:p>
            <a:pPr marL="202406">
              <a:lnSpc>
                <a:spcPct val="150000"/>
              </a:lnSpc>
              <a:defRPr/>
            </a:pPr>
            <a:r>
              <a:rPr lang="en-US" sz="1050" dirty="0">
                <a:solidFill>
                  <a:schemeClr val="bg1">
                    <a:lumMod val="65000"/>
                  </a:schemeClr>
                </a:solidFill>
                <a:latin typeface="DM Sans"/>
                <a:ea typeface="Calibri" panose="020F0502020204030204"/>
                <a:cs typeface="Calibri" panose="020F0502020204030204"/>
              </a:rPr>
              <a:t>Template slides with assets we can reuse </a:t>
            </a:r>
            <a:endParaRPr lang="en-US" sz="2100" dirty="0">
              <a:solidFill>
                <a:schemeClr val="bg1">
                  <a:lumMod val="65000"/>
                </a:schemeClr>
              </a:solidFill>
              <a:latin typeface="DM Sans"/>
              <a:ea typeface="Calibri" panose="020F0502020204030204"/>
              <a:cs typeface="Calibri" panose="020F0502020204030204"/>
            </a:endParaRPr>
          </a:p>
          <a:p>
            <a:pPr>
              <a:lnSpc>
                <a:spcPct val="150000"/>
              </a:lnSpc>
              <a:defRPr/>
            </a:pPr>
            <a:r>
              <a:rPr lang="en-US" sz="2100" dirty="0">
                <a:solidFill>
                  <a:schemeClr val="bg1"/>
                </a:solidFill>
                <a:latin typeface="DM Sans"/>
                <a:ea typeface="Calibri" panose="020F0502020204030204"/>
                <a:cs typeface="Calibri" panose="020F0502020204030204"/>
              </a:rPr>
              <a:t>Other slides </a:t>
            </a:r>
          </a:p>
        </p:txBody>
      </p:sp>
    </p:spTree>
    <p:extLst>
      <p:ext uri="{BB962C8B-B14F-4D97-AF65-F5344CB8AC3E}">
        <p14:creationId xmlns:p14="http://schemas.microsoft.com/office/powerpoint/2010/main" val="3859468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D0BB9-874C-DAC8-8516-56F40583C062}"/>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FDB63405-9A02-1046-DED2-AE30E0E70D69}"/>
              </a:ext>
            </a:extLst>
          </p:cNvPr>
          <p:cNvSpPr txBox="1"/>
          <p:nvPr/>
        </p:nvSpPr>
        <p:spPr>
          <a:xfrm>
            <a:off x="635213" y="470003"/>
            <a:ext cx="7558915"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What happens to the data we send?</a:t>
            </a:r>
          </a:p>
        </p:txBody>
      </p:sp>
      <p:pic>
        <p:nvPicPr>
          <p:cNvPr id="5" name="Google Shape;1150;p50" descr="A person and person standing next to each other&#10;&#10;AI-generated content may be incorrect.">
            <a:extLst>
              <a:ext uri="{FF2B5EF4-FFF2-40B4-BE49-F238E27FC236}">
                <a16:creationId xmlns:a16="http://schemas.microsoft.com/office/drawing/2014/main" id="{EAC35B50-A4CD-0A32-D3F0-C275FD32F6ED}"/>
              </a:ext>
            </a:extLst>
          </p:cNvPr>
          <p:cNvPicPr preferRelativeResize="0">
            <a:picLocks/>
          </p:cNvPicPr>
          <p:nvPr/>
        </p:nvPicPr>
        <p:blipFill rotWithShape="1">
          <a:blip r:embed="rId3" cstate="screen">
            <a:alphaModFix/>
            <a:extLst>
              <a:ext uri="{28A0092B-C50C-407E-A947-70E740481C1C}">
                <a14:useLocalDpi xmlns:a14="http://schemas.microsoft.com/office/drawing/2010/main"/>
              </a:ext>
            </a:extLst>
          </a:blip>
          <a:srcRect/>
          <a:stretch/>
        </p:blipFill>
        <p:spPr>
          <a:xfrm>
            <a:off x="2302176" y="1152648"/>
            <a:ext cx="3801666" cy="3801666"/>
          </a:xfrm>
          <a:prstGeom prst="rect">
            <a:avLst/>
          </a:prstGeom>
          <a:noFill/>
          <a:ln>
            <a:noFill/>
          </a:ln>
        </p:spPr>
      </p:pic>
    </p:spTree>
    <p:extLst>
      <p:ext uri="{BB962C8B-B14F-4D97-AF65-F5344CB8AC3E}">
        <p14:creationId xmlns:p14="http://schemas.microsoft.com/office/powerpoint/2010/main" val="2832206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5276-2646-D475-AFF4-F9ADBDB90E18}"/>
            </a:ext>
          </a:extLst>
        </p:cNvPr>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28A7011B-28D3-7907-3F7C-52FC61D02957}"/>
              </a:ext>
            </a:extLst>
          </p:cNvPr>
          <p:cNvSpPr txBox="1"/>
          <p:nvPr/>
        </p:nvSpPr>
        <p:spPr>
          <a:xfrm>
            <a:off x="635213" y="470003"/>
            <a:ext cx="8054481" cy="577081"/>
          </a:xfrm>
          <a:prstGeom prst="rect">
            <a:avLst/>
          </a:prstGeom>
          <a:noFill/>
        </p:spPr>
        <p:txBody>
          <a:bodyPr wrap="square" lIns="68580" tIns="34290" rIns="68580" bIns="34290" rtlCol="0" anchor="t">
            <a:spAutoFit/>
          </a:bodyPr>
          <a:lstStyle/>
          <a:p>
            <a:pPr>
              <a:defRPr/>
            </a:pPr>
            <a:r>
              <a:rPr lang="en-US" sz="3300" b="1">
                <a:solidFill>
                  <a:srgbClr val="0D006A"/>
                </a:solidFill>
                <a:latin typeface="Space Grotesk" pitchFamily="2" charset="0"/>
                <a:cs typeface="Space Grotesk" pitchFamily="2" charset="0"/>
              </a:rPr>
              <a:t>Break time!</a:t>
            </a:r>
          </a:p>
        </p:txBody>
      </p:sp>
    </p:spTree>
    <p:extLst>
      <p:ext uri="{BB962C8B-B14F-4D97-AF65-F5344CB8AC3E}">
        <p14:creationId xmlns:p14="http://schemas.microsoft.com/office/powerpoint/2010/main" val="12370557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5" descr="MVX23_Logo_Basislogo_Full_colour_Wit">
            <a:extLst>
              <a:ext uri="{FF2B5EF4-FFF2-40B4-BE49-F238E27FC236}">
                <a16:creationId xmlns:a16="http://schemas.microsoft.com/office/drawing/2014/main" id="{3DACDFAA-588A-F040-0974-BCD28CF86CBA}"/>
              </a:ext>
            </a:extLst>
          </p:cNvPr>
          <p:cNvSpPr txBox="1"/>
          <p:nvPr/>
        </p:nvSpPr>
        <p:spPr>
          <a:xfrm>
            <a:off x="635213" y="470003"/>
            <a:ext cx="7203742" cy="577081"/>
          </a:xfrm>
          <a:prstGeom prst="rect">
            <a:avLst/>
          </a:prstGeom>
          <a:noFill/>
        </p:spPr>
        <p:txBody>
          <a:bodyPr wrap="square" lIns="68580" tIns="34290" rIns="68580" bIns="34290" rtlCol="0" anchor="t">
            <a:spAutoFit/>
          </a:bodyPr>
          <a:lstStyle/>
          <a:p>
            <a:pPr>
              <a:defRPr/>
            </a:pPr>
            <a:r>
              <a:rPr lang="en-US" sz="3300" b="1">
                <a:solidFill>
                  <a:schemeClr val="bg1"/>
                </a:solidFill>
                <a:latin typeface="Space Grotesk" pitchFamily="2" charset="0"/>
                <a:cs typeface="Space Grotesk" pitchFamily="2" charset="0"/>
              </a:rPr>
              <a:t>Debrief</a:t>
            </a:r>
          </a:p>
        </p:txBody>
      </p:sp>
    </p:spTree>
    <p:extLst>
      <p:ext uri="{BB962C8B-B14F-4D97-AF65-F5344CB8AC3E}">
        <p14:creationId xmlns:p14="http://schemas.microsoft.com/office/powerpoint/2010/main" val="2904158577"/>
      </p:ext>
    </p:extLst>
  </p:cSld>
  <p:clrMapOvr>
    <a:masterClrMapping/>
  </p:clrMapOvr>
</p:sld>
</file>

<file path=ppt/theme/theme1.xml><?xml version="1.0" encoding="utf-8"?>
<a:theme xmlns:a="http://schemas.openxmlformats.org/drawingml/2006/main" name="1_Aangepast ontwer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angepast ontwer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radient 0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Whatever THis was">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6.xml><?xml version="1.0" encoding="utf-8"?>
<a:theme xmlns:a="http://schemas.openxmlformats.org/drawingml/2006/main" name="2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7.xml><?xml version="1.0" encoding="utf-8"?>
<a:theme xmlns:a="http://schemas.openxmlformats.org/drawingml/2006/main" name="3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8.xml><?xml version="1.0" encoding="utf-8"?>
<a:theme xmlns:a="http://schemas.openxmlformats.org/drawingml/2006/main" name="5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9.xml><?xml version="1.0" encoding="utf-8"?>
<a:theme xmlns:a="http://schemas.openxmlformats.org/drawingml/2006/main" name="6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10.xml><?xml version="1.0" encoding="utf-8"?>
<a:theme xmlns:a="http://schemas.openxmlformats.org/drawingml/2006/main" name="7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B5E7B3-BCE7-444B-B384-E212473CC389}">
  <we:reference id="wa200010001" version="1.0.0.1" store="en-US" storeType="OMEX"/>
  <we:alternateReferences>
    <we:reference id="WA200010001" version="1.0.0.1" store="WA200010001" storeType="OMEX"/>
  </we:alternateReferences>
  <we:properties>
    <we:property name="claude.fileId" value="&quot;83183122-b43d-46c0-a447-2f027872121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E8BAC7D0CC8E4DA7B1B6DBF6830891" ma:contentTypeVersion="15" ma:contentTypeDescription="Een nieuw document maken." ma:contentTypeScope="" ma:versionID="01c0685ddfce29364280ae71dc9d2bf2">
  <xsd:schema xmlns:xsd="http://www.w3.org/2001/XMLSchema" xmlns:xs="http://www.w3.org/2001/XMLSchema" xmlns:p="http://schemas.microsoft.com/office/2006/metadata/properties" xmlns:ns2="27122056-53d5-4616-86e8-489fff09337a" xmlns:ns3="12dc3e42-bcf9-423d-97fc-24f4b555b66b" targetNamespace="http://schemas.microsoft.com/office/2006/metadata/properties" ma:root="true" ma:fieldsID="e352717bb29e17762631dca5655555c4" ns2:_="" ns3:_="">
    <xsd:import namespace="27122056-53d5-4616-86e8-489fff09337a"/>
    <xsd:import namespace="12dc3e42-bcf9-423d-97fc-24f4b555b66b"/>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ObjectDetectorVersions"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122056-53d5-4616-86e8-489fff0933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Afbeeldingtags" ma:readOnly="false" ma:fieldId="{5cf76f15-5ced-4ddc-b409-7134ff3c332f}" ma:taxonomyMulti="true" ma:sspId="5b8d8c7d-f31e-4be7-97fc-6cc1cefda6a6"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dc3e42-bcf9-423d-97fc-24f4b555b66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b9ec4fe-d6e2-45b2-b315-57de4ca22730}" ma:internalName="TaxCatchAll" ma:showField="CatchAllData" ma:web="12dc3e42-bcf9-423d-97fc-24f4b555b66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2dc3e42-bcf9-423d-97fc-24f4b555b66b" xsi:nil="true"/>
    <lcf76f155ced4ddcb4097134ff3c332f xmlns="27122056-53d5-4616-86e8-489fff09337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2AE1B59-98D4-4C97-A615-0FE9980E5E9C}">
  <ds:schemaRefs>
    <ds:schemaRef ds:uri="12dc3e42-bcf9-423d-97fc-24f4b555b66b"/>
    <ds:schemaRef ds:uri="27122056-53d5-4616-86e8-489fff09337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C86EA4C-1C21-49B7-B2AE-ECDF5794CEA0}">
  <ds:schemaRefs>
    <ds:schemaRef ds:uri="http://schemas.microsoft.com/sharepoint/v3/contenttype/forms"/>
  </ds:schemaRefs>
</ds:datastoreItem>
</file>

<file path=customXml/itemProps3.xml><?xml version="1.0" encoding="utf-8"?>
<ds:datastoreItem xmlns:ds="http://schemas.openxmlformats.org/officeDocument/2006/customXml" ds:itemID="{6AAD6345-7D39-469E-9931-A543E214944B}">
  <ds:schemaRefs>
    <ds:schemaRef ds:uri="12dc3e42-bcf9-423d-97fc-24f4b555b66b"/>
    <ds:schemaRef ds:uri="27122056-53d5-4616-86e8-489fff09337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65</TotalTime>
  <Words>9536</Words>
  <Application>Microsoft Macintosh PowerPoint</Application>
  <PresentationFormat>On-screen Show (16:9)</PresentationFormat>
  <Paragraphs>1285</Paragraphs>
  <Slides>49</Slides>
  <Notes>42</Notes>
  <HiddenSlides>0</HiddenSlides>
  <MMClips>0</MMClips>
  <ScaleCrop>false</ScaleCrop>
  <HeadingPairs>
    <vt:vector size="6" baseType="variant">
      <vt:variant>
        <vt:lpstr>Fonts Used</vt:lpstr>
      </vt:variant>
      <vt:variant>
        <vt:i4>11</vt:i4>
      </vt:variant>
      <vt:variant>
        <vt:lpstr>Theme</vt:lpstr>
      </vt:variant>
      <vt:variant>
        <vt:i4>10</vt:i4>
      </vt:variant>
      <vt:variant>
        <vt:lpstr>Slide Titles</vt:lpstr>
      </vt:variant>
      <vt:variant>
        <vt:i4>49</vt:i4>
      </vt:variant>
    </vt:vector>
  </HeadingPairs>
  <TitlesOfParts>
    <vt:vector size="70" baseType="lpstr">
      <vt:lpstr>Aptos</vt:lpstr>
      <vt:lpstr>Arial</vt:lpstr>
      <vt:lpstr>Calibri</vt:lpstr>
      <vt:lpstr>Calibri Light</vt:lpstr>
      <vt:lpstr>DM Sans</vt:lpstr>
      <vt:lpstr>Montserrat</vt:lpstr>
      <vt:lpstr>Raleway</vt:lpstr>
      <vt:lpstr>Space Grotesk</vt:lpstr>
      <vt:lpstr>Space Grotesk bold</vt:lpstr>
      <vt:lpstr>Space Grotesk SemiBold</vt:lpstr>
      <vt:lpstr>Wingdings</vt:lpstr>
      <vt:lpstr>1_Aangepast ontwerp</vt:lpstr>
      <vt:lpstr>2_Aangepast ontwerp</vt:lpstr>
      <vt:lpstr>Gradient 03</vt:lpstr>
      <vt:lpstr>Office 2013 - 2022 Theme</vt:lpstr>
      <vt:lpstr>Whatever THis was</vt:lpstr>
      <vt:lpstr>2_Office 2013 - 2022 Theme</vt:lpstr>
      <vt:lpstr>3_Office 2013 - 2022 Theme</vt:lpstr>
      <vt:lpstr>5_Office 2013 - 2022 Theme</vt:lpstr>
      <vt:lpstr>6_Office 2013 - 2022 Theme</vt:lpstr>
      <vt:lpstr>7_Office 2013 - 2022 Theme</vt:lpstr>
      <vt:lpstr>PowerPoint Presentation</vt:lpstr>
      <vt:lpstr>PowerPoint Presentation</vt:lpstr>
      <vt:lpstr>Title &lt; Space Grotesk Bold&gt; - 33 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Youssry Askar</dc:creator>
  <cp:lastModifiedBy>Justin Gold</cp:lastModifiedBy>
  <cp:revision>13</cp:revision>
  <dcterms:created xsi:type="dcterms:W3CDTF">2023-05-02T09:33:33Z</dcterms:created>
  <dcterms:modified xsi:type="dcterms:W3CDTF">2026-06-06T14:49:38Z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0x0101004BE8BAC7D0CC8E4DA7B1B6DBF6830891</vt:lpwstr>
  </property>
  <property fmtid="{D5CDD505-2E9C-101B-9397-08002B2CF9AE}" pid="3" name="MediaServiceImageTags">
    <vt:lpwstr/>
  </property>
</Properties>
</file>